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03" r:id="rId33"/>
    <p:sldId id="304" r:id="rId34"/>
    <p:sldId id="306" r:id="rId35"/>
    <p:sldId id="305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09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434D1-B002-4FC6-9DA5-D2725BDB24A6}" type="datetimeFigureOut">
              <a:rPr lang="zh-TW" altLang="en-US" smtClean="0"/>
              <a:t>2019/10/7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D5168-082E-4918-8E39-18CB8D0D5E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494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2957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2453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3711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1692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7447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560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736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1329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434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100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417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63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5943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2092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98615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82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3572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6738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5393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8540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0628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8150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81919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32947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62612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466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53470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7382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93781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7107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0818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32245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91723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13278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00304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8695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31183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0633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3323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7855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0053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35306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5914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38547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46041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0768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D5168-082E-4918-8E39-18CB8D0D5EC7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245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874647" y="1267459"/>
            <a:ext cx="3540760" cy="5248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74839" y="348995"/>
            <a:ext cx="824484" cy="8572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4839" y="928877"/>
            <a:ext cx="824865" cy="138430"/>
          </a:xfrm>
          <a:custGeom>
            <a:avLst/>
            <a:gdLst/>
            <a:ahLst/>
            <a:cxnLst/>
            <a:rect l="l" t="t" r="r" b="b"/>
            <a:pathLst>
              <a:path w="824865" h="138430">
                <a:moveTo>
                  <a:pt x="0" y="0"/>
                </a:moveTo>
                <a:lnTo>
                  <a:pt x="0" y="137922"/>
                </a:lnTo>
                <a:lnTo>
                  <a:pt x="824483" y="137922"/>
                </a:lnTo>
                <a:lnTo>
                  <a:pt x="82448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9347" y="1023111"/>
            <a:ext cx="8934704" cy="680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1539" y="2436876"/>
            <a:ext cx="8210321" cy="3324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11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36.pn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6.png"/><Relationship Id="rId4" Type="http://schemas.openxmlformats.org/officeDocument/2006/relationships/image" Target="../media/image7.png"/><Relationship Id="rId9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7047" y="1907032"/>
            <a:ext cx="4244340" cy="68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/>
              <a:t>Stacks and</a:t>
            </a:r>
            <a:r>
              <a:rPr sz="4400" spc="-50" dirty="0"/>
              <a:t> </a:t>
            </a:r>
            <a:r>
              <a:rPr sz="4400" spc="-5" dirty="0"/>
              <a:t>Queues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484" cy="4286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 txBox="1"/>
          <p:nvPr/>
        </p:nvSpPr>
        <p:spPr>
          <a:xfrm>
            <a:off x="2866770" y="4269994"/>
            <a:ext cx="4549775" cy="1686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spc="-10" dirty="0" smtClean="0">
                <a:latin typeface="Arial"/>
                <a:cs typeface="Arial"/>
              </a:rPr>
              <a:t>Peng, Sheng-Lung</a:t>
            </a:r>
          </a:p>
          <a:p>
            <a:pPr algn="ctr">
              <a:lnSpc>
                <a:spcPct val="100000"/>
              </a:lnSpc>
            </a:pPr>
            <a:r>
              <a:rPr lang="en-US" altLang="zh-TW" sz="2000" spc="-10" dirty="0" smtClean="0">
                <a:latin typeface="Arial"/>
                <a:cs typeface="Arial"/>
              </a:rPr>
              <a:t>&amp;</a:t>
            </a:r>
            <a:r>
              <a:rPr lang="zh-TW" altLang="en-US" sz="2000" spc="-10" dirty="0" smtClean="0">
                <a:latin typeface="Arial"/>
                <a:cs typeface="Arial"/>
              </a:rPr>
              <a:t> </a:t>
            </a:r>
            <a:r>
              <a:rPr lang="en-US" sz="2000" spc="-10" dirty="0" err="1" smtClean="0">
                <a:latin typeface="Arial"/>
                <a:cs typeface="Arial"/>
              </a:rPr>
              <a:t>Ond</a:t>
            </a:r>
            <a:r>
              <a:rPr lang="cs-CZ" sz="2000" spc="-10" dirty="0" smtClean="0">
                <a:latin typeface="Arial"/>
                <a:cs typeface="Arial"/>
              </a:rPr>
              <a:t>řej Navrátil</a:t>
            </a:r>
            <a:endParaRPr sz="2000" dirty="0">
              <a:latin typeface="Arial"/>
              <a:cs typeface="Arial"/>
            </a:endParaRPr>
          </a:p>
          <a:p>
            <a:pPr marL="12700" marR="5080" algn="ctr">
              <a:lnSpc>
                <a:spcPct val="119800"/>
              </a:lnSpc>
              <a:spcBef>
                <a:spcPts val="10"/>
              </a:spcBef>
            </a:pPr>
            <a:r>
              <a:rPr sz="2400" spc="-5" dirty="0">
                <a:latin typeface="Arial"/>
                <a:cs typeface="Arial"/>
              </a:rPr>
              <a:t>Department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Computer Science  National </a:t>
            </a:r>
            <a:r>
              <a:rPr lang="en-US" sz="2400" spc="-5" dirty="0" smtClean="0">
                <a:latin typeface="Arial"/>
                <a:cs typeface="Arial"/>
              </a:rPr>
              <a:t>Dong Hwa </a:t>
            </a:r>
            <a:r>
              <a:rPr sz="2400" spc="-5" dirty="0" smtClean="0">
                <a:latin typeface="Arial"/>
                <a:cs typeface="Arial"/>
              </a:rPr>
              <a:t>University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Templates in</a:t>
            </a:r>
            <a:r>
              <a:rPr sz="4400" spc="-60" dirty="0"/>
              <a:t> </a:t>
            </a:r>
            <a:r>
              <a:rPr sz="4400" spc="-5" dirty="0"/>
              <a:t>C++</a:t>
            </a:r>
            <a:endParaRPr sz="4400" dirty="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27047" y="2364994"/>
            <a:ext cx="7673340" cy="3519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2324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Template function </a:t>
            </a:r>
            <a:r>
              <a:rPr sz="3200" spc="-5" dirty="0">
                <a:latin typeface="Arial"/>
                <a:cs typeface="Arial"/>
              </a:rPr>
              <a:t>in C++ </a:t>
            </a:r>
            <a:r>
              <a:rPr sz="3200" spc="-10" dirty="0">
                <a:latin typeface="Arial"/>
                <a:cs typeface="Arial"/>
              </a:rPr>
              <a:t>makes it  easier </a:t>
            </a:r>
            <a:r>
              <a:rPr sz="3200" spc="-5" dirty="0">
                <a:latin typeface="Arial"/>
                <a:cs typeface="Arial"/>
              </a:rPr>
              <a:t>to </a:t>
            </a:r>
            <a:r>
              <a:rPr sz="3200" spc="-10" dirty="0">
                <a:latin typeface="Arial"/>
                <a:cs typeface="Arial"/>
              </a:rPr>
              <a:t>reuse classes </a:t>
            </a:r>
            <a:r>
              <a:rPr sz="3200" spc="-5" dirty="0">
                <a:latin typeface="Arial"/>
                <a:cs typeface="Arial"/>
              </a:rPr>
              <a:t>and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functions.</a:t>
            </a:r>
            <a:endParaRPr sz="32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A </a:t>
            </a:r>
            <a:r>
              <a:rPr sz="3200" spc="-10" dirty="0">
                <a:latin typeface="Arial"/>
                <a:cs typeface="Arial"/>
              </a:rPr>
              <a:t>template </a:t>
            </a:r>
            <a:r>
              <a:rPr sz="3200" spc="-5" dirty="0">
                <a:latin typeface="Arial"/>
                <a:cs typeface="Arial"/>
              </a:rPr>
              <a:t>can be </a:t>
            </a:r>
            <a:r>
              <a:rPr sz="3200" spc="-10" dirty="0">
                <a:latin typeface="Arial"/>
                <a:cs typeface="Arial"/>
              </a:rPr>
              <a:t>viewed </a:t>
            </a:r>
            <a:r>
              <a:rPr sz="3200" spc="-5" dirty="0">
                <a:latin typeface="Arial"/>
                <a:cs typeface="Arial"/>
              </a:rPr>
              <a:t>as a </a:t>
            </a:r>
            <a:r>
              <a:rPr sz="3200" spc="-10" dirty="0">
                <a:latin typeface="Arial"/>
                <a:cs typeface="Arial"/>
              </a:rPr>
              <a:t>variable  </a:t>
            </a:r>
            <a:r>
              <a:rPr sz="3200" spc="-5" dirty="0">
                <a:latin typeface="Arial"/>
                <a:cs typeface="Arial"/>
              </a:rPr>
              <a:t>that can be </a:t>
            </a:r>
            <a:r>
              <a:rPr sz="3200" spc="-10" dirty="0">
                <a:latin typeface="Arial"/>
                <a:cs typeface="Arial"/>
              </a:rPr>
              <a:t>instantiated </a:t>
            </a:r>
            <a:r>
              <a:rPr sz="3200" spc="-5" dirty="0">
                <a:latin typeface="Arial"/>
                <a:cs typeface="Arial"/>
              </a:rPr>
              <a:t>to any data </a:t>
            </a:r>
            <a:r>
              <a:rPr sz="3200" spc="-10" dirty="0">
                <a:latin typeface="Arial"/>
                <a:cs typeface="Arial"/>
              </a:rPr>
              <a:t>type,  irrespective </a:t>
            </a:r>
            <a:r>
              <a:rPr sz="3200" spc="-5" dirty="0">
                <a:latin typeface="Arial"/>
                <a:cs typeface="Arial"/>
              </a:rPr>
              <a:t>of </a:t>
            </a:r>
            <a:r>
              <a:rPr sz="3200" spc="-10" dirty="0">
                <a:latin typeface="Arial"/>
                <a:cs typeface="Arial"/>
              </a:rPr>
              <a:t>whether </a:t>
            </a:r>
            <a:r>
              <a:rPr sz="3200" spc="-5" dirty="0">
                <a:latin typeface="Arial"/>
                <a:cs typeface="Arial"/>
              </a:rPr>
              <a:t>this data type </a:t>
            </a:r>
            <a:r>
              <a:rPr sz="3200" spc="-10" dirty="0">
                <a:latin typeface="Arial"/>
                <a:cs typeface="Arial"/>
              </a:rPr>
              <a:t>is  </a:t>
            </a:r>
            <a:r>
              <a:rPr sz="3200" spc="-5" dirty="0">
                <a:latin typeface="Arial"/>
                <a:cs typeface="Arial"/>
              </a:rPr>
              <a:t>a </a:t>
            </a:r>
            <a:r>
              <a:rPr sz="3200" spc="-10" dirty="0">
                <a:latin typeface="Arial"/>
                <a:cs typeface="Arial"/>
              </a:rPr>
              <a:t>fundamental </a:t>
            </a:r>
            <a:r>
              <a:rPr sz="3200" spc="-5" dirty="0">
                <a:latin typeface="Arial"/>
                <a:cs typeface="Arial"/>
              </a:rPr>
              <a:t>C++ type or a </a:t>
            </a:r>
            <a:r>
              <a:rPr sz="3200" spc="-10" dirty="0">
                <a:latin typeface="Arial"/>
                <a:cs typeface="Arial"/>
              </a:rPr>
              <a:t>user-  defined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type.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485503" y="6638290"/>
            <a:ext cx="1244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Selection Sort Using</a:t>
            </a:r>
            <a:r>
              <a:rPr sz="4400" spc="-10" dirty="0"/>
              <a:t> </a:t>
            </a:r>
            <a:r>
              <a:rPr sz="4400" spc="-5" dirty="0"/>
              <a:t>Template</a:t>
            </a:r>
            <a:endParaRPr sz="4400"/>
          </a:p>
        </p:txBody>
      </p:sp>
      <p:sp>
        <p:nvSpPr>
          <p:cNvPr id="7" name="object 7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206349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82089" y="1797303"/>
            <a:ext cx="6424930" cy="213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137410">
              <a:lnSpc>
                <a:spcPct val="100000"/>
              </a:lnSpc>
            </a:pPr>
            <a:r>
              <a:rPr sz="2000" b="1" spc="-5" dirty="0">
                <a:solidFill>
                  <a:srgbClr val="CC3300"/>
                </a:solidFill>
                <a:latin typeface="Courier New"/>
                <a:cs typeface="Courier New"/>
              </a:rPr>
              <a:t>Template &lt;class KeyType&gt;  </a:t>
            </a:r>
            <a:r>
              <a:rPr sz="2000" b="1" spc="-5" dirty="0">
                <a:latin typeface="Courier New"/>
                <a:cs typeface="Courier New"/>
              </a:rPr>
              <a:t>void sort(</a:t>
            </a:r>
            <a:r>
              <a:rPr sz="2000" b="1" spc="-5" dirty="0">
                <a:solidFill>
                  <a:srgbClr val="CC3300"/>
                </a:solidFill>
                <a:latin typeface="Courier New"/>
                <a:cs typeface="Courier New"/>
              </a:rPr>
              <a:t>KeyType </a:t>
            </a:r>
            <a:r>
              <a:rPr sz="2000" b="1" spc="-5" dirty="0">
                <a:latin typeface="Courier New"/>
                <a:cs typeface="Courier New"/>
              </a:rPr>
              <a:t>*a, int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n)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// sort the n KeyTypes a[0] to a[n-1]</a:t>
            </a:r>
            <a:r>
              <a:rPr sz="2000" b="1" spc="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into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// nondecreasing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order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623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for (int i = 0; i &lt; n;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i++)</a:t>
            </a:r>
            <a:endParaRPr sz="2000">
              <a:latin typeface="Courier New"/>
              <a:cs typeface="Courier New"/>
            </a:endParaRPr>
          </a:p>
          <a:p>
            <a:pPr marL="31623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19284" y="4235704"/>
            <a:ext cx="13970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to</a:t>
            </a:r>
            <a:r>
              <a:rPr sz="2000" b="1" spc="-7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a[n-1]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00289" y="4235704"/>
            <a:ext cx="1092200" cy="943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 marR="5080" indent="-635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in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a[i]  k++)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k;}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4839" y="2920745"/>
            <a:ext cx="824484" cy="3429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90926" y="3930903"/>
            <a:ext cx="3683000" cy="185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int j =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i;</a:t>
            </a:r>
            <a:endParaRPr sz="2000">
              <a:latin typeface="Courier New"/>
              <a:cs typeface="Courier New"/>
            </a:endParaRPr>
          </a:p>
          <a:p>
            <a:pPr marL="12700" marR="5080" algn="r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// find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smallest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KeyType  for (int k = i+1; k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&lt;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n;  if (a[k] &lt; a[j]) { j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=</a:t>
            </a:r>
            <a:endParaRPr sz="2000">
              <a:latin typeface="Courier New"/>
              <a:cs typeface="Courier New"/>
            </a:endParaRPr>
          </a:p>
          <a:p>
            <a:pPr marL="12700" marR="61468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// interchange  </a:t>
            </a:r>
            <a:r>
              <a:rPr sz="2000" b="1" spc="-5" dirty="0">
                <a:solidFill>
                  <a:srgbClr val="CC3300"/>
                </a:solidFill>
                <a:latin typeface="Courier New"/>
                <a:cs typeface="Courier New"/>
              </a:rPr>
              <a:t>KeyType </a:t>
            </a:r>
            <a:r>
              <a:rPr sz="2000" b="1" spc="-5" dirty="0">
                <a:latin typeface="Courier New"/>
                <a:cs typeface="Courier New"/>
              </a:rPr>
              <a:t>temp =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a[i];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0926" y="5759703"/>
            <a:ext cx="635000" cy="638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a[i]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a[j]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2799" y="5759703"/>
            <a:ext cx="1092200" cy="638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=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a[j];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=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temp;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485503" y="6638290"/>
            <a:ext cx="1244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24989" y="6369303"/>
            <a:ext cx="177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82089" y="6674104"/>
            <a:ext cx="177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6" y="750823"/>
            <a:ext cx="629145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/>
              <a:t>Selection Sort Using</a:t>
            </a:r>
            <a:r>
              <a:rPr spc="-105" dirty="0"/>
              <a:t> </a:t>
            </a:r>
            <a:r>
              <a:rPr dirty="0" smtClean="0"/>
              <a:t>Template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altLang="zh-TW" dirty="0"/>
              <a:t>(contd</a:t>
            </a:r>
            <a:r>
              <a:rPr lang="en-US" altLang="zh-TW" dirty="0" smtClean="0"/>
              <a:t>.)</a:t>
            </a:r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1694827" y="2810637"/>
            <a:ext cx="3314065" cy="11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float </a:t>
            </a:r>
            <a:r>
              <a:rPr sz="2400" b="1" spc="-10" dirty="0">
                <a:latin typeface="Courier New"/>
                <a:cs typeface="Courier New"/>
              </a:rPr>
              <a:t>farray[100];  </a:t>
            </a:r>
            <a:r>
              <a:rPr sz="2400" b="1" spc="-5" dirty="0">
                <a:latin typeface="Courier New"/>
                <a:cs typeface="Courier New"/>
              </a:rPr>
              <a:t>int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intarray[250];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……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62250" y="3907917"/>
            <a:ext cx="11226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arrays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40307" y="3907917"/>
            <a:ext cx="27673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are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initialized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94827" y="3907917"/>
            <a:ext cx="3312160" cy="11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 Assume that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the</a:t>
            </a:r>
            <a:endParaRPr sz="2400" dirty="0">
              <a:latin typeface="Courier New"/>
              <a:cs typeface="Courier New"/>
            </a:endParaRPr>
          </a:p>
          <a:p>
            <a:pPr marL="12700" marR="187325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 at this </a:t>
            </a:r>
            <a:r>
              <a:rPr sz="2400" b="1" spc="-10" dirty="0">
                <a:latin typeface="Courier New"/>
                <a:cs typeface="Courier New"/>
              </a:rPr>
              <a:t>point  </a:t>
            </a:r>
            <a:r>
              <a:rPr sz="2400" b="1" spc="-5" dirty="0">
                <a:latin typeface="Courier New"/>
                <a:cs typeface="Courier New"/>
              </a:rPr>
              <a:t>sort(farray,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100</a:t>
            </a:r>
            <a:r>
              <a:rPr sz="2400" b="1" spc="-10" dirty="0" smtClean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94827" y="5005196"/>
            <a:ext cx="349440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sort(intarray,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250)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485503" y="6638290"/>
            <a:ext cx="1244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5</a:t>
            </a:r>
            <a:endParaRPr sz="3200" dirty="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pc="-5" dirty="0"/>
              <a:t>Stack: Last-In-First-Out </a:t>
            </a:r>
            <a:r>
              <a:rPr dirty="0"/>
              <a:t>(LIFO) List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27047" y="2364994"/>
            <a:ext cx="7006590" cy="2107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Push</a:t>
            </a:r>
            <a:endParaRPr sz="32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Add </a:t>
            </a:r>
            <a:r>
              <a:rPr sz="2800" dirty="0">
                <a:latin typeface="Arial"/>
                <a:cs typeface="Arial"/>
              </a:rPr>
              <a:t>an element into a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stack</a:t>
            </a: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Pop</a:t>
            </a:r>
            <a:endParaRPr sz="32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Get </a:t>
            </a:r>
            <a:r>
              <a:rPr sz="2800" dirty="0">
                <a:latin typeface="Arial"/>
                <a:cs typeface="Arial"/>
              </a:rPr>
              <a:t>and delete an element from 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stack</a:t>
            </a:r>
          </a:p>
        </p:txBody>
      </p:sp>
      <p:sp>
        <p:nvSpPr>
          <p:cNvPr id="9" name="object 9"/>
          <p:cNvSpPr/>
          <p:nvPr/>
        </p:nvSpPr>
        <p:spPr>
          <a:xfrm>
            <a:off x="774839" y="377799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35743" y="4917947"/>
            <a:ext cx="470534" cy="574675"/>
          </a:xfrm>
          <a:custGeom>
            <a:avLst/>
            <a:gdLst/>
            <a:ahLst/>
            <a:cxnLst/>
            <a:rect l="l" t="t" r="r" b="b"/>
            <a:pathLst>
              <a:path w="470535" h="574675">
                <a:moveTo>
                  <a:pt x="470153" y="574548"/>
                </a:moveTo>
                <a:lnTo>
                  <a:pt x="470153" y="0"/>
                </a:lnTo>
                <a:lnTo>
                  <a:pt x="0" y="0"/>
                </a:lnTo>
                <a:lnTo>
                  <a:pt x="0" y="574548"/>
                </a:lnTo>
                <a:lnTo>
                  <a:pt x="6096" y="574548"/>
                </a:lnTo>
                <a:lnTo>
                  <a:pt x="6096" y="12953"/>
                </a:lnTo>
                <a:lnTo>
                  <a:pt x="12953" y="6857"/>
                </a:lnTo>
                <a:lnTo>
                  <a:pt x="12953" y="12953"/>
                </a:lnTo>
                <a:lnTo>
                  <a:pt x="457200" y="12953"/>
                </a:lnTo>
                <a:lnTo>
                  <a:pt x="457200" y="6857"/>
                </a:lnTo>
                <a:lnTo>
                  <a:pt x="463296" y="12953"/>
                </a:lnTo>
                <a:lnTo>
                  <a:pt x="463296" y="574548"/>
                </a:lnTo>
                <a:lnTo>
                  <a:pt x="470153" y="574548"/>
                </a:lnTo>
                <a:close/>
              </a:path>
              <a:path w="470535" h="574675">
                <a:moveTo>
                  <a:pt x="12953" y="12953"/>
                </a:moveTo>
                <a:lnTo>
                  <a:pt x="12953" y="6857"/>
                </a:lnTo>
                <a:lnTo>
                  <a:pt x="6096" y="12953"/>
                </a:lnTo>
                <a:lnTo>
                  <a:pt x="12953" y="12953"/>
                </a:lnTo>
                <a:close/>
              </a:path>
              <a:path w="470535" h="574675">
                <a:moveTo>
                  <a:pt x="12953" y="574548"/>
                </a:moveTo>
                <a:lnTo>
                  <a:pt x="12953" y="12953"/>
                </a:lnTo>
                <a:lnTo>
                  <a:pt x="6096" y="12953"/>
                </a:lnTo>
                <a:lnTo>
                  <a:pt x="6096" y="574548"/>
                </a:lnTo>
                <a:lnTo>
                  <a:pt x="12953" y="574548"/>
                </a:lnTo>
                <a:close/>
              </a:path>
              <a:path w="470535" h="574675">
                <a:moveTo>
                  <a:pt x="463296" y="12953"/>
                </a:moveTo>
                <a:lnTo>
                  <a:pt x="457200" y="6857"/>
                </a:lnTo>
                <a:lnTo>
                  <a:pt x="457200" y="12953"/>
                </a:lnTo>
                <a:lnTo>
                  <a:pt x="463296" y="12953"/>
                </a:lnTo>
                <a:close/>
              </a:path>
              <a:path w="470535" h="574675">
                <a:moveTo>
                  <a:pt x="463296" y="574548"/>
                </a:moveTo>
                <a:lnTo>
                  <a:pt x="463296" y="12953"/>
                </a:lnTo>
                <a:lnTo>
                  <a:pt x="457200" y="12953"/>
                </a:lnTo>
                <a:lnTo>
                  <a:pt x="457200" y="574548"/>
                </a:lnTo>
                <a:lnTo>
                  <a:pt x="463296" y="5745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50343" y="4917947"/>
            <a:ext cx="470534" cy="574675"/>
          </a:xfrm>
          <a:custGeom>
            <a:avLst/>
            <a:gdLst/>
            <a:ahLst/>
            <a:cxnLst/>
            <a:rect l="l" t="t" r="r" b="b"/>
            <a:pathLst>
              <a:path w="470535" h="574675">
                <a:moveTo>
                  <a:pt x="470153" y="574548"/>
                </a:moveTo>
                <a:lnTo>
                  <a:pt x="470153" y="0"/>
                </a:lnTo>
                <a:lnTo>
                  <a:pt x="0" y="0"/>
                </a:lnTo>
                <a:lnTo>
                  <a:pt x="0" y="574548"/>
                </a:lnTo>
                <a:lnTo>
                  <a:pt x="6096" y="574548"/>
                </a:lnTo>
                <a:lnTo>
                  <a:pt x="6096" y="12953"/>
                </a:lnTo>
                <a:lnTo>
                  <a:pt x="12953" y="6857"/>
                </a:lnTo>
                <a:lnTo>
                  <a:pt x="12953" y="12953"/>
                </a:lnTo>
                <a:lnTo>
                  <a:pt x="457200" y="12953"/>
                </a:lnTo>
                <a:lnTo>
                  <a:pt x="457200" y="6857"/>
                </a:lnTo>
                <a:lnTo>
                  <a:pt x="463283" y="12953"/>
                </a:lnTo>
                <a:lnTo>
                  <a:pt x="463283" y="574548"/>
                </a:lnTo>
                <a:lnTo>
                  <a:pt x="470153" y="574548"/>
                </a:lnTo>
                <a:close/>
              </a:path>
              <a:path w="470535" h="574675">
                <a:moveTo>
                  <a:pt x="12953" y="12953"/>
                </a:moveTo>
                <a:lnTo>
                  <a:pt x="12953" y="6857"/>
                </a:lnTo>
                <a:lnTo>
                  <a:pt x="6096" y="12953"/>
                </a:lnTo>
                <a:lnTo>
                  <a:pt x="12953" y="12953"/>
                </a:lnTo>
                <a:close/>
              </a:path>
              <a:path w="470535" h="574675">
                <a:moveTo>
                  <a:pt x="12953" y="574548"/>
                </a:moveTo>
                <a:lnTo>
                  <a:pt x="12953" y="12953"/>
                </a:lnTo>
                <a:lnTo>
                  <a:pt x="6096" y="12953"/>
                </a:lnTo>
                <a:lnTo>
                  <a:pt x="6096" y="574548"/>
                </a:lnTo>
                <a:lnTo>
                  <a:pt x="12953" y="574548"/>
                </a:lnTo>
                <a:close/>
              </a:path>
              <a:path w="470535" h="574675">
                <a:moveTo>
                  <a:pt x="463283" y="12953"/>
                </a:moveTo>
                <a:lnTo>
                  <a:pt x="457200" y="6857"/>
                </a:lnTo>
                <a:lnTo>
                  <a:pt x="457200" y="12953"/>
                </a:lnTo>
                <a:lnTo>
                  <a:pt x="463283" y="12953"/>
                </a:lnTo>
                <a:close/>
              </a:path>
              <a:path w="470535" h="574675">
                <a:moveTo>
                  <a:pt x="463283" y="574548"/>
                </a:moveTo>
                <a:lnTo>
                  <a:pt x="463283" y="12953"/>
                </a:lnTo>
                <a:lnTo>
                  <a:pt x="457200" y="12953"/>
                </a:lnTo>
                <a:lnTo>
                  <a:pt x="457200" y="574548"/>
                </a:lnTo>
                <a:lnTo>
                  <a:pt x="463283" y="5745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31143" y="4917947"/>
            <a:ext cx="546735" cy="574675"/>
          </a:xfrm>
          <a:custGeom>
            <a:avLst/>
            <a:gdLst/>
            <a:ahLst/>
            <a:cxnLst/>
            <a:rect l="l" t="t" r="r" b="b"/>
            <a:pathLst>
              <a:path w="546735" h="574675">
                <a:moveTo>
                  <a:pt x="546353" y="574548"/>
                </a:moveTo>
                <a:lnTo>
                  <a:pt x="546353" y="0"/>
                </a:lnTo>
                <a:lnTo>
                  <a:pt x="0" y="0"/>
                </a:lnTo>
                <a:lnTo>
                  <a:pt x="0" y="574548"/>
                </a:lnTo>
                <a:lnTo>
                  <a:pt x="6096" y="574548"/>
                </a:lnTo>
                <a:lnTo>
                  <a:pt x="6096" y="12953"/>
                </a:lnTo>
                <a:lnTo>
                  <a:pt x="12953" y="6857"/>
                </a:lnTo>
                <a:lnTo>
                  <a:pt x="12953" y="12953"/>
                </a:lnTo>
                <a:lnTo>
                  <a:pt x="533400" y="12953"/>
                </a:lnTo>
                <a:lnTo>
                  <a:pt x="533400" y="6857"/>
                </a:lnTo>
                <a:lnTo>
                  <a:pt x="539496" y="12953"/>
                </a:lnTo>
                <a:lnTo>
                  <a:pt x="539496" y="574548"/>
                </a:lnTo>
                <a:lnTo>
                  <a:pt x="546353" y="574548"/>
                </a:lnTo>
                <a:close/>
              </a:path>
              <a:path w="546735" h="574675">
                <a:moveTo>
                  <a:pt x="12953" y="12953"/>
                </a:moveTo>
                <a:lnTo>
                  <a:pt x="12953" y="6857"/>
                </a:lnTo>
                <a:lnTo>
                  <a:pt x="6096" y="12953"/>
                </a:lnTo>
                <a:lnTo>
                  <a:pt x="12953" y="12953"/>
                </a:lnTo>
                <a:close/>
              </a:path>
              <a:path w="546735" h="574675">
                <a:moveTo>
                  <a:pt x="12953" y="574548"/>
                </a:moveTo>
                <a:lnTo>
                  <a:pt x="12953" y="12953"/>
                </a:lnTo>
                <a:lnTo>
                  <a:pt x="6096" y="12953"/>
                </a:lnTo>
                <a:lnTo>
                  <a:pt x="6096" y="574548"/>
                </a:lnTo>
                <a:lnTo>
                  <a:pt x="12953" y="574548"/>
                </a:lnTo>
                <a:close/>
              </a:path>
              <a:path w="546735" h="574675">
                <a:moveTo>
                  <a:pt x="539496" y="12953"/>
                </a:moveTo>
                <a:lnTo>
                  <a:pt x="533400" y="6857"/>
                </a:lnTo>
                <a:lnTo>
                  <a:pt x="533400" y="12953"/>
                </a:lnTo>
                <a:lnTo>
                  <a:pt x="539496" y="12953"/>
                </a:lnTo>
                <a:close/>
              </a:path>
              <a:path w="546735" h="574675">
                <a:moveTo>
                  <a:pt x="539496" y="574548"/>
                </a:moveTo>
                <a:lnTo>
                  <a:pt x="539496" y="12953"/>
                </a:lnTo>
                <a:lnTo>
                  <a:pt x="533400" y="12953"/>
                </a:lnTo>
                <a:lnTo>
                  <a:pt x="533400" y="574548"/>
                </a:lnTo>
                <a:lnTo>
                  <a:pt x="539496" y="5745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64943" y="4917947"/>
            <a:ext cx="470534" cy="574675"/>
          </a:xfrm>
          <a:custGeom>
            <a:avLst/>
            <a:gdLst/>
            <a:ahLst/>
            <a:cxnLst/>
            <a:rect l="l" t="t" r="r" b="b"/>
            <a:pathLst>
              <a:path w="470534" h="574675">
                <a:moveTo>
                  <a:pt x="470153" y="574548"/>
                </a:moveTo>
                <a:lnTo>
                  <a:pt x="470153" y="0"/>
                </a:lnTo>
                <a:lnTo>
                  <a:pt x="0" y="0"/>
                </a:lnTo>
                <a:lnTo>
                  <a:pt x="0" y="574548"/>
                </a:lnTo>
                <a:lnTo>
                  <a:pt x="6083" y="574548"/>
                </a:lnTo>
                <a:lnTo>
                  <a:pt x="6083" y="12953"/>
                </a:lnTo>
                <a:lnTo>
                  <a:pt x="12954" y="6857"/>
                </a:lnTo>
                <a:lnTo>
                  <a:pt x="12954" y="12953"/>
                </a:lnTo>
                <a:lnTo>
                  <a:pt x="457200" y="12953"/>
                </a:lnTo>
                <a:lnTo>
                  <a:pt x="457200" y="6857"/>
                </a:lnTo>
                <a:lnTo>
                  <a:pt x="463283" y="12953"/>
                </a:lnTo>
                <a:lnTo>
                  <a:pt x="463283" y="574548"/>
                </a:lnTo>
                <a:lnTo>
                  <a:pt x="470153" y="574548"/>
                </a:lnTo>
                <a:close/>
              </a:path>
              <a:path w="470534" h="574675">
                <a:moveTo>
                  <a:pt x="12954" y="12953"/>
                </a:moveTo>
                <a:lnTo>
                  <a:pt x="12954" y="6857"/>
                </a:lnTo>
                <a:lnTo>
                  <a:pt x="6083" y="12953"/>
                </a:lnTo>
                <a:lnTo>
                  <a:pt x="12954" y="12953"/>
                </a:lnTo>
                <a:close/>
              </a:path>
              <a:path w="470534" h="574675">
                <a:moveTo>
                  <a:pt x="12954" y="574548"/>
                </a:moveTo>
                <a:lnTo>
                  <a:pt x="12954" y="12953"/>
                </a:lnTo>
                <a:lnTo>
                  <a:pt x="6083" y="12953"/>
                </a:lnTo>
                <a:lnTo>
                  <a:pt x="6083" y="574548"/>
                </a:lnTo>
                <a:lnTo>
                  <a:pt x="12954" y="574548"/>
                </a:lnTo>
                <a:close/>
              </a:path>
              <a:path w="470534" h="574675">
                <a:moveTo>
                  <a:pt x="463283" y="12953"/>
                </a:moveTo>
                <a:lnTo>
                  <a:pt x="457200" y="6857"/>
                </a:lnTo>
                <a:lnTo>
                  <a:pt x="457200" y="12953"/>
                </a:lnTo>
                <a:lnTo>
                  <a:pt x="463283" y="12953"/>
                </a:lnTo>
                <a:close/>
              </a:path>
              <a:path w="470534" h="574675">
                <a:moveTo>
                  <a:pt x="463283" y="574548"/>
                </a:moveTo>
                <a:lnTo>
                  <a:pt x="463283" y="12953"/>
                </a:lnTo>
                <a:lnTo>
                  <a:pt x="457200" y="12953"/>
                </a:lnTo>
                <a:lnTo>
                  <a:pt x="457200" y="574548"/>
                </a:lnTo>
                <a:lnTo>
                  <a:pt x="463283" y="5745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45743" y="4917947"/>
            <a:ext cx="470534" cy="574675"/>
          </a:xfrm>
          <a:custGeom>
            <a:avLst/>
            <a:gdLst/>
            <a:ahLst/>
            <a:cxnLst/>
            <a:rect l="l" t="t" r="r" b="b"/>
            <a:pathLst>
              <a:path w="470534" h="574675">
                <a:moveTo>
                  <a:pt x="470153" y="574548"/>
                </a:moveTo>
                <a:lnTo>
                  <a:pt x="470153" y="0"/>
                </a:lnTo>
                <a:lnTo>
                  <a:pt x="0" y="0"/>
                </a:lnTo>
                <a:lnTo>
                  <a:pt x="0" y="574548"/>
                </a:lnTo>
                <a:lnTo>
                  <a:pt x="6083" y="574548"/>
                </a:lnTo>
                <a:lnTo>
                  <a:pt x="6083" y="12953"/>
                </a:lnTo>
                <a:lnTo>
                  <a:pt x="12954" y="6857"/>
                </a:lnTo>
                <a:lnTo>
                  <a:pt x="12954" y="12953"/>
                </a:lnTo>
                <a:lnTo>
                  <a:pt x="457200" y="12953"/>
                </a:lnTo>
                <a:lnTo>
                  <a:pt x="457200" y="6857"/>
                </a:lnTo>
                <a:lnTo>
                  <a:pt x="463283" y="12953"/>
                </a:lnTo>
                <a:lnTo>
                  <a:pt x="463283" y="574548"/>
                </a:lnTo>
                <a:lnTo>
                  <a:pt x="470153" y="574548"/>
                </a:lnTo>
                <a:close/>
              </a:path>
              <a:path w="470534" h="574675">
                <a:moveTo>
                  <a:pt x="12954" y="12953"/>
                </a:moveTo>
                <a:lnTo>
                  <a:pt x="12954" y="6857"/>
                </a:lnTo>
                <a:lnTo>
                  <a:pt x="6083" y="12953"/>
                </a:lnTo>
                <a:lnTo>
                  <a:pt x="12954" y="12953"/>
                </a:lnTo>
                <a:close/>
              </a:path>
              <a:path w="470534" h="574675">
                <a:moveTo>
                  <a:pt x="12954" y="574548"/>
                </a:moveTo>
                <a:lnTo>
                  <a:pt x="12954" y="12953"/>
                </a:lnTo>
                <a:lnTo>
                  <a:pt x="6083" y="12953"/>
                </a:lnTo>
                <a:lnTo>
                  <a:pt x="6083" y="574548"/>
                </a:lnTo>
                <a:lnTo>
                  <a:pt x="12954" y="574548"/>
                </a:lnTo>
                <a:close/>
              </a:path>
              <a:path w="470534" h="574675">
                <a:moveTo>
                  <a:pt x="463283" y="12953"/>
                </a:moveTo>
                <a:lnTo>
                  <a:pt x="457200" y="6857"/>
                </a:lnTo>
                <a:lnTo>
                  <a:pt x="457200" y="12953"/>
                </a:lnTo>
                <a:lnTo>
                  <a:pt x="463283" y="12953"/>
                </a:lnTo>
                <a:close/>
              </a:path>
              <a:path w="470534" h="574675">
                <a:moveTo>
                  <a:pt x="463283" y="574548"/>
                </a:moveTo>
                <a:lnTo>
                  <a:pt x="463283" y="12953"/>
                </a:lnTo>
                <a:lnTo>
                  <a:pt x="457200" y="12953"/>
                </a:lnTo>
                <a:lnTo>
                  <a:pt x="457200" y="574548"/>
                </a:lnTo>
                <a:lnTo>
                  <a:pt x="463283" y="5745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41839" y="492442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37239" y="4924425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56439" y="492442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51827" y="492442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471027" y="492442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13627" y="5420105"/>
            <a:ext cx="228600" cy="72390"/>
          </a:xfrm>
          <a:custGeom>
            <a:avLst/>
            <a:gdLst/>
            <a:ahLst/>
            <a:cxnLst/>
            <a:rect l="l" t="t" r="r" b="b"/>
            <a:pathLst>
              <a:path w="228600" h="72389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4008" y="70103"/>
                </a:lnTo>
                <a:lnTo>
                  <a:pt x="64008" y="31242"/>
                </a:lnTo>
                <a:lnTo>
                  <a:pt x="76200" y="31242"/>
                </a:lnTo>
                <a:close/>
              </a:path>
              <a:path w="228600" h="72389">
                <a:moveTo>
                  <a:pt x="228600" y="44196"/>
                </a:moveTo>
                <a:lnTo>
                  <a:pt x="228600" y="31242"/>
                </a:lnTo>
                <a:lnTo>
                  <a:pt x="64008" y="31242"/>
                </a:lnTo>
                <a:lnTo>
                  <a:pt x="64008" y="44196"/>
                </a:lnTo>
                <a:lnTo>
                  <a:pt x="228600" y="44196"/>
                </a:lnTo>
                <a:close/>
              </a:path>
              <a:path w="228600" h="72389">
                <a:moveTo>
                  <a:pt x="76200" y="72390"/>
                </a:moveTo>
                <a:lnTo>
                  <a:pt x="76200" y="44196"/>
                </a:lnTo>
                <a:lnTo>
                  <a:pt x="64008" y="44196"/>
                </a:lnTo>
                <a:lnTo>
                  <a:pt x="64008" y="70103"/>
                </a:lnTo>
                <a:lnTo>
                  <a:pt x="68580" y="72390"/>
                </a:lnTo>
                <a:lnTo>
                  <a:pt x="76200" y="72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09027" y="5039105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4007" y="70103"/>
                </a:lnTo>
                <a:lnTo>
                  <a:pt x="64007" y="31242"/>
                </a:lnTo>
                <a:lnTo>
                  <a:pt x="76200" y="31242"/>
                </a:lnTo>
                <a:close/>
              </a:path>
              <a:path w="228600" h="76200">
                <a:moveTo>
                  <a:pt x="228600" y="44196"/>
                </a:moveTo>
                <a:lnTo>
                  <a:pt x="228600" y="31242"/>
                </a:lnTo>
                <a:lnTo>
                  <a:pt x="64007" y="31242"/>
                </a:lnTo>
                <a:lnTo>
                  <a:pt x="64007" y="44196"/>
                </a:lnTo>
                <a:lnTo>
                  <a:pt x="228600" y="44196"/>
                </a:lnTo>
                <a:close/>
              </a:path>
              <a:path w="228600" h="76200">
                <a:moveTo>
                  <a:pt x="76200" y="76200"/>
                </a:moveTo>
                <a:lnTo>
                  <a:pt x="76200" y="44196"/>
                </a:lnTo>
                <a:lnTo>
                  <a:pt x="64007" y="44196"/>
                </a:lnTo>
                <a:lnTo>
                  <a:pt x="64007" y="7010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928227" y="5420105"/>
            <a:ext cx="228600" cy="72390"/>
          </a:xfrm>
          <a:custGeom>
            <a:avLst/>
            <a:gdLst/>
            <a:ahLst/>
            <a:cxnLst/>
            <a:rect l="l" t="t" r="r" b="b"/>
            <a:pathLst>
              <a:path w="228600" h="72389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4007" y="70103"/>
                </a:lnTo>
                <a:lnTo>
                  <a:pt x="64007" y="31242"/>
                </a:lnTo>
                <a:lnTo>
                  <a:pt x="76200" y="31242"/>
                </a:lnTo>
                <a:close/>
              </a:path>
              <a:path w="228600" h="72389">
                <a:moveTo>
                  <a:pt x="228600" y="44196"/>
                </a:moveTo>
                <a:lnTo>
                  <a:pt x="228600" y="31242"/>
                </a:lnTo>
                <a:lnTo>
                  <a:pt x="64007" y="31242"/>
                </a:lnTo>
                <a:lnTo>
                  <a:pt x="64007" y="44196"/>
                </a:lnTo>
                <a:lnTo>
                  <a:pt x="228600" y="44196"/>
                </a:lnTo>
                <a:close/>
              </a:path>
              <a:path w="228600" h="72389">
                <a:moveTo>
                  <a:pt x="76200" y="72390"/>
                </a:moveTo>
                <a:lnTo>
                  <a:pt x="76200" y="44196"/>
                </a:lnTo>
                <a:lnTo>
                  <a:pt x="64007" y="44196"/>
                </a:lnTo>
                <a:lnTo>
                  <a:pt x="64007" y="70103"/>
                </a:lnTo>
                <a:lnTo>
                  <a:pt x="68580" y="72390"/>
                </a:lnTo>
                <a:lnTo>
                  <a:pt x="76200" y="72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692786" y="5310505"/>
            <a:ext cx="448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top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00365" y="4861559"/>
            <a:ext cx="448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19565" y="5261609"/>
            <a:ext cx="448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080145" y="4927853"/>
            <a:ext cx="470534" cy="565150"/>
          </a:xfrm>
          <a:custGeom>
            <a:avLst/>
            <a:gdLst/>
            <a:ahLst/>
            <a:cxnLst/>
            <a:rect l="l" t="t" r="r" b="b"/>
            <a:pathLst>
              <a:path w="470535" h="565150">
                <a:moveTo>
                  <a:pt x="470154" y="564642"/>
                </a:moveTo>
                <a:lnTo>
                  <a:pt x="470154" y="0"/>
                </a:lnTo>
                <a:lnTo>
                  <a:pt x="0" y="0"/>
                </a:lnTo>
                <a:lnTo>
                  <a:pt x="0" y="564642"/>
                </a:lnTo>
                <a:lnTo>
                  <a:pt x="6095" y="564642"/>
                </a:lnTo>
                <a:lnTo>
                  <a:pt x="6095" y="12192"/>
                </a:lnTo>
                <a:lnTo>
                  <a:pt x="12954" y="6096"/>
                </a:lnTo>
                <a:lnTo>
                  <a:pt x="12954" y="12192"/>
                </a:lnTo>
                <a:lnTo>
                  <a:pt x="457200" y="12192"/>
                </a:lnTo>
                <a:lnTo>
                  <a:pt x="457200" y="6096"/>
                </a:lnTo>
                <a:lnTo>
                  <a:pt x="463295" y="12192"/>
                </a:lnTo>
                <a:lnTo>
                  <a:pt x="463295" y="564642"/>
                </a:lnTo>
                <a:lnTo>
                  <a:pt x="470154" y="564642"/>
                </a:lnTo>
                <a:close/>
              </a:path>
              <a:path w="470535" h="565150">
                <a:moveTo>
                  <a:pt x="12954" y="12192"/>
                </a:moveTo>
                <a:lnTo>
                  <a:pt x="12954" y="6096"/>
                </a:lnTo>
                <a:lnTo>
                  <a:pt x="6095" y="12192"/>
                </a:lnTo>
                <a:lnTo>
                  <a:pt x="12954" y="12192"/>
                </a:lnTo>
                <a:close/>
              </a:path>
              <a:path w="470535" h="565150">
                <a:moveTo>
                  <a:pt x="12954" y="564642"/>
                </a:moveTo>
                <a:lnTo>
                  <a:pt x="12954" y="12192"/>
                </a:lnTo>
                <a:lnTo>
                  <a:pt x="6095" y="12192"/>
                </a:lnTo>
                <a:lnTo>
                  <a:pt x="6095" y="564642"/>
                </a:lnTo>
                <a:lnTo>
                  <a:pt x="12954" y="564642"/>
                </a:lnTo>
                <a:close/>
              </a:path>
              <a:path w="470535" h="565150">
                <a:moveTo>
                  <a:pt x="463295" y="12192"/>
                </a:moveTo>
                <a:lnTo>
                  <a:pt x="457200" y="6096"/>
                </a:lnTo>
                <a:lnTo>
                  <a:pt x="457200" y="12192"/>
                </a:lnTo>
                <a:lnTo>
                  <a:pt x="463295" y="12192"/>
                </a:lnTo>
                <a:close/>
              </a:path>
              <a:path w="470535" h="565150">
                <a:moveTo>
                  <a:pt x="463295" y="564642"/>
                </a:moveTo>
                <a:lnTo>
                  <a:pt x="463295" y="12192"/>
                </a:lnTo>
                <a:lnTo>
                  <a:pt x="457200" y="12192"/>
                </a:lnTo>
                <a:lnTo>
                  <a:pt x="457200" y="564642"/>
                </a:lnTo>
                <a:lnTo>
                  <a:pt x="463295" y="5646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87765" y="4929378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42220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899420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56820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14020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061836" y="5319521"/>
            <a:ext cx="2457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737620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71020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471420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928620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576436" y="5319521"/>
            <a:ext cx="2457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252220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709420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357236" y="4953761"/>
            <a:ext cx="245745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825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E  </a:t>
            </a:r>
            <a:r>
              <a:rPr sz="2400" spc="-5" dirty="0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899039" y="6258305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4008" y="70103"/>
                </a:lnTo>
                <a:lnTo>
                  <a:pt x="64008" y="31242"/>
                </a:lnTo>
                <a:lnTo>
                  <a:pt x="76200" y="31242"/>
                </a:lnTo>
                <a:close/>
              </a:path>
              <a:path w="228600" h="76200">
                <a:moveTo>
                  <a:pt x="228600" y="44196"/>
                </a:moveTo>
                <a:lnTo>
                  <a:pt x="228600" y="31242"/>
                </a:lnTo>
                <a:lnTo>
                  <a:pt x="64008" y="31242"/>
                </a:lnTo>
                <a:lnTo>
                  <a:pt x="64008" y="44196"/>
                </a:lnTo>
                <a:lnTo>
                  <a:pt x="228600" y="44196"/>
                </a:lnTo>
                <a:close/>
              </a:path>
              <a:path w="228600" h="76200">
                <a:moveTo>
                  <a:pt x="76200" y="76200"/>
                </a:moveTo>
                <a:lnTo>
                  <a:pt x="76200" y="44196"/>
                </a:lnTo>
                <a:lnTo>
                  <a:pt x="64008" y="44196"/>
                </a:lnTo>
                <a:lnTo>
                  <a:pt x="64008" y="7010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270639" y="5801105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4008" y="70103"/>
                </a:lnTo>
                <a:lnTo>
                  <a:pt x="64008" y="31242"/>
                </a:lnTo>
                <a:lnTo>
                  <a:pt x="76200" y="31242"/>
                </a:lnTo>
                <a:close/>
              </a:path>
              <a:path w="228600" h="76200">
                <a:moveTo>
                  <a:pt x="228600" y="44196"/>
                </a:moveTo>
                <a:lnTo>
                  <a:pt x="228600" y="31242"/>
                </a:lnTo>
                <a:lnTo>
                  <a:pt x="64008" y="31242"/>
                </a:lnTo>
                <a:lnTo>
                  <a:pt x="64008" y="44196"/>
                </a:lnTo>
                <a:lnTo>
                  <a:pt x="228600" y="44196"/>
                </a:lnTo>
                <a:close/>
              </a:path>
              <a:path w="228600" h="76200">
                <a:moveTo>
                  <a:pt x="76200" y="76200"/>
                </a:moveTo>
                <a:lnTo>
                  <a:pt x="76200" y="44196"/>
                </a:lnTo>
                <a:lnTo>
                  <a:pt x="64008" y="44196"/>
                </a:lnTo>
                <a:lnTo>
                  <a:pt x="64008" y="7010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482207" y="549249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10">
                <a:moveTo>
                  <a:pt x="7619" y="3809"/>
                </a:moveTo>
                <a:lnTo>
                  <a:pt x="7619" y="0"/>
                </a:lnTo>
                <a:lnTo>
                  <a:pt x="0" y="0"/>
                </a:lnTo>
                <a:lnTo>
                  <a:pt x="7619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996806" y="549249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10">
                <a:moveTo>
                  <a:pt x="7619" y="3809"/>
                </a:moveTo>
                <a:lnTo>
                  <a:pt x="7619" y="0"/>
                </a:lnTo>
                <a:lnTo>
                  <a:pt x="0" y="0"/>
                </a:lnTo>
                <a:lnTo>
                  <a:pt x="7619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4190365" y="6083808"/>
            <a:ext cx="448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14721" y="5647182"/>
            <a:ext cx="793115" cy="414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top</a:t>
            </a:r>
            <a:r>
              <a:rPr sz="2400" spc="210" dirty="0">
                <a:latin typeface="Arial"/>
                <a:cs typeface="Arial"/>
              </a:rPr>
              <a:t> </a:t>
            </a:r>
            <a:r>
              <a:rPr sz="3600" spc="-7" baseline="-6944" dirty="0">
                <a:latin typeface="Arial"/>
                <a:cs typeface="Arial"/>
              </a:rPr>
              <a:t>C</a:t>
            </a:r>
            <a:endParaRPr sz="3600" baseline="-6944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086622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543822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9485503" y="6638290"/>
            <a:ext cx="1244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435743" y="6349746"/>
            <a:ext cx="470534" cy="486409"/>
          </a:xfrm>
          <a:custGeom>
            <a:avLst/>
            <a:gdLst/>
            <a:ahLst/>
            <a:cxnLst/>
            <a:rect l="l" t="t" r="r" b="b"/>
            <a:pathLst>
              <a:path w="470535" h="486409">
                <a:moveTo>
                  <a:pt x="12953" y="473201"/>
                </a:moveTo>
                <a:lnTo>
                  <a:pt x="12953" y="0"/>
                </a:lnTo>
                <a:lnTo>
                  <a:pt x="0" y="0"/>
                </a:lnTo>
                <a:lnTo>
                  <a:pt x="0" y="486155"/>
                </a:lnTo>
                <a:lnTo>
                  <a:pt x="6096" y="486155"/>
                </a:lnTo>
                <a:lnTo>
                  <a:pt x="6096" y="473201"/>
                </a:lnTo>
                <a:lnTo>
                  <a:pt x="12953" y="473201"/>
                </a:lnTo>
                <a:close/>
              </a:path>
              <a:path w="470535" h="486409">
                <a:moveTo>
                  <a:pt x="463296" y="473201"/>
                </a:moveTo>
                <a:lnTo>
                  <a:pt x="6096" y="473201"/>
                </a:lnTo>
                <a:lnTo>
                  <a:pt x="12953" y="480059"/>
                </a:lnTo>
                <a:lnTo>
                  <a:pt x="12953" y="486155"/>
                </a:lnTo>
                <a:lnTo>
                  <a:pt x="457200" y="486155"/>
                </a:lnTo>
                <a:lnTo>
                  <a:pt x="457200" y="480059"/>
                </a:lnTo>
                <a:lnTo>
                  <a:pt x="463296" y="473201"/>
                </a:lnTo>
                <a:close/>
              </a:path>
              <a:path w="470535" h="486409">
                <a:moveTo>
                  <a:pt x="12953" y="486155"/>
                </a:moveTo>
                <a:lnTo>
                  <a:pt x="12953" y="480059"/>
                </a:lnTo>
                <a:lnTo>
                  <a:pt x="6096" y="473201"/>
                </a:lnTo>
                <a:lnTo>
                  <a:pt x="6096" y="486155"/>
                </a:lnTo>
                <a:lnTo>
                  <a:pt x="12953" y="486155"/>
                </a:lnTo>
                <a:close/>
              </a:path>
              <a:path w="470535" h="486409">
                <a:moveTo>
                  <a:pt x="470153" y="486155"/>
                </a:moveTo>
                <a:lnTo>
                  <a:pt x="470153" y="0"/>
                </a:lnTo>
                <a:lnTo>
                  <a:pt x="457200" y="0"/>
                </a:lnTo>
                <a:lnTo>
                  <a:pt x="457200" y="473201"/>
                </a:lnTo>
                <a:lnTo>
                  <a:pt x="463296" y="473201"/>
                </a:lnTo>
                <a:lnTo>
                  <a:pt x="463296" y="486155"/>
                </a:lnTo>
                <a:lnTo>
                  <a:pt x="470153" y="486155"/>
                </a:lnTo>
                <a:close/>
              </a:path>
              <a:path w="470535" h="486409">
                <a:moveTo>
                  <a:pt x="463296" y="486155"/>
                </a:moveTo>
                <a:lnTo>
                  <a:pt x="463296" y="473201"/>
                </a:lnTo>
                <a:lnTo>
                  <a:pt x="457200" y="480059"/>
                </a:lnTo>
                <a:lnTo>
                  <a:pt x="457200" y="486155"/>
                </a:lnTo>
                <a:lnTo>
                  <a:pt x="463296" y="4861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555619" y="6051041"/>
            <a:ext cx="229235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B  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950343" y="6349746"/>
            <a:ext cx="470534" cy="486409"/>
          </a:xfrm>
          <a:custGeom>
            <a:avLst/>
            <a:gdLst/>
            <a:ahLst/>
            <a:cxnLst/>
            <a:rect l="l" t="t" r="r" b="b"/>
            <a:pathLst>
              <a:path w="470535" h="486409">
                <a:moveTo>
                  <a:pt x="12953" y="473202"/>
                </a:moveTo>
                <a:lnTo>
                  <a:pt x="12953" y="0"/>
                </a:lnTo>
                <a:lnTo>
                  <a:pt x="0" y="0"/>
                </a:lnTo>
                <a:lnTo>
                  <a:pt x="0" y="486156"/>
                </a:lnTo>
                <a:lnTo>
                  <a:pt x="6096" y="486156"/>
                </a:lnTo>
                <a:lnTo>
                  <a:pt x="6096" y="473202"/>
                </a:lnTo>
                <a:lnTo>
                  <a:pt x="12953" y="473202"/>
                </a:lnTo>
                <a:close/>
              </a:path>
              <a:path w="470535" h="486409">
                <a:moveTo>
                  <a:pt x="463283" y="473202"/>
                </a:moveTo>
                <a:lnTo>
                  <a:pt x="6096" y="473202"/>
                </a:lnTo>
                <a:lnTo>
                  <a:pt x="12953" y="480060"/>
                </a:lnTo>
                <a:lnTo>
                  <a:pt x="12953" y="486156"/>
                </a:lnTo>
                <a:lnTo>
                  <a:pt x="457200" y="486156"/>
                </a:lnTo>
                <a:lnTo>
                  <a:pt x="457200" y="480060"/>
                </a:lnTo>
                <a:lnTo>
                  <a:pt x="463283" y="473202"/>
                </a:lnTo>
                <a:close/>
              </a:path>
              <a:path w="470535" h="486409">
                <a:moveTo>
                  <a:pt x="12953" y="486156"/>
                </a:moveTo>
                <a:lnTo>
                  <a:pt x="12953" y="480060"/>
                </a:lnTo>
                <a:lnTo>
                  <a:pt x="6096" y="473202"/>
                </a:lnTo>
                <a:lnTo>
                  <a:pt x="6096" y="486156"/>
                </a:lnTo>
                <a:lnTo>
                  <a:pt x="12953" y="486156"/>
                </a:lnTo>
                <a:close/>
              </a:path>
              <a:path w="470535" h="486409">
                <a:moveTo>
                  <a:pt x="470153" y="486156"/>
                </a:moveTo>
                <a:lnTo>
                  <a:pt x="470153" y="0"/>
                </a:lnTo>
                <a:lnTo>
                  <a:pt x="457200" y="0"/>
                </a:lnTo>
                <a:lnTo>
                  <a:pt x="457200" y="473202"/>
                </a:lnTo>
                <a:lnTo>
                  <a:pt x="463283" y="473202"/>
                </a:lnTo>
                <a:lnTo>
                  <a:pt x="463283" y="486156"/>
                </a:lnTo>
                <a:lnTo>
                  <a:pt x="470153" y="486156"/>
                </a:lnTo>
                <a:close/>
              </a:path>
              <a:path w="470535" h="486409">
                <a:moveTo>
                  <a:pt x="463283" y="486156"/>
                </a:moveTo>
                <a:lnTo>
                  <a:pt x="463283" y="473202"/>
                </a:lnTo>
                <a:lnTo>
                  <a:pt x="457200" y="480060"/>
                </a:lnTo>
                <a:lnTo>
                  <a:pt x="457200" y="486156"/>
                </a:lnTo>
                <a:lnTo>
                  <a:pt x="463283" y="486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6070219" y="6051041"/>
            <a:ext cx="229235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B  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731143" y="6349746"/>
            <a:ext cx="546735" cy="486409"/>
          </a:xfrm>
          <a:custGeom>
            <a:avLst/>
            <a:gdLst/>
            <a:ahLst/>
            <a:cxnLst/>
            <a:rect l="l" t="t" r="r" b="b"/>
            <a:pathLst>
              <a:path w="546735" h="486409">
                <a:moveTo>
                  <a:pt x="12953" y="473201"/>
                </a:moveTo>
                <a:lnTo>
                  <a:pt x="12953" y="0"/>
                </a:lnTo>
                <a:lnTo>
                  <a:pt x="0" y="0"/>
                </a:lnTo>
                <a:lnTo>
                  <a:pt x="0" y="486155"/>
                </a:lnTo>
                <a:lnTo>
                  <a:pt x="6096" y="486155"/>
                </a:lnTo>
                <a:lnTo>
                  <a:pt x="6096" y="473201"/>
                </a:lnTo>
                <a:lnTo>
                  <a:pt x="12953" y="473201"/>
                </a:lnTo>
                <a:close/>
              </a:path>
              <a:path w="546735" h="486409">
                <a:moveTo>
                  <a:pt x="539496" y="473201"/>
                </a:moveTo>
                <a:lnTo>
                  <a:pt x="6096" y="473201"/>
                </a:lnTo>
                <a:lnTo>
                  <a:pt x="12953" y="480059"/>
                </a:lnTo>
                <a:lnTo>
                  <a:pt x="12953" y="486155"/>
                </a:lnTo>
                <a:lnTo>
                  <a:pt x="533400" y="486155"/>
                </a:lnTo>
                <a:lnTo>
                  <a:pt x="533400" y="480059"/>
                </a:lnTo>
                <a:lnTo>
                  <a:pt x="539496" y="473201"/>
                </a:lnTo>
                <a:close/>
              </a:path>
              <a:path w="546735" h="486409">
                <a:moveTo>
                  <a:pt x="12953" y="486155"/>
                </a:moveTo>
                <a:lnTo>
                  <a:pt x="12953" y="480059"/>
                </a:lnTo>
                <a:lnTo>
                  <a:pt x="6096" y="473201"/>
                </a:lnTo>
                <a:lnTo>
                  <a:pt x="6096" y="486155"/>
                </a:lnTo>
                <a:lnTo>
                  <a:pt x="12953" y="486155"/>
                </a:lnTo>
                <a:close/>
              </a:path>
              <a:path w="546735" h="486409">
                <a:moveTo>
                  <a:pt x="546353" y="486155"/>
                </a:moveTo>
                <a:lnTo>
                  <a:pt x="546353" y="0"/>
                </a:lnTo>
                <a:lnTo>
                  <a:pt x="533400" y="0"/>
                </a:lnTo>
                <a:lnTo>
                  <a:pt x="533400" y="473201"/>
                </a:lnTo>
                <a:lnTo>
                  <a:pt x="539496" y="473201"/>
                </a:lnTo>
                <a:lnTo>
                  <a:pt x="539496" y="486155"/>
                </a:lnTo>
                <a:lnTo>
                  <a:pt x="546353" y="486155"/>
                </a:lnTo>
                <a:close/>
              </a:path>
              <a:path w="546735" h="486409">
                <a:moveTo>
                  <a:pt x="539496" y="486155"/>
                </a:moveTo>
                <a:lnTo>
                  <a:pt x="539496" y="473201"/>
                </a:lnTo>
                <a:lnTo>
                  <a:pt x="533400" y="480059"/>
                </a:lnTo>
                <a:lnTo>
                  <a:pt x="533400" y="486155"/>
                </a:lnTo>
                <a:lnTo>
                  <a:pt x="539496" y="4861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4880736" y="5685282"/>
            <a:ext cx="245745" cy="110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" marR="5080" indent="-8890" algn="just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  </a:t>
            </a:r>
            <a:r>
              <a:rPr sz="2400" dirty="0">
                <a:latin typeface="Arial"/>
                <a:cs typeface="Arial"/>
              </a:rPr>
              <a:t>B  A</a:t>
            </a:r>
            <a:endParaRPr sz="24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8464943" y="6349746"/>
            <a:ext cx="470534" cy="486409"/>
          </a:xfrm>
          <a:custGeom>
            <a:avLst/>
            <a:gdLst/>
            <a:ahLst/>
            <a:cxnLst/>
            <a:rect l="l" t="t" r="r" b="b"/>
            <a:pathLst>
              <a:path w="470534" h="486409">
                <a:moveTo>
                  <a:pt x="12954" y="473202"/>
                </a:moveTo>
                <a:lnTo>
                  <a:pt x="12954" y="0"/>
                </a:lnTo>
                <a:lnTo>
                  <a:pt x="0" y="0"/>
                </a:lnTo>
                <a:lnTo>
                  <a:pt x="0" y="486156"/>
                </a:lnTo>
                <a:lnTo>
                  <a:pt x="6083" y="486156"/>
                </a:lnTo>
                <a:lnTo>
                  <a:pt x="6083" y="473202"/>
                </a:lnTo>
                <a:lnTo>
                  <a:pt x="12954" y="473202"/>
                </a:lnTo>
                <a:close/>
              </a:path>
              <a:path w="470534" h="486409">
                <a:moveTo>
                  <a:pt x="463283" y="473202"/>
                </a:moveTo>
                <a:lnTo>
                  <a:pt x="6083" y="473202"/>
                </a:lnTo>
                <a:lnTo>
                  <a:pt x="12954" y="480060"/>
                </a:lnTo>
                <a:lnTo>
                  <a:pt x="12954" y="486156"/>
                </a:lnTo>
                <a:lnTo>
                  <a:pt x="457200" y="486156"/>
                </a:lnTo>
                <a:lnTo>
                  <a:pt x="457200" y="480060"/>
                </a:lnTo>
                <a:lnTo>
                  <a:pt x="463283" y="473202"/>
                </a:lnTo>
                <a:close/>
              </a:path>
              <a:path w="470534" h="486409">
                <a:moveTo>
                  <a:pt x="12954" y="486156"/>
                </a:moveTo>
                <a:lnTo>
                  <a:pt x="12954" y="480060"/>
                </a:lnTo>
                <a:lnTo>
                  <a:pt x="6083" y="473202"/>
                </a:lnTo>
                <a:lnTo>
                  <a:pt x="6083" y="486156"/>
                </a:lnTo>
                <a:lnTo>
                  <a:pt x="12954" y="486156"/>
                </a:lnTo>
                <a:close/>
              </a:path>
              <a:path w="470534" h="486409">
                <a:moveTo>
                  <a:pt x="470153" y="486156"/>
                </a:moveTo>
                <a:lnTo>
                  <a:pt x="470153" y="0"/>
                </a:lnTo>
                <a:lnTo>
                  <a:pt x="457200" y="0"/>
                </a:lnTo>
                <a:lnTo>
                  <a:pt x="457200" y="473202"/>
                </a:lnTo>
                <a:lnTo>
                  <a:pt x="463283" y="473202"/>
                </a:lnTo>
                <a:lnTo>
                  <a:pt x="463283" y="486156"/>
                </a:lnTo>
                <a:lnTo>
                  <a:pt x="470153" y="486156"/>
                </a:lnTo>
                <a:close/>
              </a:path>
              <a:path w="470534" h="486409">
                <a:moveTo>
                  <a:pt x="463283" y="486156"/>
                </a:moveTo>
                <a:lnTo>
                  <a:pt x="463283" y="473202"/>
                </a:lnTo>
                <a:lnTo>
                  <a:pt x="457200" y="480060"/>
                </a:lnTo>
                <a:lnTo>
                  <a:pt x="457200" y="486156"/>
                </a:lnTo>
                <a:lnTo>
                  <a:pt x="463283" y="486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8576436" y="5685282"/>
            <a:ext cx="245745" cy="110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" marR="5080" indent="-8890" algn="just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  </a:t>
            </a:r>
            <a:r>
              <a:rPr sz="2400" dirty="0">
                <a:latin typeface="Arial"/>
                <a:cs typeface="Arial"/>
              </a:rPr>
              <a:t>B  A</a:t>
            </a:r>
            <a:endParaRPr sz="24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245743" y="6349746"/>
            <a:ext cx="470534" cy="486409"/>
          </a:xfrm>
          <a:custGeom>
            <a:avLst/>
            <a:gdLst/>
            <a:ahLst/>
            <a:cxnLst/>
            <a:rect l="l" t="t" r="r" b="b"/>
            <a:pathLst>
              <a:path w="470534" h="486409">
                <a:moveTo>
                  <a:pt x="12954" y="473202"/>
                </a:moveTo>
                <a:lnTo>
                  <a:pt x="12954" y="0"/>
                </a:lnTo>
                <a:lnTo>
                  <a:pt x="0" y="0"/>
                </a:lnTo>
                <a:lnTo>
                  <a:pt x="0" y="486156"/>
                </a:lnTo>
                <a:lnTo>
                  <a:pt x="6083" y="486156"/>
                </a:lnTo>
                <a:lnTo>
                  <a:pt x="6083" y="473202"/>
                </a:lnTo>
                <a:lnTo>
                  <a:pt x="12954" y="473202"/>
                </a:lnTo>
                <a:close/>
              </a:path>
              <a:path w="470534" h="486409">
                <a:moveTo>
                  <a:pt x="463283" y="473202"/>
                </a:moveTo>
                <a:lnTo>
                  <a:pt x="6083" y="473202"/>
                </a:lnTo>
                <a:lnTo>
                  <a:pt x="12954" y="480060"/>
                </a:lnTo>
                <a:lnTo>
                  <a:pt x="12954" y="486156"/>
                </a:lnTo>
                <a:lnTo>
                  <a:pt x="457200" y="486156"/>
                </a:lnTo>
                <a:lnTo>
                  <a:pt x="457200" y="480060"/>
                </a:lnTo>
                <a:lnTo>
                  <a:pt x="463283" y="473202"/>
                </a:lnTo>
                <a:close/>
              </a:path>
              <a:path w="470534" h="486409">
                <a:moveTo>
                  <a:pt x="12954" y="486156"/>
                </a:moveTo>
                <a:lnTo>
                  <a:pt x="12954" y="480060"/>
                </a:lnTo>
                <a:lnTo>
                  <a:pt x="6083" y="473202"/>
                </a:lnTo>
                <a:lnTo>
                  <a:pt x="6083" y="486156"/>
                </a:lnTo>
                <a:lnTo>
                  <a:pt x="12954" y="486156"/>
                </a:lnTo>
                <a:close/>
              </a:path>
              <a:path w="470534" h="486409">
                <a:moveTo>
                  <a:pt x="470153" y="486156"/>
                </a:moveTo>
                <a:lnTo>
                  <a:pt x="470153" y="0"/>
                </a:lnTo>
                <a:lnTo>
                  <a:pt x="457200" y="0"/>
                </a:lnTo>
                <a:lnTo>
                  <a:pt x="457200" y="473202"/>
                </a:lnTo>
                <a:lnTo>
                  <a:pt x="463283" y="473202"/>
                </a:lnTo>
                <a:lnTo>
                  <a:pt x="463283" y="486156"/>
                </a:lnTo>
                <a:lnTo>
                  <a:pt x="470153" y="486156"/>
                </a:lnTo>
                <a:close/>
              </a:path>
              <a:path w="470534" h="486409">
                <a:moveTo>
                  <a:pt x="463283" y="486156"/>
                </a:moveTo>
                <a:lnTo>
                  <a:pt x="463283" y="473202"/>
                </a:lnTo>
                <a:lnTo>
                  <a:pt x="457200" y="480060"/>
                </a:lnTo>
                <a:lnTo>
                  <a:pt x="457200" y="486156"/>
                </a:lnTo>
                <a:lnTo>
                  <a:pt x="463283" y="486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7357236" y="5685282"/>
            <a:ext cx="245745" cy="110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" marR="5080" indent="-8890" algn="just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  </a:t>
            </a:r>
            <a:r>
              <a:rPr sz="2400" dirty="0">
                <a:latin typeface="Arial"/>
                <a:cs typeface="Arial"/>
              </a:rPr>
              <a:t>B  A</a:t>
            </a:r>
            <a:endParaRPr sz="24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603639" y="6563106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4007" y="70103"/>
                </a:lnTo>
                <a:lnTo>
                  <a:pt x="64007" y="31242"/>
                </a:lnTo>
                <a:lnTo>
                  <a:pt x="76200" y="31242"/>
                </a:lnTo>
                <a:close/>
              </a:path>
              <a:path w="228600" h="76200">
                <a:moveTo>
                  <a:pt x="228600" y="44196"/>
                </a:moveTo>
                <a:lnTo>
                  <a:pt x="228600" y="31242"/>
                </a:lnTo>
                <a:lnTo>
                  <a:pt x="64007" y="31242"/>
                </a:lnTo>
                <a:lnTo>
                  <a:pt x="64007" y="44196"/>
                </a:lnTo>
                <a:lnTo>
                  <a:pt x="228600" y="44196"/>
                </a:lnTo>
                <a:close/>
              </a:path>
              <a:path w="228600" h="76200">
                <a:moveTo>
                  <a:pt x="76200" y="76200"/>
                </a:moveTo>
                <a:lnTo>
                  <a:pt x="76200" y="44196"/>
                </a:lnTo>
                <a:lnTo>
                  <a:pt x="64007" y="44196"/>
                </a:lnTo>
                <a:lnTo>
                  <a:pt x="64007" y="7010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2910967" y="6407658"/>
            <a:ext cx="448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080145" y="6349746"/>
            <a:ext cx="470534" cy="495300"/>
          </a:xfrm>
          <a:custGeom>
            <a:avLst/>
            <a:gdLst/>
            <a:ahLst/>
            <a:cxnLst/>
            <a:rect l="l" t="t" r="r" b="b"/>
            <a:pathLst>
              <a:path w="470535" h="495300">
                <a:moveTo>
                  <a:pt x="12954" y="483107"/>
                </a:moveTo>
                <a:lnTo>
                  <a:pt x="12954" y="0"/>
                </a:lnTo>
                <a:lnTo>
                  <a:pt x="0" y="0"/>
                </a:lnTo>
                <a:lnTo>
                  <a:pt x="0" y="495300"/>
                </a:lnTo>
                <a:lnTo>
                  <a:pt x="6095" y="495300"/>
                </a:lnTo>
                <a:lnTo>
                  <a:pt x="6095" y="483107"/>
                </a:lnTo>
                <a:lnTo>
                  <a:pt x="12954" y="483107"/>
                </a:lnTo>
                <a:close/>
              </a:path>
              <a:path w="470535" h="495300">
                <a:moveTo>
                  <a:pt x="463295" y="483107"/>
                </a:moveTo>
                <a:lnTo>
                  <a:pt x="6095" y="483107"/>
                </a:lnTo>
                <a:lnTo>
                  <a:pt x="12954" y="489203"/>
                </a:lnTo>
                <a:lnTo>
                  <a:pt x="12954" y="495300"/>
                </a:lnTo>
                <a:lnTo>
                  <a:pt x="457200" y="495300"/>
                </a:lnTo>
                <a:lnTo>
                  <a:pt x="457200" y="489203"/>
                </a:lnTo>
                <a:lnTo>
                  <a:pt x="463295" y="483107"/>
                </a:lnTo>
                <a:close/>
              </a:path>
              <a:path w="470535" h="495300">
                <a:moveTo>
                  <a:pt x="12954" y="495300"/>
                </a:moveTo>
                <a:lnTo>
                  <a:pt x="12954" y="489203"/>
                </a:lnTo>
                <a:lnTo>
                  <a:pt x="6095" y="483107"/>
                </a:lnTo>
                <a:lnTo>
                  <a:pt x="6095" y="495300"/>
                </a:lnTo>
                <a:lnTo>
                  <a:pt x="12954" y="495300"/>
                </a:lnTo>
                <a:close/>
              </a:path>
              <a:path w="470535" h="495300">
                <a:moveTo>
                  <a:pt x="470154" y="495300"/>
                </a:moveTo>
                <a:lnTo>
                  <a:pt x="470154" y="0"/>
                </a:lnTo>
                <a:lnTo>
                  <a:pt x="457200" y="0"/>
                </a:lnTo>
                <a:lnTo>
                  <a:pt x="457200" y="483107"/>
                </a:lnTo>
                <a:lnTo>
                  <a:pt x="463295" y="483107"/>
                </a:lnTo>
                <a:lnTo>
                  <a:pt x="463295" y="495300"/>
                </a:lnTo>
                <a:lnTo>
                  <a:pt x="470154" y="495300"/>
                </a:lnTo>
                <a:close/>
              </a:path>
              <a:path w="470535" h="495300">
                <a:moveTo>
                  <a:pt x="463295" y="495300"/>
                </a:moveTo>
                <a:lnTo>
                  <a:pt x="463295" y="483107"/>
                </a:lnTo>
                <a:lnTo>
                  <a:pt x="457200" y="489203"/>
                </a:lnTo>
                <a:lnTo>
                  <a:pt x="457200" y="495300"/>
                </a:lnTo>
                <a:lnTo>
                  <a:pt x="463295" y="495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2200020" y="6426708"/>
            <a:ext cx="2292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23316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An Application of Stack:</a:t>
            </a:r>
            <a:r>
              <a:rPr spc="-114" dirty="0"/>
              <a:t> </a:t>
            </a:r>
            <a:r>
              <a:rPr dirty="0"/>
              <a:t>Stack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1419225"/>
            <a:ext cx="486473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Frame of Function</a:t>
            </a:r>
            <a:r>
              <a:rPr sz="4000" i="1" spc="-130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Call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69317" y="2766822"/>
            <a:ext cx="0" cy="154305"/>
          </a:xfrm>
          <a:custGeom>
            <a:avLst/>
            <a:gdLst/>
            <a:ahLst/>
            <a:cxnLst/>
            <a:rect l="l" t="t" r="r" b="b"/>
            <a:pathLst>
              <a:path h="154305">
                <a:moveTo>
                  <a:pt x="0" y="0"/>
                </a:moveTo>
                <a:lnTo>
                  <a:pt x="0" y="153923"/>
                </a:lnTo>
              </a:path>
            </a:pathLst>
          </a:custGeom>
          <a:ln w="382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39497" y="2757677"/>
            <a:ext cx="0" cy="163195"/>
          </a:xfrm>
          <a:custGeom>
            <a:avLst/>
            <a:gdLst/>
            <a:ahLst/>
            <a:cxnLst/>
            <a:rect l="l" t="t" r="r" b="b"/>
            <a:pathLst>
              <a:path h="163194">
                <a:moveTo>
                  <a:pt x="0" y="0"/>
                </a:moveTo>
                <a:lnTo>
                  <a:pt x="0" y="163067"/>
                </a:lnTo>
              </a:path>
            </a:pathLst>
          </a:custGeom>
          <a:ln w="382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82011" y="3021329"/>
            <a:ext cx="0" cy="756920"/>
          </a:xfrm>
          <a:custGeom>
            <a:avLst/>
            <a:gdLst/>
            <a:ahLst/>
            <a:cxnLst/>
            <a:rect l="l" t="t" r="r" b="b"/>
            <a:pathLst>
              <a:path h="756920">
                <a:moveTo>
                  <a:pt x="0" y="0"/>
                </a:moveTo>
                <a:lnTo>
                  <a:pt x="0" y="756666"/>
                </a:lnTo>
              </a:path>
            </a:pathLst>
          </a:custGeom>
          <a:ln w="38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52196" y="2999232"/>
            <a:ext cx="0" cy="779145"/>
          </a:xfrm>
          <a:custGeom>
            <a:avLst/>
            <a:gdLst/>
            <a:ahLst/>
            <a:cxnLst/>
            <a:rect l="l" t="t" r="r" b="b"/>
            <a:pathLst>
              <a:path h="779145">
                <a:moveTo>
                  <a:pt x="0" y="0"/>
                </a:moveTo>
                <a:lnTo>
                  <a:pt x="0" y="778764"/>
                </a:lnTo>
              </a:path>
            </a:pathLst>
          </a:custGeom>
          <a:ln w="38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69658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49"/>
                </a:lnTo>
              </a:path>
            </a:pathLst>
          </a:custGeom>
          <a:ln w="38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39846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49"/>
                </a:lnTo>
              </a:path>
            </a:pathLst>
          </a:custGeom>
          <a:ln w="38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650871" y="3140201"/>
            <a:ext cx="495300" cy="76200"/>
          </a:xfrm>
          <a:custGeom>
            <a:avLst/>
            <a:gdLst/>
            <a:ahLst/>
            <a:cxnLst/>
            <a:rect l="l" t="t" r="r" b="b"/>
            <a:pathLst>
              <a:path w="495300" h="76200">
                <a:moveTo>
                  <a:pt x="76200" y="32049"/>
                </a:moveTo>
                <a:lnTo>
                  <a:pt x="76200" y="0"/>
                </a:lnTo>
                <a:lnTo>
                  <a:pt x="0" y="38099"/>
                </a:lnTo>
                <a:lnTo>
                  <a:pt x="63245" y="69722"/>
                </a:lnTo>
                <a:lnTo>
                  <a:pt x="63245" y="32003"/>
                </a:lnTo>
                <a:lnTo>
                  <a:pt x="76200" y="32049"/>
                </a:lnTo>
                <a:close/>
              </a:path>
              <a:path w="495300" h="76200">
                <a:moveTo>
                  <a:pt x="495300" y="45719"/>
                </a:moveTo>
                <a:lnTo>
                  <a:pt x="495300" y="33527"/>
                </a:lnTo>
                <a:lnTo>
                  <a:pt x="63245" y="32003"/>
                </a:lnTo>
                <a:lnTo>
                  <a:pt x="63245" y="44957"/>
                </a:lnTo>
                <a:lnTo>
                  <a:pt x="495300" y="45719"/>
                </a:lnTo>
                <a:close/>
              </a:path>
              <a:path w="495300" h="76200">
                <a:moveTo>
                  <a:pt x="76200" y="76199"/>
                </a:moveTo>
                <a:lnTo>
                  <a:pt x="76200" y="44980"/>
                </a:lnTo>
                <a:lnTo>
                  <a:pt x="63245" y="44957"/>
                </a:lnTo>
                <a:lnTo>
                  <a:pt x="63245" y="69722"/>
                </a:lnTo>
                <a:lnTo>
                  <a:pt x="76200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272143" y="3050540"/>
            <a:ext cx="18351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5" dirty="0">
                <a:latin typeface="Times New Roman"/>
                <a:cs typeface="Times New Roman"/>
              </a:rPr>
              <a:t>fp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98221" y="3754373"/>
            <a:ext cx="2114550" cy="0"/>
          </a:xfrm>
          <a:custGeom>
            <a:avLst/>
            <a:gdLst/>
            <a:ahLst/>
            <a:cxnLst/>
            <a:rect l="l" t="t" r="r" b="b"/>
            <a:pathLst>
              <a:path w="2114550">
                <a:moveTo>
                  <a:pt x="0" y="0"/>
                </a:moveTo>
                <a:lnTo>
                  <a:pt x="2114550" y="0"/>
                </a:lnTo>
              </a:path>
            </a:pathLst>
          </a:custGeom>
          <a:ln w="472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88315" y="3720846"/>
            <a:ext cx="2133600" cy="57150"/>
          </a:xfrm>
          <a:custGeom>
            <a:avLst/>
            <a:gdLst/>
            <a:ahLst/>
            <a:cxnLst/>
            <a:rect l="l" t="t" r="r" b="b"/>
            <a:pathLst>
              <a:path w="2133600" h="57150">
                <a:moveTo>
                  <a:pt x="2133600" y="57150"/>
                </a:moveTo>
                <a:lnTo>
                  <a:pt x="2133600" y="0"/>
                </a:lnTo>
                <a:lnTo>
                  <a:pt x="0" y="0"/>
                </a:lnTo>
                <a:lnTo>
                  <a:pt x="0" y="57150"/>
                </a:lnTo>
                <a:lnTo>
                  <a:pt x="9905" y="57150"/>
                </a:lnTo>
                <a:lnTo>
                  <a:pt x="9905" y="19050"/>
                </a:lnTo>
                <a:lnTo>
                  <a:pt x="19049" y="9905"/>
                </a:lnTo>
                <a:lnTo>
                  <a:pt x="19049" y="19050"/>
                </a:lnTo>
                <a:lnTo>
                  <a:pt x="2114549" y="19050"/>
                </a:lnTo>
                <a:lnTo>
                  <a:pt x="2114549" y="9905"/>
                </a:lnTo>
                <a:lnTo>
                  <a:pt x="2124456" y="19050"/>
                </a:lnTo>
                <a:lnTo>
                  <a:pt x="2124456" y="57150"/>
                </a:lnTo>
                <a:lnTo>
                  <a:pt x="2133600" y="57150"/>
                </a:lnTo>
                <a:close/>
              </a:path>
              <a:path w="2133600" h="57150">
                <a:moveTo>
                  <a:pt x="19049" y="19050"/>
                </a:moveTo>
                <a:lnTo>
                  <a:pt x="19049" y="9905"/>
                </a:lnTo>
                <a:lnTo>
                  <a:pt x="9905" y="19050"/>
                </a:lnTo>
                <a:lnTo>
                  <a:pt x="19049" y="19050"/>
                </a:lnTo>
                <a:close/>
              </a:path>
              <a:path w="2133600" h="57150">
                <a:moveTo>
                  <a:pt x="19049" y="57150"/>
                </a:moveTo>
                <a:lnTo>
                  <a:pt x="19049" y="19050"/>
                </a:lnTo>
                <a:lnTo>
                  <a:pt x="9905" y="19050"/>
                </a:lnTo>
                <a:lnTo>
                  <a:pt x="9905" y="57150"/>
                </a:lnTo>
                <a:lnTo>
                  <a:pt x="19049" y="57150"/>
                </a:lnTo>
                <a:close/>
              </a:path>
              <a:path w="2133600" h="57150">
                <a:moveTo>
                  <a:pt x="2124456" y="19050"/>
                </a:moveTo>
                <a:lnTo>
                  <a:pt x="2114549" y="9905"/>
                </a:lnTo>
                <a:lnTo>
                  <a:pt x="2114549" y="19050"/>
                </a:lnTo>
                <a:lnTo>
                  <a:pt x="2124456" y="19050"/>
                </a:lnTo>
                <a:close/>
              </a:path>
              <a:path w="2133600" h="57150">
                <a:moveTo>
                  <a:pt x="2124456" y="57150"/>
                </a:moveTo>
                <a:lnTo>
                  <a:pt x="2124456" y="19050"/>
                </a:lnTo>
                <a:lnTo>
                  <a:pt x="2114549" y="19050"/>
                </a:lnTo>
                <a:lnTo>
                  <a:pt x="2114549" y="57150"/>
                </a:lnTo>
                <a:lnTo>
                  <a:pt x="2124456" y="5715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98221" y="3343655"/>
            <a:ext cx="2114550" cy="368300"/>
          </a:xfrm>
          <a:custGeom>
            <a:avLst/>
            <a:gdLst/>
            <a:ahLst/>
            <a:cxnLst/>
            <a:rect l="l" t="t" r="r" b="b"/>
            <a:pathLst>
              <a:path w="2114550" h="368300">
                <a:moveTo>
                  <a:pt x="0" y="0"/>
                </a:moveTo>
                <a:lnTo>
                  <a:pt x="0" y="368046"/>
                </a:lnTo>
                <a:lnTo>
                  <a:pt x="2114550" y="368046"/>
                </a:lnTo>
                <a:lnTo>
                  <a:pt x="2114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88315" y="3333750"/>
            <a:ext cx="2133600" cy="387350"/>
          </a:xfrm>
          <a:custGeom>
            <a:avLst/>
            <a:gdLst/>
            <a:ahLst/>
            <a:cxnLst/>
            <a:rect l="l" t="t" r="r" b="b"/>
            <a:pathLst>
              <a:path w="2133600" h="387350">
                <a:moveTo>
                  <a:pt x="2133600" y="387096"/>
                </a:moveTo>
                <a:lnTo>
                  <a:pt x="2133600" y="0"/>
                </a:lnTo>
                <a:lnTo>
                  <a:pt x="0" y="0"/>
                </a:lnTo>
                <a:lnTo>
                  <a:pt x="0" y="387096"/>
                </a:lnTo>
                <a:lnTo>
                  <a:pt x="9905" y="387096"/>
                </a:lnTo>
                <a:lnTo>
                  <a:pt x="9905" y="19050"/>
                </a:lnTo>
                <a:lnTo>
                  <a:pt x="19049" y="9905"/>
                </a:lnTo>
                <a:lnTo>
                  <a:pt x="19049" y="19050"/>
                </a:lnTo>
                <a:lnTo>
                  <a:pt x="2114549" y="19050"/>
                </a:lnTo>
                <a:lnTo>
                  <a:pt x="2114549" y="9905"/>
                </a:lnTo>
                <a:lnTo>
                  <a:pt x="2124456" y="19050"/>
                </a:lnTo>
                <a:lnTo>
                  <a:pt x="2124456" y="387096"/>
                </a:lnTo>
                <a:lnTo>
                  <a:pt x="2133600" y="387096"/>
                </a:lnTo>
                <a:close/>
              </a:path>
              <a:path w="2133600" h="387350">
                <a:moveTo>
                  <a:pt x="19049" y="19050"/>
                </a:moveTo>
                <a:lnTo>
                  <a:pt x="19049" y="9905"/>
                </a:lnTo>
                <a:lnTo>
                  <a:pt x="9905" y="19050"/>
                </a:lnTo>
                <a:lnTo>
                  <a:pt x="19049" y="19050"/>
                </a:lnTo>
                <a:close/>
              </a:path>
              <a:path w="2133600" h="387350">
                <a:moveTo>
                  <a:pt x="19049" y="368046"/>
                </a:moveTo>
                <a:lnTo>
                  <a:pt x="19049" y="19050"/>
                </a:lnTo>
                <a:lnTo>
                  <a:pt x="9905" y="19050"/>
                </a:lnTo>
                <a:lnTo>
                  <a:pt x="9905" y="368046"/>
                </a:lnTo>
                <a:lnTo>
                  <a:pt x="19049" y="368046"/>
                </a:lnTo>
                <a:close/>
              </a:path>
              <a:path w="2133600" h="387350">
                <a:moveTo>
                  <a:pt x="2124456" y="368046"/>
                </a:moveTo>
                <a:lnTo>
                  <a:pt x="9905" y="368046"/>
                </a:lnTo>
                <a:lnTo>
                  <a:pt x="19049" y="377951"/>
                </a:lnTo>
                <a:lnTo>
                  <a:pt x="19049" y="387096"/>
                </a:lnTo>
                <a:lnTo>
                  <a:pt x="2114549" y="387096"/>
                </a:lnTo>
                <a:lnTo>
                  <a:pt x="2114549" y="377951"/>
                </a:lnTo>
                <a:lnTo>
                  <a:pt x="2124456" y="368046"/>
                </a:lnTo>
                <a:close/>
              </a:path>
              <a:path w="2133600" h="387350">
                <a:moveTo>
                  <a:pt x="19049" y="387096"/>
                </a:moveTo>
                <a:lnTo>
                  <a:pt x="19049" y="377951"/>
                </a:lnTo>
                <a:lnTo>
                  <a:pt x="9905" y="368046"/>
                </a:lnTo>
                <a:lnTo>
                  <a:pt x="9905" y="387096"/>
                </a:lnTo>
                <a:lnTo>
                  <a:pt x="19049" y="387096"/>
                </a:lnTo>
                <a:close/>
              </a:path>
              <a:path w="2133600" h="387350">
                <a:moveTo>
                  <a:pt x="2124456" y="19050"/>
                </a:moveTo>
                <a:lnTo>
                  <a:pt x="2114549" y="9905"/>
                </a:lnTo>
                <a:lnTo>
                  <a:pt x="2114549" y="19050"/>
                </a:lnTo>
                <a:lnTo>
                  <a:pt x="2124456" y="19050"/>
                </a:lnTo>
                <a:close/>
              </a:path>
              <a:path w="2133600" h="387350">
                <a:moveTo>
                  <a:pt x="2124456" y="368046"/>
                </a:moveTo>
                <a:lnTo>
                  <a:pt x="2124456" y="19050"/>
                </a:lnTo>
                <a:lnTo>
                  <a:pt x="2114549" y="19050"/>
                </a:lnTo>
                <a:lnTo>
                  <a:pt x="2114549" y="368046"/>
                </a:lnTo>
                <a:lnTo>
                  <a:pt x="2124456" y="368046"/>
                </a:lnTo>
                <a:close/>
              </a:path>
              <a:path w="2133600" h="387350">
                <a:moveTo>
                  <a:pt x="2124456" y="387096"/>
                </a:moveTo>
                <a:lnTo>
                  <a:pt x="2124456" y="368046"/>
                </a:lnTo>
                <a:lnTo>
                  <a:pt x="2114549" y="377951"/>
                </a:lnTo>
                <a:lnTo>
                  <a:pt x="2114549" y="387096"/>
                </a:lnTo>
                <a:lnTo>
                  <a:pt x="2124456" y="387096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98221" y="2968751"/>
            <a:ext cx="2114550" cy="368300"/>
          </a:xfrm>
          <a:custGeom>
            <a:avLst/>
            <a:gdLst/>
            <a:ahLst/>
            <a:cxnLst/>
            <a:rect l="l" t="t" r="r" b="b"/>
            <a:pathLst>
              <a:path w="2114550" h="368300">
                <a:moveTo>
                  <a:pt x="0" y="0"/>
                </a:moveTo>
                <a:lnTo>
                  <a:pt x="0" y="368045"/>
                </a:lnTo>
                <a:lnTo>
                  <a:pt x="2114550" y="368045"/>
                </a:lnTo>
                <a:lnTo>
                  <a:pt x="2114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88315" y="2958845"/>
            <a:ext cx="2133600" cy="387985"/>
          </a:xfrm>
          <a:custGeom>
            <a:avLst/>
            <a:gdLst/>
            <a:ahLst/>
            <a:cxnLst/>
            <a:rect l="l" t="t" r="r" b="b"/>
            <a:pathLst>
              <a:path w="2133600" h="387985">
                <a:moveTo>
                  <a:pt x="2133600" y="387857"/>
                </a:moveTo>
                <a:lnTo>
                  <a:pt x="2133600" y="0"/>
                </a:lnTo>
                <a:lnTo>
                  <a:pt x="0" y="0"/>
                </a:lnTo>
                <a:lnTo>
                  <a:pt x="0" y="387857"/>
                </a:lnTo>
                <a:lnTo>
                  <a:pt x="9905" y="387857"/>
                </a:lnTo>
                <a:lnTo>
                  <a:pt x="9905" y="19050"/>
                </a:lnTo>
                <a:lnTo>
                  <a:pt x="19049" y="9906"/>
                </a:lnTo>
                <a:lnTo>
                  <a:pt x="19049" y="19050"/>
                </a:lnTo>
                <a:lnTo>
                  <a:pt x="2114549" y="19050"/>
                </a:lnTo>
                <a:lnTo>
                  <a:pt x="2114549" y="9906"/>
                </a:lnTo>
                <a:lnTo>
                  <a:pt x="2124456" y="19050"/>
                </a:lnTo>
                <a:lnTo>
                  <a:pt x="2124456" y="387857"/>
                </a:lnTo>
                <a:lnTo>
                  <a:pt x="2133600" y="387857"/>
                </a:lnTo>
                <a:close/>
              </a:path>
              <a:path w="2133600" h="387985">
                <a:moveTo>
                  <a:pt x="19049" y="19050"/>
                </a:moveTo>
                <a:lnTo>
                  <a:pt x="19049" y="9906"/>
                </a:lnTo>
                <a:lnTo>
                  <a:pt x="9905" y="19050"/>
                </a:lnTo>
                <a:lnTo>
                  <a:pt x="19049" y="19050"/>
                </a:lnTo>
                <a:close/>
              </a:path>
              <a:path w="2133600" h="387985">
                <a:moveTo>
                  <a:pt x="19049" y="368807"/>
                </a:moveTo>
                <a:lnTo>
                  <a:pt x="19049" y="19050"/>
                </a:lnTo>
                <a:lnTo>
                  <a:pt x="9905" y="19050"/>
                </a:lnTo>
                <a:lnTo>
                  <a:pt x="9905" y="368807"/>
                </a:lnTo>
                <a:lnTo>
                  <a:pt x="19049" y="368807"/>
                </a:lnTo>
                <a:close/>
              </a:path>
              <a:path w="2133600" h="387985">
                <a:moveTo>
                  <a:pt x="2124456" y="368807"/>
                </a:moveTo>
                <a:lnTo>
                  <a:pt x="9905" y="368807"/>
                </a:lnTo>
                <a:lnTo>
                  <a:pt x="19049" y="377951"/>
                </a:lnTo>
                <a:lnTo>
                  <a:pt x="19049" y="387857"/>
                </a:lnTo>
                <a:lnTo>
                  <a:pt x="2114549" y="387857"/>
                </a:lnTo>
                <a:lnTo>
                  <a:pt x="2114549" y="377951"/>
                </a:lnTo>
                <a:lnTo>
                  <a:pt x="2124456" y="368807"/>
                </a:lnTo>
                <a:close/>
              </a:path>
              <a:path w="2133600" h="387985">
                <a:moveTo>
                  <a:pt x="19049" y="387857"/>
                </a:moveTo>
                <a:lnTo>
                  <a:pt x="19049" y="377951"/>
                </a:lnTo>
                <a:lnTo>
                  <a:pt x="9905" y="368807"/>
                </a:lnTo>
                <a:lnTo>
                  <a:pt x="9905" y="387857"/>
                </a:lnTo>
                <a:lnTo>
                  <a:pt x="19049" y="387857"/>
                </a:lnTo>
                <a:close/>
              </a:path>
              <a:path w="2133600" h="387985">
                <a:moveTo>
                  <a:pt x="2124456" y="19050"/>
                </a:moveTo>
                <a:lnTo>
                  <a:pt x="2114549" y="9906"/>
                </a:lnTo>
                <a:lnTo>
                  <a:pt x="2114549" y="19050"/>
                </a:lnTo>
                <a:lnTo>
                  <a:pt x="2124456" y="19050"/>
                </a:lnTo>
                <a:close/>
              </a:path>
              <a:path w="2133600" h="387985">
                <a:moveTo>
                  <a:pt x="2124456" y="368807"/>
                </a:moveTo>
                <a:lnTo>
                  <a:pt x="2124456" y="19050"/>
                </a:lnTo>
                <a:lnTo>
                  <a:pt x="2114549" y="19050"/>
                </a:lnTo>
                <a:lnTo>
                  <a:pt x="2114549" y="368807"/>
                </a:lnTo>
                <a:lnTo>
                  <a:pt x="2124456" y="368807"/>
                </a:lnTo>
                <a:close/>
              </a:path>
              <a:path w="2133600" h="387985">
                <a:moveTo>
                  <a:pt x="2124456" y="387857"/>
                </a:moveTo>
                <a:lnTo>
                  <a:pt x="2124456" y="368807"/>
                </a:lnTo>
                <a:lnTo>
                  <a:pt x="2114549" y="377951"/>
                </a:lnTo>
                <a:lnTo>
                  <a:pt x="2114549" y="387857"/>
                </a:lnTo>
                <a:lnTo>
                  <a:pt x="2124456" y="387857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970141" y="3375914"/>
            <a:ext cx="117411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return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address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14286" y="3033014"/>
            <a:ext cx="1882139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previous frame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pointer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492113" y="3725417"/>
            <a:ext cx="2159000" cy="0"/>
          </a:xfrm>
          <a:custGeom>
            <a:avLst/>
            <a:gdLst/>
            <a:ahLst/>
            <a:cxnLst/>
            <a:rect l="l" t="t" r="r" b="b"/>
            <a:pathLst>
              <a:path w="2159000">
                <a:moveTo>
                  <a:pt x="0" y="0"/>
                </a:moveTo>
                <a:lnTo>
                  <a:pt x="2158758" y="0"/>
                </a:lnTo>
              </a:path>
            </a:pathLst>
          </a:custGeom>
          <a:ln w="39624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942196" y="3345941"/>
            <a:ext cx="2800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a1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98171" y="3140964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046" y="0"/>
                </a:lnTo>
              </a:path>
            </a:pathLst>
          </a:custGeom>
          <a:ln w="137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11039" y="3140201"/>
            <a:ext cx="0" cy="638175"/>
          </a:xfrm>
          <a:custGeom>
            <a:avLst/>
            <a:gdLst/>
            <a:ahLst/>
            <a:cxnLst/>
            <a:rect l="l" t="t" r="r" b="b"/>
            <a:pathLst>
              <a:path h="638175">
                <a:moveTo>
                  <a:pt x="0" y="0"/>
                </a:moveTo>
                <a:lnTo>
                  <a:pt x="0" y="637793"/>
                </a:lnTo>
              </a:path>
            </a:pathLst>
          </a:custGeom>
          <a:ln w="135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482635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38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652828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38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10675" y="4611623"/>
            <a:ext cx="2114550" cy="0"/>
          </a:xfrm>
          <a:custGeom>
            <a:avLst/>
            <a:gdLst/>
            <a:ahLst/>
            <a:cxnLst/>
            <a:rect l="l" t="t" r="r" b="b"/>
            <a:pathLst>
              <a:path w="2114550">
                <a:moveTo>
                  <a:pt x="0" y="0"/>
                </a:moveTo>
                <a:lnTo>
                  <a:pt x="2114550" y="0"/>
                </a:lnTo>
              </a:path>
            </a:pathLst>
          </a:custGeom>
          <a:ln w="47244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500769" y="4578096"/>
            <a:ext cx="2133600" cy="57150"/>
          </a:xfrm>
          <a:custGeom>
            <a:avLst/>
            <a:gdLst/>
            <a:ahLst/>
            <a:cxnLst/>
            <a:rect l="l" t="t" r="r" b="b"/>
            <a:pathLst>
              <a:path w="2133600" h="57150">
                <a:moveTo>
                  <a:pt x="2133599" y="57150"/>
                </a:moveTo>
                <a:lnTo>
                  <a:pt x="2133599" y="0"/>
                </a:lnTo>
                <a:lnTo>
                  <a:pt x="0" y="0"/>
                </a:lnTo>
                <a:lnTo>
                  <a:pt x="0" y="57150"/>
                </a:lnTo>
                <a:lnTo>
                  <a:pt x="9906" y="57150"/>
                </a:lnTo>
                <a:lnTo>
                  <a:pt x="9906" y="19050"/>
                </a:lnTo>
                <a:lnTo>
                  <a:pt x="19050" y="9906"/>
                </a:lnTo>
                <a:lnTo>
                  <a:pt x="19050" y="19050"/>
                </a:lnTo>
                <a:lnTo>
                  <a:pt x="2114549" y="19050"/>
                </a:lnTo>
                <a:lnTo>
                  <a:pt x="2114549" y="9906"/>
                </a:lnTo>
                <a:lnTo>
                  <a:pt x="2124455" y="19050"/>
                </a:lnTo>
                <a:lnTo>
                  <a:pt x="2124455" y="57150"/>
                </a:lnTo>
                <a:lnTo>
                  <a:pt x="2133599" y="57150"/>
                </a:lnTo>
                <a:close/>
              </a:path>
              <a:path w="2133600" h="57150">
                <a:moveTo>
                  <a:pt x="19050" y="19050"/>
                </a:moveTo>
                <a:lnTo>
                  <a:pt x="19050" y="9906"/>
                </a:lnTo>
                <a:lnTo>
                  <a:pt x="9906" y="19050"/>
                </a:lnTo>
                <a:lnTo>
                  <a:pt x="19050" y="19050"/>
                </a:lnTo>
                <a:close/>
              </a:path>
              <a:path w="2133600" h="57150">
                <a:moveTo>
                  <a:pt x="19050" y="57150"/>
                </a:moveTo>
                <a:lnTo>
                  <a:pt x="19050" y="19050"/>
                </a:lnTo>
                <a:lnTo>
                  <a:pt x="9906" y="19050"/>
                </a:lnTo>
                <a:lnTo>
                  <a:pt x="9906" y="57150"/>
                </a:lnTo>
                <a:lnTo>
                  <a:pt x="19050" y="57150"/>
                </a:lnTo>
                <a:close/>
              </a:path>
              <a:path w="2133600" h="57150">
                <a:moveTo>
                  <a:pt x="2124455" y="19050"/>
                </a:moveTo>
                <a:lnTo>
                  <a:pt x="2114549" y="9906"/>
                </a:lnTo>
                <a:lnTo>
                  <a:pt x="2114549" y="19050"/>
                </a:lnTo>
                <a:lnTo>
                  <a:pt x="2124455" y="19050"/>
                </a:lnTo>
                <a:close/>
              </a:path>
              <a:path w="2133600" h="57150">
                <a:moveTo>
                  <a:pt x="2124455" y="57150"/>
                </a:moveTo>
                <a:lnTo>
                  <a:pt x="2124455" y="19050"/>
                </a:lnTo>
                <a:lnTo>
                  <a:pt x="2114549" y="19050"/>
                </a:lnTo>
                <a:lnTo>
                  <a:pt x="2114549" y="57150"/>
                </a:lnTo>
                <a:lnTo>
                  <a:pt x="2124455" y="5715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10675" y="4213097"/>
            <a:ext cx="2114550" cy="368935"/>
          </a:xfrm>
          <a:custGeom>
            <a:avLst/>
            <a:gdLst/>
            <a:ahLst/>
            <a:cxnLst/>
            <a:rect l="l" t="t" r="r" b="b"/>
            <a:pathLst>
              <a:path w="2114550" h="368935">
                <a:moveTo>
                  <a:pt x="0" y="0"/>
                </a:moveTo>
                <a:lnTo>
                  <a:pt x="0" y="368808"/>
                </a:lnTo>
                <a:lnTo>
                  <a:pt x="2114550" y="368808"/>
                </a:lnTo>
                <a:lnTo>
                  <a:pt x="2114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500769" y="4203953"/>
            <a:ext cx="2133600" cy="387350"/>
          </a:xfrm>
          <a:custGeom>
            <a:avLst/>
            <a:gdLst/>
            <a:ahLst/>
            <a:cxnLst/>
            <a:rect l="l" t="t" r="r" b="b"/>
            <a:pathLst>
              <a:path w="2133600" h="387350">
                <a:moveTo>
                  <a:pt x="2133599" y="387096"/>
                </a:moveTo>
                <a:lnTo>
                  <a:pt x="2133599" y="0"/>
                </a:lnTo>
                <a:lnTo>
                  <a:pt x="0" y="0"/>
                </a:lnTo>
                <a:lnTo>
                  <a:pt x="0" y="387096"/>
                </a:lnTo>
                <a:lnTo>
                  <a:pt x="9906" y="387096"/>
                </a:lnTo>
                <a:lnTo>
                  <a:pt x="9906" y="19050"/>
                </a:lnTo>
                <a:lnTo>
                  <a:pt x="19050" y="9144"/>
                </a:lnTo>
                <a:lnTo>
                  <a:pt x="19050" y="19050"/>
                </a:lnTo>
                <a:lnTo>
                  <a:pt x="2114549" y="19050"/>
                </a:lnTo>
                <a:lnTo>
                  <a:pt x="2114549" y="9144"/>
                </a:lnTo>
                <a:lnTo>
                  <a:pt x="2124455" y="19050"/>
                </a:lnTo>
                <a:lnTo>
                  <a:pt x="2124455" y="387096"/>
                </a:lnTo>
                <a:lnTo>
                  <a:pt x="2133599" y="387096"/>
                </a:lnTo>
                <a:close/>
              </a:path>
              <a:path w="2133600" h="387350">
                <a:moveTo>
                  <a:pt x="19050" y="19050"/>
                </a:moveTo>
                <a:lnTo>
                  <a:pt x="19050" y="9144"/>
                </a:lnTo>
                <a:lnTo>
                  <a:pt x="9906" y="19050"/>
                </a:lnTo>
                <a:lnTo>
                  <a:pt x="19050" y="19050"/>
                </a:lnTo>
                <a:close/>
              </a:path>
              <a:path w="2133600" h="387350">
                <a:moveTo>
                  <a:pt x="19050" y="368046"/>
                </a:moveTo>
                <a:lnTo>
                  <a:pt x="19050" y="19050"/>
                </a:lnTo>
                <a:lnTo>
                  <a:pt x="9906" y="19050"/>
                </a:lnTo>
                <a:lnTo>
                  <a:pt x="9906" y="368046"/>
                </a:lnTo>
                <a:lnTo>
                  <a:pt x="19050" y="368046"/>
                </a:lnTo>
                <a:close/>
              </a:path>
              <a:path w="2133600" h="387350">
                <a:moveTo>
                  <a:pt x="2124455" y="368046"/>
                </a:moveTo>
                <a:lnTo>
                  <a:pt x="9906" y="368046"/>
                </a:lnTo>
                <a:lnTo>
                  <a:pt x="19050" y="377951"/>
                </a:lnTo>
                <a:lnTo>
                  <a:pt x="19050" y="387096"/>
                </a:lnTo>
                <a:lnTo>
                  <a:pt x="2114549" y="387096"/>
                </a:lnTo>
                <a:lnTo>
                  <a:pt x="2114549" y="377951"/>
                </a:lnTo>
                <a:lnTo>
                  <a:pt x="2124455" y="368046"/>
                </a:lnTo>
                <a:close/>
              </a:path>
              <a:path w="2133600" h="387350">
                <a:moveTo>
                  <a:pt x="19050" y="387096"/>
                </a:moveTo>
                <a:lnTo>
                  <a:pt x="19050" y="377951"/>
                </a:lnTo>
                <a:lnTo>
                  <a:pt x="9906" y="368046"/>
                </a:lnTo>
                <a:lnTo>
                  <a:pt x="9906" y="387096"/>
                </a:lnTo>
                <a:lnTo>
                  <a:pt x="19050" y="387096"/>
                </a:lnTo>
                <a:close/>
              </a:path>
              <a:path w="2133600" h="387350">
                <a:moveTo>
                  <a:pt x="2124455" y="19050"/>
                </a:moveTo>
                <a:lnTo>
                  <a:pt x="2114549" y="9144"/>
                </a:lnTo>
                <a:lnTo>
                  <a:pt x="2114549" y="19050"/>
                </a:lnTo>
                <a:lnTo>
                  <a:pt x="2124455" y="19050"/>
                </a:lnTo>
                <a:close/>
              </a:path>
              <a:path w="2133600" h="387350">
                <a:moveTo>
                  <a:pt x="2124455" y="368046"/>
                </a:moveTo>
                <a:lnTo>
                  <a:pt x="2124455" y="19050"/>
                </a:lnTo>
                <a:lnTo>
                  <a:pt x="2114549" y="19050"/>
                </a:lnTo>
                <a:lnTo>
                  <a:pt x="2114549" y="368046"/>
                </a:lnTo>
                <a:lnTo>
                  <a:pt x="2124455" y="368046"/>
                </a:lnTo>
                <a:close/>
              </a:path>
              <a:path w="2133600" h="387350">
                <a:moveTo>
                  <a:pt x="2124455" y="387096"/>
                </a:moveTo>
                <a:lnTo>
                  <a:pt x="2124455" y="368046"/>
                </a:lnTo>
                <a:lnTo>
                  <a:pt x="2114549" y="377951"/>
                </a:lnTo>
                <a:lnTo>
                  <a:pt x="2114549" y="387096"/>
                </a:lnTo>
                <a:lnTo>
                  <a:pt x="2124455" y="387096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601607" y="4265167"/>
            <a:ext cx="1882139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previous frame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pointer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63325" y="4347209"/>
            <a:ext cx="495300" cy="76200"/>
          </a:xfrm>
          <a:custGeom>
            <a:avLst/>
            <a:gdLst/>
            <a:ahLst/>
            <a:cxnLst/>
            <a:rect l="l" t="t" r="r" b="b"/>
            <a:pathLst>
              <a:path w="495300" h="76200">
                <a:moveTo>
                  <a:pt x="76200" y="0"/>
                </a:moveTo>
                <a:lnTo>
                  <a:pt x="0" y="37337"/>
                </a:lnTo>
                <a:lnTo>
                  <a:pt x="63246" y="69919"/>
                </a:lnTo>
                <a:lnTo>
                  <a:pt x="63246" y="31241"/>
                </a:lnTo>
                <a:lnTo>
                  <a:pt x="75887" y="31286"/>
                </a:lnTo>
                <a:lnTo>
                  <a:pt x="76200" y="0"/>
                </a:lnTo>
                <a:close/>
              </a:path>
              <a:path w="495300" h="76200">
                <a:moveTo>
                  <a:pt x="75887" y="31286"/>
                </a:moveTo>
                <a:lnTo>
                  <a:pt x="63246" y="31241"/>
                </a:lnTo>
                <a:lnTo>
                  <a:pt x="63246" y="44195"/>
                </a:lnTo>
                <a:lnTo>
                  <a:pt x="75757" y="44240"/>
                </a:lnTo>
                <a:lnTo>
                  <a:pt x="75887" y="31286"/>
                </a:lnTo>
                <a:close/>
              </a:path>
              <a:path w="495300" h="76200">
                <a:moveTo>
                  <a:pt x="75757" y="44240"/>
                </a:moveTo>
                <a:lnTo>
                  <a:pt x="63246" y="44195"/>
                </a:lnTo>
                <a:lnTo>
                  <a:pt x="63246" y="69919"/>
                </a:lnTo>
                <a:lnTo>
                  <a:pt x="75437" y="76200"/>
                </a:lnTo>
                <a:lnTo>
                  <a:pt x="75757" y="44240"/>
                </a:lnTo>
                <a:close/>
              </a:path>
              <a:path w="495300" h="76200">
                <a:moveTo>
                  <a:pt x="495300" y="45719"/>
                </a:moveTo>
                <a:lnTo>
                  <a:pt x="495300" y="32765"/>
                </a:lnTo>
                <a:lnTo>
                  <a:pt x="75887" y="31286"/>
                </a:lnTo>
                <a:lnTo>
                  <a:pt x="75757" y="44240"/>
                </a:lnTo>
                <a:lnTo>
                  <a:pt x="495300" y="45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258689" y="4243832"/>
            <a:ext cx="18351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5" dirty="0">
                <a:latin typeface="Times New Roman"/>
                <a:cs typeface="Times New Roman"/>
              </a:rPr>
              <a:t>fp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470236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38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640433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38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98221" y="4618101"/>
            <a:ext cx="2114550" cy="0"/>
          </a:xfrm>
          <a:custGeom>
            <a:avLst/>
            <a:gdLst/>
            <a:ahLst/>
            <a:cxnLst/>
            <a:rect l="l" t="t" r="r" b="b"/>
            <a:pathLst>
              <a:path w="2114550">
                <a:moveTo>
                  <a:pt x="0" y="0"/>
                </a:moveTo>
                <a:lnTo>
                  <a:pt x="2114550" y="0"/>
                </a:lnTo>
              </a:path>
            </a:pathLst>
          </a:custGeom>
          <a:ln w="34289">
            <a:solidFill>
              <a:srgbClr val="00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88315" y="4591050"/>
            <a:ext cx="2133600" cy="44450"/>
          </a:xfrm>
          <a:custGeom>
            <a:avLst/>
            <a:gdLst/>
            <a:ahLst/>
            <a:cxnLst/>
            <a:rect l="l" t="t" r="r" b="b"/>
            <a:pathLst>
              <a:path w="2133600" h="44450">
                <a:moveTo>
                  <a:pt x="2133600" y="44196"/>
                </a:moveTo>
                <a:lnTo>
                  <a:pt x="2133600" y="0"/>
                </a:lnTo>
                <a:lnTo>
                  <a:pt x="0" y="0"/>
                </a:lnTo>
                <a:lnTo>
                  <a:pt x="0" y="44196"/>
                </a:lnTo>
                <a:lnTo>
                  <a:pt x="9905" y="44196"/>
                </a:lnTo>
                <a:lnTo>
                  <a:pt x="9905" y="19050"/>
                </a:lnTo>
                <a:lnTo>
                  <a:pt x="19049" y="9905"/>
                </a:lnTo>
                <a:lnTo>
                  <a:pt x="19049" y="19050"/>
                </a:lnTo>
                <a:lnTo>
                  <a:pt x="2114549" y="19050"/>
                </a:lnTo>
                <a:lnTo>
                  <a:pt x="2114549" y="9905"/>
                </a:lnTo>
                <a:lnTo>
                  <a:pt x="2124456" y="19050"/>
                </a:lnTo>
                <a:lnTo>
                  <a:pt x="2124456" y="44196"/>
                </a:lnTo>
                <a:lnTo>
                  <a:pt x="2133600" y="44196"/>
                </a:lnTo>
                <a:close/>
              </a:path>
              <a:path w="2133600" h="44450">
                <a:moveTo>
                  <a:pt x="19049" y="19050"/>
                </a:moveTo>
                <a:lnTo>
                  <a:pt x="19049" y="9905"/>
                </a:lnTo>
                <a:lnTo>
                  <a:pt x="9905" y="19050"/>
                </a:lnTo>
                <a:lnTo>
                  <a:pt x="19049" y="19050"/>
                </a:lnTo>
                <a:close/>
              </a:path>
              <a:path w="2133600" h="44450">
                <a:moveTo>
                  <a:pt x="19049" y="44196"/>
                </a:moveTo>
                <a:lnTo>
                  <a:pt x="19049" y="19050"/>
                </a:lnTo>
                <a:lnTo>
                  <a:pt x="9905" y="19050"/>
                </a:lnTo>
                <a:lnTo>
                  <a:pt x="9905" y="44196"/>
                </a:lnTo>
                <a:lnTo>
                  <a:pt x="19049" y="44196"/>
                </a:lnTo>
                <a:close/>
              </a:path>
              <a:path w="2133600" h="44450">
                <a:moveTo>
                  <a:pt x="2124456" y="19050"/>
                </a:moveTo>
                <a:lnTo>
                  <a:pt x="2114549" y="9905"/>
                </a:lnTo>
                <a:lnTo>
                  <a:pt x="2114549" y="19050"/>
                </a:lnTo>
                <a:lnTo>
                  <a:pt x="2124456" y="19050"/>
                </a:lnTo>
                <a:close/>
              </a:path>
              <a:path w="2133600" h="44450">
                <a:moveTo>
                  <a:pt x="2124456" y="44196"/>
                </a:moveTo>
                <a:lnTo>
                  <a:pt x="2124456" y="19050"/>
                </a:lnTo>
                <a:lnTo>
                  <a:pt x="2114549" y="19050"/>
                </a:lnTo>
                <a:lnTo>
                  <a:pt x="2114549" y="44196"/>
                </a:lnTo>
                <a:lnTo>
                  <a:pt x="2124456" y="44196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498221" y="4226052"/>
            <a:ext cx="2114550" cy="368300"/>
          </a:xfrm>
          <a:custGeom>
            <a:avLst/>
            <a:gdLst/>
            <a:ahLst/>
            <a:cxnLst/>
            <a:rect l="l" t="t" r="r" b="b"/>
            <a:pathLst>
              <a:path w="2114550" h="368300">
                <a:moveTo>
                  <a:pt x="0" y="0"/>
                </a:moveTo>
                <a:lnTo>
                  <a:pt x="0" y="368046"/>
                </a:lnTo>
                <a:lnTo>
                  <a:pt x="2114550" y="368046"/>
                </a:lnTo>
                <a:lnTo>
                  <a:pt x="2114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488315" y="4216146"/>
            <a:ext cx="2133600" cy="387985"/>
          </a:xfrm>
          <a:custGeom>
            <a:avLst/>
            <a:gdLst/>
            <a:ahLst/>
            <a:cxnLst/>
            <a:rect l="l" t="t" r="r" b="b"/>
            <a:pathLst>
              <a:path w="2133600" h="387985">
                <a:moveTo>
                  <a:pt x="2133600" y="387858"/>
                </a:moveTo>
                <a:lnTo>
                  <a:pt x="2133600" y="0"/>
                </a:lnTo>
                <a:lnTo>
                  <a:pt x="0" y="0"/>
                </a:lnTo>
                <a:lnTo>
                  <a:pt x="0" y="387858"/>
                </a:lnTo>
                <a:lnTo>
                  <a:pt x="9905" y="387858"/>
                </a:lnTo>
                <a:lnTo>
                  <a:pt x="9905" y="19050"/>
                </a:lnTo>
                <a:lnTo>
                  <a:pt x="19049" y="9906"/>
                </a:lnTo>
                <a:lnTo>
                  <a:pt x="19049" y="19050"/>
                </a:lnTo>
                <a:lnTo>
                  <a:pt x="2114549" y="19050"/>
                </a:lnTo>
                <a:lnTo>
                  <a:pt x="2114549" y="9906"/>
                </a:lnTo>
                <a:lnTo>
                  <a:pt x="2124456" y="19050"/>
                </a:lnTo>
                <a:lnTo>
                  <a:pt x="2124456" y="387858"/>
                </a:lnTo>
                <a:lnTo>
                  <a:pt x="2133600" y="387858"/>
                </a:lnTo>
                <a:close/>
              </a:path>
              <a:path w="2133600" h="387985">
                <a:moveTo>
                  <a:pt x="19049" y="19050"/>
                </a:moveTo>
                <a:lnTo>
                  <a:pt x="19049" y="9906"/>
                </a:lnTo>
                <a:lnTo>
                  <a:pt x="9905" y="19050"/>
                </a:lnTo>
                <a:lnTo>
                  <a:pt x="19049" y="19050"/>
                </a:lnTo>
                <a:close/>
              </a:path>
              <a:path w="2133600" h="387985">
                <a:moveTo>
                  <a:pt x="19049" y="368808"/>
                </a:moveTo>
                <a:lnTo>
                  <a:pt x="19049" y="19050"/>
                </a:lnTo>
                <a:lnTo>
                  <a:pt x="9905" y="19050"/>
                </a:lnTo>
                <a:lnTo>
                  <a:pt x="9905" y="368808"/>
                </a:lnTo>
                <a:lnTo>
                  <a:pt x="19049" y="368808"/>
                </a:lnTo>
                <a:close/>
              </a:path>
              <a:path w="2133600" h="387985">
                <a:moveTo>
                  <a:pt x="2124456" y="368808"/>
                </a:moveTo>
                <a:lnTo>
                  <a:pt x="9905" y="368808"/>
                </a:lnTo>
                <a:lnTo>
                  <a:pt x="19049" y="377952"/>
                </a:lnTo>
                <a:lnTo>
                  <a:pt x="19049" y="387858"/>
                </a:lnTo>
                <a:lnTo>
                  <a:pt x="2114549" y="387858"/>
                </a:lnTo>
                <a:lnTo>
                  <a:pt x="2114549" y="377952"/>
                </a:lnTo>
                <a:lnTo>
                  <a:pt x="2124456" y="368808"/>
                </a:lnTo>
                <a:close/>
              </a:path>
              <a:path w="2133600" h="387985">
                <a:moveTo>
                  <a:pt x="19049" y="387858"/>
                </a:moveTo>
                <a:lnTo>
                  <a:pt x="19049" y="377952"/>
                </a:lnTo>
                <a:lnTo>
                  <a:pt x="9905" y="368808"/>
                </a:lnTo>
                <a:lnTo>
                  <a:pt x="9905" y="387858"/>
                </a:lnTo>
                <a:lnTo>
                  <a:pt x="19049" y="387858"/>
                </a:lnTo>
                <a:close/>
              </a:path>
              <a:path w="2133600" h="387985">
                <a:moveTo>
                  <a:pt x="2124456" y="19050"/>
                </a:moveTo>
                <a:lnTo>
                  <a:pt x="2114549" y="9906"/>
                </a:lnTo>
                <a:lnTo>
                  <a:pt x="2114549" y="19050"/>
                </a:lnTo>
                <a:lnTo>
                  <a:pt x="2124456" y="19050"/>
                </a:lnTo>
                <a:close/>
              </a:path>
              <a:path w="2133600" h="387985">
                <a:moveTo>
                  <a:pt x="2124456" y="368808"/>
                </a:moveTo>
                <a:lnTo>
                  <a:pt x="2124456" y="19050"/>
                </a:lnTo>
                <a:lnTo>
                  <a:pt x="2114549" y="19050"/>
                </a:lnTo>
                <a:lnTo>
                  <a:pt x="2114549" y="368808"/>
                </a:lnTo>
                <a:lnTo>
                  <a:pt x="2124456" y="368808"/>
                </a:lnTo>
                <a:close/>
              </a:path>
              <a:path w="2133600" h="387985">
                <a:moveTo>
                  <a:pt x="2124456" y="387858"/>
                </a:moveTo>
                <a:lnTo>
                  <a:pt x="2124456" y="368808"/>
                </a:lnTo>
                <a:lnTo>
                  <a:pt x="2114549" y="377952"/>
                </a:lnTo>
                <a:lnTo>
                  <a:pt x="2114549" y="387858"/>
                </a:lnTo>
                <a:lnTo>
                  <a:pt x="2124456" y="387858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589141" y="4277359"/>
            <a:ext cx="1882139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previous frame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pointer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958725" y="4410836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287" y="0"/>
                </a:lnTo>
              </a:path>
            </a:pathLst>
          </a:custGeom>
          <a:ln w="14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958663" y="4422647"/>
            <a:ext cx="0" cy="212725"/>
          </a:xfrm>
          <a:custGeom>
            <a:avLst/>
            <a:gdLst/>
            <a:ahLst/>
            <a:cxnLst/>
            <a:rect l="l" t="t" r="r" b="b"/>
            <a:pathLst>
              <a:path h="212725">
                <a:moveTo>
                  <a:pt x="0" y="0"/>
                </a:moveTo>
                <a:lnTo>
                  <a:pt x="0" y="212598"/>
                </a:lnTo>
              </a:path>
            </a:pathLst>
          </a:custGeom>
          <a:ln w="135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498221" y="3777996"/>
            <a:ext cx="2114550" cy="448309"/>
          </a:xfrm>
          <a:custGeom>
            <a:avLst/>
            <a:gdLst/>
            <a:ahLst/>
            <a:cxnLst/>
            <a:rect l="l" t="t" r="r" b="b"/>
            <a:pathLst>
              <a:path w="2114550" h="448310">
                <a:moveTo>
                  <a:pt x="0" y="0"/>
                </a:moveTo>
                <a:lnTo>
                  <a:pt x="0" y="448055"/>
                </a:lnTo>
                <a:lnTo>
                  <a:pt x="2114550" y="448055"/>
                </a:lnTo>
                <a:lnTo>
                  <a:pt x="2114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488315" y="3777996"/>
            <a:ext cx="2133600" cy="457200"/>
          </a:xfrm>
          <a:custGeom>
            <a:avLst/>
            <a:gdLst/>
            <a:ahLst/>
            <a:cxnLst/>
            <a:rect l="l" t="t" r="r" b="b"/>
            <a:pathLst>
              <a:path w="2133600" h="457200">
                <a:moveTo>
                  <a:pt x="19049" y="438150"/>
                </a:moveTo>
                <a:lnTo>
                  <a:pt x="19049" y="0"/>
                </a:lnTo>
                <a:lnTo>
                  <a:pt x="0" y="0"/>
                </a:lnTo>
                <a:lnTo>
                  <a:pt x="0" y="457200"/>
                </a:lnTo>
                <a:lnTo>
                  <a:pt x="9905" y="457200"/>
                </a:lnTo>
                <a:lnTo>
                  <a:pt x="9905" y="438150"/>
                </a:lnTo>
                <a:lnTo>
                  <a:pt x="19049" y="438150"/>
                </a:lnTo>
                <a:close/>
              </a:path>
              <a:path w="2133600" h="457200">
                <a:moveTo>
                  <a:pt x="2124456" y="438150"/>
                </a:moveTo>
                <a:lnTo>
                  <a:pt x="9905" y="438150"/>
                </a:lnTo>
                <a:lnTo>
                  <a:pt x="19049" y="448055"/>
                </a:lnTo>
                <a:lnTo>
                  <a:pt x="19049" y="457200"/>
                </a:lnTo>
                <a:lnTo>
                  <a:pt x="2114549" y="457200"/>
                </a:lnTo>
                <a:lnTo>
                  <a:pt x="2114549" y="448055"/>
                </a:lnTo>
                <a:lnTo>
                  <a:pt x="2124456" y="438150"/>
                </a:lnTo>
                <a:close/>
              </a:path>
              <a:path w="2133600" h="457200">
                <a:moveTo>
                  <a:pt x="19049" y="457200"/>
                </a:moveTo>
                <a:lnTo>
                  <a:pt x="19049" y="448055"/>
                </a:lnTo>
                <a:lnTo>
                  <a:pt x="9905" y="438150"/>
                </a:lnTo>
                <a:lnTo>
                  <a:pt x="9905" y="457200"/>
                </a:lnTo>
                <a:lnTo>
                  <a:pt x="19049" y="457200"/>
                </a:lnTo>
                <a:close/>
              </a:path>
              <a:path w="2133600" h="457200">
                <a:moveTo>
                  <a:pt x="2133600" y="457200"/>
                </a:moveTo>
                <a:lnTo>
                  <a:pt x="2133600" y="0"/>
                </a:lnTo>
                <a:lnTo>
                  <a:pt x="2114549" y="0"/>
                </a:lnTo>
                <a:lnTo>
                  <a:pt x="2114549" y="438150"/>
                </a:lnTo>
                <a:lnTo>
                  <a:pt x="2124456" y="438150"/>
                </a:lnTo>
                <a:lnTo>
                  <a:pt x="2124456" y="457200"/>
                </a:lnTo>
                <a:lnTo>
                  <a:pt x="2133600" y="457200"/>
                </a:lnTo>
                <a:close/>
              </a:path>
              <a:path w="2133600" h="457200">
                <a:moveTo>
                  <a:pt x="2124456" y="457200"/>
                </a:moveTo>
                <a:lnTo>
                  <a:pt x="2124456" y="438150"/>
                </a:lnTo>
                <a:lnTo>
                  <a:pt x="2114549" y="448055"/>
                </a:lnTo>
                <a:lnTo>
                  <a:pt x="2114549" y="457200"/>
                </a:lnTo>
                <a:lnTo>
                  <a:pt x="2124456" y="45720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45271" y="4385690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4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45628" y="4397502"/>
            <a:ext cx="0" cy="238125"/>
          </a:xfrm>
          <a:custGeom>
            <a:avLst/>
            <a:gdLst/>
            <a:ahLst/>
            <a:cxnLst/>
            <a:rect l="l" t="t" r="r" b="b"/>
            <a:pathLst>
              <a:path h="238125">
                <a:moveTo>
                  <a:pt x="0" y="0"/>
                </a:moveTo>
                <a:lnTo>
                  <a:pt x="0" y="237744"/>
                </a:lnTo>
              </a:path>
            </a:pathLst>
          </a:custGeom>
          <a:ln w="129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111728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37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944994" y="3846067"/>
            <a:ext cx="1209040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local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variables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483105" y="4635246"/>
            <a:ext cx="0" cy="359410"/>
          </a:xfrm>
          <a:custGeom>
            <a:avLst/>
            <a:gdLst/>
            <a:ahLst/>
            <a:cxnLst/>
            <a:rect l="l" t="t" r="r" b="b"/>
            <a:pathLst>
              <a:path h="359410">
                <a:moveTo>
                  <a:pt x="0" y="0"/>
                </a:moveTo>
                <a:lnTo>
                  <a:pt x="0" y="358901"/>
                </a:lnTo>
              </a:path>
            </a:pathLst>
          </a:custGeom>
          <a:ln w="383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653289" y="4635246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6803"/>
                </a:lnTo>
              </a:path>
            </a:pathLst>
          </a:custGeom>
          <a:ln w="38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467241" y="4972050"/>
            <a:ext cx="2174240" cy="0"/>
          </a:xfrm>
          <a:custGeom>
            <a:avLst/>
            <a:gdLst/>
            <a:ahLst/>
            <a:cxnLst/>
            <a:rect l="l" t="t" r="r" b="b"/>
            <a:pathLst>
              <a:path w="2174240">
                <a:moveTo>
                  <a:pt x="0" y="0"/>
                </a:moveTo>
                <a:lnTo>
                  <a:pt x="2173986" y="0"/>
                </a:lnTo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510675" y="4635246"/>
            <a:ext cx="2114550" cy="321310"/>
          </a:xfrm>
          <a:custGeom>
            <a:avLst/>
            <a:gdLst/>
            <a:ahLst/>
            <a:cxnLst/>
            <a:rect l="l" t="t" r="r" b="b"/>
            <a:pathLst>
              <a:path w="2114550" h="321310">
                <a:moveTo>
                  <a:pt x="0" y="0"/>
                </a:moveTo>
                <a:lnTo>
                  <a:pt x="0" y="320801"/>
                </a:lnTo>
                <a:lnTo>
                  <a:pt x="2114550" y="320801"/>
                </a:lnTo>
                <a:lnTo>
                  <a:pt x="2114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500769" y="4635246"/>
            <a:ext cx="2133600" cy="330835"/>
          </a:xfrm>
          <a:custGeom>
            <a:avLst/>
            <a:gdLst/>
            <a:ahLst/>
            <a:cxnLst/>
            <a:rect l="l" t="t" r="r" b="b"/>
            <a:pathLst>
              <a:path w="2133600" h="330835">
                <a:moveTo>
                  <a:pt x="19050" y="311657"/>
                </a:moveTo>
                <a:lnTo>
                  <a:pt x="19050" y="0"/>
                </a:lnTo>
                <a:lnTo>
                  <a:pt x="0" y="0"/>
                </a:lnTo>
                <a:lnTo>
                  <a:pt x="0" y="330707"/>
                </a:lnTo>
                <a:lnTo>
                  <a:pt x="9905" y="330707"/>
                </a:lnTo>
                <a:lnTo>
                  <a:pt x="9906" y="311657"/>
                </a:lnTo>
                <a:lnTo>
                  <a:pt x="19050" y="311657"/>
                </a:lnTo>
                <a:close/>
              </a:path>
              <a:path w="2133600" h="330835">
                <a:moveTo>
                  <a:pt x="2124455" y="311657"/>
                </a:moveTo>
                <a:lnTo>
                  <a:pt x="9906" y="311657"/>
                </a:lnTo>
                <a:lnTo>
                  <a:pt x="19050" y="320801"/>
                </a:lnTo>
                <a:lnTo>
                  <a:pt x="19050" y="330707"/>
                </a:lnTo>
                <a:lnTo>
                  <a:pt x="2114549" y="330707"/>
                </a:lnTo>
                <a:lnTo>
                  <a:pt x="2114549" y="320801"/>
                </a:lnTo>
                <a:lnTo>
                  <a:pt x="2124455" y="311657"/>
                </a:lnTo>
                <a:close/>
              </a:path>
              <a:path w="2133600" h="330835">
                <a:moveTo>
                  <a:pt x="19050" y="330707"/>
                </a:moveTo>
                <a:lnTo>
                  <a:pt x="19050" y="320801"/>
                </a:lnTo>
                <a:lnTo>
                  <a:pt x="9906" y="311657"/>
                </a:lnTo>
                <a:lnTo>
                  <a:pt x="9905" y="330707"/>
                </a:lnTo>
                <a:lnTo>
                  <a:pt x="19050" y="330707"/>
                </a:lnTo>
                <a:close/>
              </a:path>
              <a:path w="2133600" h="330835">
                <a:moveTo>
                  <a:pt x="2133599" y="330707"/>
                </a:moveTo>
                <a:lnTo>
                  <a:pt x="2133599" y="0"/>
                </a:lnTo>
                <a:lnTo>
                  <a:pt x="2114549" y="0"/>
                </a:lnTo>
                <a:lnTo>
                  <a:pt x="2114549" y="311657"/>
                </a:lnTo>
                <a:lnTo>
                  <a:pt x="2124455" y="311657"/>
                </a:lnTo>
                <a:lnTo>
                  <a:pt x="2124455" y="330707"/>
                </a:lnTo>
                <a:lnTo>
                  <a:pt x="2133599" y="330707"/>
                </a:lnTo>
                <a:close/>
              </a:path>
              <a:path w="2133600" h="330835">
                <a:moveTo>
                  <a:pt x="2124455" y="330707"/>
                </a:moveTo>
                <a:lnTo>
                  <a:pt x="2124455" y="311657"/>
                </a:lnTo>
                <a:lnTo>
                  <a:pt x="2114549" y="320801"/>
                </a:lnTo>
                <a:lnTo>
                  <a:pt x="2114549" y="330707"/>
                </a:lnTo>
                <a:lnTo>
                  <a:pt x="2124455" y="330707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994786" y="4620259"/>
            <a:ext cx="117411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return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address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744351" y="4650740"/>
            <a:ext cx="433070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main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470651" y="4635246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38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640846" y="4635246"/>
            <a:ext cx="0" cy="349885"/>
          </a:xfrm>
          <a:custGeom>
            <a:avLst/>
            <a:gdLst/>
            <a:ahLst/>
            <a:cxnLst/>
            <a:rect l="l" t="t" r="r" b="b"/>
            <a:pathLst>
              <a:path h="349885">
                <a:moveTo>
                  <a:pt x="0" y="0"/>
                </a:moveTo>
                <a:lnTo>
                  <a:pt x="0" y="349757"/>
                </a:lnTo>
              </a:path>
            </a:pathLst>
          </a:custGeom>
          <a:ln w="383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54775" y="4984622"/>
            <a:ext cx="2174240" cy="0"/>
          </a:xfrm>
          <a:custGeom>
            <a:avLst/>
            <a:gdLst/>
            <a:ahLst/>
            <a:cxnLst/>
            <a:rect l="l" t="t" r="r" b="b"/>
            <a:pathLst>
              <a:path w="2174240">
                <a:moveTo>
                  <a:pt x="0" y="0"/>
                </a:moveTo>
                <a:lnTo>
                  <a:pt x="2173998" y="0"/>
                </a:lnTo>
              </a:path>
            </a:pathLst>
          </a:custGeom>
          <a:ln w="510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498221" y="4635246"/>
            <a:ext cx="2114550" cy="334010"/>
          </a:xfrm>
          <a:custGeom>
            <a:avLst/>
            <a:gdLst/>
            <a:ahLst/>
            <a:cxnLst/>
            <a:rect l="l" t="t" r="r" b="b"/>
            <a:pathLst>
              <a:path w="2114550" h="334010">
                <a:moveTo>
                  <a:pt x="0" y="0"/>
                </a:moveTo>
                <a:lnTo>
                  <a:pt x="0" y="333755"/>
                </a:lnTo>
                <a:lnTo>
                  <a:pt x="2114550" y="333755"/>
                </a:lnTo>
                <a:lnTo>
                  <a:pt x="2114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488315" y="4635246"/>
            <a:ext cx="2133600" cy="342900"/>
          </a:xfrm>
          <a:custGeom>
            <a:avLst/>
            <a:gdLst/>
            <a:ahLst/>
            <a:cxnLst/>
            <a:rect l="l" t="t" r="r" b="b"/>
            <a:pathLst>
              <a:path w="2133600" h="342900">
                <a:moveTo>
                  <a:pt x="19049" y="323850"/>
                </a:moveTo>
                <a:lnTo>
                  <a:pt x="19049" y="0"/>
                </a:lnTo>
                <a:lnTo>
                  <a:pt x="0" y="0"/>
                </a:lnTo>
                <a:lnTo>
                  <a:pt x="0" y="342900"/>
                </a:lnTo>
                <a:lnTo>
                  <a:pt x="9906" y="342900"/>
                </a:lnTo>
                <a:lnTo>
                  <a:pt x="9905" y="323850"/>
                </a:lnTo>
                <a:lnTo>
                  <a:pt x="19049" y="323850"/>
                </a:lnTo>
                <a:close/>
              </a:path>
              <a:path w="2133600" h="342900">
                <a:moveTo>
                  <a:pt x="2124456" y="323850"/>
                </a:moveTo>
                <a:lnTo>
                  <a:pt x="9905" y="323850"/>
                </a:lnTo>
                <a:lnTo>
                  <a:pt x="19049" y="333755"/>
                </a:lnTo>
                <a:lnTo>
                  <a:pt x="19049" y="342900"/>
                </a:lnTo>
                <a:lnTo>
                  <a:pt x="2114549" y="342900"/>
                </a:lnTo>
                <a:lnTo>
                  <a:pt x="2114549" y="333755"/>
                </a:lnTo>
                <a:lnTo>
                  <a:pt x="2124456" y="323850"/>
                </a:lnTo>
                <a:close/>
              </a:path>
              <a:path w="2133600" h="342900">
                <a:moveTo>
                  <a:pt x="19049" y="342900"/>
                </a:moveTo>
                <a:lnTo>
                  <a:pt x="19049" y="333755"/>
                </a:lnTo>
                <a:lnTo>
                  <a:pt x="9905" y="323850"/>
                </a:lnTo>
                <a:lnTo>
                  <a:pt x="9906" y="342900"/>
                </a:lnTo>
                <a:lnTo>
                  <a:pt x="19049" y="342900"/>
                </a:lnTo>
                <a:close/>
              </a:path>
              <a:path w="2133600" h="342900">
                <a:moveTo>
                  <a:pt x="2133600" y="342900"/>
                </a:moveTo>
                <a:lnTo>
                  <a:pt x="2133600" y="0"/>
                </a:lnTo>
                <a:lnTo>
                  <a:pt x="2114549" y="0"/>
                </a:lnTo>
                <a:lnTo>
                  <a:pt x="2114549" y="323850"/>
                </a:lnTo>
                <a:lnTo>
                  <a:pt x="2124456" y="323850"/>
                </a:lnTo>
                <a:lnTo>
                  <a:pt x="2124456" y="342900"/>
                </a:lnTo>
                <a:lnTo>
                  <a:pt x="2133600" y="342900"/>
                </a:lnTo>
                <a:close/>
              </a:path>
              <a:path w="2133600" h="342900">
                <a:moveTo>
                  <a:pt x="2124456" y="342900"/>
                </a:moveTo>
                <a:lnTo>
                  <a:pt x="2124456" y="323850"/>
                </a:lnTo>
                <a:lnTo>
                  <a:pt x="2114549" y="333755"/>
                </a:lnTo>
                <a:lnTo>
                  <a:pt x="2114549" y="342900"/>
                </a:lnTo>
                <a:lnTo>
                  <a:pt x="2124456" y="34290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6983094" y="4633214"/>
            <a:ext cx="117411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return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address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5921387" y="4635246"/>
            <a:ext cx="76200" cy="359410"/>
          </a:xfrm>
          <a:custGeom>
            <a:avLst/>
            <a:gdLst/>
            <a:ahLst/>
            <a:cxnLst/>
            <a:rect l="l" t="t" r="r" b="b"/>
            <a:pathLst>
              <a:path w="76200" h="359410">
                <a:moveTo>
                  <a:pt x="44958" y="346461"/>
                </a:moveTo>
                <a:lnTo>
                  <a:pt x="44958" y="295655"/>
                </a:lnTo>
                <a:lnTo>
                  <a:pt x="32004" y="295655"/>
                </a:lnTo>
                <a:lnTo>
                  <a:pt x="31965" y="282701"/>
                </a:lnTo>
                <a:lnTo>
                  <a:pt x="0" y="282701"/>
                </a:lnTo>
                <a:lnTo>
                  <a:pt x="38862" y="358901"/>
                </a:lnTo>
                <a:lnTo>
                  <a:pt x="44958" y="346461"/>
                </a:lnTo>
                <a:close/>
              </a:path>
              <a:path w="76200" h="359410">
                <a:moveTo>
                  <a:pt x="44919" y="282701"/>
                </a:moveTo>
                <a:lnTo>
                  <a:pt x="44071" y="0"/>
                </a:lnTo>
                <a:lnTo>
                  <a:pt x="31117" y="0"/>
                </a:lnTo>
                <a:lnTo>
                  <a:pt x="31965" y="282701"/>
                </a:lnTo>
                <a:lnTo>
                  <a:pt x="44919" y="282701"/>
                </a:lnTo>
                <a:close/>
              </a:path>
              <a:path w="76200" h="359410">
                <a:moveTo>
                  <a:pt x="44958" y="295655"/>
                </a:moveTo>
                <a:lnTo>
                  <a:pt x="44919" y="282701"/>
                </a:lnTo>
                <a:lnTo>
                  <a:pt x="31965" y="282701"/>
                </a:lnTo>
                <a:lnTo>
                  <a:pt x="32004" y="295655"/>
                </a:lnTo>
                <a:lnTo>
                  <a:pt x="44958" y="295655"/>
                </a:lnTo>
                <a:close/>
              </a:path>
              <a:path w="76200" h="359410">
                <a:moveTo>
                  <a:pt x="76200" y="282701"/>
                </a:moveTo>
                <a:lnTo>
                  <a:pt x="44919" y="282701"/>
                </a:lnTo>
                <a:lnTo>
                  <a:pt x="44958" y="346461"/>
                </a:lnTo>
                <a:lnTo>
                  <a:pt x="76200" y="2827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8732646" y="4650740"/>
            <a:ext cx="433070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main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908695" y="4635246"/>
            <a:ext cx="76200" cy="334010"/>
          </a:xfrm>
          <a:custGeom>
            <a:avLst/>
            <a:gdLst/>
            <a:ahLst/>
            <a:cxnLst/>
            <a:rect l="l" t="t" r="r" b="b"/>
            <a:pathLst>
              <a:path w="76200" h="334010">
                <a:moveTo>
                  <a:pt x="44195" y="321563"/>
                </a:moveTo>
                <a:lnTo>
                  <a:pt x="44195" y="270509"/>
                </a:lnTo>
                <a:lnTo>
                  <a:pt x="31242" y="270509"/>
                </a:lnTo>
                <a:lnTo>
                  <a:pt x="31222" y="257555"/>
                </a:lnTo>
                <a:lnTo>
                  <a:pt x="0" y="257555"/>
                </a:lnTo>
                <a:lnTo>
                  <a:pt x="38100" y="333755"/>
                </a:lnTo>
                <a:lnTo>
                  <a:pt x="44195" y="321563"/>
                </a:lnTo>
                <a:close/>
              </a:path>
              <a:path w="76200" h="334010">
                <a:moveTo>
                  <a:pt x="44157" y="257555"/>
                </a:moveTo>
                <a:lnTo>
                  <a:pt x="43384" y="0"/>
                </a:lnTo>
                <a:lnTo>
                  <a:pt x="30836" y="0"/>
                </a:lnTo>
                <a:lnTo>
                  <a:pt x="31222" y="257555"/>
                </a:lnTo>
                <a:lnTo>
                  <a:pt x="44157" y="257555"/>
                </a:lnTo>
                <a:close/>
              </a:path>
              <a:path w="76200" h="334010">
                <a:moveTo>
                  <a:pt x="44195" y="270509"/>
                </a:moveTo>
                <a:lnTo>
                  <a:pt x="44157" y="257555"/>
                </a:lnTo>
                <a:lnTo>
                  <a:pt x="31222" y="257555"/>
                </a:lnTo>
                <a:lnTo>
                  <a:pt x="31242" y="270509"/>
                </a:lnTo>
                <a:lnTo>
                  <a:pt x="44195" y="270509"/>
                </a:lnTo>
                <a:close/>
              </a:path>
              <a:path w="76200" h="334010">
                <a:moveTo>
                  <a:pt x="76200" y="257555"/>
                </a:moveTo>
                <a:lnTo>
                  <a:pt x="44157" y="257555"/>
                </a:lnTo>
                <a:lnTo>
                  <a:pt x="44195" y="321563"/>
                </a:lnTo>
                <a:lnTo>
                  <a:pt x="76200" y="257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112196" y="4635246"/>
            <a:ext cx="0" cy="156210"/>
          </a:xfrm>
          <a:custGeom>
            <a:avLst/>
            <a:gdLst/>
            <a:ahLst/>
            <a:cxnLst/>
            <a:rect l="l" t="t" r="r" b="b"/>
            <a:pathLst>
              <a:path h="156210">
                <a:moveTo>
                  <a:pt x="0" y="0"/>
                </a:moveTo>
                <a:lnTo>
                  <a:pt x="0" y="156209"/>
                </a:lnTo>
              </a:path>
            </a:pathLst>
          </a:custGeom>
          <a:ln w="130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111125" y="4767071"/>
            <a:ext cx="330200" cy="76200"/>
          </a:xfrm>
          <a:custGeom>
            <a:avLst/>
            <a:gdLst/>
            <a:ahLst/>
            <a:cxnLst/>
            <a:rect l="l" t="t" r="r" b="b"/>
            <a:pathLst>
              <a:path w="330200" h="76200">
                <a:moveTo>
                  <a:pt x="266687" y="44195"/>
                </a:moveTo>
                <a:lnTo>
                  <a:pt x="266687" y="32003"/>
                </a:lnTo>
                <a:lnTo>
                  <a:pt x="0" y="30479"/>
                </a:lnTo>
                <a:lnTo>
                  <a:pt x="0" y="43433"/>
                </a:lnTo>
                <a:lnTo>
                  <a:pt x="266687" y="44195"/>
                </a:lnTo>
                <a:close/>
              </a:path>
              <a:path w="330200" h="76200">
                <a:moveTo>
                  <a:pt x="329946" y="38100"/>
                </a:moveTo>
                <a:lnTo>
                  <a:pt x="253746" y="0"/>
                </a:lnTo>
                <a:lnTo>
                  <a:pt x="253746" y="31930"/>
                </a:lnTo>
                <a:lnTo>
                  <a:pt x="266687" y="32003"/>
                </a:lnTo>
                <a:lnTo>
                  <a:pt x="266687" y="69729"/>
                </a:lnTo>
                <a:lnTo>
                  <a:pt x="329946" y="38100"/>
                </a:lnTo>
                <a:close/>
              </a:path>
              <a:path w="330200" h="76200">
                <a:moveTo>
                  <a:pt x="266687" y="69729"/>
                </a:moveTo>
                <a:lnTo>
                  <a:pt x="266687" y="44195"/>
                </a:lnTo>
                <a:lnTo>
                  <a:pt x="253746" y="44159"/>
                </a:lnTo>
                <a:lnTo>
                  <a:pt x="253746" y="76200"/>
                </a:lnTo>
                <a:lnTo>
                  <a:pt x="266687" y="697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74839" y="1206246"/>
            <a:ext cx="824484" cy="5143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3185286" y="5330190"/>
            <a:ext cx="39751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(</a:t>
            </a:r>
            <a:r>
              <a:rPr sz="2400" spc="-10" dirty="0">
                <a:latin typeface="Arial"/>
                <a:cs typeface="Arial"/>
              </a:rPr>
              <a:t>a)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345044" y="5330190"/>
            <a:ext cx="39751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(b)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688207" y="6061709"/>
            <a:ext cx="42227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System stack after function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call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9485503" y="6638290"/>
            <a:ext cx="1244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44695" y="583183"/>
            <a:ext cx="454914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0" dirty="0">
                <a:solidFill>
                  <a:srgbClr val="3365CC"/>
                </a:solidFill>
                <a:latin typeface="Arial"/>
                <a:cs typeface="Arial"/>
              </a:rPr>
              <a:t>Abstract Data </a:t>
            </a:r>
            <a:r>
              <a:rPr sz="2800" i="0" spc="-40" dirty="0">
                <a:solidFill>
                  <a:srgbClr val="3365CC"/>
                </a:solidFill>
                <a:latin typeface="Arial"/>
                <a:cs typeface="Arial"/>
              </a:rPr>
              <a:t>Type </a:t>
            </a:r>
            <a:r>
              <a:rPr sz="2800" i="0" dirty="0">
                <a:solidFill>
                  <a:srgbClr val="3365CC"/>
                </a:solidFill>
                <a:latin typeface="Arial"/>
                <a:cs typeface="Arial"/>
              </a:rPr>
              <a:t>for</a:t>
            </a:r>
            <a:r>
              <a:rPr sz="2800" i="0" spc="-114" dirty="0">
                <a:solidFill>
                  <a:srgbClr val="3365CC"/>
                </a:solidFill>
                <a:latin typeface="Arial"/>
                <a:cs typeface="Arial"/>
              </a:rPr>
              <a:t> </a:t>
            </a:r>
            <a:r>
              <a:rPr sz="2800" i="0" dirty="0">
                <a:solidFill>
                  <a:srgbClr val="3365CC"/>
                </a:solidFill>
                <a:latin typeface="Arial"/>
                <a:cs typeface="Arial"/>
              </a:rPr>
              <a:t>Stack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206349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82457" y="1171702"/>
            <a:ext cx="7574280" cy="275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478655">
              <a:lnSpc>
                <a:spcPct val="100000"/>
              </a:lnSpc>
            </a:pPr>
            <a:r>
              <a:rPr sz="2000" i="1" spc="-5" dirty="0">
                <a:latin typeface="Arial"/>
                <a:cs typeface="Arial"/>
              </a:rPr>
              <a:t>Template &lt;class KeyType&gt;  class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Stack</a:t>
            </a:r>
            <a:endParaRPr sz="2000" dirty="0">
              <a:latin typeface="Arial"/>
              <a:cs typeface="Arial"/>
            </a:endParaRPr>
          </a:p>
          <a:p>
            <a:pPr marL="152400" marR="878840" indent="-140335">
              <a:lnSpc>
                <a:spcPct val="100000"/>
              </a:lnSpc>
              <a:tabLst>
                <a:tab pos="304800" algn="l"/>
              </a:tabLst>
            </a:pPr>
            <a:r>
              <a:rPr sz="2000" i="1" spc="-5" dirty="0">
                <a:latin typeface="Arial"/>
                <a:cs typeface="Arial"/>
              </a:rPr>
              <a:t>{		// objects: A finite </a:t>
            </a:r>
            <a:r>
              <a:rPr sz="2000" i="1" spc="-10" dirty="0">
                <a:latin typeface="Arial"/>
                <a:cs typeface="Arial"/>
              </a:rPr>
              <a:t>ordered </a:t>
            </a:r>
            <a:r>
              <a:rPr sz="2000" i="1" spc="-5" dirty="0">
                <a:latin typeface="Arial"/>
                <a:cs typeface="Arial"/>
              </a:rPr>
              <a:t>list with zero or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more</a:t>
            </a:r>
            <a:r>
              <a:rPr sz="2000" i="1" spc="-10" dirty="0">
                <a:latin typeface="Arial"/>
                <a:cs typeface="Arial"/>
              </a:rPr>
              <a:t> elements  </a:t>
            </a:r>
            <a:r>
              <a:rPr sz="2000" i="1" spc="-5" dirty="0">
                <a:latin typeface="Arial"/>
                <a:cs typeface="Arial"/>
              </a:rPr>
              <a:t>public:</a:t>
            </a:r>
            <a:endParaRPr sz="2000" dirty="0">
              <a:latin typeface="Arial"/>
              <a:cs typeface="Arial"/>
            </a:endParaRPr>
          </a:p>
          <a:p>
            <a:pPr marL="292100">
              <a:lnSpc>
                <a:spcPct val="100000"/>
              </a:lnSpc>
            </a:pPr>
            <a:r>
              <a:rPr sz="2000" b="1" i="1" spc="-10" dirty="0">
                <a:latin typeface="Arial"/>
                <a:cs typeface="Arial"/>
              </a:rPr>
              <a:t>Stack </a:t>
            </a:r>
            <a:r>
              <a:rPr sz="2000" b="1" i="1" spc="-5" dirty="0">
                <a:latin typeface="Arial"/>
                <a:cs typeface="Arial"/>
              </a:rPr>
              <a:t>(int </a:t>
            </a:r>
            <a:r>
              <a:rPr sz="2000" b="1" i="1" spc="-10" dirty="0">
                <a:latin typeface="Arial"/>
                <a:cs typeface="Arial"/>
              </a:rPr>
              <a:t>MaxStackSize </a:t>
            </a:r>
            <a:r>
              <a:rPr sz="2000" b="1" i="1" spc="-5" dirty="0">
                <a:latin typeface="Arial"/>
                <a:cs typeface="Arial"/>
              </a:rPr>
              <a:t>=</a:t>
            </a:r>
            <a:r>
              <a:rPr sz="2000" b="1" i="1" spc="30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DefaultSize);</a:t>
            </a:r>
            <a:endParaRPr sz="2000" dirty="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</a:pPr>
            <a:r>
              <a:rPr sz="2000" i="1" spc="-5" dirty="0">
                <a:latin typeface="Arial"/>
                <a:cs typeface="Arial"/>
              </a:rPr>
              <a:t>// Create an empty stack whose maximum size is</a:t>
            </a:r>
            <a:r>
              <a:rPr sz="2000" i="1" spc="55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MaxStackSize</a:t>
            </a:r>
            <a:endParaRPr sz="2000" dirty="0">
              <a:latin typeface="Arial"/>
              <a:cs typeface="Arial"/>
            </a:endParaRPr>
          </a:p>
          <a:p>
            <a:pPr marL="292100">
              <a:lnSpc>
                <a:spcPct val="100000"/>
              </a:lnSpc>
            </a:pPr>
            <a:r>
              <a:rPr sz="2000" b="1" i="1" spc="-10" dirty="0">
                <a:latin typeface="Arial"/>
                <a:cs typeface="Arial"/>
              </a:rPr>
              <a:t>Boolean</a:t>
            </a:r>
            <a:r>
              <a:rPr sz="2000" b="1" i="1" spc="-20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IsFull();</a:t>
            </a:r>
            <a:endParaRPr sz="2000" dirty="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</a:pPr>
            <a:r>
              <a:rPr sz="2000" i="1" spc="-5" dirty="0">
                <a:latin typeface="Arial"/>
                <a:cs typeface="Arial"/>
              </a:rPr>
              <a:t>// if number of elements in the stack is equal to the maximum</a:t>
            </a:r>
            <a:r>
              <a:rPr sz="2000" i="1" spc="80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size</a:t>
            </a:r>
            <a:endParaRPr sz="2000" dirty="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</a:pPr>
            <a:r>
              <a:rPr sz="2000" i="1" spc="-5" dirty="0">
                <a:latin typeface="Arial"/>
                <a:cs typeface="Arial"/>
              </a:rPr>
              <a:t>// of the stack, return TRUE(1) else return </a:t>
            </a:r>
            <a:r>
              <a:rPr sz="2000" i="1" spc="-10" dirty="0">
                <a:latin typeface="Arial"/>
                <a:cs typeface="Arial"/>
              </a:rPr>
              <a:t>FALSE(0)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2920745"/>
            <a:ext cx="824484" cy="4286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485503" y="6638290"/>
            <a:ext cx="1244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82445" y="3914902"/>
            <a:ext cx="7574280" cy="305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00">
              <a:lnSpc>
                <a:spcPct val="100000"/>
              </a:lnSpc>
            </a:pPr>
            <a:r>
              <a:rPr sz="2000" b="1" i="1" spc="-5" dirty="0">
                <a:latin typeface="Arial"/>
                <a:cs typeface="Arial"/>
              </a:rPr>
              <a:t>void Add(const KeyType&amp;</a:t>
            </a:r>
            <a:r>
              <a:rPr sz="2000" b="1" i="1" spc="40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item);</a:t>
            </a:r>
            <a:endParaRPr sz="2000" dirty="0">
              <a:latin typeface="Arial"/>
              <a:cs typeface="Arial"/>
            </a:endParaRPr>
          </a:p>
          <a:p>
            <a:pPr marL="12700" marR="372110" indent="208279">
              <a:lnSpc>
                <a:spcPct val="100000"/>
              </a:lnSpc>
            </a:pPr>
            <a:r>
              <a:rPr sz="2000" i="1" spc="-5" dirty="0">
                <a:latin typeface="Arial"/>
                <a:cs typeface="Arial"/>
              </a:rPr>
              <a:t>// if IsFull(), then StackFull(); else insert item into the top of </a:t>
            </a:r>
            <a:r>
              <a:rPr sz="2000" i="1" spc="-10" dirty="0">
                <a:latin typeface="Arial"/>
                <a:cs typeface="Arial"/>
              </a:rPr>
              <a:t>the  </a:t>
            </a:r>
            <a:r>
              <a:rPr sz="2000" i="1" spc="-5" dirty="0">
                <a:latin typeface="Arial"/>
                <a:cs typeface="Arial"/>
              </a:rPr>
              <a:t>stack.</a:t>
            </a:r>
            <a:endParaRPr sz="2000" dirty="0">
              <a:latin typeface="Arial"/>
              <a:cs typeface="Arial"/>
            </a:endParaRPr>
          </a:p>
          <a:p>
            <a:pPr marL="292100">
              <a:lnSpc>
                <a:spcPct val="100000"/>
              </a:lnSpc>
            </a:pPr>
            <a:r>
              <a:rPr sz="2000" b="1" i="1" spc="-10" dirty="0">
                <a:latin typeface="Arial"/>
                <a:cs typeface="Arial"/>
              </a:rPr>
              <a:t>Boolean</a:t>
            </a:r>
            <a:r>
              <a:rPr sz="2000" b="1" i="1" spc="-20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IsEmpty();</a:t>
            </a:r>
            <a:endParaRPr sz="2000" dirty="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</a:pPr>
            <a:r>
              <a:rPr sz="2000" i="1" spc="-5" dirty="0">
                <a:latin typeface="Arial"/>
                <a:cs typeface="Arial"/>
              </a:rPr>
              <a:t>// if number of elements in the stack is 0, return TRUE(1)</a:t>
            </a:r>
            <a:r>
              <a:rPr sz="2000" i="1" spc="60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else</a:t>
            </a:r>
            <a:endParaRPr sz="2000" dirty="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</a:pPr>
            <a:r>
              <a:rPr sz="2000" i="1" spc="-10" dirty="0">
                <a:latin typeface="Arial"/>
                <a:cs typeface="Arial"/>
              </a:rPr>
              <a:t>//return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FALSE(0)</a:t>
            </a:r>
            <a:endParaRPr sz="2000" dirty="0">
              <a:latin typeface="Arial"/>
              <a:cs typeface="Arial"/>
            </a:endParaRPr>
          </a:p>
          <a:p>
            <a:pPr marL="292100">
              <a:lnSpc>
                <a:spcPct val="100000"/>
              </a:lnSpc>
            </a:pPr>
            <a:r>
              <a:rPr sz="2000" b="1" i="1" spc="-5" dirty="0">
                <a:latin typeface="Arial"/>
                <a:cs typeface="Arial"/>
              </a:rPr>
              <a:t>KeyType* Delete(KeyType&amp;</a:t>
            </a:r>
            <a:r>
              <a:rPr sz="2000" b="1" i="1" spc="25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);</a:t>
            </a:r>
            <a:endParaRPr sz="2000" dirty="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</a:pPr>
            <a:r>
              <a:rPr sz="2000" i="1" spc="-5" dirty="0">
                <a:latin typeface="Arial"/>
                <a:cs typeface="Arial"/>
              </a:rPr>
              <a:t>// if IsEmpty(), then StackEmpty() and </a:t>
            </a:r>
            <a:r>
              <a:rPr sz="2000" i="1" spc="-10" dirty="0">
                <a:latin typeface="Arial"/>
                <a:cs typeface="Arial"/>
              </a:rPr>
              <a:t>return</a:t>
            </a:r>
            <a:r>
              <a:rPr sz="2000" i="1" spc="-8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0;</a:t>
            </a:r>
            <a:endParaRPr sz="2000" dirty="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</a:pPr>
            <a:r>
              <a:rPr sz="2000" i="1" spc="-5" dirty="0">
                <a:latin typeface="Arial"/>
                <a:cs typeface="Arial"/>
              </a:rPr>
              <a:t>// else remove and return a pointer to the top element of the</a:t>
            </a:r>
            <a:r>
              <a:rPr sz="2000" i="1" spc="60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stack.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i="1" spc="-10" dirty="0">
                <a:latin typeface="Arial"/>
                <a:cs typeface="Arial"/>
              </a:rPr>
              <a:t>};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dirty="0"/>
              <a:t>Implementation of Stack by</a:t>
            </a:r>
            <a:r>
              <a:rPr spc="-114" dirty="0"/>
              <a:t> </a:t>
            </a:r>
            <a:r>
              <a:rPr dirty="0"/>
              <a:t>Array</a:t>
            </a:r>
          </a:p>
        </p:txBody>
      </p:sp>
      <p:sp>
        <p:nvSpPr>
          <p:cNvPr id="6" name="object 6"/>
          <p:cNvSpPr/>
          <p:nvPr/>
        </p:nvSpPr>
        <p:spPr>
          <a:xfrm>
            <a:off x="5299595" y="3335273"/>
            <a:ext cx="0" cy="443230"/>
          </a:xfrm>
          <a:custGeom>
            <a:avLst/>
            <a:gdLst/>
            <a:ahLst/>
            <a:cxnLst/>
            <a:rect l="l" t="t" r="r" b="b"/>
            <a:pathLst>
              <a:path h="443229">
                <a:moveTo>
                  <a:pt x="0" y="0"/>
                </a:moveTo>
                <a:lnTo>
                  <a:pt x="0" y="442722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30213" y="3338321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67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24129" y="3494532"/>
            <a:ext cx="1083945" cy="283845"/>
          </a:xfrm>
          <a:custGeom>
            <a:avLst/>
            <a:gdLst/>
            <a:ahLst/>
            <a:cxnLst/>
            <a:rect l="l" t="t" r="r" b="b"/>
            <a:pathLst>
              <a:path w="1083945" h="283845">
                <a:moveTo>
                  <a:pt x="1083398" y="283463"/>
                </a:moveTo>
                <a:lnTo>
                  <a:pt x="1044128" y="265600"/>
                </a:lnTo>
                <a:lnTo>
                  <a:pt x="999117" y="246425"/>
                </a:lnTo>
                <a:lnTo>
                  <a:pt x="953565" y="228235"/>
                </a:lnTo>
                <a:lnTo>
                  <a:pt x="907518" y="210983"/>
                </a:lnTo>
                <a:lnTo>
                  <a:pt x="861026" y="194625"/>
                </a:lnTo>
                <a:lnTo>
                  <a:pt x="814136" y="179112"/>
                </a:lnTo>
                <a:lnTo>
                  <a:pt x="766895" y="164400"/>
                </a:lnTo>
                <a:lnTo>
                  <a:pt x="719351" y="150441"/>
                </a:lnTo>
                <a:lnTo>
                  <a:pt x="671552" y="137189"/>
                </a:lnTo>
                <a:lnTo>
                  <a:pt x="623545" y="124599"/>
                </a:lnTo>
                <a:lnTo>
                  <a:pt x="575379" y="112623"/>
                </a:lnTo>
                <a:lnTo>
                  <a:pt x="527100" y="101215"/>
                </a:lnTo>
                <a:lnTo>
                  <a:pt x="478758" y="90330"/>
                </a:lnTo>
                <a:lnTo>
                  <a:pt x="430398" y="79920"/>
                </a:lnTo>
                <a:lnTo>
                  <a:pt x="382070" y="69940"/>
                </a:lnTo>
                <a:lnTo>
                  <a:pt x="333820" y="60343"/>
                </a:lnTo>
                <a:lnTo>
                  <a:pt x="285697" y="51082"/>
                </a:lnTo>
                <a:lnTo>
                  <a:pt x="237748" y="42112"/>
                </a:lnTo>
                <a:lnTo>
                  <a:pt x="190021" y="33387"/>
                </a:lnTo>
                <a:lnTo>
                  <a:pt x="142563" y="24859"/>
                </a:lnTo>
                <a:lnTo>
                  <a:pt x="95423" y="16483"/>
                </a:lnTo>
                <a:lnTo>
                  <a:pt x="2285" y="0"/>
                </a:lnTo>
                <a:lnTo>
                  <a:pt x="0" y="12191"/>
                </a:lnTo>
                <a:lnTo>
                  <a:pt x="46280" y="20509"/>
                </a:lnTo>
                <a:lnTo>
                  <a:pt x="139954" y="37292"/>
                </a:lnTo>
                <a:lnTo>
                  <a:pt x="187256" y="45853"/>
                </a:lnTo>
                <a:lnTo>
                  <a:pt x="234806" y="54589"/>
                </a:lnTo>
                <a:lnTo>
                  <a:pt x="282559" y="63549"/>
                </a:lnTo>
                <a:lnTo>
                  <a:pt x="330470" y="72780"/>
                </a:lnTo>
                <a:lnTo>
                  <a:pt x="378491" y="82329"/>
                </a:lnTo>
                <a:lnTo>
                  <a:pt x="426577" y="92244"/>
                </a:lnTo>
                <a:lnTo>
                  <a:pt x="474682" y="102572"/>
                </a:lnTo>
                <a:lnTo>
                  <a:pt x="522760" y="113361"/>
                </a:lnTo>
                <a:lnTo>
                  <a:pt x="570765" y="124658"/>
                </a:lnTo>
                <a:lnTo>
                  <a:pt x="618652" y="136511"/>
                </a:lnTo>
                <a:lnTo>
                  <a:pt x="666374" y="148967"/>
                </a:lnTo>
                <a:lnTo>
                  <a:pt x="713885" y="162074"/>
                </a:lnTo>
                <a:lnTo>
                  <a:pt x="761140" y="175880"/>
                </a:lnTo>
                <a:lnTo>
                  <a:pt x="808092" y="190431"/>
                </a:lnTo>
                <a:lnTo>
                  <a:pt x="854695" y="205775"/>
                </a:lnTo>
                <a:lnTo>
                  <a:pt x="900905" y="221959"/>
                </a:lnTo>
                <a:lnTo>
                  <a:pt x="946673" y="239032"/>
                </a:lnTo>
                <a:lnTo>
                  <a:pt x="991956" y="257040"/>
                </a:lnTo>
                <a:lnTo>
                  <a:pt x="1036707" y="276032"/>
                </a:lnTo>
                <a:lnTo>
                  <a:pt x="1053102" y="283463"/>
                </a:lnTo>
                <a:lnTo>
                  <a:pt x="1083398" y="283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15597" y="3701796"/>
            <a:ext cx="1183005" cy="76200"/>
          </a:xfrm>
          <a:custGeom>
            <a:avLst/>
            <a:gdLst/>
            <a:ahLst/>
            <a:cxnLst/>
            <a:rect l="l" t="t" r="r" b="b"/>
            <a:pathLst>
              <a:path w="1183004" h="76200">
                <a:moveTo>
                  <a:pt x="0" y="0"/>
                </a:moveTo>
                <a:lnTo>
                  <a:pt x="0" y="76200"/>
                </a:lnTo>
                <a:lnTo>
                  <a:pt x="1182624" y="76200"/>
                </a:lnTo>
                <a:lnTo>
                  <a:pt x="118262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08739" y="3695700"/>
            <a:ext cx="1195705" cy="82550"/>
          </a:xfrm>
          <a:custGeom>
            <a:avLst/>
            <a:gdLst/>
            <a:ahLst/>
            <a:cxnLst/>
            <a:rect l="l" t="t" r="r" b="b"/>
            <a:pathLst>
              <a:path w="1195704" h="82550">
                <a:moveTo>
                  <a:pt x="1195578" y="82296"/>
                </a:moveTo>
                <a:lnTo>
                  <a:pt x="1195578" y="0"/>
                </a:lnTo>
                <a:lnTo>
                  <a:pt x="0" y="0"/>
                </a:lnTo>
                <a:lnTo>
                  <a:pt x="0" y="82296"/>
                </a:lnTo>
                <a:lnTo>
                  <a:pt x="6857" y="82296"/>
                </a:lnTo>
                <a:lnTo>
                  <a:pt x="6857" y="12954"/>
                </a:lnTo>
                <a:lnTo>
                  <a:pt x="12953" y="6096"/>
                </a:lnTo>
                <a:lnTo>
                  <a:pt x="12953" y="12954"/>
                </a:lnTo>
                <a:lnTo>
                  <a:pt x="1183373" y="12953"/>
                </a:lnTo>
                <a:lnTo>
                  <a:pt x="1183373" y="6096"/>
                </a:lnTo>
                <a:lnTo>
                  <a:pt x="1189481" y="12953"/>
                </a:lnTo>
                <a:lnTo>
                  <a:pt x="1189481" y="82296"/>
                </a:lnTo>
                <a:lnTo>
                  <a:pt x="1195578" y="82296"/>
                </a:lnTo>
                <a:close/>
              </a:path>
              <a:path w="1195704" h="82550">
                <a:moveTo>
                  <a:pt x="12953" y="12954"/>
                </a:moveTo>
                <a:lnTo>
                  <a:pt x="12953" y="6096"/>
                </a:lnTo>
                <a:lnTo>
                  <a:pt x="6857" y="12954"/>
                </a:lnTo>
                <a:lnTo>
                  <a:pt x="12953" y="12954"/>
                </a:lnTo>
                <a:close/>
              </a:path>
              <a:path w="1195704" h="82550">
                <a:moveTo>
                  <a:pt x="12953" y="82296"/>
                </a:moveTo>
                <a:lnTo>
                  <a:pt x="12953" y="12954"/>
                </a:lnTo>
                <a:lnTo>
                  <a:pt x="6857" y="12954"/>
                </a:lnTo>
                <a:lnTo>
                  <a:pt x="6857" y="82296"/>
                </a:lnTo>
                <a:lnTo>
                  <a:pt x="12953" y="82296"/>
                </a:lnTo>
                <a:close/>
              </a:path>
              <a:path w="1195704" h="82550">
                <a:moveTo>
                  <a:pt x="1189481" y="12953"/>
                </a:moveTo>
                <a:lnTo>
                  <a:pt x="1183373" y="6096"/>
                </a:lnTo>
                <a:lnTo>
                  <a:pt x="1183373" y="12953"/>
                </a:lnTo>
                <a:lnTo>
                  <a:pt x="1189481" y="12953"/>
                </a:lnTo>
                <a:close/>
              </a:path>
              <a:path w="1195704" h="82550">
                <a:moveTo>
                  <a:pt x="1189481" y="82296"/>
                </a:moveTo>
                <a:lnTo>
                  <a:pt x="1189481" y="12953"/>
                </a:lnTo>
                <a:lnTo>
                  <a:pt x="1183373" y="12953"/>
                </a:lnTo>
                <a:lnTo>
                  <a:pt x="1183373" y="82296"/>
                </a:lnTo>
                <a:lnTo>
                  <a:pt x="1189481" y="82296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17160" y="3770376"/>
            <a:ext cx="38100" cy="7620"/>
          </a:xfrm>
          <a:custGeom>
            <a:avLst/>
            <a:gdLst/>
            <a:ahLst/>
            <a:cxnLst/>
            <a:rect l="l" t="t" r="r" b="b"/>
            <a:pathLst>
              <a:path w="38100" h="7620">
                <a:moveTo>
                  <a:pt x="38092" y="7620"/>
                </a:moveTo>
                <a:lnTo>
                  <a:pt x="37088" y="6381"/>
                </a:lnTo>
                <a:lnTo>
                  <a:pt x="28861" y="1726"/>
                </a:lnTo>
                <a:lnTo>
                  <a:pt x="18705" y="0"/>
                </a:lnTo>
                <a:lnTo>
                  <a:pt x="8989" y="1726"/>
                </a:lnTo>
                <a:lnTo>
                  <a:pt x="988" y="6381"/>
                </a:lnTo>
                <a:lnTo>
                  <a:pt x="0" y="7620"/>
                </a:lnTo>
                <a:lnTo>
                  <a:pt x="38092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09043" y="3764279"/>
            <a:ext cx="54610" cy="13970"/>
          </a:xfrm>
          <a:custGeom>
            <a:avLst/>
            <a:gdLst/>
            <a:ahLst/>
            <a:cxnLst/>
            <a:rect l="l" t="t" r="r" b="b"/>
            <a:pathLst>
              <a:path w="54610" h="13970">
                <a:moveTo>
                  <a:pt x="54406" y="13716"/>
                </a:moveTo>
                <a:lnTo>
                  <a:pt x="53492" y="12192"/>
                </a:lnTo>
                <a:lnTo>
                  <a:pt x="53492" y="11430"/>
                </a:lnTo>
                <a:lnTo>
                  <a:pt x="52730" y="11430"/>
                </a:lnTo>
                <a:lnTo>
                  <a:pt x="49682" y="7620"/>
                </a:lnTo>
                <a:lnTo>
                  <a:pt x="48920" y="7620"/>
                </a:lnTo>
                <a:lnTo>
                  <a:pt x="45110" y="4572"/>
                </a:lnTo>
                <a:lnTo>
                  <a:pt x="44348" y="4572"/>
                </a:lnTo>
                <a:lnTo>
                  <a:pt x="44348" y="3810"/>
                </a:lnTo>
                <a:lnTo>
                  <a:pt x="39776" y="2286"/>
                </a:lnTo>
                <a:lnTo>
                  <a:pt x="39014" y="2286"/>
                </a:lnTo>
                <a:lnTo>
                  <a:pt x="39014" y="1524"/>
                </a:lnTo>
                <a:lnTo>
                  <a:pt x="33680" y="762"/>
                </a:lnTo>
                <a:lnTo>
                  <a:pt x="33680" y="0"/>
                </a:lnTo>
                <a:lnTo>
                  <a:pt x="20726" y="0"/>
                </a:lnTo>
                <a:lnTo>
                  <a:pt x="20726" y="762"/>
                </a:lnTo>
                <a:lnTo>
                  <a:pt x="15392" y="1524"/>
                </a:lnTo>
                <a:lnTo>
                  <a:pt x="14630" y="2286"/>
                </a:lnTo>
                <a:lnTo>
                  <a:pt x="10058" y="3810"/>
                </a:lnTo>
                <a:lnTo>
                  <a:pt x="10058" y="4572"/>
                </a:lnTo>
                <a:lnTo>
                  <a:pt x="9296" y="4572"/>
                </a:lnTo>
                <a:lnTo>
                  <a:pt x="5486" y="7620"/>
                </a:lnTo>
                <a:lnTo>
                  <a:pt x="4724" y="7620"/>
                </a:lnTo>
                <a:lnTo>
                  <a:pt x="1676" y="11430"/>
                </a:lnTo>
                <a:lnTo>
                  <a:pt x="914" y="11430"/>
                </a:lnTo>
                <a:lnTo>
                  <a:pt x="914" y="12192"/>
                </a:lnTo>
                <a:lnTo>
                  <a:pt x="0" y="13716"/>
                </a:lnTo>
                <a:lnTo>
                  <a:pt x="19964" y="13589"/>
                </a:lnTo>
                <a:lnTo>
                  <a:pt x="22250" y="13208"/>
                </a:lnTo>
                <a:lnTo>
                  <a:pt x="22250" y="12954"/>
                </a:lnTo>
                <a:lnTo>
                  <a:pt x="26822" y="12300"/>
                </a:lnTo>
                <a:lnTo>
                  <a:pt x="31394" y="12954"/>
                </a:lnTo>
                <a:lnTo>
                  <a:pt x="35204" y="13716"/>
                </a:lnTo>
                <a:lnTo>
                  <a:pt x="54406" y="13716"/>
                </a:lnTo>
                <a:close/>
              </a:path>
              <a:path w="54610" h="13970">
                <a:moveTo>
                  <a:pt x="23774" y="12954"/>
                </a:moveTo>
                <a:lnTo>
                  <a:pt x="22250" y="12954"/>
                </a:lnTo>
                <a:lnTo>
                  <a:pt x="22250" y="13208"/>
                </a:lnTo>
                <a:lnTo>
                  <a:pt x="23774" y="12954"/>
                </a:lnTo>
                <a:close/>
              </a:path>
              <a:path w="54610" h="13970">
                <a:moveTo>
                  <a:pt x="27174" y="12250"/>
                </a:moveTo>
                <a:lnTo>
                  <a:pt x="26822" y="12192"/>
                </a:lnTo>
                <a:lnTo>
                  <a:pt x="27174" y="12250"/>
                </a:lnTo>
                <a:close/>
              </a:path>
              <a:path w="54610" h="13970">
                <a:moveTo>
                  <a:pt x="27584" y="12319"/>
                </a:moveTo>
                <a:lnTo>
                  <a:pt x="27174" y="12250"/>
                </a:lnTo>
                <a:lnTo>
                  <a:pt x="27584" y="12319"/>
                </a:lnTo>
                <a:close/>
              </a:path>
              <a:path w="54610" h="13970">
                <a:moveTo>
                  <a:pt x="31394" y="13081"/>
                </a:moveTo>
                <a:lnTo>
                  <a:pt x="30632" y="12954"/>
                </a:lnTo>
                <a:lnTo>
                  <a:pt x="31394" y="130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14073" y="3330702"/>
            <a:ext cx="1187450" cy="368300"/>
          </a:xfrm>
          <a:custGeom>
            <a:avLst/>
            <a:gdLst/>
            <a:ahLst/>
            <a:cxnLst/>
            <a:rect l="l" t="t" r="r" b="b"/>
            <a:pathLst>
              <a:path w="1187450" h="368300">
                <a:moveTo>
                  <a:pt x="0" y="0"/>
                </a:moveTo>
                <a:lnTo>
                  <a:pt x="0" y="368046"/>
                </a:lnTo>
                <a:lnTo>
                  <a:pt x="1187196" y="368046"/>
                </a:lnTo>
                <a:lnTo>
                  <a:pt x="118719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04167" y="3320796"/>
            <a:ext cx="1207135" cy="387985"/>
          </a:xfrm>
          <a:custGeom>
            <a:avLst/>
            <a:gdLst/>
            <a:ahLst/>
            <a:cxnLst/>
            <a:rect l="l" t="t" r="r" b="b"/>
            <a:pathLst>
              <a:path w="1207134" h="387985">
                <a:moveTo>
                  <a:pt x="1207008" y="387858"/>
                </a:moveTo>
                <a:lnTo>
                  <a:pt x="1207008" y="0"/>
                </a:lnTo>
                <a:lnTo>
                  <a:pt x="0" y="0"/>
                </a:lnTo>
                <a:lnTo>
                  <a:pt x="0" y="387858"/>
                </a:lnTo>
                <a:lnTo>
                  <a:pt x="9905" y="387858"/>
                </a:lnTo>
                <a:lnTo>
                  <a:pt x="9905" y="19050"/>
                </a:lnTo>
                <a:lnTo>
                  <a:pt x="19050" y="9906"/>
                </a:lnTo>
                <a:lnTo>
                  <a:pt x="19050" y="19050"/>
                </a:lnTo>
                <a:lnTo>
                  <a:pt x="1187945" y="19050"/>
                </a:lnTo>
                <a:lnTo>
                  <a:pt x="1187945" y="9906"/>
                </a:lnTo>
                <a:lnTo>
                  <a:pt x="1197089" y="19050"/>
                </a:lnTo>
                <a:lnTo>
                  <a:pt x="1197089" y="387858"/>
                </a:lnTo>
                <a:lnTo>
                  <a:pt x="1207008" y="387858"/>
                </a:lnTo>
                <a:close/>
              </a:path>
              <a:path w="1207134" h="387985">
                <a:moveTo>
                  <a:pt x="19050" y="19050"/>
                </a:moveTo>
                <a:lnTo>
                  <a:pt x="19050" y="9906"/>
                </a:lnTo>
                <a:lnTo>
                  <a:pt x="9905" y="19050"/>
                </a:lnTo>
                <a:lnTo>
                  <a:pt x="19050" y="19050"/>
                </a:lnTo>
                <a:close/>
              </a:path>
              <a:path w="1207134" h="387985">
                <a:moveTo>
                  <a:pt x="19050" y="368808"/>
                </a:moveTo>
                <a:lnTo>
                  <a:pt x="19050" y="19050"/>
                </a:lnTo>
                <a:lnTo>
                  <a:pt x="9905" y="19050"/>
                </a:lnTo>
                <a:lnTo>
                  <a:pt x="9905" y="368808"/>
                </a:lnTo>
                <a:lnTo>
                  <a:pt x="19050" y="368808"/>
                </a:lnTo>
                <a:close/>
              </a:path>
              <a:path w="1207134" h="387985">
                <a:moveTo>
                  <a:pt x="1197089" y="368808"/>
                </a:moveTo>
                <a:lnTo>
                  <a:pt x="9905" y="368808"/>
                </a:lnTo>
                <a:lnTo>
                  <a:pt x="19050" y="377952"/>
                </a:lnTo>
                <a:lnTo>
                  <a:pt x="19050" y="387858"/>
                </a:lnTo>
                <a:lnTo>
                  <a:pt x="1187945" y="387858"/>
                </a:lnTo>
                <a:lnTo>
                  <a:pt x="1187945" y="377952"/>
                </a:lnTo>
                <a:lnTo>
                  <a:pt x="1197089" y="368808"/>
                </a:lnTo>
                <a:close/>
              </a:path>
              <a:path w="1207134" h="387985">
                <a:moveTo>
                  <a:pt x="19050" y="387858"/>
                </a:moveTo>
                <a:lnTo>
                  <a:pt x="19050" y="377952"/>
                </a:lnTo>
                <a:lnTo>
                  <a:pt x="9905" y="368808"/>
                </a:lnTo>
                <a:lnTo>
                  <a:pt x="9905" y="387858"/>
                </a:lnTo>
                <a:lnTo>
                  <a:pt x="19050" y="387858"/>
                </a:lnTo>
                <a:close/>
              </a:path>
              <a:path w="1207134" h="387985">
                <a:moveTo>
                  <a:pt x="1197089" y="19050"/>
                </a:moveTo>
                <a:lnTo>
                  <a:pt x="1187945" y="9906"/>
                </a:lnTo>
                <a:lnTo>
                  <a:pt x="1187945" y="19050"/>
                </a:lnTo>
                <a:lnTo>
                  <a:pt x="1197089" y="19050"/>
                </a:lnTo>
                <a:close/>
              </a:path>
              <a:path w="1207134" h="387985">
                <a:moveTo>
                  <a:pt x="1197089" y="368808"/>
                </a:moveTo>
                <a:lnTo>
                  <a:pt x="1197089" y="19050"/>
                </a:lnTo>
                <a:lnTo>
                  <a:pt x="1187945" y="19050"/>
                </a:lnTo>
                <a:lnTo>
                  <a:pt x="1187945" y="368808"/>
                </a:lnTo>
                <a:lnTo>
                  <a:pt x="1197089" y="368808"/>
                </a:lnTo>
                <a:close/>
              </a:path>
              <a:path w="1207134" h="387985">
                <a:moveTo>
                  <a:pt x="1197089" y="387858"/>
                </a:moveTo>
                <a:lnTo>
                  <a:pt x="1197089" y="368808"/>
                </a:lnTo>
                <a:lnTo>
                  <a:pt x="1187945" y="377952"/>
                </a:lnTo>
                <a:lnTo>
                  <a:pt x="1187945" y="387858"/>
                </a:lnTo>
                <a:lnTo>
                  <a:pt x="1197089" y="387858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40595" y="3758946"/>
            <a:ext cx="1808668" cy="8953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77232" y="3777996"/>
            <a:ext cx="819150" cy="857250"/>
          </a:xfrm>
          <a:custGeom>
            <a:avLst/>
            <a:gdLst/>
            <a:ahLst/>
            <a:cxnLst/>
            <a:rect l="l" t="t" r="r" b="b"/>
            <a:pathLst>
              <a:path w="819150" h="857250">
                <a:moveTo>
                  <a:pt x="818529" y="857250"/>
                </a:moveTo>
                <a:lnTo>
                  <a:pt x="786599" y="786025"/>
                </a:lnTo>
                <a:lnTo>
                  <a:pt x="765157" y="741286"/>
                </a:lnTo>
                <a:lnTo>
                  <a:pt x="742960" y="697270"/>
                </a:lnTo>
                <a:lnTo>
                  <a:pt x="719984" y="654030"/>
                </a:lnTo>
                <a:lnTo>
                  <a:pt x="696204" y="611615"/>
                </a:lnTo>
                <a:lnTo>
                  <a:pt x="671596" y="570078"/>
                </a:lnTo>
                <a:lnTo>
                  <a:pt x="646136" y="529469"/>
                </a:lnTo>
                <a:lnTo>
                  <a:pt x="619798" y="489840"/>
                </a:lnTo>
                <a:lnTo>
                  <a:pt x="592559" y="451240"/>
                </a:lnTo>
                <a:lnTo>
                  <a:pt x="564394" y="413723"/>
                </a:lnTo>
                <a:lnTo>
                  <a:pt x="535278" y="377338"/>
                </a:lnTo>
                <a:lnTo>
                  <a:pt x="505187" y="342138"/>
                </a:lnTo>
                <a:lnTo>
                  <a:pt x="471556" y="305941"/>
                </a:lnTo>
                <a:lnTo>
                  <a:pt x="436764" y="271331"/>
                </a:lnTo>
                <a:lnTo>
                  <a:pt x="400858" y="238262"/>
                </a:lnTo>
                <a:lnTo>
                  <a:pt x="363885" y="206688"/>
                </a:lnTo>
                <a:lnTo>
                  <a:pt x="325895" y="176562"/>
                </a:lnTo>
                <a:lnTo>
                  <a:pt x="286933" y="147838"/>
                </a:lnTo>
                <a:lnTo>
                  <a:pt x="247048" y="120470"/>
                </a:lnTo>
                <a:lnTo>
                  <a:pt x="206288" y="94411"/>
                </a:lnTo>
                <a:lnTo>
                  <a:pt x="164700" y="69615"/>
                </a:lnTo>
                <a:lnTo>
                  <a:pt x="122332" y="46036"/>
                </a:lnTo>
                <a:lnTo>
                  <a:pt x="79231" y="23627"/>
                </a:lnTo>
                <a:lnTo>
                  <a:pt x="35447" y="2343"/>
                </a:lnTo>
                <a:lnTo>
                  <a:pt x="30295" y="0"/>
                </a:lnTo>
                <a:lnTo>
                  <a:pt x="0" y="0"/>
                </a:lnTo>
                <a:lnTo>
                  <a:pt x="27776" y="12590"/>
                </a:lnTo>
                <a:lnTo>
                  <a:pt x="71324" y="33690"/>
                </a:lnTo>
                <a:lnTo>
                  <a:pt x="114203" y="55915"/>
                </a:lnTo>
                <a:lnTo>
                  <a:pt x="156365" y="79314"/>
                </a:lnTo>
                <a:lnTo>
                  <a:pt x="197766" y="103933"/>
                </a:lnTo>
                <a:lnTo>
                  <a:pt x="238358" y="129820"/>
                </a:lnTo>
                <a:lnTo>
                  <a:pt x="278097" y="157022"/>
                </a:lnTo>
                <a:lnTo>
                  <a:pt x="316936" y="185588"/>
                </a:lnTo>
                <a:lnTo>
                  <a:pt x="354830" y="215563"/>
                </a:lnTo>
                <a:lnTo>
                  <a:pt x="391732" y="246997"/>
                </a:lnTo>
                <a:lnTo>
                  <a:pt x="427597" y="279936"/>
                </a:lnTo>
                <a:lnTo>
                  <a:pt x="462378" y="314427"/>
                </a:lnTo>
                <a:lnTo>
                  <a:pt x="496030" y="350519"/>
                </a:lnTo>
                <a:lnTo>
                  <a:pt x="528219" y="388077"/>
                </a:lnTo>
                <a:lnTo>
                  <a:pt x="559049" y="426700"/>
                </a:lnTo>
                <a:lnTo>
                  <a:pt x="588571" y="466317"/>
                </a:lnTo>
                <a:lnTo>
                  <a:pt x="616837" y="506855"/>
                </a:lnTo>
                <a:lnTo>
                  <a:pt x="643898" y="548242"/>
                </a:lnTo>
                <a:lnTo>
                  <a:pt x="669804" y="590405"/>
                </a:lnTo>
                <a:lnTo>
                  <a:pt x="694609" y="633273"/>
                </a:lnTo>
                <a:lnTo>
                  <a:pt x="718362" y="676772"/>
                </a:lnTo>
                <a:lnTo>
                  <a:pt x="741115" y="720831"/>
                </a:lnTo>
                <a:lnTo>
                  <a:pt x="762919" y="765378"/>
                </a:lnTo>
                <a:lnTo>
                  <a:pt x="783826" y="810339"/>
                </a:lnTo>
                <a:lnTo>
                  <a:pt x="803887" y="855643"/>
                </a:lnTo>
                <a:lnTo>
                  <a:pt x="804566" y="857250"/>
                </a:lnTo>
                <a:lnTo>
                  <a:pt x="818529" y="857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99595" y="4635246"/>
            <a:ext cx="0" cy="673735"/>
          </a:xfrm>
          <a:custGeom>
            <a:avLst/>
            <a:gdLst/>
            <a:ahLst/>
            <a:cxnLst/>
            <a:rect l="l" t="t" r="r" b="b"/>
            <a:pathLst>
              <a:path h="673735">
                <a:moveTo>
                  <a:pt x="0" y="0"/>
                </a:moveTo>
                <a:lnTo>
                  <a:pt x="0" y="673608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530213" y="4635246"/>
            <a:ext cx="0" cy="676910"/>
          </a:xfrm>
          <a:custGeom>
            <a:avLst/>
            <a:gdLst/>
            <a:ahLst/>
            <a:cxnLst/>
            <a:rect l="l" t="t" r="r" b="b"/>
            <a:pathLst>
              <a:path h="676910">
                <a:moveTo>
                  <a:pt x="0" y="0"/>
                </a:moveTo>
                <a:lnTo>
                  <a:pt x="0" y="67665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98071" y="5293614"/>
            <a:ext cx="1233805" cy="0"/>
          </a:xfrm>
          <a:custGeom>
            <a:avLst/>
            <a:gdLst/>
            <a:ahLst/>
            <a:cxnLst/>
            <a:rect l="l" t="t" r="r" b="b"/>
            <a:pathLst>
              <a:path w="1233804">
                <a:moveTo>
                  <a:pt x="0" y="0"/>
                </a:moveTo>
                <a:lnTo>
                  <a:pt x="1233665" y="0"/>
                </a:lnTo>
              </a:path>
            </a:pathLst>
          </a:custGeom>
          <a:ln w="39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15597" y="4914900"/>
            <a:ext cx="1187450" cy="368300"/>
          </a:xfrm>
          <a:custGeom>
            <a:avLst/>
            <a:gdLst/>
            <a:ahLst/>
            <a:cxnLst/>
            <a:rect l="l" t="t" r="r" b="b"/>
            <a:pathLst>
              <a:path w="1187450" h="368300">
                <a:moveTo>
                  <a:pt x="0" y="0"/>
                </a:moveTo>
                <a:lnTo>
                  <a:pt x="0" y="368046"/>
                </a:lnTo>
                <a:lnTo>
                  <a:pt x="1187195" y="368046"/>
                </a:lnTo>
                <a:lnTo>
                  <a:pt x="118719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305691" y="4905755"/>
            <a:ext cx="1207135" cy="387350"/>
          </a:xfrm>
          <a:custGeom>
            <a:avLst/>
            <a:gdLst/>
            <a:ahLst/>
            <a:cxnLst/>
            <a:rect l="l" t="t" r="r" b="b"/>
            <a:pathLst>
              <a:path w="1207134" h="387350">
                <a:moveTo>
                  <a:pt x="1207008" y="387096"/>
                </a:moveTo>
                <a:lnTo>
                  <a:pt x="1207008" y="0"/>
                </a:lnTo>
                <a:lnTo>
                  <a:pt x="0" y="0"/>
                </a:lnTo>
                <a:lnTo>
                  <a:pt x="0" y="387096"/>
                </a:lnTo>
                <a:lnTo>
                  <a:pt x="9905" y="387096"/>
                </a:lnTo>
                <a:lnTo>
                  <a:pt x="9905" y="19050"/>
                </a:lnTo>
                <a:lnTo>
                  <a:pt x="19050" y="9144"/>
                </a:lnTo>
                <a:lnTo>
                  <a:pt x="19050" y="19050"/>
                </a:lnTo>
                <a:lnTo>
                  <a:pt x="1187945" y="19050"/>
                </a:lnTo>
                <a:lnTo>
                  <a:pt x="1187945" y="9144"/>
                </a:lnTo>
                <a:lnTo>
                  <a:pt x="1197101" y="19050"/>
                </a:lnTo>
                <a:lnTo>
                  <a:pt x="1197101" y="387096"/>
                </a:lnTo>
                <a:lnTo>
                  <a:pt x="1207008" y="387096"/>
                </a:lnTo>
                <a:close/>
              </a:path>
              <a:path w="1207134" h="387350">
                <a:moveTo>
                  <a:pt x="19050" y="19050"/>
                </a:moveTo>
                <a:lnTo>
                  <a:pt x="19050" y="9144"/>
                </a:lnTo>
                <a:lnTo>
                  <a:pt x="9905" y="19050"/>
                </a:lnTo>
                <a:lnTo>
                  <a:pt x="19050" y="19050"/>
                </a:lnTo>
                <a:close/>
              </a:path>
              <a:path w="1207134" h="387350">
                <a:moveTo>
                  <a:pt x="19050" y="368046"/>
                </a:moveTo>
                <a:lnTo>
                  <a:pt x="19050" y="19050"/>
                </a:lnTo>
                <a:lnTo>
                  <a:pt x="9905" y="19050"/>
                </a:lnTo>
                <a:lnTo>
                  <a:pt x="9905" y="368046"/>
                </a:lnTo>
                <a:lnTo>
                  <a:pt x="19050" y="368046"/>
                </a:lnTo>
                <a:close/>
              </a:path>
              <a:path w="1207134" h="387350">
                <a:moveTo>
                  <a:pt x="1197101" y="368046"/>
                </a:moveTo>
                <a:lnTo>
                  <a:pt x="9905" y="368046"/>
                </a:lnTo>
                <a:lnTo>
                  <a:pt x="19050" y="377190"/>
                </a:lnTo>
                <a:lnTo>
                  <a:pt x="19050" y="387096"/>
                </a:lnTo>
                <a:lnTo>
                  <a:pt x="1187945" y="387096"/>
                </a:lnTo>
                <a:lnTo>
                  <a:pt x="1187945" y="377190"/>
                </a:lnTo>
                <a:lnTo>
                  <a:pt x="1197101" y="368046"/>
                </a:lnTo>
                <a:close/>
              </a:path>
              <a:path w="1207134" h="387350">
                <a:moveTo>
                  <a:pt x="19050" y="387096"/>
                </a:moveTo>
                <a:lnTo>
                  <a:pt x="19050" y="377190"/>
                </a:lnTo>
                <a:lnTo>
                  <a:pt x="9905" y="368046"/>
                </a:lnTo>
                <a:lnTo>
                  <a:pt x="9905" y="387096"/>
                </a:lnTo>
                <a:lnTo>
                  <a:pt x="19050" y="387096"/>
                </a:lnTo>
                <a:close/>
              </a:path>
              <a:path w="1207134" h="387350">
                <a:moveTo>
                  <a:pt x="1197101" y="19050"/>
                </a:moveTo>
                <a:lnTo>
                  <a:pt x="1187945" y="9144"/>
                </a:lnTo>
                <a:lnTo>
                  <a:pt x="1187945" y="19050"/>
                </a:lnTo>
                <a:lnTo>
                  <a:pt x="1197101" y="19050"/>
                </a:lnTo>
                <a:close/>
              </a:path>
              <a:path w="1207134" h="387350">
                <a:moveTo>
                  <a:pt x="1197101" y="368046"/>
                </a:moveTo>
                <a:lnTo>
                  <a:pt x="1197101" y="19050"/>
                </a:lnTo>
                <a:lnTo>
                  <a:pt x="1187945" y="19050"/>
                </a:lnTo>
                <a:lnTo>
                  <a:pt x="1187945" y="368046"/>
                </a:lnTo>
                <a:lnTo>
                  <a:pt x="1197101" y="368046"/>
                </a:lnTo>
                <a:close/>
              </a:path>
              <a:path w="1207134" h="387350">
                <a:moveTo>
                  <a:pt x="1197101" y="387096"/>
                </a:moveTo>
                <a:lnTo>
                  <a:pt x="1197101" y="368046"/>
                </a:lnTo>
                <a:lnTo>
                  <a:pt x="1187945" y="377190"/>
                </a:lnTo>
                <a:lnTo>
                  <a:pt x="1187945" y="387096"/>
                </a:lnTo>
                <a:lnTo>
                  <a:pt x="1197101" y="387096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15597" y="4635246"/>
            <a:ext cx="1187450" cy="283210"/>
          </a:xfrm>
          <a:custGeom>
            <a:avLst/>
            <a:gdLst/>
            <a:ahLst/>
            <a:cxnLst/>
            <a:rect l="l" t="t" r="r" b="b"/>
            <a:pathLst>
              <a:path w="1187450" h="283210">
                <a:moveTo>
                  <a:pt x="0" y="0"/>
                </a:moveTo>
                <a:lnTo>
                  <a:pt x="0" y="282702"/>
                </a:lnTo>
                <a:lnTo>
                  <a:pt x="1187195" y="282701"/>
                </a:lnTo>
                <a:lnTo>
                  <a:pt x="118719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05691" y="4635246"/>
            <a:ext cx="1207135" cy="292735"/>
          </a:xfrm>
          <a:custGeom>
            <a:avLst/>
            <a:gdLst/>
            <a:ahLst/>
            <a:cxnLst/>
            <a:rect l="l" t="t" r="r" b="b"/>
            <a:pathLst>
              <a:path w="1207134" h="292735">
                <a:moveTo>
                  <a:pt x="19050" y="273558"/>
                </a:moveTo>
                <a:lnTo>
                  <a:pt x="19050" y="0"/>
                </a:lnTo>
                <a:lnTo>
                  <a:pt x="0" y="0"/>
                </a:lnTo>
                <a:lnTo>
                  <a:pt x="0" y="292608"/>
                </a:lnTo>
                <a:lnTo>
                  <a:pt x="9905" y="292608"/>
                </a:lnTo>
                <a:lnTo>
                  <a:pt x="9905" y="273558"/>
                </a:lnTo>
                <a:lnTo>
                  <a:pt x="19050" y="273558"/>
                </a:lnTo>
                <a:close/>
              </a:path>
              <a:path w="1207134" h="292735">
                <a:moveTo>
                  <a:pt x="1197101" y="273557"/>
                </a:moveTo>
                <a:lnTo>
                  <a:pt x="9905" y="273558"/>
                </a:lnTo>
                <a:lnTo>
                  <a:pt x="19050" y="282702"/>
                </a:lnTo>
                <a:lnTo>
                  <a:pt x="19050" y="292608"/>
                </a:lnTo>
                <a:lnTo>
                  <a:pt x="1187945" y="292607"/>
                </a:lnTo>
                <a:lnTo>
                  <a:pt x="1187945" y="282701"/>
                </a:lnTo>
                <a:lnTo>
                  <a:pt x="1197101" y="273557"/>
                </a:lnTo>
                <a:close/>
              </a:path>
              <a:path w="1207134" h="292735">
                <a:moveTo>
                  <a:pt x="19050" y="292608"/>
                </a:moveTo>
                <a:lnTo>
                  <a:pt x="19050" y="282702"/>
                </a:lnTo>
                <a:lnTo>
                  <a:pt x="9905" y="273558"/>
                </a:lnTo>
                <a:lnTo>
                  <a:pt x="9905" y="292608"/>
                </a:lnTo>
                <a:lnTo>
                  <a:pt x="19050" y="292608"/>
                </a:lnTo>
                <a:close/>
              </a:path>
              <a:path w="1207134" h="292735">
                <a:moveTo>
                  <a:pt x="1207008" y="292607"/>
                </a:moveTo>
                <a:lnTo>
                  <a:pt x="1207008" y="0"/>
                </a:lnTo>
                <a:lnTo>
                  <a:pt x="1187945" y="0"/>
                </a:lnTo>
                <a:lnTo>
                  <a:pt x="1187945" y="273557"/>
                </a:lnTo>
                <a:lnTo>
                  <a:pt x="1197101" y="273557"/>
                </a:lnTo>
                <a:lnTo>
                  <a:pt x="1197101" y="292607"/>
                </a:lnTo>
                <a:lnTo>
                  <a:pt x="1207008" y="292607"/>
                </a:lnTo>
                <a:close/>
              </a:path>
              <a:path w="1207134" h="292735">
                <a:moveTo>
                  <a:pt x="1197101" y="292607"/>
                </a:moveTo>
                <a:lnTo>
                  <a:pt x="1197101" y="273557"/>
                </a:lnTo>
                <a:lnTo>
                  <a:pt x="1187945" y="282701"/>
                </a:lnTo>
                <a:lnTo>
                  <a:pt x="1187945" y="292607"/>
                </a:lnTo>
                <a:lnTo>
                  <a:pt x="1197101" y="292607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027047" y="2364994"/>
            <a:ext cx="7270115" cy="292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How </a:t>
            </a:r>
            <a:r>
              <a:rPr sz="3200" spc="-5" dirty="0">
                <a:latin typeface="Arial"/>
                <a:cs typeface="Arial"/>
              </a:rPr>
              <a:t>to </a:t>
            </a:r>
            <a:r>
              <a:rPr sz="3200" spc="-10" dirty="0">
                <a:latin typeface="Arial"/>
                <a:cs typeface="Arial"/>
              </a:rPr>
              <a:t>check whether </a:t>
            </a:r>
            <a:r>
              <a:rPr sz="3200" spc="-5" dirty="0">
                <a:latin typeface="Arial"/>
                <a:cs typeface="Arial"/>
              </a:rPr>
              <a:t>a stack is full </a:t>
            </a:r>
            <a:r>
              <a:rPr sz="3200" spc="-10" dirty="0">
                <a:latin typeface="Arial"/>
                <a:cs typeface="Arial"/>
              </a:rPr>
              <a:t>or  </a:t>
            </a:r>
            <a:r>
              <a:rPr sz="3200" spc="-5" dirty="0">
                <a:latin typeface="Arial"/>
                <a:cs typeface="Arial"/>
              </a:rPr>
              <a:t>empty?</a:t>
            </a:r>
            <a:endParaRPr sz="3200" dirty="0">
              <a:latin typeface="Arial"/>
              <a:cs typeface="Arial"/>
            </a:endParaRPr>
          </a:p>
          <a:p>
            <a:pPr marL="501015" algn="ctr">
              <a:lnSpc>
                <a:spcPct val="100000"/>
              </a:lnSpc>
              <a:spcBef>
                <a:spcPts val="5"/>
              </a:spcBef>
            </a:pPr>
            <a:r>
              <a:rPr sz="3600" spc="-7" baseline="13888" dirty="0">
                <a:latin typeface="Arial"/>
                <a:cs typeface="Arial"/>
              </a:rPr>
              <a:t>a</a:t>
            </a:r>
            <a:r>
              <a:rPr sz="1600" spc="-5" dirty="0">
                <a:latin typeface="Arial"/>
                <a:cs typeface="Arial"/>
              </a:rPr>
              <a:t>n-1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 dirty="0">
              <a:latin typeface="Times New Roman"/>
              <a:cs typeface="Times New Roman"/>
            </a:endParaRPr>
          </a:p>
          <a:p>
            <a:pPr marL="3724910" marR="3240405" indent="13970" algn="just">
              <a:lnSpc>
                <a:spcPct val="99700"/>
              </a:lnSpc>
              <a:spcBef>
                <a:spcPts val="5"/>
              </a:spcBef>
            </a:pPr>
            <a:r>
              <a:rPr sz="2400" spc="-10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2  </a:t>
            </a:r>
            <a:r>
              <a:rPr sz="2400" spc="-10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1  </a:t>
            </a:r>
            <a:r>
              <a:rPr sz="2400" spc="-10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0</a:t>
            </a:r>
          </a:p>
        </p:txBody>
      </p:sp>
      <p:sp>
        <p:nvSpPr>
          <p:cNvPr id="25" name="object 25"/>
          <p:cNvSpPr/>
          <p:nvPr/>
        </p:nvSpPr>
        <p:spPr>
          <a:xfrm>
            <a:off x="3911447" y="5061203"/>
            <a:ext cx="1381125" cy="431800"/>
          </a:xfrm>
          <a:custGeom>
            <a:avLst/>
            <a:gdLst/>
            <a:ahLst/>
            <a:cxnLst/>
            <a:rect l="l" t="t" r="r" b="b"/>
            <a:pathLst>
              <a:path w="1381125" h="431800">
                <a:moveTo>
                  <a:pt x="1380528" y="12192"/>
                </a:moveTo>
                <a:lnTo>
                  <a:pt x="1379766" y="0"/>
                </a:lnTo>
                <a:lnTo>
                  <a:pt x="1335153" y="2190"/>
                </a:lnTo>
                <a:lnTo>
                  <a:pt x="1289272" y="4238"/>
                </a:lnTo>
                <a:lnTo>
                  <a:pt x="1193695" y="8332"/>
                </a:lnTo>
                <a:lnTo>
                  <a:pt x="1144244" y="10587"/>
                </a:lnTo>
                <a:lnTo>
                  <a:pt x="1093992" y="13116"/>
                </a:lnTo>
                <a:lnTo>
                  <a:pt x="1045471" y="15867"/>
                </a:lnTo>
                <a:lnTo>
                  <a:pt x="994761" y="19180"/>
                </a:lnTo>
                <a:lnTo>
                  <a:pt x="943709" y="23059"/>
                </a:lnTo>
                <a:lnTo>
                  <a:pt x="892450" y="27603"/>
                </a:lnTo>
                <a:lnTo>
                  <a:pt x="841114" y="32916"/>
                </a:lnTo>
                <a:lnTo>
                  <a:pt x="789836" y="39097"/>
                </a:lnTo>
                <a:lnTo>
                  <a:pt x="738748" y="46248"/>
                </a:lnTo>
                <a:lnTo>
                  <a:pt x="687981" y="54471"/>
                </a:lnTo>
                <a:lnTo>
                  <a:pt x="637670" y="63866"/>
                </a:lnTo>
                <a:lnTo>
                  <a:pt x="587945" y="74535"/>
                </a:lnTo>
                <a:lnTo>
                  <a:pt x="538941" y="86580"/>
                </a:lnTo>
                <a:lnTo>
                  <a:pt x="490790" y="100100"/>
                </a:lnTo>
                <a:lnTo>
                  <a:pt x="443624" y="115198"/>
                </a:lnTo>
                <a:lnTo>
                  <a:pt x="397575" y="131975"/>
                </a:lnTo>
                <a:lnTo>
                  <a:pt x="352777" y="150532"/>
                </a:lnTo>
                <a:lnTo>
                  <a:pt x="309362" y="170969"/>
                </a:lnTo>
                <a:lnTo>
                  <a:pt x="267462" y="193390"/>
                </a:lnTo>
                <a:lnTo>
                  <a:pt x="227211" y="217894"/>
                </a:lnTo>
                <a:lnTo>
                  <a:pt x="188741" y="244583"/>
                </a:lnTo>
                <a:lnTo>
                  <a:pt x="152184" y="273558"/>
                </a:lnTo>
                <a:lnTo>
                  <a:pt x="114658" y="306230"/>
                </a:lnTo>
                <a:lnTo>
                  <a:pt x="78944" y="340860"/>
                </a:lnTo>
                <a:lnTo>
                  <a:pt x="44938" y="377271"/>
                </a:lnTo>
                <a:lnTo>
                  <a:pt x="12536" y="415288"/>
                </a:lnTo>
                <a:lnTo>
                  <a:pt x="0" y="431292"/>
                </a:lnTo>
                <a:lnTo>
                  <a:pt x="16430" y="431292"/>
                </a:lnTo>
                <a:lnTo>
                  <a:pt x="35081" y="408238"/>
                </a:lnTo>
                <a:lnTo>
                  <a:pt x="69172" y="369708"/>
                </a:lnTo>
                <a:lnTo>
                  <a:pt x="105053" y="332902"/>
                </a:lnTo>
                <a:lnTo>
                  <a:pt x="142843" y="297998"/>
                </a:lnTo>
                <a:lnTo>
                  <a:pt x="182664" y="265175"/>
                </a:lnTo>
                <a:lnTo>
                  <a:pt x="220174" y="237696"/>
                </a:lnTo>
                <a:lnTo>
                  <a:pt x="259681" y="212456"/>
                </a:lnTo>
                <a:lnTo>
                  <a:pt x="301036" y="189352"/>
                </a:lnTo>
                <a:lnTo>
                  <a:pt x="344093" y="168279"/>
                </a:lnTo>
                <a:lnTo>
                  <a:pt x="388705" y="149136"/>
                </a:lnTo>
                <a:lnTo>
                  <a:pt x="434723" y="131818"/>
                </a:lnTo>
                <a:lnTo>
                  <a:pt x="482002" y="116222"/>
                </a:lnTo>
                <a:lnTo>
                  <a:pt x="530393" y="102245"/>
                </a:lnTo>
                <a:lnTo>
                  <a:pt x="579749" y="89783"/>
                </a:lnTo>
                <a:lnTo>
                  <a:pt x="629922" y="78734"/>
                </a:lnTo>
                <a:lnTo>
                  <a:pt x="680767" y="68994"/>
                </a:lnTo>
                <a:lnTo>
                  <a:pt x="732135" y="60459"/>
                </a:lnTo>
                <a:lnTo>
                  <a:pt x="783879" y="53026"/>
                </a:lnTo>
                <a:lnTo>
                  <a:pt x="835852" y="46593"/>
                </a:lnTo>
                <a:lnTo>
                  <a:pt x="887906" y="41054"/>
                </a:lnTo>
                <a:lnTo>
                  <a:pt x="939894" y="36308"/>
                </a:lnTo>
                <a:lnTo>
                  <a:pt x="991670" y="32251"/>
                </a:lnTo>
                <a:lnTo>
                  <a:pt x="1043085" y="28779"/>
                </a:lnTo>
                <a:lnTo>
                  <a:pt x="1095709" y="25700"/>
                </a:lnTo>
                <a:lnTo>
                  <a:pt x="1145340" y="23127"/>
                </a:lnTo>
                <a:lnTo>
                  <a:pt x="1194233" y="20820"/>
                </a:lnTo>
                <a:lnTo>
                  <a:pt x="1289599" y="16587"/>
                </a:lnTo>
                <a:lnTo>
                  <a:pt x="1335759" y="14458"/>
                </a:lnTo>
                <a:lnTo>
                  <a:pt x="1380528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17325" y="4690266"/>
            <a:ext cx="1158875" cy="802640"/>
          </a:xfrm>
          <a:custGeom>
            <a:avLst/>
            <a:gdLst/>
            <a:ahLst/>
            <a:cxnLst/>
            <a:rect l="l" t="t" r="r" b="b"/>
            <a:pathLst>
              <a:path w="1158875" h="802639">
                <a:moveTo>
                  <a:pt x="1158648" y="7463"/>
                </a:moveTo>
                <a:lnTo>
                  <a:pt x="1119238" y="6504"/>
                </a:lnTo>
                <a:lnTo>
                  <a:pt x="1077392" y="5193"/>
                </a:lnTo>
                <a:lnTo>
                  <a:pt x="1033396" y="3718"/>
                </a:lnTo>
                <a:lnTo>
                  <a:pt x="987534" y="2271"/>
                </a:lnTo>
                <a:lnTo>
                  <a:pt x="940091" y="1042"/>
                </a:lnTo>
                <a:lnTo>
                  <a:pt x="891353" y="221"/>
                </a:lnTo>
                <a:lnTo>
                  <a:pt x="841604" y="0"/>
                </a:lnTo>
                <a:lnTo>
                  <a:pt x="791131" y="567"/>
                </a:lnTo>
                <a:lnTo>
                  <a:pt x="740217" y="2113"/>
                </a:lnTo>
                <a:lnTo>
                  <a:pt x="689149" y="4830"/>
                </a:lnTo>
                <a:lnTo>
                  <a:pt x="638211" y="8906"/>
                </a:lnTo>
                <a:lnTo>
                  <a:pt x="587689" y="14533"/>
                </a:lnTo>
                <a:lnTo>
                  <a:pt x="537867" y="21901"/>
                </a:lnTo>
                <a:lnTo>
                  <a:pt x="489031" y="31200"/>
                </a:lnTo>
                <a:lnTo>
                  <a:pt x="441465" y="42621"/>
                </a:lnTo>
                <a:lnTo>
                  <a:pt x="395456" y="56354"/>
                </a:lnTo>
                <a:lnTo>
                  <a:pt x="351288" y="72589"/>
                </a:lnTo>
                <a:lnTo>
                  <a:pt x="309247" y="91517"/>
                </a:lnTo>
                <a:lnTo>
                  <a:pt x="269617" y="113328"/>
                </a:lnTo>
                <a:lnTo>
                  <a:pt x="232684" y="138213"/>
                </a:lnTo>
                <a:lnTo>
                  <a:pt x="198732" y="166361"/>
                </a:lnTo>
                <a:lnTo>
                  <a:pt x="168048" y="197963"/>
                </a:lnTo>
                <a:lnTo>
                  <a:pt x="140880" y="232250"/>
                </a:lnTo>
                <a:lnTo>
                  <a:pt x="116670" y="269941"/>
                </a:lnTo>
                <a:lnTo>
                  <a:pt x="95255" y="310725"/>
                </a:lnTo>
                <a:lnTo>
                  <a:pt x="76473" y="354288"/>
                </a:lnTo>
                <a:lnTo>
                  <a:pt x="60163" y="400317"/>
                </a:lnTo>
                <a:lnTo>
                  <a:pt x="46163" y="448500"/>
                </a:lnTo>
                <a:lnTo>
                  <a:pt x="34310" y="498524"/>
                </a:lnTo>
                <a:lnTo>
                  <a:pt x="24444" y="550076"/>
                </a:lnTo>
                <a:lnTo>
                  <a:pt x="16401" y="602844"/>
                </a:lnTo>
                <a:lnTo>
                  <a:pt x="10021" y="656514"/>
                </a:lnTo>
                <a:lnTo>
                  <a:pt x="5142" y="710775"/>
                </a:lnTo>
                <a:lnTo>
                  <a:pt x="1601" y="765313"/>
                </a:lnTo>
                <a:lnTo>
                  <a:pt x="0" y="802229"/>
                </a:lnTo>
                <a:lnTo>
                  <a:pt x="12717" y="802229"/>
                </a:lnTo>
                <a:lnTo>
                  <a:pt x="14096" y="769377"/>
                </a:lnTo>
                <a:lnTo>
                  <a:pt x="17505" y="715461"/>
                </a:lnTo>
                <a:lnTo>
                  <a:pt x="22225" y="661814"/>
                </a:lnTo>
                <a:lnTo>
                  <a:pt x="28418" y="608741"/>
                </a:lnTo>
                <a:lnTo>
                  <a:pt x="36246" y="556545"/>
                </a:lnTo>
                <a:lnTo>
                  <a:pt x="45871" y="505532"/>
                </a:lnTo>
                <a:lnTo>
                  <a:pt x="57456" y="456005"/>
                </a:lnTo>
                <a:lnTo>
                  <a:pt x="71162" y="408269"/>
                </a:lnTo>
                <a:lnTo>
                  <a:pt x="87152" y="362629"/>
                </a:lnTo>
                <a:lnTo>
                  <a:pt x="105587" y="319388"/>
                </a:lnTo>
                <a:lnTo>
                  <a:pt x="126631" y="278851"/>
                </a:lnTo>
                <a:lnTo>
                  <a:pt x="150445" y="241323"/>
                </a:lnTo>
                <a:lnTo>
                  <a:pt x="177192" y="207107"/>
                </a:lnTo>
                <a:lnTo>
                  <a:pt x="207251" y="175849"/>
                </a:lnTo>
                <a:lnTo>
                  <a:pt x="240645" y="148040"/>
                </a:lnTo>
                <a:lnTo>
                  <a:pt x="277080" y="123488"/>
                </a:lnTo>
                <a:lnTo>
                  <a:pt x="316264" y="102000"/>
                </a:lnTo>
                <a:lnTo>
                  <a:pt x="357905" y="83383"/>
                </a:lnTo>
                <a:lnTo>
                  <a:pt x="401708" y="67444"/>
                </a:lnTo>
                <a:lnTo>
                  <a:pt x="447383" y="53993"/>
                </a:lnTo>
                <a:lnTo>
                  <a:pt x="494635" y="42835"/>
                </a:lnTo>
                <a:lnTo>
                  <a:pt x="543172" y="33778"/>
                </a:lnTo>
                <a:lnTo>
                  <a:pt x="592702" y="26630"/>
                </a:lnTo>
                <a:lnTo>
                  <a:pt x="642931" y="21198"/>
                </a:lnTo>
                <a:lnTo>
                  <a:pt x="693567" y="17290"/>
                </a:lnTo>
                <a:lnTo>
                  <a:pt x="744316" y="14713"/>
                </a:lnTo>
                <a:lnTo>
                  <a:pt x="794887" y="13275"/>
                </a:lnTo>
                <a:lnTo>
                  <a:pt x="844987" y="12783"/>
                </a:lnTo>
                <a:lnTo>
                  <a:pt x="894322" y="13044"/>
                </a:lnTo>
                <a:lnTo>
                  <a:pt x="942600" y="13866"/>
                </a:lnTo>
                <a:lnTo>
                  <a:pt x="989528" y="15057"/>
                </a:lnTo>
                <a:lnTo>
                  <a:pt x="1034813" y="16424"/>
                </a:lnTo>
                <a:lnTo>
                  <a:pt x="1078163" y="17774"/>
                </a:lnTo>
                <a:lnTo>
                  <a:pt x="1119285" y="18916"/>
                </a:lnTo>
                <a:lnTo>
                  <a:pt x="1157886" y="19655"/>
                </a:lnTo>
                <a:lnTo>
                  <a:pt x="1158648" y="7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69731" y="4635246"/>
            <a:ext cx="84455" cy="857250"/>
          </a:xfrm>
          <a:custGeom>
            <a:avLst/>
            <a:gdLst/>
            <a:ahLst/>
            <a:cxnLst/>
            <a:rect l="l" t="t" r="r" b="b"/>
            <a:pathLst>
              <a:path w="84454" h="857250">
                <a:moveTo>
                  <a:pt x="83907" y="0"/>
                </a:moveTo>
                <a:lnTo>
                  <a:pt x="70863" y="0"/>
                </a:lnTo>
                <a:lnTo>
                  <a:pt x="61126" y="37814"/>
                </a:lnTo>
                <a:lnTo>
                  <a:pt x="50315" y="89887"/>
                </a:lnTo>
                <a:lnTo>
                  <a:pt x="41471" y="141786"/>
                </a:lnTo>
                <a:lnTo>
                  <a:pt x="34144" y="192634"/>
                </a:lnTo>
                <a:lnTo>
                  <a:pt x="27884" y="241553"/>
                </a:lnTo>
                <a:lnTo>
                  <a:pt x="22745" y="292338"/>
                </a:lnTo>
                <a:lnTo>
                  <a:pt x="18245" y="343320"/>
                </a:lnTo>
                <a:lnTo>
                  <a:pt x="14345" y="394480"/>
                </a:lnTo>
                <a:lnTo>
                  <a:pt x="11008" y="445798"/>
                </a:lnTo>
                <a:lnTo>
                  <a:pt x="8194" y="497254"/>
                </a:lnTo>
                <a:lnTo>
                  <a:pt x="3988" y="600498"/>
                </a:lnTo>
                <a:lnTo>
                  <a:pt x="1423" y="704051"/>
                </a:lnTo>
                <a:lnTo>
                  <a:pt x="0" y="857250"/>
                </a:lnTo>
                <a:lnTo>
                  <a:pt x="12593" y="857250"/>
                </a:lnTo>
                <a:lnTo>
                  <a:pt x="14177" y="705135"/>
                </a:lnTo>
                <a:lnTo>
                  <a:pt x="16812" y="601994"/>
                </a:lnTo>
                <a:lnTo>
                  <a:pt x="21011" y="499040"/>
                </a:lnTo>
                <a:lnTo>
                  <a:pt x="27037" y="396366"/>
                </a:lnTo>
                <a:lnTo>
                  <a:pt x="30817" y="345162"/>
                </a:lnTo>
                <a:lnTo>
                  <a:pt x="35152" y="294062"/>
                </a:lnTo>
                <a:lnTo>
                  <a:pt x="40076" y="243077"/>
                </a:lnTo>
                <a:lnTo>
                  <a:pt x="46421" y="194785"/>
                </a:lnTo>
                <a:lnTo>
                  <a:pt x="53741" y="144537"/>
                </a:lnTo>
                <a:lnTo>
                  <a:pt x="62505" y="93216"/>
                </a:lnTo>
                <a:lnTo>
                  <a:pt x="73185" y="41705"/>
                </a:lnTo>
                <a:lnTo>
                  <a:pt x="83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381798" y="4635246"/>
            <a:ext cx="281305" cy="857250"/>
          </a:xfrm>
          <a:custGeom>
            <a:avLst/>
            <a:gdLst/>
            <a:ahLst/>
            <a:cxnLst/>
            <a:rect l="l" t="t" r="r" b="b"/>
            <a:pathLst>
              <a:path w="281304" h="857250">
                <a:moveTo>
                  <a:pt x="280714" y="857250"/>
                </a:moveTo>
                <a:lnTo>
                  <a:pt x="254814" y="750581"/>
                </a:lnTo>
                <a:lnTo>
                  <a:pt x="216697" y="602517"/>
                </a:lnTo>
                <a:lnTo>
                  <a:pt x="189389" y="503510"/>
                </a:lnTo>
                <a:lnTo>
                  <a:pt x="160336" y="404740"/>
                </a:lnTo>
                <a:lnTo>
                  <a:pt x="145093" y="355573"/>
                </a:lnTo>
                <a:lnTo>
                  <a:pt x="129341" y="306618"/>
                </a:lnTo>
                <a:lnTo>
                  <a:pt x="113055" y="257927"/>
                </a:lnTo>
                <a:lnTo>
                  <a:pt x="96210" y="209551"/>
                </a:lnTo>
                <a:lnTo>
                  <a:pt x="78781" y="161542"/>
                </a:lnTo>
                <a:lnTo>
                  <a:pt x="60745" y="113949"/>
                </a:lnTo>
                <a:lnTo>
                  <a:pt x="42077" y="66825"/>
                </a:lnTo>
                <a:lnTo>
                  <a:pt x="22751" y="20221"/>
                </a:lnTo>
                <a:lnTo>
                  <a:pt x="13963" y="0"/>
                </a:lnTo>
                <a:lnTo>
                  <a:pt x="0" y="0"/>
                </a:lnTo>
                <a:lnTo>
                  <a:pt x="18586" y="43966"/>
                </a:lnTo>
                <a:lnTo>
                  <a:pt x="37108" y="89738"/>
                </a:lnTo>
                <a:lnTo>
                  <a:pt x="54938" y="135636"/>
                </a:lnTo>
                <a:lnTo>
                  <a:pt x="72487" y="183227"/>
                </a:lnTo>
                <a:lnTo>
                  <a:pt x="89483" y="231058"/>
                </a:lnTo>
                <a:lnTo>
                  <a:pt x="105950" y="279114"/>
                </a:lnTo>
                <a:lnTo>
                  <a:pt x="121913" y="327382"/>
                </a:lnTo>
                <a:lnTo>
                  <a:pt x="137395" y="375845"/>
                </a:lnTo>
                <a:lnTo>
                  <a:pt x="167016" y="473302"/>
                </a:lnTo>
                <a:lnTo>
                  <a:pt x="195009" y="571367"/>
                </a:lnTo>
                <a:lnTo>
                  <a:pt x="221568" y="669925"/>
                </a:lnTo>
                <a:lnTo>
                  <a:pt x="259145" y="818427"/>
                </a:lnTo>
                <a:lnTo>
                  <a:pt x="268549" y="857250"/>
                </a:lnTo>
                <a:lnTo>
                  <a:pt x="280714" y="857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74839" y="1206246"/>
            <a:ext cx="824484" cy="5143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13645" y="6018276"/>
            <a:ext cx="514350" cy="331470"/>
          </a:xfrm>
          <a:custGeom>
            <a:avLst/>
            <a:gdLst/>
            <a:ahLst/>
            <a:cxnLst/>
            <a:rect l="l" t="t" r="r" b="b"/>
            <a:pathLst>
              <a:path w="514350" h="331470">
                <a:moveTo>
                  <a:pt x="0" y="0"/>
                </a:moveTo>
                <a:lnTo>
                  <a:pt x="0" y="331470"/>
                </a:lnTo>
                <a:lnTo>
                  <a:pt x="514350" y="331470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407549" y="6012179"/>
            <a:ext cx="527050" cy="337820"/>
          </a:xfrm>
          <a:custGeom>
            <a:avLst/>
            <a:gdLst/>
            <a:ahLst/>
            <a:cxnLst/>
            <a:rect l="l" t="t" r="r" b="b"/>
            <a:pathLst>
              <a:path w="527050" h="337820">
                <a:moveTo>
                  <a:pt x="526541" y="337566"/>
                </a:moveTo>
                <a:lnTo>
                  <a:pt x="526541" y="0"/>
                </a:lnTo>
                <a:lnTo>
                  <a:pt x="0" y="0"/>
                </a:lnTo>
                <a:lnTo>
                  <a:pt x="0" y="337566"/>
                </a:lnTo>
                <a:lnTo>
                  <a:pt x="6096" y="337566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514350" y="12192"/>
                </a:lnTo>
                <a:lnTo>
                  <a:pt x="514350" y="6096"/>
                </a:lnTo>
                <a:lnTo>
                  <a:pt x="520446" y="12192"/>
                </a:lnTo>
                <a:lnTo>
                  <a:pt x="520446" y="337566"/>
                </a:lnTo>
                <a:lnTo>
                  <a:pt x="526541" y="337566"/>
                </a:lnTo>
                <a:close/>
              </a:path>
              <a:path w="527050" h="33782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527050" h="337820">
                <a:moveTo>
                  <a:pt x="12192" y="337566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337566"/>
                </a:lnTo>
                <a:lnTo>
                  <a:pt x="12192" y="337566"/>
                </a:lnTo>
                <a:close/>
              </a:path>
              <a:path w="527050" h="337820">
                <a:moveTo>
                  <a:pt x="520446" y="12192"/>
                </a:moveTo>
                <a:lnTo>
                  <a:pt x="514350" y="6096"/>
                </a:lnTo>
                <a:lnTo>
                  <a:pt x="514350" y="12192"/>
                </a:lnTo>
                <a:lnTo>
                  <a:pt x="520446" y="12192"/>
                </a:lnTo>
                <a:close/>
              </a:path>
              <a:path w="527050" h="337820">
                <a:moveTo>
                  <a:pt x="520446" y="337566"/>
                </a:moveTo>
                <a:lnTo>
                  <a:pt x="520446" y="12192"/>
                </a:lnTo>
                <a:lnTo>
                  <a:pt x="514350" y="12192"/>
                </a:lnTo>
                <a:lnTo>
                  <a:pt x="514350" y="337566"/>
                </a:lnTo>
                <a:lnTo>
                  <a:pt x="520446" y="337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20375" y="6018276"/>
            <a:ext cx="514350" cy="331470"/>
          </a:xfrm>
          <a:custGeom>
            <a:avLst/>
            <a:gdLst/>
            <a:ahLst/>
            <a:cxnLst/>
            <a:rect l="l" t="t" r="r" b="b"/>
            <a:pathLst>
              <a:path w="514350" h="331470">
                <a:moveTo>
                  <a:pt x="0" y="0"/>
                </a:moveTo>
                <a:lnTo>
                  <a:pt x="0" y="331470"/>
                </a:lnTo>
                <a:lnTo>
                  <a:pt x="514350" y="331470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913517" y="6012179"/>
            <a:ext cx="527685" cy="337820"/>
          </a:xfrm>
          <a:custGeom>
            <a:avLst/>
            <a:gdLst/>
            <a:ahLst/>
            <a:cxnLst/>
            <a:rect l="l" t="t" r="r" b="b"/>
            <a:pathLst>
              <a:path w="527685" h="337820">
                <a:moveTo>
                  <a:pt x="527303" y="337566"/>
                </a:moveTo>
                <a:lnTo>
                  <a:pt x="527303" y="0"/>
                </a:lnTo>
                <a:lnTo>
                  <a:pt x="0" y="0"/>
                </a:lnTo>
                <a:lnTo>
                  <a:pt x="0" y="337566"/>
                </a:lnTo>
                <a:lnTo>
                  <a:pt x="6857" y="337566"/>
                </a:lnTo>
                <a:lnTo>
                  <a:pt x="6857" y="12192"/>
                </a:lnTo>
                <a:lnTo>
                  <a:pt x="12953" y="6096"/>
                </a:lnTo>
                <a:lnTo>
                  <a:pt x="12953" y="12192"/>
                </a:lnTo>
                <a:lnTo>
                  <a:pt x="514350" y="12192"/>
                </a:lnTo>
                <a:lnTo>
                  <a:pt x="514350" y="6096"/>
                </a:lnTo>
                <a:lnTo>
                  <a:pt x="521207" y="12192"/>
                </a:lnTo>
                <a:lnTo>
                  <a:pt x="521207" y="337566"/>
                </a:lnTo>
                <a:lnTo>
                  <a:pt x="527303" y="337566"/>
                </a:lnTo>
                <a:close/>
              </a:path>
              <a:path w="527685" h="337820">
                <a:moveTo>
                  <a:pt x="12953" y="12192"/>
                </a:moveTo>
                <a:lnTo>
                  <a:pt x="12953" y="6096"/>
                </a:lnTo>
                <a:lnTo>
                  <a:pt x="6857" y="12192"/>
                </a:lnTo>
                <a:lnTo>
                  <a:pt x="12953" y="12192"/>
                </a:lnTo>
                <a:close/>
              </a:path>
              <a:path w="527685" h="337820">
                <a:moveTo>
                  <a:pt x="12953" y="337566"/>
                </a:moveTo>
                <a:lnTo>
                  <a:pt x="12953" y="12192"/>
                </a:lnTo>
                <a:lnTo>
                  <a:pt x="6857" y="12192"/>
                </a:lnTo>
                <a:lnTo>
                  <a:pt x="6857" y="337566"/>
                </a:lnTo>
                <a:lnTo>
                  <a:pt x="12953" y="337566"/>
                </a:lnTo>
                <a:close/>
              </a:path>
              <a:path w="527685" h="337820">
                <a:moveTo>
                  <a:pt x="521207" y="12192"/>
                </a:moveTo>
                <a:lnTo>
                  <a:pt x="514350" y="6096"/>
                </a:lnTo>
                <a:lnTo>
                  <a:pt x="514350" y="12192"/>
                </a:lnTo>
                <a:lnTo>
                  <a:pt x="521207" y="12192"/>
                </a:lnTo>
                <a:close/>
              </a:path>
              <a:path w="527685" h="337820">
                <a:moveTo>
                  <a:pt x="521207" y="337566"/>
                </a:moveTo>
                <a:lnTo>
                  <a:pt x="521207" y="12192"/>
                </a:lnTo>
                <a:lnTo>
                  <a:pt x="514350" y="12192"/>
                </a:lnTo>
                <a:lnTo>
                  <a:pt x="514350" y="337566"/>
                </a:lnTo>
                <a:lnTo>
                  <a:pt x="521207" y="337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36249" y="6018276"/>
            <a:ext cx="514350" cy="331470"/>
          </a:xfrm>
          <a:custGeom>
            <a:avLst/>
            <a:gdLst/>
            <a:ahLst/>
            <a:cxnLst/>
            <a:rect l="l" t="t" r="r" b="b"/>
            <a:pathLst>
              <a:path w="514350" h="331470">
                <a:moveTo>
                  <a:pt x="0" y="0"/>
                </a:moveTo>
                <a:lnTo>
                  <a:pt x="0" y="331470"/>
                </a:lnTo>
                <a:lnTo>
                  <a:pt x="514350" y="331470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429391" y="6012179"/>
            <a:ext cx="527685" cy="337820"/>
          </a:xfrm>
          <a:custGeom>
            <a:avLst/>
            <a:gdLst/>
            <a:ahLst/>
            <a:cxnLst/>
            <a:rect l="l" t="t" r="r" b="b"/>
            <a:pathLst>
              <a:path w="527685" h="337820">
                <a:moveTo>
                  <a:pt x="527303" y="337566"/>
                </a:moveTo>
                <a:lnTo>
                  <a:pt x="527303" y="0"/>
                </a:lnTo>
                <a:lnTo>
                  <a:pt x="0" y="0"/>
                </a:lnTo>
                <a:lnTo>
                  <a:pt x="0" y="337566"/>
                </a:lnTo>
                <a:lnTo>
                  <a:pt x="6857" y="337566"/>
                </a:lnTo>
                <a:lnTo>
                  <a:pt x="6857" y="12192"/>
                </a:lnTo>
                <a:lnTo>
                  <a:pt x="12953" y="6096"/>
                </a:lnTo>
                <a:lnTo>
                  <a:pt x="12953" y="12192"/>
                </a:lnTo>
                <a:lnTo>
                  <a:pt x="514350" y="12192"/>
                </a:lnTo>
                <a:lnTo>
                  <a:pt x="514350" y="6096"/>
                </a:lnTo>
                <a:lnTo>
                  <a:pt x="521207" y="12192"/>
                </a:lnTo>
                <a:lnTo>
                  <a:pt x="521207" y="337566"/>
                </a:lnTo>
                <a:lnTo>
                  <a:pt x="527303" y="337566"/>
                </a:lnTo>
                <a:close/>
              </a:path>
              <a:path w="527685" h="337820">
                <a:moveTo>
                  <a:pt x="12953" y="12192"/>
                </a:moveTo>
                <a:lnTo>
                  <a:pt x="12953" y="6096"/>
                </a:lnTo>
                <a:lnTo>
                  <a:pt x="6857" y="12192"/>
                </a:lnTo>
                <a:lnTo>
                  <a:pt x="12953" y="12192"/>
                </a:lnTo>
                <a:close/>
              </a:path>
              <a:path w="527685" h="337820">
                <a:moveTo>
                  <a:pt x="12953" y="337566"/>
                </a:moveTo>
                <a:lnTo>
                  <a:pt x="12953" y="12192"/>
                </a:lnTo>
                <a:lnTo>
                  <a:pt x="6857" y="12192"/>
                </a:lnTo>
                <a:lnTo>
                  <a:pt x="6857" y="337566"/>
                </a:lnTo>
                <a:lnTo>
                  <a:pt x="12953" y="337566"/>
                </a:lnTo>
                <a:close/>
              </a:path>
              <a:path w="527685" h="337820">
                <a:moveTo>
                  <a:pt x="521207" y="12192"/>
                </a:moveTo>
                <a:lnTo>
                  <a:pt x="514350" y="6096"/>
                </a:lnTo>
                <a:lnTo>
                  <a:pt x="514350" y="12192"/>
                </a:lnTo>
                <a:lnTo>
                  <a:pt x="521207" y="12192"/>
                </a:lnTo>
                <a:close/>
              </a:path>
              <a:path w="527685" h="337820">
                <a:moveTo>
                  <a:pt x="521207" y="337566"/>
                </a:moveTo>
                <a:lnTo>
                  <a:pt x="521207" y="12192"/>
                </a:lnTo>
                <a:lnTo>
                  <a:pt x="514350" y="12192"/>
                </a:lnTo>
                <a:lnTo>
                  <a:pt x="514350" y="337566"/>
                </a:lnTo>
                <a:lnTo>
                  <a:pt x="521207" y="337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949075" y="6018276"/>
            <a:ext cx="514350" cy="331470"/>
          </a:xfrm>
          <a:custGeom>
            <a:avLst/>
            <a:gdLst/>
            <a:ahLst/>
            <a:cxnLst/>
            <a:rect l="l" t="t" r="r" b="b"/>
            <a:pathLst>
              <a:path w="514350" h="331470">
                <a:moveTo>
                  <a:pt x="0" y="0"/>
                </a:moveTo>
                <a:lnTo>
                  <a:pt x="0" y="331470"/>
                </a:lnTo>
                <a:lnTo>
                  <a:pt x="514350" y="331470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42217" y="6012179"/>
            <a:ext cx="527685" cy="337820"/>
          </a:xfrm>
          <a:custGeom>
            <a:avLst/>
            <a:gdLst/>
            <a:ahLst/>
            <a:cxnLst/>
            <a:rect l="l" t="t" r="r" b="b"/>
            <a:pathLst>
              <a:path w="527685" h="337820">
                <a:moveTo>
                  <a:pt x="527303" y="337566"/>
                </a:moveTo>
                <a:lnTo>
                  <a:pt x="527303" y="0"/>
                </a:lnTo>
                <a:lnTo>
                  <a:pt x="0" y="0"/>
                </a:lnTo>
                <a:lnTo>
                  <a:pt x="0" y="337566"/>
                </a:lnTo>
                <a:lnTo>
                  <a:pt x="6857" y="337566"/>
                </a:lnTo>
                <a:lnTo>
                  <a:pt x="6857" y="12192"/>
                </a:lnTo>
                <a:lnTo>
                  <a:pt x="12953" y="6096"/>
                </a:lnTo>
                <a:lnTo>
                  <a:pt x="12953" y="12192"/>
                </a:lnTo>
                <a:lnTo>
                  <a:pt x="514350" y="12192"/>
                </a:lnTo>
                <a:lnTo>
                  <a:pt x="514350" y="6096"/>
                </a:lnTo>
                <a:lnTo>
                  <a:pt x="521207" y="12192"/>
                </a:lnTo>
                <a:lnTo>
                  <a:pt x="521207" y="337566"/>
                </a:lnTo>
                <a:lnTo>
                  <a:pt x="527303" y="337566"/>
                </a:lnTo>
                <a:close/>
              </a:path>
              <a:path w="527685" h="337820">
                <a:moveTo>
                  <a:pt x="12953" y="12192"/>
                </a:moveTo>
                <a:lnTo>
                  <a:pt x="12953" y="6096"/>
                </a:lnTo>
                <a:lnTo>
                  <a:pt x="6857" y="12192"/>
                </a:lnTo>
                <a:lnTo>
                  <a:pt x="12953" y="12192"/>
                </a:lnTo>
                <a:close/>
              </a:path>
              <a:path w="527685" h="337820">
                <a:moveTo>
                  <a:pt x="12953" y="337566"/>
                </a:moveTo>
                <a:lnTo>
                  <a:pt x="12953" y="12192"/>
                </a:lnTo>
                <a:lnTo>
                  <a:pt x="6857" y="12192"/>
                </a:lnTo>
                <a:lnTo>
                  <a:pt x="6857" y="337566"/>
                </a:lnTo>
                <a:lnTo>
                  <a:pt x="12953" y="337566"/>
                </a:lnTo>
                <a:close/>
              </a:path>
              <a:path w="527685" h="337820">
                <a:moveTo>
                  <a:pt x="521207" y="12192"/>
                </a:moveTo>
                <a:lnTo>
                  <a:pt x="514350" y="6096"/>
                </a:lnTo>
                <a:lnTo>
                  <a:pt x="514350" y="12192"/>
                </a:lnTo>
                <a:lnTo>
                  <a:pt x="521207" y="12192"/>
                </a:lnTo>
                <a:close/>
              </a:path>
              <a:path w="527685" h="337820">
                <a:moveTo>
                  <a:pt x="521207" y="337566"/>
                </a:moveTo>
                <a:lnTo>
                  <a:pt x="521207" y="12192"/>
                </a:lnTo>
                <a:lnTo>
                  <a:pt x="514350" y="12192"/>
                </a:lnTo>
                <a:lnTo>
                  <a:pt x="514350" y="337566"/>
                </a:lnTo>
                <a:lnTo>
                  <a:pt x="521207" y="337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71045" y="6018276"/>
            <a:ext cx="514350" cy="331470"/>
          </a:xfrm>
          <a:custGeom>
            <a:avLst/>
            <a:gdLst/>
            <a:ahLst/>
            <a:cxnLst/>
            <a:rect l="l" t="t" r="r" b="b"/>
            <a:pathLst>
              <a:path w="514350" h="331470">
                <a:moveTo>
                  <a:pt x="0" y="0"/>
                </a:moveTo>
                <a:lnTo>
                  <a:pt x="0" y="331470"/>
                </a:lnTo>
                <a:lnTo>
                  <a:pt x="514350" y="331470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464949" y="6012179"/>
            <a:ext cx="527050" cy="337820"/>
          </a:xfrm>
          <a:custGeom>
            <a:avLst/>
            <a:gdLst/>
            <a:ahLst/>
            <a:cxnLst/>
            <a:rect l="l" t="t" r="r" b="b"/>
            <a:pathLst>
              <a:path w="527050" h="337820">
                <a:moveTo>
                  <a:pt x="526541" y="337566"/>
                </a:moveTo>
                <a:lnTo>
                  <a:pt x="526541" y="0"/>
                </a:lnTo>
                <a:lnTo>
                  <a:pt x="0" y="0"/>
                </a:lnTo>
                <a:lnTo>
                  <a:pt x="0" y="337566"/>
                </a:lnTo>
                <a:lnTo>
                  <a:pt x="6096" y="337566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514350" y="12192"/>
                </a:lnTo>
                <a:lnTo>
                  <a:pt x="514350" y="6096"/>
                </a:lnTo>
                <a:lnTo>
                  <a:pt x="520446" y="12192"/>
                </a:lnTo>
                <a:lnTo>
                  <a:pt x="520446" y="337566"/>
                </a:lnTo>
                <a:lnTo>
                  <a:pt x="526541" y="337566"/>
                </a:lnTo>
                <a:close/>
              </a:path>
              <a:path w="527050" h="33782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527050" h="337820">
                <a:moveTo>
                  <a:pt x="12192" y="337566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337566"/>
                </a:lnTo>
                <a:lnTo>
                  <a:pt x="12192" y="337566"/>
                </a:lnTo>
                <a:close/>
              </a:path>
              <a:path w="527050" h="337820">
                <a:moveTo>
                  <a:pt x="520446" y="12192"/>
                </a:moveTo>
                <a:lnTo>
                  <a:pt x="514350" y="6096"/>
                </a:lnTo>
                <a:lnTo>
                  <a:pt x="514350" y="12192"/>
                </a:lnTo>
                <a:lnTo>
                  <a:pt x="520446" y="12192"/>
                </a:lnTo>
                <a:close/>
              </a:path>
              <a:path w="527050" h="337820">
                <a:moveTo>
                  <a:pt x="520446" y="337566"/>
                </a:moveTo>
                <a:lnTo>
                  <a:pt x="520446" y="12192"/>
                </a:lnTo>
                <a:lnTo>
                  <a:pt x="514350" y="12192"/>
                </a:lnTo>
                <a:lnTo>
                  <a:pt x="514350" y="337566"/>
                </a:lnTo>
                <a:lnTo>
                  <a:pt x="520446" y="337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977775" y="6018276"/>
            <a:ext cx="514350" cy="331470"/>
          </a:xfrm>
          <a:custGeom>
            <a:avLst/>
            <a:gdLst/>
            <a:ahLst/>
            <a:cxnLst/>
            <a:rect l="l" t="t" r="r" b="b"/>
            <a:pathLst>
              <a:path w="514350" h="331470">
                <a:moveTo>
                  <a:pt x="0" y="0"/>
                </a:moveTo>
                <a:lnTo>
                  <a:pt x="0" y="331470"/>
                </a:lnTo>
                <a:lnTo>
                  <a:pt x="514350" y="331470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70917" y="6012179"/>
            <a:ext cx="527685" cy="337820"/>
          </a:xfrm>
          <a:custGeom>
            <a:avLst/>
            <a:gdLst/>
            <a:ahLst/>
            <a:cxnLst/>
            <a:rect l="l" t="t" r="r" b="b"/>
            <a:pathLst>
              <a:path w="527685" h="337820">
                <a:moveTo>
                  <a:pt x="527303" y="337566"/>
                </a:moveTo>
                <a:lnTo>
                  <a:pt x="527303" y="0"/>
                </a:lnTo>
                <a:lnTo>
                  <a:pt x="0" y="0"/>
                </a:lnTo>
                <a:lnTo>
                  <a:pt x="0" y="337566"/>
                </a:lnTo>
                <a:lnTo>
                  <a:pt x="6857" y="337566"/>
                </a:lnTo>
                <a:lnTo>
                  <a:pt x="6857" y="12192"/>
                </a:lnTo>
                <a:lnTo>
                  <a:pt x="12953" y="6096"/>
                </a:lnTo>
                <a:lnTo>
                  <a:pt x="12953" y="12192"/>
                </a:lnTo>
                <a:lnTo>
                  <a:pt x="514350" y="12192"/>
                </a:lnTo>
                <a:lnTo>
                  <a:pt x="514350" y="6096"/>
                </a:lnTo>
                <a:lnTo>
                  <a:pt x="521195" y="12192"/>
                </a:lnTo>
                <a:lnTo>
                  <a:pt x="521195" y="337566"/>
                </a:lnTo>
                <a:lnTo>
                  <a:pt x="527303" y="337566"/>
                </a:lnTo>
                <a:close/>
              </a:path>
              <a:path w="527685" h="337820">
                <a:moveTo>
                  <a:pt x="12953" y="12192"/>
                </a:moveTo>
                <a:lnTo>
                  <a:pt x="12953" y="6096"/>
                </a:lnTo>
                <a:lnTo>
                  <a:pt x="6857" y="12192"/>
                </a:lnTo>
                <a:lnTo>
                  <a:pt x="12953" y="12192"/>
                </a:lnTo>
                <a:close/>
              </a:path>
              <a:path w="527685" h="337820">
                <a:moveTo>
                  <a:pt x="12953" y="337566"/>
                </a:moveTo>
                <a:lnTo>
                  <a:pt x="12953" y="12192"/>
                </a:lnTo>
                <a:lnTo>
                  <a:pt x="6857" y="12192"/>
                </a:lnTo>
                <a:lnTo>
                  <a:pt x="6857" y="337566"/>
                </a:lnTo>
                <a:lnTo>
                  <a:pt x="12953" y="337566"/>
                </a:lnTo>
                <a:close/>
              </a:path>
              <a:path w="527685" h="337820">
                <a:moveTo>
                  <a:pt x="521195" y="12192"/>
                </a:moveTo>
                <a:lnTo>
                  <a:pt x="514350" y="6096"/>
                </a:lnTo>
                <a:lnTo>
                  <a:pt x="514350" y="12192"/>
                </a:lnTo>
                <a:lnTo>
                  <a:pt x="521195" y="12192"/>
                </a:lnTo>
                <a:close/>
              </a:path>
              <a:path w="527685" h="337820">
                <a:moveTo>
                  <a:pt x="521195" y="337566"/>
                </a:moveTo>
                <a:lnTo>
                  <a:pt x="521195" y="12192"/>
                </a:lnTo>
                <a:lnTo>
                  <a:pt x="514350" y="12192"/>
                </a:lnTo>
                <a:lnTo>
                  <a:pt x="514350" y="337566"/>
                </a:lnTo>
                <a:lnTo>
                  <a:pt x="521195" y="337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493636" y="6018276"/>
            <a:ext cx="514350" cy="331470"/>
          </a:xfrm>
          <a:custGeom>
            <a:avLst/>
            <a:gdLst/>
            <a:ahLst/>
            <a:cxnLst/>
            <a:rect l="l" t="t" r="r" b="b"/>
            <a:pathLst>
              <a:path w="514350" h="331470">
                <a:moveTo>
                  <a:pt x="0" y="0"/>
                </a:moveTo>
                <a:lnTo>
                  <a:pt x="0" y="331470"/>
                </a:lnTo>
                <a:lnTo>
                  <a:pt x="514349" y="331470"/>
                </a:lnTo>
                <a:lnTo>
                  <a:pt x="51434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486791" y="6012179"/>
            <a:ext cx="527685" cy="337820"/>
          </a:xfrm>
          <a:custGeom>
            <a:avLst/>
            <a:gdLst/>
            <a:ahLst/>
            <a:cxnLst/>
            <a:rect l="l" t="t" r="r" b="b"/>
            <a:pathLst>
              <a:path w="527684" h="337820">
                <a:moveTo>
                  <a:pt x="527303" y="337566"/>
                </a:moveTo>
                <a:lnTo>
                  <a:pt x="527303" y="0"/>
                </a:lnTo>
                <a:lnTo>
                  <a:pt x="0" y="0"/>
                </a:lnTo>
                <a:lnTo>
                  <a:pt x="0" y="337566"/>
                </a:lnTo>
                <a:lnTo>
                  <a:pt x="6845" y="337566"/>
                </a:lnTo>
                <a:lnTo>
                  <a:pt x="6845" y="12192"/>
                </a:lnTo>
                <a:lnTo>
                  <a:pt x="12941" y="6096"/>
                </a:lnTo>
                <a:lnTo>
                  <a:pt x="12941" y="12192"/>
                </a:lnTo>
                <a:lnTo>
                  <a:pt x="514349" y="12192"/>
                </a:lnTo>
                <a:lnTo>
                  <a:pt x="514349" y="6096"/>
                </a:lnTo>
                <a:lnTo>
                  <a:pt x="521195" y="12192"/>
                </a:lnTo>
                <a:lnTo>
                  <a:pt x="521195" y="337566"/>
                </a:lnTo>
                <a:lnTo>
                  <a:pt x="527303" y="337566"/>
                </a:lnTo>
                <a:close/>
              </a:path>
              <a:path w="527684" h="337820">
                <a:moveTo>
                  <a:pt x="12941" y="12192"/>
                </a:moveTo>
                <a:lnTo>
                  <a:pt x="12941" y="6096"/>
                </a:lnTo>
                <a:lnTo>
                  <a:pt x="6845" y="12192"/>
                </a:lnTo>
                <a:lnTo>
                  <a:pt x="12941" y="12192"/>
                </a:lnTo>
                <a:close/>
              </a:path>
              <a:path w="527684" h="337820">
                <a:moveTo>
                  <a:pt x="12941" y="337566"/>
                </a:moveTo>
                <a:lnTo>
                  <a:pt x="12941" y="12192"/>
                </a:lnTo>
                <a:lnTo>
                  <a:pt x="6845" y="12192"/>
                </a:lnTo>
                <a:lnTo>
                  <a:pt x="6845" y="337566"/>
                </a:lnTo>
                <a:lnTo>
                  <a:pt x="12941" y="337566"/>
                </a:lnTo>
                <a:close/>
              </a:path>
              <a:path w="527684" h="337820">
                <a:moveTo>
                  <a:pt x="521195" y="12192"/>
                </a:moveTo>
                <a:lnTo>
                  <a:pt x="514349" y="6096"/>
                </a:lnTo>
                <a:lnTo>
                  <a:pt x="514349" y="12192"/>
                </a:lnTo>
                <a:lnTo>
                  <a:pt x="521195" y="12192"/>
                </a:lnTo>
                <a:close/>
              </a:path>
              <a:path w="527684" h="337820">
                <a:moveTo>
                  <a:pt x="521195" y="337566"/>
                </a:moveTo>
                <a:lnTo>
                  <a:pt x="521195" y="12192"/>
                </a:lnTo>
                <a:lnTo>
                  <a:pt x="514349" y="12192"/>
                </a:lnTo>
                <a:lnTo>
                  <a:pt x="514349" y="337566"/>
                </a:lnTo>
                <a:lnTo>
                  <a:pt x="521195" y="337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006463" y="6018276"/>
            <a:ext cx="514350" cy="331470"/>
          </a:xfrm>
          <a:custGeom>
            <a:avLst/>
            <a:gdLst/>
            <a:ahLst/>
            <a:cxnLst/>
            <a:rect l="l" t="t" r="r" b="b"/>
            <a:pathLst>
              <a:path w="514350" h="331470">
                <a:moveTo>
                  <a:pt x="0" y="0"/>
                </a:moveTo>
                <a:lnTo>
                  <a:pt x="0" y="331470"/>
                </a:lnTo>
                <a:lnTo>
                  <a:pt x="514350" y="331470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999617" y="6012179"/>
            <a:ext cx="527685" cy="337820"/>
          </a:xfrm>
          <a:custGeom>
            <a:avLst/>
            <a:gdLst/>
            <a:ahLst/>
            <a:cxnLst/>
            <a:rect l="l" t="t" r="r" b="b"/>
            <a:pathLst>
              <a:path w="527684" h="337820">
                <a:moveTo>
                  <a:pt x="527303" y="337566"/>
                </a:moveTo>
                <a:lnTo>
                  <a:pt x="527303" y="0"/>
                </a:lnTo>
                <a:lnTo>
                  <a:pt x="0" y="0"/>
                </a:lnTo>
                <a:lnTo>
                  <a:pt x="0" y="337566"/>
                </a:lnTo>
                <a:lnTo>
                  <a:pt x="6845" y="337566"/>
                </a:lnTo>
                <a:lnTo>
                  <a:pt x="6845" y="12192"/>
                </a:lnTo>
                <a:lnTo>
                  <a:pt x="12954" y="6096"/>
                </a:lnTo>
                <a:lnTo>
                  <a:pt x="12954" y="12192"/>
                </a:lnTo>
                <a:lnTo>
                  <a:pt x="514350" y="12192"/>
                </a:lnTo>
                <a:lnTo>
                  <a:pt x="514350" y="6096"/>
                </a:lnTo>
                <a:lnTo>
                  <a:pt x="521195" y="12192"/>
                </a:lnTo>
                <a:lnTo>
                  <a:pt x="521195" y="337566"/>
                </a:lnTo>
                <a:lnTo>
                  <a:pt x="527303" y="337566"/>
                </a:lnTo>
                <a:close/>
              </a:path>
              <a:path w="527684" h="337820">
                <a:moveTo>
                  <a:pt x="12954" y="12192"/>
                </a:moveTo>
                <a:lnTo>
                  <a:pt x="12954" y="6096"/>
                </a:lnTo>
                <a:lnTo>
                  <a:pt x="6845" y="12192"/>
                </a:lnTo>
                <a:lnTo>
                  <a:pt x="12954" y="12192"/>
                </a:lnTo>
                <a:close/>
              </a:path>
              <a:path w="527684" h="337820">
                <a:moveTo>
                  <a:pt x="12954" y="337566"/>
                </a:moveTo>
                <a:lnTo>
                  <a:pt x="12954" y="12192"/>
                </a:lnTo>
                <a:lnTo>
                  <a:pt x="6845" y="12192"/>
                </a:lnTo>
                <a:lnTo>
                  <a:pt x="6845" y="337566"/>
                </a:lnTo>
                <a:lnTo>
                  <a:pt x="12954" y="337566"/>
                </a:lnTo>
                <a:close/>
              </a:path>
              <a:path w="527684" h="337820">
                <a:moveTo>
                  <a:pt x="521195" y="12192"/>
                </a:moveTo>
                <a:lnTo>
                  <a:pt x="514350" y="6096"/>
                </a:lnTo>
                <a:lnTo>
                  <a:pt x="514350" y="12192"/>
                </a:lnTo>
                <a:lnTo>
                  <a:pt x="521195" y="12192"/>
                </a:lnTo>
                <a:close/>
              </a:path>
              <a:path w="527684" h="337820">
                <a:moveTo>
                  <a:pt x="521195" y="337566"/>
                </a:moveTo>
                <a:lnTo>
                  <a:pt x="521195" y="12192"/>
                </a:lnTo>
                <a:lnTo>
                  <a:pt x="514350" y="12192"/>
                </a:lnTo>
                <a:lnTo>
                  <a:pt x="514350" y="337566"/>
                </a:lnTo>
                <a:lnTo>
                  <a:pt x="521195" y="337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528445" y="6018276"/>
            <a:ext cx="514350" cy="331470"/>
          </a:xfrm>
          <a:custGeom>
            <a:avLst/>
            <a:gdLst/>
            <a:ahLst/>
            <a:cxnLst/>
            <a:rect l="l" t="t" r="r" b="b"/>
            <a:pathLst>
              <a:path w="514350" h="331470">
                <a:moveTo>
                  <a:pt x="0" y="0"/>
                </a:moveTo>
                <a:lnTo>
                  <a:pt x="0" y="331470"/>
                </a:lnTo>
                <a:lnTo>
                  <a:pt x="514350" y="331470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522336" y="6012179"/>
            <a:ext cx="527050" cy="337820"/>
          </a:xfrm>
          <a:custGeom>
            <a:avLst/>
            <a:gdLst/>
            <a:ahLst/>
            <a:cxnLst/>
            <a:rect l="l" t="t" r="r" b="b"/>
            <a:pathLst>
              <a:path w="527050" h="337820">
                <a:moveTo>
                  <a:pt x="526542" y="337566"/>
                </a:moveTo>
                <a:lnTo>
                  <a:pt x="526542" y="0"/>
                </a:lnTo>
                <a:lnTo>
                  <a:pt x="0" y="0"/>
                </a:lnTo>
                <a:lnTo>
                  <a:pt x="0" y="337566"/>
                </a:lnTo>
                <a:lnTo>
                  <a:pt x="6108" y="337566"/>
                </a:lnTo>
                <a:lnTo>
                  <a:pt x="6108" y="12192"/>
                </a:lnTo>
                <a:lnTo>
                  <a:pt x="12204" y="6096"/>
                </a:lnTo>
                <a:lnTo>
                  <a:pt x="12204" y="12192"/>
                </a:lnTo>
                <a:lnTo>
                  <a:pt x="514350" y="12192"/>
                </a:lnTo>
                <a:lnTo>
                  <a:pt x="514350" y="6096"/>
                </a:lnTo>
                <a:lnTo>
                  <a:pt x="520458" y="12192"/>
                </a:lnTo>
                <a:lnTo>
                  <a:pt x="520458" y="337566"/>
                </a:lnTo>
                <a:lnTo>
                  <a:pt x="526542" y="337566"/>
                </a:lnTo>
                <a:close/>
              </a:path>
              <a:path w="527050" h="337820">
                <a:moveTo>
                  <a:pt x="12204" y="12192"/>
                </a:moveTo>
                <a:lnTo>
                  <a:pt x="12204" y="6096"/>
                </a:lnTo>
                <a:lnTo>
                  <a:pt x="6108" y="12192"/>
                </a:lnTo>
                <a:lnTo>
                  <a:pt x="12204" y="12192"/>
                </a:lnTo>
                <a:close/>
              </a:path>
              <a:path w="527050" h="337820">
                <a:moveTo>
                  <a:pt x="12204" y="337566"/>
                </a:moveTo>
                <a:lnTo>
                  <a:pt x="12204" y="12192"/>
                </a:lnTo>
                <a:lnTo>
                  <a:pt x="6108" y="12192"/>
                </a:lnTo>
                <a:lnTo>
                  <a:pt x="6108" y="337566"/>
                </a:lnTo>
                <a:lnTo>
                  <a:pt x="12204" y="337566"/>
                </a:lnTo>
                <a:close/>
              </a:path>
              <a:path w="527050" h="337820">
                <a:moveTo>
                  <a:pt x="520458" y="12192"/>
                </a:moveTo>
                <a:lnTo>
                  <a:pt x="514350" y="6096"/>
                </a:lnTo>
                <a:lnTo>
                  <a:pt x="514350" y="12192"/>
                </a:lnTo>
                <a:lnTo>
                  <a:pt x="520458" y="12192"/>
                </a:lnTo>
                <a:close/>
              </a:path>
              <a:path w="527050" h="337820">
                <a:moveTo>
                  <a:pt x="520458" y="337566"/>
                </a:moveTo>
                <a:lnTo>
                  <a:pt x="520458" y="12192"/>
                </a:lnTo>
                <a:lnTo>
                  <a:pt x="514350" y="12192"/>
                </a:lnTo>
                <a:lnTo>
                  <a:pt x="514350" y="337566"/>
                </a:lnTo>
                <a:lnTo>
                  <a:pt x="520458" y="337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035163" y="6018276"/>
            <a:ext cx="514350" cy="331470"/>
          </a:xfrm>
          <a:custGeom>
            <a:avLst/>
            <a:gdLst/>
            <a:ahLst/>
            <a:cxnLst/>
            <a:rect l="l" t="t" r="r" b="b"/>
            <a:pathLst>
              <a:path w="514350" h="331470">
                <a:moveTo>
                  <a:pt x="0" y="0"/>
                </a:moveTo>
                <a:lnTo>
                  <a:pt x="0" y="331470"/>
                </a:lnTo>
                <a:lnTo>
                  <a:pt x="514350" y="331470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028317" y="6012179"/>
            <a:ext cx="527685" cy="337820"/>
          </a:xfrm>
          <a:custGeom>
            <a:avLst/>
            <a:gdLst/>
            <a:ahLst/>
            <a:cxnLst/>
            <a:rect l="l" t="t" r="r" b="b"/>
            <a:pathLst>
              <a:path w="527684" h="337820">
                <a:moveTo>
                  <a:pt x="527303" y="337566"/>
                </a:moveTo>
                <a:lnTo>
                  <a:pt x="527303" y="0"/>
                </a:lnTo>
                <a:lnTo>
                  <a:pt x="0" y="0"/>
                </a:lnTo>
                <a:lnTo>
                  <a:pt x="0" y="337566"/>
                </a:lnTo>
                <a:lnTo>
                  <a:pt x="6845" y="337566"/>
                </a:lnTo>
                <a:lnTo>
                  <a:pt x="6845" y="12192"/>
                </a:lnTo>
                <a:lnTo>
                  <a:pt x="12954" y="6096"/>
                </a:lnTo>
                <a:lnTo>
                  <a:pt x="12954" y="12192"/>
                </a:lnTo>
                <a:lnTo>
                  <a:pt x="514350" y="12192"/>
                </a:lnTo>
                <a:lnTo>
                  <a:pt x="514350" y="6096"/>
                </a:lnTo>
                <a:lnTo>
                  <a:pt x="521195" y="12192"/>
                </a:lnTo>
                <a:lnTo>
                  <a:pt x="521195" y="337566"/>
                </a:lnTo>
                <a:lnTo>
                  <a:pt x="527303" y="337566"/>
                </a:lnTo>
                <a:close/>
              </a:path>
              <a:path w="527684" h="337820">
                <a:moveTo>
                  <a:pt x="12954" y="12192"/>
                </a:moveTo>
                <a:lnTo>
                  <a:pt x="12954" y="6096"/>
                </a:lnTo>
                <a:lnTo>
                  <a:pt x="6845" y="12192"/>
                </a:lnTo>
                <a:lnTo>
                  <a:pt x="12954" y="12192"/>
                </a:lnTo>
                <a:close/>
              </a:path>
              <a:path w="527684" h="337820">
                <a:moveTo>
                  <a:pt x="12954" y="337566"/>
                </a:moveTo>
                <a:lnTo>
                  <a:pt x="12954" y="12192"/>
                </a:lnTo>
                <a:lnTo>
                  <a:pt x="6845" y="12192"/>
                </a:lnTo>
                <a:lnTo>
                  <a:pt x="6845" y="337566"/>
                </a:lnTo>
                <a:lnTo>
                  <a:pt x="12954" y="337566"/>
                </a:lnTo>
                <a:close/>
              </a:path>
              <a:path w="527684" h="337820">
                <a:moveTo>
                  <a:pt x="521195" y="12192"/>
                </a:moveTo>
                <a:lnTo>
                  <a:pt x="514350" y="6096"/>
                </a:lnTo>
                <a:lnTo>
                  <a:pt x="514350" y="12192"/>
                </a:lnTo>
                <a:lnTo>
                  <a:pt x="521195" y="12192"/>
                </a:lnTo>
                <a:close/>
              </a:path>
              <a:path w="527684" h="337820">
                <a:moveTo>
                  <a:pt x="521195" y="337566"/>
                </a:moveTo>
                <a:lnTo>
                  <a:pt x="521195" y="12192"/>
                </a:lnTo>
                <a:lnTo>
                  <a:pt x="514350" y="12192"/>
                </a:lnTo>
                <a:lnTo>
                  <a:pt x="514350" y="337566"/>
                </a:lnTo>
                <a:lnTo>
                  <a:pt x="521195" y="337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551036" y="6018276"/>
            <a:ext cx="514350" cy="331470"/>
          </a:xfrm>
          <a:custGeom>
            <a:avLst/>
            <a:gdLst/>
            <a:ahLst/>
            <a:cxnLst/>
            <a:rect l="l" t="t" r="r" b="b"/>
            <a:pathLst>
              <a:path w="514350" h="331470">
                <a:moveTo>
                  <a:pt x="0" y="0"/>
                </a:moveTo>
                <a:lnTo>
                  <a:pt x="0" y="331470"/>
                </a:lnTo>
                <a:lnTo>
                  <a:pt x="514350" y="331470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544191" y="6012179"/>
            <a:ext cx="527685" cy="337820"/>
          </a:xfrm>
          <a:custGeom>
            <a:avLst/>
            <a:gdLst/>
            <a:ahLst/>
            <a:cxnLst/>
            <a:rect l="l" t="t" r="r" b="b"/>
            <a:pathLst>
              <a:path w="527684" h="337820">
                <a:moveTo>
                  <a:pt x="527303" y="337566"/>
                </a:moveTo>
                <a:lnTo>
                  <a:pt x="527303" y="0"/>
                </a:lnTo>
                <a:lnTo>
                  <a:pt x="0" y="0"/>
                </a:lnTo>
                <a:lnTo>
                  <a:pt x="0" y="337566"/>
                </a:lnTo>
                <a:lnTo>
                  <a:pt x="6845" y="337566"/>
                </a:lnTo>
                <a:lnTo>
                  <a:pt x="6845" y="12192"/>
                </a:lnTo>
                <a:lnTo>
                  <a:pt x="12954" y="6096"/>
                </a:lnTo>
                <a:lnTo>
                  <a:pt x="12954" y="12192"/>
                </a:lnTo>
                <a:lnTo>
                  <a:pt x="514350" y="12192"/>
                </a:lnTo>
                <a:lnTo>
                  <a:pt x="514350" y="6096"/>
                </a:lnTo>
                <a:lnTo>
                  <a:pt x="521208" y="12192"/>
                </a:lnTo>
                <a:lnTo>
                  <a:pt x="521208" y="337566"/>
                </a:lnTo>
                <a:lnTo>
                  <a:pt x="527303" y="337566"/>
                </a:lnTo>
                <a:close/>
              </a:path>
              <a:path w="527684" h="337820">
                <a:moveTo>
                  <a:pt x="12954" y="12192"/>
                </a:moveTo>
                <a:lnTo>
                  <a:pt x="12954" y="6096"/>
                </a:lnTo>
                <a:lnTo>
                  <a:pt x="6845" y="12192"/>
                </a:lnTo>
                <a:lnTo>
                  <a:pt x="12954" y="12192"/>
                </a:lnTo>
                <a:close/>
              </a:path>
              <a:path w="527684" h="337820">
                <a:moveTo>
                  <a:pt x="12954" y="337566"/>
                </a:moveTo>
                <a:lnTo>
                  <a:pt x="12954" y="12192"/>
                </a:lnTo>
                <a:lnTo>
                  <a:pt x="6845" y="12192"/>
                </a:lnTo>
                <a:lnTo>
                  <a:pt x="6845" y="337566"/>
                </a:lnTo>
                <a:lnTo>
                  <a:pt x="12954" y="337566"/>
                </a:lnTo>
                <a:close/>
              </a:path>
              <a:path w="527684" h="337820">
                <a:moveTo>
                  <a:pt x="521208" y="12192"/>
                </a:moveTo>
                <a:lnTo>
                  <a:pt x="514350" y="6096"/>
                </a:lnTo>
                <a:lnTo>
                  <a:pt x="514350" y="12192"/>
                </a:lnTo>
                <a:lnTo>
                  <a:pt x="521208" y="12192"/>
                </a:lnTo>
                <a:close/>
              </a:path>
              <a:path w="527684" h="337820">
                <a:moveTo>
                  <a:pt x="521208" y="337566"/>
                </a:moveTo>
                <a:lnTo>
                  <a:pt x="521208" y="12192"/>
                </a:lnTo>
                <a:lnTo>
                  <a:pt x="514350" y="12192"/>
                </a:lnTo>
                <a:lnTo>
                  <a:pt x="514350" y="337566"/>
                </a:lnTo>
                <a:lnTo>
                  <a:pt x="521208" y="337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620909" y="5492496"/>
            <a:ext cx="307340" cy="518159"/>
          </a:xfrm>
          <a:custGeom>
            <a:avLst/>
            <a:gdLst/>
            <a:ahLst/>
            <a:cxnLst/>
            <a:rect l="l" t="t" r="r" b="b"/>
            <a:pathLst>
              <a:path w="307339" h="518160">
                <a:moveTo>
                  <a:pt x="28381" y="446691"/>
                </a:moveTo>
                <a:lnTo>
                  <a:pt x="0" y="432815"/>
                </a:lnTo>
                <a:lnTo>
                  <a:pt x="762" y="518159"/>
                </a:lnTo>
                <a:lnTo>
                  <a:pt x="22860" y="501276"/>
                </a:lnTo>
                <a:lnTo>
                  <a:pt x="22860" y="457962"/>
                </a:lnTo>
                <a:lnTo>
                  <a:pt x="28381" y="446691"/>
                </a:lnTo>
                <a:close/>
              </a:path>
              <a:path w="307339" h="518160">
                <a:moveTo>
                  <a:pt x="39707" y="452228"/>
                </a:moveTo>
                <a:lnTo>
                  <a:pt x="28381" y="446691"/>
                </a:lnTo>
                <a:lnTo>
                  <a:pt x="22860" y="457962"/>
                </a:lnTo>
                <a:lnTo>
                  <a:pt x="34289" y="463295"/>
                </a:lnTo>
                <a:lnTo>
                  <a:pt x="39707" y="452228"/>
                </a:lnTo>
                <a:close/>
              </a:path>
              <a:path w="307339" h="518160">
                <a:moveTo>
                  <a:pt x="68580" y="466343"/>
                </a:moveTo>
                <a:lnTo>
                  <a:pt x="39707" y="452228"/>
                </a:lnTo>
                <a:lnTo>
                  <a:pt x="34289" y="463295"/>
                </a:lnTo>
                <a:lnTo>
                  <a:pt x="22860" y="457962"/>
                </a:lnTo>
                <a:lnTo>
                  <a:pt x="22860" y="501276"/>
                </a:lnTo>
                <a:lnTo>
                  <a:pt x="68580" y="466343"/>
                </a:lnTo>
                <a:close/>
              </a:path>
              <a:path w="307339" h="518160">
                <a:moveTo>
                  <a:pt x="306968" y="0"/>
                </a:moveTo>
                <a:lnTo>
                  <a:pt x="290537" y="0"/>
                </a:lnTo>
                <a:lnTo>
                  <a:pt x="272172" y="23444"/>
                </a:lnTo>
                <a:lnTo>
                  <a:pt x="242667" y="64146"/>
                </a:lnTo>
                <a:lnTo>
                  <a:pt x="214454" y="105927"/>
                </a:lnTo>
                <a:lnTo>
                  <a:pt x="187431" y="148612"/>
                </a:lnTo>
                <a:lnTo>
                  <a:pt x="161494" y="192025"/>
                </a:lnTo>
                <a:lnTo>
                  <a:pt x="136539" y="235991"/>
                </a:lnTo>
                <a:lnTo>
                  <a:pt x="112461" y="280333"/>
                </a:lnTo>
                <a:lnTo>
                  <a:pt x="89158" y="324877"/>
                </a:lnTo>
                <a:lnTo>
                  <a:pt x="66526" y="369447"/>
                </a:lnTo>
                <a:lnTo>
                  <a:pt x="28381" y="446691"/>
                </a:lnTo>
                <a:lnTo>
                  <a:pt x="39707" y="452228"/>
                </a:lnTo>
                <a:lnTo>
                  <a:pt x="79462" y="371715"/>
                </a:lnTo>
                <a:lnTo>
                  <a:pt x="102866" y="325734"/>
                </a:lnTo>
                <a:lnTo>
                  <a:pt x="126975" y="279865"/>
                </a:lnTo>
                <a:lnTo>
                  <a:pt x="151911" y="234286"/>
                </a:lnTo>
                <a:lnTo>
                  <a:pt x="177794" y="189177"/>
                </a:lnTo>
                <a:lnTo>
                  <a:pt x="204743" y="144717"/>
                </a:lnTo>
                <a:lnTo>
                  <a:pt x="232880" y="101085"/>
                </a:lnTo>
                <a:lnTo>
                  <a:pt x="262324" y="58460"/>
                </a:lnTo>
                <a:lnTo>
                  <a:pt x="293197" y="17020"/>
                </a:lnTo>
                <a:lnTo>
                  <a:pt x="3069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88777" y="5492496"/>
            <a:ext cx="76200" cy="518159"/>
          </a:xfrm>
          <a:custGeom>
            <a:avLst/>
            <a:gdLst/>
            <a:ahLst/>
            <a:cxnLst/>
            <a:rect l="l" t="t" r="r" b="b"/>
            <a:pathLst>
              <a:path w="76200" h="518160">
                <a:moveTo>
                  <a:pt x="44957" y="509711"/>
                </a:moveTo>
                <a:lnTo>
                  <a:pt x="44957" y="454151"/>
                </a:lnTo>
                <a:lnTo>
                  <a:pt x="32765" y="454913"/>
                </a:lnTo>
                <a:lnTo>
                  <a:pt x="32455" y="441748"/>
                </a:lnTo>
                <a:lnTo>
                  <a:pt x="0" y="442721"/>
                </a:lnTo>
                <a:lnTo>
                  <a:pt x="41147" y="518159"/>
                </a:lnTo>
                <a:lnTo>
                  <a:pt x="44957" y="509711"/>
                </a:lnTo>
                <a:close/>
              </a:path>
              <a:path w="76200" h="518160">
                <a:moveTo>
                  <a:pt x="41265" y="0"/>
                </a:moveTo>
                <a:lnTo>
                  <a:pt x="28547" y="0"/>
                </a:lnTo>
                <a:lnTo>
                  <a:pt x="27785" y="17586"/>
                </a:lnTo>
                <a:lnTo>
                  <a:pt x="26436" y="71740"/>
                </a:lnTo>
                <a:lnTo>
                  <a:pt x="25940" y="125234"/>
                </a:lnTo>
                <a:lnTo>
                  <a:pt x="26136" y="177753"/>
                </a:lnTo>
                <a:lnTo>
                  <a:pt x="32455" y="441748"/>
                </a:lnTo>
                <a:lnTo>
                  <a:pt x="38657" y="441562"/>
                </a:lnTo>
                <a:lnTo>
                  <a:pt x="38657" y="127467"/>
                </a:lnTo>
                <a:lnTo>
                  <a:pt x="39108" y="74570"/>
                </a:lnTo>
                <a:lnTo>
                  <a:pt x="40383" y="21029"/>
                </a:lnTo>
                <a:lnTo>
                  <a:pt x="41265" y="0"/>
                </a:lnTo>
                <a:close/>
              </a:path>
              <a:path w="76200" h="518160">
                <a:moveTo>
                  <a:pt x="44957" y="454151"/>
                </a:moveTo>
                <a:lnTo>
                  <a:pt x="44708" y="441380"/>
                </a:lnTo>
                <a:lnTo>
                  <a:pt x="32455" y="441748"/>
                </a:lnTo>
                <a:lnTo>
                  <a:pt x="32765" y="454913"/>
                </a:lnTo>
                <a:lnTo>
                  <a:pt x="44957" y="454151"/>
                </a:lnTo>
                <a:close/>
              </a:path>
              <a:path w="76200" h="518160">
                <a:moveTo>
                  <a:pt x="44708" y="441380"/>
                </a:moveTo>
                <a:lnTo>
                  <a:pt x="39580" y="230113"/>
                </a:lnTo>
                <a:lnTo>
                  <a:pt x="38657" y="127467"/>
                </a:lnTo>
                <a:lnTo>
                  <a:pt x="38657" y="441562"/>
                </a:lnTo>
                <a:lnTo>
                  <a:pt x="44708" y="441380"/>
                </a:lnTo>
                <a:close/>
              </a:path>
              <a:path w="76200" h="518160">
                <a:moveTo>
                  <a:pt x="76200" y="440436"/>
                </a:moveTo>
                <a:lnTo>
                  <a:pt x="44708" y="441380"/>
                </a:lnTo>
                <a:lnTo>
                  <a:pt x="44957" y="454151"/>
                </a:lnTo>
                <a:lnTo>
                  <a:pt x="44957" y="509711"/>
                </a:lnTo>
                <a:lnTo>
                  <a:pt x="76200" y="440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641227" y="5492496"/>
            <a:ext cx="76200" cy="528955"/>
          </a:xfrm>
          <a:custGeom>
            <a:avLst/>
            <a:gdLst/>
            <a:ahLst/>
            <a:cxnLst/>
            <a:rect l="l" t="t" r="r" b="b"/>
            <a:pathLst>
              <a:path w="76200" h="528954">
                <a:moveTo>
                  <a:pt x="44957" y="517715"/>
                </a:moveTo>
                <a:lnTo>
                  <a:pt x="44957" y="465581"/>
                </a:lnTo>
                <a:lnTo>
                  <a:pt x="32003" y="465581"/>
                </a:lnTo>
                <a:lnTo>
                  <a:pt x="31902" y="453070"/>
                </a:lnTo>
                <a:lnTo>
                  <a:pt x="0" y="453389"/>
                </a:lnTo>
                <a:lnTo>
                  <a:pt x="39624" y="528827"/>
                </a:lnTo>
                <a:lnTo>
                  <a:pt x="44957" y="517715"/>
                </a:lnTo>
                <a:close/>
              </a:path>
              <a:path w="76200" h="528954">
                <a:moveTo>
                  <a:pt x="41097" y="0"/>
                </a:moveTo>
                <a:lnTo>
                  <a:pt x="28503" y="0"/>
                </a:lnTo>
                <a:lnTo>
                  <a:pt x="31902" y="453070"/>
                </a:lnTo>
                <a:lnTo>
                  <a:pt x="41047" y="452979"/>
                </a:lnTo>
                <a:lnTo>
                  <a:pt x="41047" y="54367"/>
                </a:lnTo>
                <a:lnTo>
                  <a:pt x="41097" y="0"/>
                </a:lnTo>
                <a:close/>
              </a:path>
              <a:path w="76200" h="528954">
                <a:moveTo>
                  <a:pt x="44957" y="465581"/>
                </a:moveTo>
                <a:lnTo>
                  <a:pt x="44812" y="452941"/>
                </a:lnTo>
                <a:lnTo>
                  <a:pt x="31902" y="453070"/>
                </a:lnTo>
                <a:lnTo>
                  <a:pt x="32003" y="465581"/>
                </a:lnTo>
                <a:lnTo>
                  <a:pt x="44957" y="465581"/>
                </a:lnTo>
                <a:close/>
              </a:path>
              <a:path w="76200" h="528954">
                <a:moveTo>
                  <a:pt x="44812" y="452941"/>
                </a:moveTo>
                <a:lnTo>
                  <a:pt x="41047" y="54367"/>
                </a:lnTo>
                <a:lnTo>
                  <a:pt x="41047" y="452979"/>
                </a:lnTo>
                <a:lnTo>
                  <a:pt x="44812" y="452941"/>
                </a:lnTo>
                <a:close/>
              </a:path>
              <a:path w="76200" h="528954">
                <a:moveTo>
                  <a:pt x="76200" y="452627"/>
                </a:moveTo>
                <a:lnTo>
                  <a:pt x="44812" y="452941"/>
                </a:lnTo>
                <a:lnTo>
                  <a:pt x="44957" y="465581"/>
                </a:lnTo>
                <a:lnTo>
                  <a:pt x="44957" y="517715"/>
                </a:lnTo>
                <a:lnTo>
                  <a:pt x="76200" y="4526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650347" y="5492496"/>
            <a:ext cx="145415" cy="518159"/>
          </a:xfrm>
          <a:custGeom>
            <a:avLst/>
            <a:gdLst/>
            <a:ahLst/>
            <a:cxnLst/>
            <a:rect l="l" t="t" r="r" b="b"/>
            <a:pathLst>
              <a:path w="145415" h="518160">
                <a:moveTo>
                  <a:pt x="114261" y="442068"/>
                </a:moveTo>
                <a:lnTo>
                  <a:pt x="12165" y="0"/>
                </a:lnTo>
                <a:lnTo>
                  <a:pt x="0" y="0"/>
                </a:lnTo>
                <a:lnTo>
                  <a:pt x="101432" y="444949"/>
                </a:lnTo>
                <a:lnTo>
                  <a:pt x="114261" y="442068"/>
                </a:lnTo>
                <a:close/>
              </a:path>
              <a:path w="145415" h="518160">
                <a:moveTo>
                  <a:pt x="117096" y="509620"/>
                </a:moveTo>
                <a:lnTo>
                  <a:pt x="117096" y="454151"/>
                </a:lnTo>
                <a:lnTo>
                  <a:pt x="104155" y="457200"/>
                </a:lnTo>
                <a:lnTo>
                  <a:pt x="101432" y="444949"/>
                </a:lnTo>
                <a:lnTo>
                  <a:pt x="70627" y="451865"/>
                </a:lnTo>
                <a:lnTo>
                  <a:pt x="117096" y="509620"/>
                </a:lnTo>
                <a:close/>
              </a:path>
              <a:path w="145415" h="518160">
                <a:moveTo>
                  <a:pt x="117096" y="454151"/>
                </a:moveTo>
                <a:lnTo>
                  <a:pt x="114261" y="442068"/>
                </a:lnTo>
                <a:lnTo>
                  <a:pt x="101432" y="444949"/>
                </a:lnTo>
                <a:lnTo>
                  <a:pt x="104155" y="457200"/>
                </a:lnTo>
                <a:lnTo>
                  <a:pt x="117096" y="454151"/>
                </a:lnTo>
                <a:close/>
              </a:path>
              <a:path w="145415" h="518160">
                <a:moveTo>
                  <a:pt x="145290" y="435101"/>
                </a:moveTo>
                <a:lnTo>
                  <a:pt x="114261" y="442068"/>
                </a:lnTo>
                <a:lnTo>
                  <a:pt x="117096" y="454151"/>
                </a:lnTo>
                <a:lnTo>
                  <a:pt x="117096" y="509620"/>
                </a:lnTo>
                <a:lnTo>
                  <a:pt x="123967" y="518159"/>
                </a:lnTo>
                <a:lnTo>
                  <a:pt x="145290" y="435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9485503" y="6638290"/>
            <a:ext cx="1244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3413645" y="6349746"/>
            <a:ext cx="514350" cy="154940"/>
          </a:xfrm>
          <a:custGeom>
            <a:avLst/>
            <a:gdLst/>
            <a:ahLst/>
            <a:cxnLst/>
            <a:rect l="l" t="t" r="r" b="b"/>
            <a:pathLst>
              <a:path w="514350" h="154940">
                <a:moveTo>
                  <a:pt x="0" y="0"/>
                </a:moveTo>
                <a:lnTo>
                  <a:pt x="0" y="154685"/>
                </a:lnTo>
                <a:lnTo>
                  <a:pt x="514350" y="154685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407549" y="6349746"/>
            <a:ext cx="527050" cy="161290"/>
          </a:xfrm>
          <a:custGeom>
            <a:avLst/>
            <a:gdLst/>
            <a:ahLst/>
            <a:cxnLst/>
            <a:rect l="l" t="t" r="r" b="b"/>
            <a:pathLst>
              <a:path w="527050" h="161290">
                <a:moveTo>
                  <a:pt x="12192" y="147827"/>
                </a:moveTo>
                <a:lnTo>
                  <a:pt x="12192" y="0"/>
                </a:lnTo>
                <a:lnTo>
                  <a:pt x="0" y="0"/>
                </a:lnTo>
                <a:lnTo>
                  <a:pt x="0" y="160781"/>
                </a:lnTo>
                <a:lnTo>
                  <a:pt x="6096" y="160781"/>
                </a:lnTo>
                <a:lnTo>
                  <a:pt x="6096" y="147827"/>
                </a:lnTo>
                <a:lnTo>
                  <a:pt x="12192" y="147827"/>
                </a:lnTo>
                <a:close/>
              </a:path>
              <a:path w="527050" h="161290">
                <a:moveTo>
                  <a:pt x="520446" y="147827"/>
                </a:moveTo>
                <a:lnTo>
                  <a:pt x="6096" y="147827"/>
                </a:lnTo>
                <a:lnTo>
                  <a:pt x="12192" y="154685"/>
                </a:lnTo>
                <a:lnTo>
                  <a:pt x="12192" y="160781"/>
                </a:lnTo>
                <a:lnTo>
                  <a:pt x="514350" y="160781"/>
                </a:lnTo>
                <a:lnTo>
                  <a:pt x="514350" y="154685"/>
                </a:lnTo>
                <a:lnTo>
                  <a:pt x="520446" y="147827"/>
                </a:lnTo>
                <a:close/>
              </a:path>
              <a:path w="527050" h="161290">
                <a:moveTo>
                  <a:pt x="12192" y="160781"/>
                </a:moveTo>
                <a:lnTo>
                  <a:pt x="12192" y="154685"/>
                </a:lnTo>
                <a:lnTo>
                  <a:pt x="6096" y="147827"/>
                </a:lnTo>
                <a:lnTo>
                  <a:pt x="6096" y="160781"/>
                </a:lnTo>
                <a:lnTo>
                  <a:pt x="12192" y="160781"/>
                </a:lnTo>
                <a:close/>
              </a:path>
              <a:path w="527050" h="161290">
                <a:moveTo>
                  <a:pt x="526541" y="160781"/>
                </a:moveTo>
                <a:lnTo>
                  <a:pt x="526541" y="0"/>
                </a:lnTo>
                <a:lnTo>
                  <a:pt x="514350" y="0"/>
                </a:lnTo>
                <a:lnTo>
                  <a:pt x="514350" y="147827"/>
                </a:lnTo>
                <a:lnTo>
                  <a:pt x="520446" y="147827"/>
                </a:lnTo>
                <a:lnTo>
                  <a:pt x="520446" y="160781"/>
                </a:lnTo>
                <a:lnTo>
                  <a:pt x="526541" y="160781"/>
                </a:lnTo>
                <a:close/>
              </a:path>
              <a:path w="527050" h="161290">
                <a:moveTo>
                  <a:pt x="520446" y="160781"/>
                </a:moveTo>
                <a:lnTo>
                  <a:pt x="520446" y="147827"/>
                </a:lnTo>
                <a:lnTo>
                  <a:pt x="514350" y="154685"/>
                </a:lnTo>
                <a:lnTo>
                  <a:pt x="514350" y="160781"/>
                </a:lnTo>
                <a:lnTo>
                  <a:pt x="520446" y="160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920375" y="6349746"/>
            <a:ext cx="514350" cy="154940"/>
          </a:xfrm>
          <a:custGeom>
            <a:avLst/>
            <a:gdLst/>
            <a:ahLst/>
            <a:cxnLst/>
            <a:rect l="l" t="t" r="r" b="b"/>
            <a:pathLst>
              <a:path w="514350" h="154940">
                <a:moveTo>
                  <a:pt x="0" y="0"/>
                </a:moveTo>
                <a:lnTo>
                  <a:pt x="0" y="154685"/>
                </a:lnTo>
                <a:lnTo>
                  <a:pt x="514350" y="154685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913517" y="6349746"/>
            <a:ext cx="527685" cy="161290"/>
          </a:xfrm>
          <a:custGeom>
            <a:avLst/>
            <a:gdLst/>
            <a:ahLst/>
            <a:cxnLst/>
            <a:rect l="l" t="t" r="r" b="b"/>
            <a:pathLst>
              <a:path w="527685" h="161290">
                <a:moveTo>
                  <a:pt x="12953" y="147827"/>
                </a:moveTo>
                <a:lnTo>
                  <a:pt x="12953" y="0"/>
                </a:lnTo>
                <a:lnTo>
                  <a:pt x="0" y="0"/>
                </a:lnTo>
                <a:lnTo>
                  <a:pt x="0" y="160781"/>
                </a:lnTo>
                <a:lnTo>
                  <a:pt x="6857" y="160781"/>
                </a:lnTo>
                <a:lnTo>
                  <a:pt x="6857" y="147827"/>
                </a:lnTo>
                <a:lnTo>
                  <a:pt x="12953" y="147827"/>
                </a:lnTo>
                <a:close/>
              </a:path>
              <a:path w="527685" h="161290">
                <a:moveTo>
                  <a:pt x="521207" y="147827"/>
                </a:moveTo>
                <a:lnTo>
                  <a:pt x="6857" y="147827"/>
                </a:lnTo>
                <a:lnTo>
                  <a:pt x="12953" y="154685"/>
                </a:lnTo>
                <a:lnTo>
                  <a:pt x="12953" y="160781"/>
                </a:lnTo>
                <a:lnTo>
                  <a:pt x="514350" y="160781"/>
                </a:lnTo>
                <a:lnTo>
                  <a:pt x="514350" y="154685"/>
                </a:lnTo>
                <a:lnTo>
                  <a:pt x="521207" y="147827"/>
                </a:lnTo>
                <a:close/>
              </a:path>
              <a:path w="527685" h="161290">
                <a:moveTo>
                  <a:pt x="12953" y="160781"/>
                </a:moveTo>
                <a:lnTo>
                  <a:pt x="12953" y="154685"/>
                </a:lnTo>
                <a:lnTo>
                  <a:pt x="6857" y="147827"/>
                </a:lnTo>
                <a:lnTo>
                  <a:pt x="6857" y="160781"/>
                </a:lnTo>
                <a:lnTo>
                  <a:pt x="12953" y="160781"/>
                </a:lnTo>
                <a:close/>
              </a:path>
              <a:path w="527685" h="161290">
                <a:moveTo>
                  <a:pt x="527303" y="160781"/>
                </a:moveTo>
                <a:lnTo>
                  <a:pt x="527303" y="0"/>
                </a:lnTo>
                <a:lnTo>
                  <a:pt x="514350" y="0"/>
                </a:lnTo>
                <a:lnTo>
                  <a:pt x="514350" y="147827"/>
                </a:lnTo>
                <a:lnTo>
                  <a:pt x="521207" y="147827"/>
                </a:lnTo>
                <a:lnTo>
                  <a:pt x="521207" y="160781"/>
                </a:lnTo>
                <a:lnTo>
                  <a:pt x="527303" y="160781"/>
                </a:lnTo>
                <a:close/>
              </a:path>
              <a:path w="527685" h="161290">
                <a:moveTo>
                  <a:pt x="521207" y="160781"/>
                </a:moveTo>
                <a:lnTo>
                  <a:pt x="521207" y="147827"/>
                </a:lnTo>
                <a:lnTo>
                  <a:pt x="514350" y="154685"/>
                </a:lnTo>
                <a:lnTo>
                  <a:pt x="514350" y="160781"/>
                </a:lnTo>
                <a:lnTo>
                  <a:pt x="521207" y="160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436249" y="6349746"/>
            <a:ext cx="514350" cy="154940"/>
          </a:xfrm>
          <a:custGeom>
            <a:avLst/>
            <a:gdLst/>
            <a:ahLst/>
            <a:cxnLst/>
            <a:rect l="l" t="t" r="r" b="b"/>
            <a:pathLst>
              <a:path w="514350" h="154940">
                <a:moveTo>
                  <a:pt x="0" y="0"/>
                </a:moveTo>
                <a:lnTo>
                  <a:pt x="0" y="154685"/>
                </a:lnTo>
                <a:lnTo>
                  <a:pt x="514350" y="154685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429391" y="6349746"/>
            <a:ext cx="527685" cy="161290"/>
          </a:xfrm>
          <a:custGeom>
            <a:avLst/>
            <a:gdLst/>
            <a:ahLst/>
            <a:cxnLst/>
            <a:rect l="l" t="t" r="r" b="b"/>
            <a:pathLst>
              <a:path w="527685" h="161290">
                <a:moveTo>
                  <a:pt x="12953" y="147827"/>
                </a:moveTo>
                <a:lnTo>
                  <a:pt x="12953" y="0"/>
                </a:lnTo>
                <a:lnTo>
                  <a:pt x="0" y="0"/>
                </a:lnTo>
                <a:lnTo>
                  <a:pt x="0" y="160781"/>
                </a:lnTo>
                <a:lnTo>
                  <a:pt x="6857" y="160781"/>
                </a:lnTo>
                <a:lnTo>
                  <a:pt x="6857" y="147827"/>
                </a:lnTo>
                <a:lnTo>
                  <a:pt x="12953" y="147827"/>
                </a:lnTo>
                <a:close/>
              </a:path>
              <a:path w="527685" h="161290">
                <a:moveTo>
                  <a:pt x="521207" y="147827"/>
                </a:moveTo>
                <a:lnTo>
                  <a:pt x="6857" y="147827"/>
                </a:lnTo>
                <a:lnTo>
                  <a:pt x="12953" y="154685"/>
                </a:lnTo>
                <a:lnTo>
                  <a:pt x="12953" y="160781"/>
                </a:lnTo>
                <a:lnTo>
                  <a:pt x="514350" y="160781"/>
                </a:lnTo>
                <a:lnTo>
                  <a:pt x="514350" y="154685"/>
                </a:lnTo>
                <a:lnTo>
                  <a:pt x="521207" y="147827"/>
                </a:lnTo>
                <a:close/>
              </a:path>
              <a:path w="527685" h="161290">
                <a:moveTo>
                  <a:pt x="12953" y="160781"/>
                </a:moveTo>
                <a:lnTo>
                  <a:pt x="12953" y="154685"/>
                </a:lnTo>
                <a:lnTo>
                  <a:pt x="6857" y="147827"/>
                </a:lnTo>
                <a:lnTo>
                  <a:pt x="6857" y="160781"/>
                </a:lnTo>
                <a:lnTo>
                  <a:pt x="12953" y="160781"/>
                </a:lnTo>
                <a:close/>
              </a:path>
              <a:path w="527685" h="161290">
                <a:moveTo>
                  <a:pt x="527303" y="160781"/>
                </a:moveTo>
                <a:lnTo>
                  <a:pt x="527303" y="0"/>
                </a:lnTo>
                <a:lnTo>
                  <a:pt x="514350" y="0"/>
                </a:lnTo>
                <a:lnTo>
                  <a:pt x="514350" y="147827"/>
                </a:lnTo>
                <a:lnTo>
                  <a:pt x="521207" y="147827"/>
                </a:lnTo>
                <a:lnTo>
                  <a:pt x="521207" y="160781"/>
                </a:lnTo>
                <a:lnTo>
                  <a:pt x="527303" y="160781"/>
                </a:lnTo>
                <a:close/>
              </a:path>
              <a:path w="527685" h="161290">
                <a:moveTo>
                  <a:pt x="521207" y="160781"/>
                </a:moveTo>
                <a:lnTo>
                  <a:pt x="521207" y="147827"/>
                </a:lnTo>
                <a:lnTo>
                  <a:pt x="514350" y="154685"/>
                </a:lnTo>
                <a:lnTo>
                  <a:pt x="514350" y="160781"/>
                </a:lnTo>
                <a:lnTo>
                  <a:pt x="521207" y="160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949075" y="6349746"/>
            <a:ext cx="514350" cy="154940"/>
          </a:xfrm>
          <a:custGeom>
            <a:avLst/>
            <a:gdLst/>
            <a:ahLst/>
            <a:cxnLst/>
            <a:rect l="l" t="t" r="r" b="b"/>
            <a:pathLst>
              <a:path w="514350" h="154940">
                <a:moveTo>
                  <a:pt x="0" y="0"/>
                </a:moveTo>
                <a:lnTo>
                  <a:pt x="0" y="154685"/>
                </a:lnTo>
                <a:lnTo>
                  <a:pt x="514350" y="154685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942217" y="6349746"/>
            <a:ext cx="527685" cy="161290"/>
          </a:xfrm>
          <a:custGeom>
            <a:avLst/>
            <a:gdLst/>
            <a:ahLst/>
            <a:cxnLst/>
            <a:rect l="l" t="t" r="r" b="b"/>
            <a:pathLst>
              <a:path w="527685" h="161290">
                <a:moveTo>
                  <a:pt x="12953" y="147827"/>
                </a:moveTo>
                <a:lnTo>
                  <a:pt x="12953" y="0"/>
                </a:lnTo>
                <a:lnTo>
                  <a:pt x="0" y="0"/>
                </a:lnTo>
                <a:lnTo>
                  <a:pt x="0" y="160781"/>
                </a:lnTo>
                <a:lnTo>
                  <a:pt x="6857" y="160781"/>
                </a:lnTo>
                <a:lnTo>
                  <a:pt x="6857" y="147827"/>
                </a:lnTo>
                <a:lnTo>
                  <a:pt x="12953" y="147827"/>
                </a:lnTo>
                <a:close/>
              </a:path>
              <a:path w="527685" h="161290">
                <a:moveTo>
                  <a:pt x="521207" y="147827"/>
                </a:moveTo>
                <a:lnTo>
                  <a:pt x="6857" y="147827"/>
                </a:lnTo>
                <a:lnTo>
                  <a:pt x="12953" y="154685"/>
                </a:lnTo>
                <a:lnTo>
                  <a:pt x="12953" y="160781"/>
                </a:lnTo>
                <a:lnTo>
                  <a:pt x="514350" y="160781"/>
                </a:lnTo>
                <a:lnTo>
                  <a:pt x="514350" y="154685"/>
                </a:lnTo>
                <a:lnTo>
                  <a:pt x="521207" y="147827"/>
                </a:lnTo>
                <a:close/>
              </a:path>
              <a:path w="527685" h="161290">
                <a:moveTo>
                  <a:pt x="12953" y="160781"/>
                </a:moveTo>
                <a:lnTo>
                  <a:pt x="12953" y="154685"/>
                </a:lnTo>
                <a:lnTo>
                  <a:pt x="6857" y="147827"/>
                </a:lnTo>
                <a:lnTo>
                  <a:pt x="6857" y="160781"/>
                </a:lnTo>
                <a:lnTo>
                  <a:pt x="12953" y="160781"/>
                </a:lnTo>
                <a:close/>
              </a:path>
              <a:path w="527685" h="161290">
                <a:moveTo>
                  <a:pt x="527303" y="160781"/>
                </a:moveTo>
                <a:lnTo>
                  <a:pt x="527303" y="0"/>
                </a:lnTo>
                <a:lnTo>
                  <a:pt x="514350" y="0"/>
                </a:lnTo>
                <a:lnTo>
                  <a:pt x="514350" y="147827"/>
                </a:lnTo>
                <a:lnTo>
                  <a:pt x="521207" y="147827"/>
                </a:lnTo>
                <a:lnTo>
                  <a:pt x="521207" y="160781"/>
                </a:lnTo>
                <a:lnTo>
                  <a:pt x="527303" y="160781"/>
                </a:lnTo>
                <a:close/>
              </a:path>
              <a:path w="527685" h="161290">
                <a:moveTo>
                  <a:pt x="521207" y="160781"/>
                </a:moveTo>
                <a:lnTo>
                  <a:pt x="521207" y="147827"/>
                </a:lnTo>
                <a:lnTo>
                  <a:pt x="514350" y="154685"/>
                </a:lnTo>
                <a:lnTo>
                  <a:pt x="514350" y="160781"/>
                </a:lnTo>
                <a:lnTo>
                  <a:pt x="521207" y="160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471045" y="6349746"/>
            <a:ext cx="514350" cy="154940"/>
          </a:xfrm>
          <a:custGeom>
            <a:avLst/>
            <a:gdLst/>
            <a:ahLst/>
            <a:cxnLst/>
            <a:rect l="l" t="t" r="r" b="b"/>
            <a:pathLst>
              <a:path w="514350" h="154940">
                <a:moveTo>
                  <a:pt x="0" y="0"/>
                </a:moveTo>
                <a:lnTo>
                  <a:pt x="0" y="154686"/>
                </a:lnTo>
                <a:lnTo>
                  <a:pt x="514350" y="154686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464949" y="6349746"/>
            <a:ext cx="527050" cy="161290"/>
          </a:xfrm>
          <a:custGeom>
            <a:avLst/>
            <a:gdLst/>
            <a:ahLst/>
            <a:cxnLst/>
            <a:rect l="l" t="t" r="r" b="b"/>
            <a:pathLst>
              <a:path w="527050" h="161290">
                <a:moveTo>
                  <a:pt x="12192" y="147828"/>
                </a:moveTo>
                <a:lnTo>
                  <a:pt x="12192" y="0"/>
                </a:lnTo>
                <a:lnTo>
                  <a:pt x="0" y="0"/>
                </a:lnTo>
                <a:lnTo>
                  <a:pt x="0" y="160782"/>
                </a:lnTo>
                <a:lnTo>
                  <a:pt x="6096" y="160782"/>
                </a:lnTo>
                <a:lnTo>
                  <a:pt x="6096" y="147828"/>
                </a:lnTo>
                <a:lnTo>
                  <a:pt x="12192" y="147828"/>
                </a:lnTo>
                <a:close/>
              </a:path>
              <a:path w="527050" h="161290">
                <a:moveTo>
                  <a:pt x="520446" y="147827"/>
                </a:moveTo>
                <a:lnTo>
                  <a:pt x="6096" y="147828"/>
                </a:lnTo>
                <a:lnTo>
                  <a:pt x="12192" y="154686"/>
                </a:lnTo>
                <a:lnTo>
                  <a:pt x="12192" y="160782"/>
                </a:lnTo>
                <a:lnTo>
                  <a:pt x="514350" y="160782"/>
                </a:lnTo>
                <a:lnTo>
                  <a:pt x="514350" y="154686"/>
                </a:lnTo>
                <a:lnTo>
                  <a:pt x="520446" y="147827"/>
                </a:lnTo>
                <a:close/>
              </a:path>
              <a:path w="527050" h="161290">
                <a:moveTo>
                  <a:pt x="12192" y="160782"/>
                </a:moveTo>
                <a:lnTo>
                  <a:pt x="12192" y="154686"/>
                </a:lnTo>
                <a:lnTo>
                  <a:pt x="6096" y="147828"/>
                </a:lnTo>
                <a:lnTo>
                  <a:pt x="6096" y="160782"/>
                </a:lnTo>
                <a:lnTo>
                  <a:pt x="12192" y="160782"/>
                </a:lnTo>
                <a:close/>
              </a:path>
              <a:path w="527050" h="161290">
                <a:moveTo>
                  <a:pt x="526541" y="160782"/>
                </a:moveTo>
                <a:lnTo>
                  <a:pt x="526541" y="0"/>
                </a:lnTo>
                <a:lnTo>
                  <a:pt x="514350" y="0"/>
                </a:lnTo>
                <a:lnTo>
                  <a:pt x="514350" y="147827"/>
                </a:lnTo>
                <a:lnTo>
                  <a:pt x="520446" y="147827"/>
                </a:lnTo>
                <a:lnTo>
                  <a:pt x="520446" y="160782"/>
                </a:lnTo>
                <a:lnTo>
                  <a:pt x="526541" y="160782"/>
                </a:lnTo>
                <a:close/>
              </a:path>
              <a:path w="527050" h="161290">
                <a:moveTo>
                  <a:pt x="520446" y="160782"/>
                </a:moveTo>
                <a:lnTo>
                  <a:pt x="520446" y="147827"/>
                </a:lnTo>
                <a:lnTo>
                  <a:pt x="514350" y="154686"/>
                </a:lnTo>
                <a:lnTo>
                  <a:pt x="514350" y="160782"/>
                </a:lnTo>
                <a:lnTo>
                  <a:pt x="520446" y="1607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977775" y="6349746"/>
            <a:ext cx="514350" cy="154940"/>
          </a:xfrm>
          <a:custGeom>
            <a:avLst/>
            <a:gdLst/>
            <a:ahLst/>
            <a:cxnLst/>
            <a:rect l="l" t="t" r="r" b="b"/>
            <a:pathLst>
              <a:path w="514350" h="154940">
                <a:moveTo>
                  <a:pt x="0" y="0"/>
                </a:moveTo>
                <a:lnTo>
                  <a:pt x="0" y="154686"/>
                </a:lnTo>
                <a:lnTo>
                  <a:pt x="514350" y="154686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970917" y="6349746"/>
            <a:ext cx="527685" cy="161290"/>
          </a:xfrm>
          <a:custGeom>
            <a:avLst/>
            <a:gdLst/>
            <a:ahLst/>
            <a:cxnLst/>
            <a:rect l="l" t="t" r="r" b="b"/>
            <a:pathLst>
              <a:path w="527685" h="161290">
                <a:moveTo>
                  <a:pt x="12953" y="147827"/>
                </a:moveTo>
                <a:lnTo>
                  <a:pt x="12953" y="0"/>
                </a:lnTo>
                <a:lnTo>
                  <a:pt x="0" y="0"/>
                </a:lnTo>
                <a:lnTo>
                  <a:pt x="0" y="160782"/>
                </a:lnTo>
                <a:lnTo>
                  <a:pt x="6857" y="160782"/>
                </a:lnTo>
                <a:lnTo>
                  <a:pt x="6857" y="147827"/>
                </a:lnTo>
                <a:lnTo>
                  <a:pt x="12953" y="147827"/>
                </a:lnTo>
                <a:close/>
              </a:path>
              <a:path w="527685" h="161290">
                <a:moveTo>
                  <a:pt x="521195" y="147827"/>
                </a:moveTo>
                <a:lnTo>
                  <a:pt x="6857" y="147827"/>
                </a:lnTo>
                <a:lnTo>
                  <a:pt x="12953" y="154686"/>
                </a:lnTo>
                <a:lnTo>
                  <a:pt x="12953" y="160782"/>
                </a:lnTo>
                <a:lnTo>
                  <a:pt x="514350" y="160782"/>
                </a:lnTo>
                <a:lnTo>
                  <a:pt x="514350" y="154686"/>
                </a:lnTo>
                <a:lnTo>
                  <a:pt x="521195" y="147827"/>
                </a:lnTo>
                <a:close/>
              </a:path>
              <a:path w="527685" h="161290">
                <a:moveTo>
                  <a:pt x="12953" y="160782"/>
                </a:moveTo>
                <a:lnTo>
                  <a:pt x="12953" y="154686"/>
                </a:lnTo>
                <a:lnTo>
                  <a:pt x="6857" y="147827"/>
                </a:lnTo>
                <a:lnTo>
                  <a:pt x="6857" y="160782"/>
                </a:lnTo>
                <a:lnTo>
                  <a:pt x="12953" y="160782"/>
                </a:lnTo>
                <a:close/>
              </a:path>
              <a:path w="527685" h="161290">
                <a:moveTo>
                  <a:pt x="527303" y="160782"/>
                </a:moveTo>
                <a:lnTo>
                  <a:pt x="527303" y="0"/>
                </a:lnTo>
                <a:lnTo>
                  <a:pt x="514350" y="0"/>
                </a:lnTo>
                <a:lnTo>
                  <a:pt x="514350" y="147827"/>
                </a:lnTo>
                <a:lnTo>
                  <a:pt x="521195" y="147827"/>
                </a:lnTo>
                <a:lnTo>
                  <a:pt x="521195" y="160782"/>
                </a:lnTo>
                <a:lnTo>
                  <a:pt x="527303" y="160782"/>
                </a:lnTo>
                <a:close/>
              </a:path>
              <a:path w="527685" h="161290">
                <a:moveTo>
                  <a:pt x="521195" y="160782"/>
                </a:moveTo>
                <a:lnTo>
                  <a:pt x="521195" y="147827"/>
                </a:lnTo>
                <a:lnTo>
                  <a:pt x="514350" y="154686"/>
                </a:lnTo>
                <a:lnTo>
                  <a:pt x="514350" y="160782"/>
                </a:lnTo>
                <a:lnTo>
                  <a:pt x="521195" y="1607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493636" y="6349746"/>
            <a:ext cx="514350" cy="154940"/>
          </a:xfrm>
          <a:custGeom>
            <a:avLst/>
            <a:gdLst/>
            <a:ahLst/>
            <a:cxnLst/>
            <a:rect l="l" t="t" r="r" b="b"/>
            <a:pathLst>
              <a:path w="514350" h="154940">
                <a:moveTo>
                  <a:pt x="0" y="0"/>
                </a:moveTo>
                <a:lnTo>
                  <a:pt x="0" y="154686"/>
                </a:lnTo>
                <a:lnTo>
                  <a:pt x="514349" y="154686"/>
                </a:lnTo>
                <a:lnTo>
                  <a:pt x="51434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486791" y="6349746"/>
            <a:ext cx="527685" cy="161290"/>
          </a:xfrm>
          <a:custGeom>
            <a:avLst/>
            <a:gdLst/>
            <a:ahLst/>
            <a:cxnLst/>
            <a:rect l="l" t="t" r="r" b="b"/>
            <a:pathLst>
              <a:path w="527684" h="161290">
                <a:moveTo>
                  <a:pt x="12941" y="147827"/>
                </a:moveTo>
                <a:lnTo>
                  <a:pt x="12941" y="0"/>
                </a:lnTo>
                <a:lnTo>
                  <a:pt x="0" y="0"/>
                </a:lnTo>
                <a:lnTo>
                  <a:pt x="0" y="160782"/>
                </a:lnTo>
                <a:lnTo>
                  <a:pt x="6845" y="160782"/>
                </a:lnTo>
                <a:lnTo>
                  <a:pt x="6845" y="147827"/>
                </a:lnTo>
                <a:lnTo>
                  <a:pt x="12941" y="147827"/>
                </a:lnTo>
                <a:close/>
              </a:path>
              <a:path w="527684" h="161290">
                <a:moveTo>
                  <a:pt x="521195" y="147827"/>
                </a:moveTo>
                <a:lnTo>
                  <a:pt x="6845" y="147827"/>
                </a:lnTo>
                <a:lnTo>
                  <a:pt x="12941" y="154686"/>
                </a:lnTo>
                <a:lnTo>
                  <a:pt x="12941" y="160782"/>
                </a:lnTo>
                <a:lnTo>
                  <a:pt x="514349" y="160782"/>
                </a:lnTo>
                <a:lnTo>
                  <a:pt x="514349" y="154686"/>
                </a:lnTo>
                <a:lnTo>
                  <a:pt x="521195" y="147827"/>
                </a:lnTo>
                <a:close/>
              </a:path>
              <a:path w="527684" h="161290">
                <a:moveTo>
                  <a:pt x="12941" y="160782"/>
                </a:moveTo>
                <a:lnTo>
                  <a:pt x="12941" y="154686"/>
                </a:lnTo>
                <a:lnTo>
                  <a:pt x="6845" y="147827"/>
                </a:lnTo>
                <a:lnTo>
                  <a:pt x="6845" y="160782"/>
                </a:lnTo>
                <a:lnTo>
                  <a:pt x="12941" y="160782"/>
                </a:lnTo>
                <a:close/>
              </a:path>
              <a:path w="527684" h="161290">
                <a:moveTo>
                  <a:pt x="527303" y="160782"/>
                </a:moveTo>
                <a:lnTo>
                  <a:pt x="527303" y="0"/>
                </a:lnTo>
                <a:lnTo>
                  <a:pt x="514349" y="0"/>
                </a:lnTo>
                <a:lnTo>
                  <a:pt x="514349" y="147827"/>
                </a:lnTo>
                <a:lnTo>
                  <a:pt x="521195" y="147827"/>
                </a:lnTo>
                <a:lnTo>
                  <a:pt x="521195" y="160782"/>
                </a:lnTo>
                <a:lnTo>
                  <a:pt x="527303" y="160782"/>
                </a:lnTo>
                <a:close/>
              </a:path>
              <a:path w="527684" h="161290">
                <a:moveTo>
                  <a:pt x="521195" y="160782"/>
                </a:moveTo>
                <a:lnTo>
                  <a:pt x="521195" y="147827"/>
                </a:lnTo>
                <a:lnTo>
                  <a:pt x="514349" y="154686"/>
                </a:lnTo>
                <a:lnTo>
                  <a:pt x="514349" y="160782"/>
                </a:lnTo>
                <a:lnTo>
                  <a:pt x="521195" y="1607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006463" y="6349746"/>
            <a:ext cx="514350" cy="154940"/>
          </a:xfrm>
          <a:custGeom>
            <a:avLst/>
            <a:gdLst/>
            <a:ahLst/>
            <a:cxnLst/>
            <a:rect l="l" t="t" r="r" b="b"/>
            <a:pathLst>
              <a:path w="514350" h="154940">
                <a:moveTo>
                  <a:pt x="0" y="0"/>
                </a:moveTo>
                <a:lnTo>
                  <a:pt x="0" y="154686"/>
                </a:lnTo>
                <a:lnTo>
                  <a:pt x="514350" y="154686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999617" y="6349746"/>
            <a:ext cx="527685" cy="161290"/>
          </a:xfrm>
          <a:custGeom>
            <a:avLst/>
            <a:gdLst/>
            <a:ahLst/>
            <a:cxnLst/>
            <a:rect l="l" t="t" r="r" b="b"/>
            <a:pathLst>
              <a:path w="527684" h="161290">
                <a:moveTo>
                  <a:pt x="12954" y="147827"/>
                </a:moveTo>
                <a:lnTo>
                  <a:pt x="12954" y="0"/>
                </a:lnTo>
                <a:lnTo>
                  <a:pt x="0" y="0"/>
                </a:lnTo>
                <a:lnTo>
                  <a:pt x="0" y="160782"/>
                </a:lnTo>
                <a:lnTo>
                  <a:pt x="6845" y="160782"/>
                </a:lnTo>
                <a:lnTo>
                  <a:pt x="6845" y="147827"/>
                </a:lnTo>
                <a:lnTo>
                  <a:pt x="12954" y="147827"/>
                </a:lnTo>
                <a:close/>
              </a:path>
              <a:path w="527684" h="161290">
                <a:moveTo>
                  <a:pt x="521195" y="147827"/>
                </a:moveTo>
                <a:lnTo>
                  <a:pt x="6845" y="147827"/>
                </a:lnTo>
                <a:lnTo>
                  <a:pt x="12954" y="154686"/>
                </a:lnTo>
                <a:lnTo>
                  <a:pt x="12954" y="160782"/>
                </a:lnTo>
                <a:lnTo>
                  <a:pt x="514350" y="160782"/>
                </a:lnTo>
                <a:lnTo>
                  <a:pt x="514350" y="154686"/>
                </a:lnTo>
                <a:lnTo>
                  <a:pt x="521195" y="147827"/>
                </a:lnTo>
                <a:close/>
              </a:path>
              <a:path w="527684" h="161290">
                <a:moveTo>
                  <a:pt x="12954" y="160782"/>
                </a:moveTo>
                <a:lnTo>
                  <a:pt x="12954" y="154686"/>
                </a:lnTo>
                <a:lnTo>
                  <a:pt x="6845" y="147827"/>
                </a:lnTo>
                <a:lnTo>
                  <a:pt x="6845" y="160782"/>
                </a:lnTo>
                <a:lnTo>
                  <a:pt x="12954" y="160782"/>
                </a:lnTo>
                <a:close/>
              </a:path>
              <a:path w="527684" h="161290">
                <a:moveTo>
                  <a:pt x="527303" y="160782"/>
                </a:moveTo>
                <a:lnTo>
                  <a:pt x="527303" y="0"/>
                </a:lnTo>
                <a:lnTo>
                  <a:pt x="514350" y="0"/>
                </a:lnTo>
                <a:lnTo>
                  <a:pt x="514350" y="147827"/>
                </a:lnTo>
                <a:lnTo>
                  <a:pt x="521195" y="147827"/>
                </a:lnTo>
                <a:lnTo>
                  <a:pt x="521195" y="160782"/>
                </a:lnTo>
                <a:lnTo>
                  <a:pt x="527303" y="160782"/>
                </a:lnTo>
                <a:close/>
              </a:path>
              <a:path w="527684" h="161290">
                <a:moveTo>
                  <a:pt x="521195" y="160782"/>
                </a:moveTo>
                <a:lnTo>
                  <a:pt x="521195" y="147827"/>
                </a:lnTo>
                <a:lnTo>
                  <a:pt x="514350" y="154686"/>
                </a:lnTo>
                <a:lnTo>
                  <a:pt x="514350" y="160782"/>
                </a:lnTo>
                <a:lnTo>
                  <a:pt x="521195" y="1607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528445" y="6349746"/>
            <a:ext cx="514350" cy="154940"/>
          </a:xfrm>
          <a:custGeom>
            <a:avLst/>
            <a:gdLst/>
            <a:ahLst/>
            <a:cxnLst/>
            <a:rect l="l" t="t" r="r" b="b"/>
            <a:pathLst>
              <a:path w="514350" h="154940">
                <a:moveTo>
                  <a:pt x="0" y="0"/>
                </a:moveTo>
                <a:lnTo>
                  <a:pt x="0" y="154686"/>
                </a:lnTo>
                <a:lnTo>
                  <a:pt x="514350" y="154686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522336" y="6349746"/>
            <a:ext cx="527050" cy="161290"/>
          </a:xfrm>
          <a:custGeom>
            <a:avLst/>
            <a:gdLst/>
            <a:ahLst/>
            <a:cxnLst/>
            <a:rect l="l" t="t" r="r" b="b"/>
            <a:pathLst>
              <a:path w="527050" h="161290">
                <a:moveTo>
                  <a:pt x="12204" y="147827"/>
                </a:moveTo>
                <a:lnTo>
                  <a:pt x="12204" y="0"/>
                </a:lnTo>
                <a:lnTo>
                  <a:pt x="0" y="0"/>
                </a:lnTo>
                <a:lnTo>
                  <a:pt x="0" y="160782"/>
                </a:lnTo>
                <a:lnTo>
                  <a:pt x="6108" y="160782"/>
                </a:lnTo>
                <a:lnTo>
                  <a:pt x="6108" y="147827"/>
                </a:lnTo>
                <a:lnTo>
                  <a:pt x="12204" y="147827"/>
                </a:lnTo>
                <a:close/>
              </a:path>
              <a:path w="527050" h="161290">
                <a:moveTo>
                  <a:pt x="520458" y="147827"/>
                </a:moveTo>
                <a:lnTo>
                  <a:pt x="6108" y="147827"/>
                </a:lnTo>
                <a:lnTo>
                  <a:pt x="12204" y="154686"/>
                </a:lnTo>
                <a:lnTo>
                  <a:pt x="12204" y="160782"/>
                </a:lnTo>
                <a:lnTo>
                  <a:pt x="514350" y="160782"/>
                </a:lnTo>
                <a:lnTo>
                  <a:pt x="514350" y="154686"/>
                </a:lnTo>
                <a:lnTo>
                  <a:pt x="520458" y="147827"/>
                </a:lnTo>
                <a:close/>
              </a:path>
              <a:path w="527050" h="161290">
                <a:moveTo>
                  <a:pt x="12204" y="160782"/>
                </a:moveTo>
                <a:lnTo>
                  <a:pt x="12204" y="154686"/>
                </a:lnTo>
                <a:lnTo>
                  <a:pt x="6108" y="147827"/>
                </a:lnTo>
                <a:lnTo>
                  <a:pt x="6108" y="160782"/>
                </a:lnTo>
                <a:lnTo>
                  <a:pt x="12204" y="160782"/>
                </a:lnTo>
                <a:close/>
              </a:path>
              <a:path w="527050" h="161290">
                <a:moveTo>
                  <a:pt x="526542" y="160782"/>
                </a:moveTo>
                <a:lnTo>
                  <a:pt x="526542" y="0"/>
                </a:lnTo>
                <a:lnTo>
                  <a:pt x="514350" y="0"/>
                </a:lnTo>
                <a:lnTo>
                  <a:pt x="514350" y="147827"/>
                </a:lnTo>
                <a:lnTo>
                  <a:pt x="520458" y="147827"/>
                </a:lnTo>
                <a:lnTo>
                  <a:pt x="520458" y="160782"/>
                </a:lnTo>
                <a:lnTo>
                  <a:pt x="526542" y="160782"/>
                </a:lnTo>
                <a:close/>
              </a:path>
              <a:path w="527050" h="161290">
                <a:moveTo>
                  <a:pt x="520458" y="160782"/>
                </a:moveTo>
                <a:lnTo>
                  <a:pt x="520458" y="147827"/>
                </a:lnTo>
                <a:lnTo>
                  <a:pt x="514350" y="154686"/>
                </a:lnTo>
                <a:lnTo>
                  <a:pt x="514350" y="160782"/>
                </a:lnTo>
                <a:lnTo>
                  <a:pt x="520458" y="1607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035163" y="6349746"/>
            <a:ext cx="514350" cy="154940"/>
          </a:xfrm>
          <a:custGeom>
            <a:avLst/>
            <a:gdLst/>
            <a:ahLst/>
            <a:cxnLst/>
            <a:rect l="l" t="t" r="r" b="b"/>
            <a:pathLst>
              <a:path w="514350" h="154940">
                <a:moveTo>
                  <a:pt x="0" y="0"/>
                </a:moveTo>
                <a:lnTo>
                  <a:pt x="0" y="154686"/>
                </a:lnTo>
                <a:lnTo>
                  <a:pt x="514350" y="154686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028317" y="6349746"/>
            <a:ext cx="527685" cy="161290"/>
          </a:xfrm>
          <a:custGeom>
            <a:avLst/>
            <a:gdLst/>
            <a:ahLst/>
            <a:cxnLst/>
            <a:rect l="l" t="t" r="r" b="b"/>
            <a:pathLst>
              <a:path w="527684" h="161290">
                <a:moveTo>
                  <a:pt x="12954" y="147827"/>
                </a:moveTo>
                <a:lnTo>
                  <a:pt x="12954" y="0"/>
                </a:lnTo>
                <a:lnTo>
                  <a:pt x="0" y="0"/>
                </a:lnTo>
                <a:lnTo>
                  <a:pt x="0" y="160782"/>
                </a:lnTo>
                <a:lnTo>
                  <a:pt x="6845" y="160782"/>
                </a:lnTo>
                <a:lnTo>
                  <a:pt x="6845" y="147827"/>
                </a:lnTo>
                <a:lnTo>
                  <a:pt x="12954" y="147827"/>
                </a:lnTo>
                <a:close/>
              </a:path>
              <a:path w="527684" h="161290">
                <a:moveTo>
                  <a:pt x="521195" y="147827"/>
                </a:moveTo>
                <a:lnTo>
                  <a:pt x="6845" y="147827"/>
                </a:lnTo>
                <a:lnTo>
                  <a:pt x="12954" y="154686"/>
                </a:lnTo>
                <a:lnTo>
                  <a:pt x="12954" y="160782"/>
                </a:lnTo>
                <a:lnTo>
                  <a:pt x="514350" y="160782"/>
                </a:lnTo>
                <a:lnTo>
                  <a:pt x="514350" y="154686"/>
                </a:lnTo>
                <a:lnTo>
                  <a:pt x="521195" y="147827"/>
                </a:lnTo>
                <a:close/>
              </a:path>
              <a:path w="527684" h="161290">
                <a:moveTo>
                  <a:pt x="12954" y="160782"/>
                </a:moveTo>
                <a:lnTo>
                  <a:pt x="12954" y="154686"/>
                </a:lnTo>
                <a:lnTo>
                  <a:pt x="6845" y="147827"/>
                </a:lnTo>
                <a:lnTo>
                  <a:pt x="6845" y="160782"/>
                </a:lnTo>
                <a:lnTo>
                  <a:pt x="12954" y="160782"/>
                </a:lnTo>
                <a:close/>
              </a:path>
              <a:path w="527684" h="161290">
                <a:moveTo>
                  <a:pt x="527303" y="160782"/>
                </a:moveTo>
                <a:lnTo>
                  <a:pt x="527303" y="0"/>
                </a:lnTo>
                <a:lnTo>
                  <a:pt x="514350" y="0"/>
                </a:lnTo>
                <a:lnTo>
                  <a:pt x="514350" y="147827"/>
                </a:lnTo>
                <a:lnTo>
                  <a:pt x="521195" y="147827"/>
                </a:lnTo>
                <a:lnTo>
                  <a:pt x="521195" y="160782"/>
                </a:lnTo>
                <a:lnTo>
                  <a:pt x="527303" y="160782"/>
                </a:lnTo>
                <a:close/>
              </a:path>
              <a:path w="527684" h="161290">
                <a:moveTo>
                  <a:pt x="521195" y="160782"/>
                </a:moveTo>
                <a:lnTo>
                  <a:pt x="521195" y="147827"/>
                </a:lnTo>
                <a:lnTo>
                  <a:pt x="514350" y="154686"/>
                </a:lnTo>
                <a:lnTo>
                  <a:pt x="514350" y="160782"/>
                </a:lnTo>
                <a:lnTo>
                  <a:pt x="521195" y="1607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551036" y="6349746"/>
            <a:ext cx="514350" cy="154940"/>
          </a:xfrm>
          <a:custGeom>
            <a:avLst/>
            <a:gdLst/>
            <a:ahLst/>
            <a:cxnLst/>
            <a:rect l="l" t="t" r="r" b="b"/>
            <a:pathLst>
              <a:path w="514350" h="154940">
                <a:moveTo>
                  <a:pt x="0" y="0"/>
                </a:moveTo>
                <a:lnTo>
                  <a:pt x="0" y="154686"/>
                </a:lnTo>
                <a:lnTo>
                  <a:pt x="514350" y="154686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544191" y="6349746"/>
            <a:ext cx="527685" cy="161290"/>
          </a:xfrm>
          <a:custGeom>
            <a:avLst/>
            <a:gdLst/>
            <a:ahLst/>
            <a:cxnLst/>
            <a:rect l="l" t="t" r="r" b="b"/>
            <a:pathLst>
              <a:path w="527684" h="161290">
                <a:moveTo>
                  <a:pt x="12954" y="147827"/>
                </a:moveTo>
                <a:lnTo>
                  <a:pt x="12954" y="0"/>
                </a:lnTo>
                <a:lnTo>
                  <a:pt x="0" y="0"/>
                </a:lnTo>
                <a:lnTo>
                  <a:pt x="0" y="160782"/>
                </a:lnTo>
                <a:lnTo>
                  <a:pt x="6845" y="160782"/>
                </a:lnTo>
                <a:lnTo>
                  <a:pt x="6845" y="147827"/>
                </a:lnTo>
                <a:lnTo>
                  <a:pt x="12954" y="147827"/>
                </a:lnTo>
                <a:close/>
              </a:path>
              <a:path w="527684" h="161290">
                <a:moveTo>
                  <a:pt x="521208" y="147827"/>
                </a:moveTo>
                <a:lnTo>
                  <a:pt x="6845" y="147827"/>
                </a:lnTo>
                <a:lnTo>
                  <a:pt x="12954" y="154686"/>
                </a:lnTo>
                <a:lnTo>
                  <a:pt x="12954" y="160782"/>
                </a:lnTo>
                <a:lnTo>
                  <a:pt x="514350" y="160782"/>
                </a:lnTo>
                <a:lnTo>
                  <a:pt x="514350" y="154686"/>
                </a:lnTo>
                <a:lnTo>
                  <a:pt x="521208" y="147827"/>
                </a:lnTo>
                <a:close/>
              </a:path>
              <a:path w="527684" h="161290">
                <a:moveTo>
                  <a:pt x="12954" y="160782"/>
                </a:moveTo>
                <a:lnTo>
                  <a:pt x="12954" y="154686"/>
                </a:lnTo>
                <a:lnTo>
                  <a:pt x="6845" y="147827"/>
                </a:lnTo>
                <a:lnTo>
                  <a:pt x="6845" y="160782"/>
                </a:lnTo>
                <a:lnTo>
                  <a:pt x="12954" y="160782"/>
                </a:lnTo>
                <a:close/>
              </a:path>
              <a:path w="527684" h="161290">
                <a:moveTo>
                  <a:pt x="527303" y="160782"/>
                </a:moveTo>
                <a:lnTo>
                  <a:pt x="527303" y="0"/>
                </a:lnTo>
                <a:lnTo>
                  <a:pt x="514350" y="0"/>
                </a:lnTo>
                <a:lnTo>
                  <a:pt x="514350" y="147827"/>
                </a:lnTo>
                <a:lnTo>
                  <a:pt x="521208" y="147827"/>
                </a:lnTo>
                <a:lnTo>
                  <a:pt x="521208" y="160782"/>
                </a:lnTo>
                <a:lnTo>
                  <a:pt x="527303" y="160782"/>
                </a:lnTo>
                <a:close/>
              </a:path>
              <a:path w="527684" h="161290">
                <a:moveTo>
                  <a:pt x="521208" y="160782"/>
                </a:moveTo>
                <a:lnTo>
                  <a:pt x="521208" y="147827"/>
                </a:lnTo>
                <a:lnTo>
                  <a:pt x="514350" y="154686"/>
                </a:lnTo>
                <a:lnTo>
                  <a:pt x="514350" y="160782"/>
                </a:lnTo>
                <a:lnTo>
                  <a:pt x="521208" y="1607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729867" y="6501383"/>
            <a:ext cx="156527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Array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index</a:t>
            </a:r>
            <a:endParaRPr sz="24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609721" y="6564630"/>
            <a:ext cx="17570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20065" algn="l"/>
                <a:tab pos="1028065" algn="l"/>
                <a:tab pos="1574165" algn="l"/>
              </a:tabLst>
            </a:pPr>
            <a:r>
              <a:rPr sz="2400" spc="-5" dirty="0">
                <a:latin typeface="Arial"/>
                <a:cs typeface="Arial"/>
              </a:rPr>
              <a:t>0	1	2	3</a:t>
            </a:r>
            <a:endParaRPr sz="24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573175" y="6564630"/>
            <a:ext cx="4654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587363" y="6669023"/>
            <a:ext cx="63258" cy="556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918845" y="6668148"/>
            <a:ext cx="63245" cy="569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251827" y="6669023"/>
            <a:ext cx="64020" cy="556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3555619" y="6066282"/>
            <a:ext cx="30797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0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052442" y="6054090"/>
            <a:ext cx="30797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1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588890" y="6064758"/>
            <a:ext cx="30797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571865" y="6124194"/>
            <a:ext cx="488315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05"/>
              </a:lnSpc>
            </a:pPr>
            <a:r>
              <a:rPr sz="3600" spc="-15" baseline="13888" dirty="0">
                <a:latin typeface="Arial"/>
                <a:cs typeface="Arial"/>
              </a:rPr>
              <a:t>a</a:t>
            </a:r>
            <a:r>
              <a:rPr sz="1600" spc="-5" dirty="0">
                <a:latin typeface="Arial"/>
                <a:cs typeface="Arial"/>
              </a:rPr>
              <a:t>n</a:t>
            </a:r>
            <a:r>
              <a:rPr sz="1600" dirty="0">
                <a:latin typeface="Arial"/>
                <a:cs typeface="Arial"/>
              </a:rPr>
              <a:t>-1</a:t>
            </a:r>
            <a:endParaRPr sz="16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3770" y="479297"/>
            <a:ext cx="14884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Private: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206349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2920745"/>
            <a:ext cx="824484" cy="25717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23770" y="790194"/>
            <a:ext cx="7508875" cy="475107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4748530">
              <a:lnSpc>
                <a:spcPts val="2450"/>
              </a:lnSpc>
              <a:spcBef>
                <a:spcPts val="439"/>
              </a:spcBef>
            </a:pP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int </a:t>
            </a:r>
            <a:r>
              <a:rPr sz="2400" b="1" spc="-10" dirty="0">
                <a:solidFill>
                  <a:srgbClr val="FF0000"/>
                </a:solidFill>
                <a:latin typeface="Courier New"/>
                <a:cs typeface="Courier New"/>
              </a:rPr>
              <a:t>top;  </a:t>
            </a:r>
            <a:r>
              <a:rPr sz="2400" b="1" spc="-5" dirty="0">
                <a:latin typeface="Courier New"/>
                <a:cs typeface="Courier New"/>
              </a:rPr>
              <a:t>KeyType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*stack;  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int</a:t>
            </a:r>
            <a:r>
              <a:rPr sz="2400" b="1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ourier New"/>
                <a:cs typeface="Courier New"/>
              </a:rPr>
              <a:t>MaxSize;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220"/>
              </a:lnSpc>
            </a:pPr>
            <a:r>
              <a:rPr sz="2400" b="1" spc="-5" dirty="0">
                <a:latin typeface="Courier New"/>
                <a:cs typeface="Courier New"/>
              </a:rPr>
              <a:t>template&lt;class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KeyType&gt;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450"/>
              </a:lnSpc>
            </a:pPr>
            <a:r>
              <a:rPr sz="2400" b="1" spc="-5" dirty="0">
                <a:latin typeface="Courier New"/>
                <a:cs typeface="Courier New"/>
              </a:rPr>
              <a:t>Stack&lt;KeyType&gt;::Stack(int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MaxStackSize):</a:t>
            </a:r>
            <a:endParaRPr sz="2400">
              <a:latin typeface="Courier New"/>
              <a:cs typeface="Courier New"/>
            </a:endParaRPr>
          </a:p>
          <a:p>
            <a:pPr marL="377190" marR="369570" indent="2554605">
              <a:lnSpc>
                <a:spcPts val="2450"/>
              </a:lnSpc>
              <a:spcBef>
                <a:spcPts val="220"/>
              </a:spcBef>
            </a:pPr>
            <a:r>
              <a:rPr sz="2400" b="1" spc="-5" dirty="0">
                <a:latin typeface="Courier New"/>
                <a:cs typeface="Courier New"/>
              </a:rPr>
              <a:t>MaxSize(MaxStackSize)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  stack=new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KeyType[MaxSize];</a:t>
            </a:r>
            <a:endParaRPr sz="2400">
              <a:latin typeface="Courier New"/>
              <a:cs typeface="Courier New"/>
            </a:endParaRPr>
          </a:p>
          <a:p>
            <a:pPr marL="377190">
              <a:lnSpc>
                <a:spcPts val="2220"/>
              </a:lnSpc>
            </a:pPr>
            <a:r>
              <a:rPr sz="2400" b="1" spc="-10" dirty="0">
                <a:solidFill>
                  <a:srgbClr val="FF3300"/>
                </a:solidFill>
                <a:latin typeface="Courier New"/>
                <a:cs typeface="Courier New"/>
              </a:rPr>
              <a:t>top=-1;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45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450"/>
              </a:lnSpc>
            </a:pPr>
            <a:r>
              <a:rPr sz="2400" b="1" spc="-5" dirty="0">
                <a:latin typeface="Courier New"/>
                <a:cs typeface="Courier New"/>
              </a:rPr>
              <a:t>template&lt;classs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KeyType&gt;</a:t>
            </a:r>
            <a:endParaRPr sz="2400">
              <a:latin typeface="Courier New"/>
              <a:cs typeface="Courier New"/>
            </a:endParaRPr>
          </a:p>
          <a:p>
            <a:pPr marL="377190" marR="5080" indent="-365125">
              <a:lnSpc>
                <a:spcPts val="2450"/>
              </a:lnSpc>
              <a:spcBef>
                <a:spcPts val="220"/>
              </a:spcBef>
            </a:pPr>
            <a:r>
              <a:rPr sz="2400" b="1" spc="-5" dirty="0">
                <a:latin typeface="Courier New"/>
                <a:cs typeface="Courier New"/>
              </a:rPr>
              <a:t>inline Boolean Stack&lt;KeyType&gt;::IsFull()</a:t>
            </a:r>
            <a:r>
              <a:rPr sz="2400" b="1" spc="-17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  if (top==MaxSize-1) return</a:t>
            </a:r>
            <a:r>
              <a:rPr sz="2400" b="1" spc="-1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TRUE;</a:t>
            </a:r>
            <a:endParaRPr sz="2400">
              <a:latin typeface="Courier New"/>
              <a:cs typeface="Courier New"/>
            </a:endParaRPr>
          </a:p>
          <a:p>
            <a:pPr marL="377190">
              <a:lnSpc>
                <a:spcPts val="2220"/>
              </a:lnSpc>
            </a:pPr>
            <a:r>
              <a:rPr sz="2400" b="1" spc="-5" dirty="0">
                <a:latin typeface="Courier New"/>
                <a:cs typeface="Courier New"/>
              </a:rPr>
              <a:t>else return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FALSE;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45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665"/>
              </a:lnSpc>
            </a:pPr>
            <a:r>
              <a:rPr sz="2400" b="1" spc="-5" dirty="0">
                <a:latin typeface="Courier New"/>
                <a:cs typeface="Courier New"/>
              </a:rPr>
              <a:t>template&lt;classs</a:t>
            </a:r>
            <a:r>
              <a:rPr sz="2400" b="1" spc="-114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KeyType&gt;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23770" y="5453633"/>
            <a:ext cx="25812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inline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Boolean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59381" y="5453633"/>
            <a:ext cx="49568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Stack&lt;KeyType&gt;::IsEmpty()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88769" y="5764529"/>
            <a:ext cx="367728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if (top</a:t>
            </a:r>
            <a:r>
              <a:rPr sz="2400" b="1" spc="-5">
                <a:latin typeface="Courier New"/>
                <a:cs typeface="Courier New"/>
              </a:rPr>
              <a:t>==-</a:t>
            </a:r>
            <a:r>
              <a:rPr sz="2400" b="1" spc="-5" smtClean="0">
                <a:latin typeface="Courier New"/>
                <a:cs typeface="Courier New"/>
              </a:rPr>
              <a:t>1)</a:t>
            </a:r>
            <a:r>
              <a:rPr sz="2400" b="1" spc="-114" smtClean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return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21019" y="5764529"/>
            <a:ext cx="9398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TRUE;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88769" y="6075426"/>
            <a:ext cx="7569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else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00761" y="6075426"/>
            <a:ext cx="24003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return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FALSE;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485503" y="6638290"/>
            <a:ext cx="1244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23770" y="6386321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Adding to a</a:t>
            </a:r>
            <a:r>
              <a:rPr sz="4400" spc="-60" dirty="0"/>
              <a:t> </a:t>
            </a:r>
            <a:r>
              <a:rPr sz="4400" spc="-5" dirty="0"/>
              <a:t>Stack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2027047" y="2420873"/>
            <a:ext cx="440817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Template &lt;class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KeyType&gt;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84909" y="2786634"/>
            <a:ext cx="2033270" cy="11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KeyType&amp;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x)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stack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7047" y="2786634"/>
            <a:ext cx="5502910" cy="149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void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Stack&lt;KeyType&gt;::Add(const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377190" marR="50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/* add an item to the </a:t>
            </a:r>
            <a:r>
              <a:rPr sz="2400" b="1" spc="-10" dirty="0">
                <a:latin typeface="Courier New"/>
                <a:cs typeface="Courier New"/>
              </a:rPr>
              <a:t>global  </a:t>
            </a:r>
            <a:r>
              <a:rPr sz="2400" b="1" spc="-5" dirty="0">
                <a:latin typeface="Courier New"/>
                <a:cs typeface="Courier New"/>
              </a:rPr>
              <a:t>if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(IsFull())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35865" y="4978146"/>
            <a:ext cx="470534" cy="514350"/>
          </a:xfrm>
          <a:custGeom>
            <a:avLst/>
            <a:gdLst/>
            <a:ahLst/>
            <a:cxnLst/>
            <a:rect l="l" t="t" r="r" b="b"/>
            <a:pathLst>
              <a:path w="470535" h="514350">
                <a:moveTo>
                  <a:pt x="470153" y="514350"/>
                </a:moveTo>
                <a:lnTo>
                  <a:pt x="470153" y="0"/>
                </a:lnTo>
                <a:lnTo>
                  <a:pt x="0" y="0"/>
                </a:lnTo>
                <a:lnTo>
                  <a:pt x="0" y="514350"/>
                </a:lnTo>
                <a:lnTo>
                  <a:pt x="6857" y="514350"/>
                </a:lnTo>
                <a:lnTo>
                  <a:pt x="6857" y="12953"/>
                </a:lnTo>
                <a:lnTo>
                  <a:pt x="12953" y="6857"/>
                </a:lnTo>
                <a:lnTo>
                  <a:pt x="12953" y="12953"/>
                </a:lnTo>
                <a:lnTo>
                  <a:pt x="457200" y="12953"/>
                </a:lnTo>
                <a:lnTo>
                  <a:pt x="457200" y="6857"/>
                </a:lnTo>
                <a:lnTo>
                  <a:pt x="464057" y="12953"/>
                </a:lnTo>
                <a:lnTo>
                  <a:pt x="464057" y="514350"/>
                </a:lnTo>
                <a:lnTo>
                  <a:pt x="470153" y="514350"/>
                </a:lnTo>
                <a:close/>
              </a:path>
              <a:path w="470535" h="514350">
                <a:moveTo>
                  <a:pt x="12953" y="12953"/>
                </a:moveTo>
                <a:lnTo>
                  <a:pt x="12953" y="6857"/>
                </a:lnTo>
                <a:lnTo>
                  <a:pt x="6857" y="12953"/>
                </a:lnTo>
                <a:lnTo>
                  <a:pt x="12953" y="12953"/>
                </a:lnTo>
                <a:close/>
              </a:path>
              <a:path w="470535" h="514350">
                <a:moveTo>
                  <a:pt x="12953" y="514350"/>
                </a:moveTo>
                <a:lnTo>
                  <a:pt x="12953" y="12953"/>
                </a:lnTo>
                <a:lnTo>
                  <a:pt x="6857" y="12953"/>
                </a:lnTo>
                <a:lnTo>
                  <a:pt x="6857" y="514350"/>
                </a:lnTo>
                <a:lnTo>
                  <a:pt x="12953" y="514350"/>
                </a:lnTo>
                <a:close/>
              </a:path>
              <a:path w="470535" h="514350">
                <a:moveTo>
                  <a:pt x="464057" y="12953"/>
                </a:moveTo>
                <a:lnTo>
                  <a:pt x="457200" y="6857"/>
                </a:lnTo>
                <a:lnTo>
                  <a:pt x="457200" y="12953"/>
                </a:lnTo>
                <a:lnTo>
                  <a:pt x="464057" y="12953"/>
                </a:lnTo>
                <a:close/>
              </a:path>
              <a:path w="470535" h="514350">
                <a:moveTo>
                  <a:pt x="464057" y="514350"/>
                </a:moveTo>
                <a:lnTo>
                  <a:pt x="464057" y="12953"/>
                </a:lnTo>
                <a:lnTo>
                  <a:pt x="457200" y="12953"/>
                </a:lnTo>
                <a:lnTo>
                  <a:pt x="457200" y="514350"/>
                </a:lnTo>
                <a:lnTo>
                  <a:pt x="464057" y="51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31265" y="4978146"/>
            <a:ext cx="546735" cy="514350"/>
          </a:xfrm>
          <a:custGeom>
            <a:avLst/>
            <a:gdLst/>
            <a:ahLst/>
            <a:cxnLst/>
            <a:rect l="l" t="t" r="r" b="b"/>
            <a:pathLst>
              <a:path w="546734" h="514350">
                <a:moveTo>
                  <a:pt x="546353" y="514350"/>
                </a:moveTo>
                <a:lnTo>
                  <a:pt x="546353" y="0"/>
                </a:lnTo>
                <a:lnTo>
                  <a:pt x="0" y="0"/>
                </a:lnTo>
                <a:lnTo>
                  <a:pt x="0" y="514350"/>
                </a:lnTo>
                <a:lnTo>
                  <a:pt x="6858" y="514350"/>
                </a:lnTo>
                <a:lnTo>
                  <a:pt x="6858" y="12953"/>
                </a:lnTo>
                <a:lnTo>
                  <a:pt x="12953" y="6857"/>
                </a:lnTo>
                <a:lnTo>
                  <a:pt x="12953" y="12953"/>
                </a:lnTo>
                <a:lnTo>
                  <a:pt x="533400" y="12953"/>
                </a:lnTo>
                <a:lnTo>
                  <a:pt x="533400" y="6857"/>
                </a:lnTo>
                <a:lnTo>
                  <a:pt x="540258" y="12953"/>
                </a:lnTo>
                <a:lnTo>
                  <a:pt x="540258" y="514350"/>
                </a:lnTo>
                <a:lnTo>
                  <a:pt x="546353" y="514350"/>
                </a:lnTo>
                <a:close/>
              </a:path>
              <a:path w="546734" h="514350">
                <a:moveTo>
                  <a:pt x="12953" y="12953"/>
                </a:moveTo>
                <a:lnTo>
                  <a:pt x="12953" y="6857"/>
                </a:lnTo>
                <a:lnTo>
                  <a:pt x="6858" y="12953"/>
                </a:lnTo>
                <a:lnTo>
                  <a:pt x="12953" y="12953"/>
                </a:lnTo>
                <a:close/>
              </a:path>
              <a:path w="546734" h="514350">
                <a:moveTo>
                  <a:pt x="12953" y="514350"/>
                </a:moveTo>
                <a:lnTo>
                  <a:pt x="12953" y="12953"/>
                </a:lnTo>
                <a:lnTo>
                  <a:pt x="6858" y="12953"/>
                </a:lnTo>
                <a:lnTo>
                  <a:pt x="6858" y="514350"/>
                </a:lnTo>
                <a:lnTo>
                  <a:pt x="12953" y="514350"/>
                </a:lnTo>
                <a:close/>
              </a:path>
              <a:path w="546734" h="514350">
                <a:moveTo>
                  <a:pt x="540258" y="12953"/>
                </a:moveTo>
                <a:lnTo>
                  <a:pt x="533400" y="6857"/>
                </a:lnTo>
                <a:lnTo>
                  <a:pt x="533400" y="12953"/>
                </a:lnTo>
                <a:lnTo>
                  <a:pt x="540258" y="12953"/>
                </a:lnTo>
                <a:close/>
              </a:path>
              <a:path w="546734" h="514350">
                <a:moveTo>
                  <a:pt x="540258" y="514350"/>
                </a:moveTo>
                <a:lnTo>
                  <a:pt x="540258" y="12953"/>
                </a:lnTo>
                <a:lnTo>
                  <a:pt x="533400" y="12953"/>
                </a:lnTo>
                <a:lnTo>
                  <a:pt x="533400" y="514350"/>
                </a:lnTo>
                <a:lnTo>
                  <a:pt x="540258" y="51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42723" y="4984622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38124" y="4984622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4839" y="3777996"/>
            <a:ext cx="824484" cy="257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27047" y="4249673"/>
            <a:ext cx="3496310" cy="149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7190" marR="189865" indent="36449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stack_full(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);  else</a:t>
            </a:r>
            <a:endParaRPr sz="2400">
              <a:latin typeface="Courier New"/>
              <a:cs typeface="Courier New"/>
            </a:endParaRPr>
          </a:p>
          <a:p>
            <a:pPr marL="742315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stack[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++top</a:t>
            </a:r>
            <a:r>
              <a:rPr sz="2400" b="1" spc="-5" dirty="0">
                <a:latin typeface="Courier New"/>
                <a:cs typeface="Courier New"/>
              </a:rPr>
              <a:t>]=x;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42342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99542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055740" y="6111240"/>
            <a:ext cx="2292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237742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71142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380871" y="5745479"/>
            <a:ext cx="245745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" marR="5080" indent="-889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  </a:t>
            </a:r>
            <a:r>
              <a:rPr sz="240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13639" y="6318503"/>
            <a:ext cx="62865" cy="31750"/>
          </a:xfrm>
          <a:custGeom>
            <a:avLst/>
            <a:gdLst/>
            <a:ahLst/>
            <a:cxnLst/>
            <a:rect l="l" t="t" r="r" b="b"/>
            <a:pathLst>
              <a:path w="62864" h="31750">
                <a:moveTo>
                  <a:pt x="62484" y="31242"/>
                </a:moveTo>
                <a:lnTo>
                  <a:pt x="62484" y="0"/>
                </a:lnTo>
                <a:lnTo>
                  <a:pt x="0" y="31242"/>
                </a:lnTo>
                <a:lnTo>
                  <a:pt x="62484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71524" y="5861303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1242"/>
                </a:lnTo>
                <a:lnTo>
                  <a:pt x="76200" y="31242"/>
                </a:lnTo>
                <a:close/>
              </a:path>
              <a:path w="228600" h="76200">
                <a:moveTo>
                  <a:pt x="228600" y="44196"/>
                </a:moveTo>
                <a:lnTo>
                  <a:pt x="228600" y="31242"/>
                </a:lnTo>
                <a:lnTo>
                  <a:pt x="63246" y="31242"/>
                </a:lnTo>
                <a:lnTo>
                  <a:pt x="63246" y="44196"/>
                </a:lnTo>
                <a:lnTo>
                  <a:pt x="228600" y="44196"/>
                </a:lnTo>
                <a:close/>
              </a:path>
              <a:path w="228600" h="76200">
                <a:moveTo>
                  <a:pt x="76200" y="76200"/>
                </a:moveTo>
                <a:lnTo>
                  <a:pt x="76200" y="44196"/>
                </a:lnTo>
                <a:lnTo>
                  <a:pt x="63246" y="44196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014843" y="5723382"/>
            <a:ext cx="448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935865" y="6349746"/>
            <a:ext cx="470534" cy="546735"/>
          </a:xfrm>
          <a:custGeom>
            <a:avLst/>
            <a:gdLst/>
            <a:ahLst/>
            <a:cxnLst/>
            <a:rect l="l" t="t" r="r" b="b"/>
            <a:pathLst>
              <a:path w="470535" h="546734">
                <a:moveTo>
                  <a:pt x="12953" y="533400"/>
                </a:moveTo>
                <a:lnTo>
                  <a:pt x="12953" y="0"/>
                </a:lnTo>
                <a:lnTo>
                  <a:pt x="0" y="0"/>
                </a:lnTo>
                <a:lnTo>
                  <a:pt x="0" y="546354"/>
                </a:lnTo>
                <a:lnTo>
                  <a:pt x="6857" y="546354"/>
                </a:lnTo>
                <a:lnTo>
                  <a:pt x="6857" y="533400"/>
                </a:lnTo>
                <a:lnTo>
                  <a:pt x="12953" y="533400"/>
                </a:lnTo>
                <a:close/>
              </a:path>
              <a:path w="470535" h="546734">
                <a:moveTo>
                  <a:pt x="464057" y="533400"/>
                </a:moveTo>
                <a:lnTo>
                  <a:pt x="6857" y="533400"/>
                </a:lnTo>
                <a:lnTo>
                  <a:pt x="12953" y="540258"/>
                </a:lnTo>
                <a:lnTo>
                  <a:pt x="12953" y="546354"/>
                </a:lnTo>
                <a:lnTo>
                  <a:pt x="457200" y="546354"/>
                </a:lnTo>
                <a:lnTo>
                  <a:pt x="457200" y="540258"/>
                </a:lnTo>
                <a:lnTo>
                  <a:pt x="464057" y="533400"/>
                </a:lnTo>
                <a:close/>
              </a:path>
              <a:path w="470535" h="546734">
                <a:moveTo>
                  <a:pt x="12953" y="546354"/>
                </a:moveTo>
                <a:lnTo>
                  <a:pt x="12953" y="540258"/>
                </a:lnTo>
                <a:lnTo>
                  <a:pt x="6857" y="533400"/>
                </a:lnTo>
                <a:lnTo>
                  <a:pt x="6857" y="546354"/>
                </a:lnTo>
                <a:lnTo>
                  <a:pt x="12953" y="546354"/>
                </a:lnTo>
                <a:close/>
              </a:path>
              <a:path w="470535" h="546734">
                <a:moveTo>
                  <a:pt x="470153" y="546354"/>
                </a:moveTo>
                <a:lnTo>
                  <a:pt x="470153" y="0"/>
                </a:lnTo>
                <a:lnTo>
                  <a:pt x="457200" y="0"/>
                </a:lnTo>
                <a:lnTo>
                  <a:pt x="457200" y="533400"/>
                </a:lnTo>
                <a:lnTo>
                  <a:pt x="464057" y="533400"/>
                </a:lnTo>
                <a:lnTo>
                  <a:pt x="464057" y="546354"/>
                </a:lnTo>
                <a:lnTo>
                  <a:pt x="470153" y="546354"/>
                </a:lnTo>
                <a:close/>
              </a:path>
              <a:path w="470535" h="546734">
                <a:moveTo>
                  <a:pt x="464057" y="546354"/>
                </a:moveTo>
                <a:lnTo>
                  <a:pt x="464057" y="533400"/>
                </a:lnTo>
                <a:lnTo>
                  <a:pt x="457200" y="540258"/>
                </a:lnTo>
                <a:lnTo>
                  <a:pt x="457200" y="546354"/>
                </a:lnTo>
                <a:lnTo>
                  <a:pt x="464057" y="5463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055740" y="6477000"/>
            <a:ext cx="2292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231265" y="6349746"/>
            <a:ext cx="546735" cy="546735"/>
          </a:xfrm>
          <a:custGeom>
            <a:avLst/>
            <a:gdLst/>
            <a:ahLst/>
            <a:cxnLst/>
            <a:rect l="l" t="t" r="r" b="b"/>
            <a:pathLst>
              <a:path w="546734" h="546734">
                <a:moveTo>
                  <a:pt x="12953" y="533400"/>
                </a:moveTo>
                <a:lnTo>
                  <a:pt x="12953" y="0"/>
                </a:lnTo>
                <a:lnTo>
                  <a:pt x="0" y="0"/>
                </a:lnTo>
                <a:lnTo>
                  <a:pt x="0" y="546354"/>
                </a:lnTo>
                <a:lnTo>
                  <a:pt x="6858" y="546354"/>
                </a:lnTo>
                <a:lnTo>
                  <a:pt x="6858" y="533400"/>
                </a:lnTo>
                <a:lnTo>
                  <a:pt x="12953" y="533400"/>
                </a:lnTo>
                <a:close/>
              </a:path>
              <a:path w="546734" h="546734">
                <a:moveTo>
                  <a:pt x="540258" y="533400"/>
                </a:moveTo>
                <a:lnTo>
                  <a:pt x="6858" y="533400"/>
                </a:lnTo>
                <a:lnTo>
                  <a:pt x="12953" y="540258"/>
                </a:lnTo>
                <a:lnTo>
                  <a:pt x="12953" y="546354"/>
                </a:lnTo>
                <a:lnTo>
                  <a:pt x="533400" y="546354"/>
                </a:lnTo>
                <a:lnTo>
                  <a:pt x="533400" y="540258"/>
                </a:lnTo>
                <a:lnTo>
                  <a:pt x="540258" y="533400"/>
                </a:lnTo>
                <a:close/>
              </a:path>
              <a:path w="546734" h="546734">
                <a:moveTo>
                  <a:pt x="12953" y="546354"/>
                </a:moveTo>
                <a:lnTo>
                  <a:pt x="12953" y="540258"/>
                </a:lnTo>
                <a:lnTo>
                  <a:pt x="6858" y="533400"/>
                </a:lnTo>
                <a:lnTo>
                  <a:pt x="6858" y="546354"/>
                </a:lnTo>
                <a:lnTo>
                  <a:pt x="12953" y="546354"/>
                </a:lnTo>
                <a:close/>
              </a:path>
              <a:path w="546734" h="546734">
                <a:moveTo>
                  <a:pt x="546353" y="546354"/>
                </a:moveTo>
                <a:lnTo>
                  <a:pt x="546353" y="0"/>
                </a:lnTo>
                <a:lnTo>
                  <a:pt x="533400" y="0"/>
                </a:lnTo>
                <a:lnTo>
                  <a:pt x="533400" y="533400"/>
                </a:lnTo>
                <a:lnTo>
                  <a:pt x="540258" y="533400"/>
                </a:lnTo>
                <a:lnTo>
                  <a:pt x="540258" y="546354"/>
                </a:lnTo>
                <a:lnTo>
                  <a:pt x="546353" y="546354"/>
                </a:lnTo>
                <a:close/>
              </a:path>
              <a:path w="546734" h="546734">
                <a:moveTo>
                  <a:pt x="540258" y="546354"/>
                </a:moveTo>
                <a:lnTo>
                  <a:pt x="540258" y="533400"/>
                </a:lnTo>
                <a:lnTo>
                  <a:pt x="533400" y="540258"/>
                </a:lnTo>
                <a:lnTo>
                  <a:pt x="533400" y="546354"/>
                </a:lnTo>
                <a:lnTo>
                  <a:pt x="540258" y="5463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389241" y="6477000"/>
            <a:ext cx="2292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399923" y="6349746"/>
            <a:ext cx="228600" cy="45085"/>
          </a:xfrm>
          <a:custGeom>
            <a:avLst/>
            <a:gdLst/>
            <a:ahLst/>
            <a:cxnLst/>
            <a:rect l="l" t="t" r="r" b="b"/>
            <a:pathLst>
              <a:path w="228600" h="45085">
                <a:moveTo>
                  <a:pt x="228587" y="12953"/>
                </a:moveTo>
                <a:lnTo>
                  <a:pt x="228587" y="0"/>
                </a:lnTo>
                <a:lnTo>
                  <a:pt x="13715" y="0"/>
                </a:lnTo>
                <a:lnTo>
                  <a:pt x="0" y="6857"/>
                </a:lnTo>
                <a:lnTo>
                  <a:pt x="63233" y="38474"/>
                </a:lnTo>
                <a:lnTo>
                  <a:pt x="63233" y="12953"/>
                </a:lnTo>
                <a:lnTo>
                  <a:pt x="228587" y="12953"/>
                </a:lnTo>
                <a:close/>
              </a:path>
              <a:path w="228600" h="45085">
                <a:moveTo>
                  <a:pt x="76200" y="44957"/>
                </a:moveTo>
                <a:lnTo>
                  <a:pt x="76200" y="12953"/>
                </a:lnTo>
                <a:lnTo>
                  <a:pt x="63233" y="12953"/>
                </a:lnTo>
                <a:lnTo>
                  <a:pt x="63233" y="38474"/>
                </a:lnTo>
                <a:lnTo>
                  <a:pt x="76200" y="44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690486" y="6160008"/>
            <a:ext cx="448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96850">
              <a:lnSpc>
                <a:spcPts val="3804"/>
              </a:lnSpc>
              <a:spcBef>
                <a:spcPts val="810"/>
              </a:spcBef>
            </a:pPr>
            <a:r>
              <a:rPr sz="3200" b="1" spc="-18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8353" y="386080"/>
            <a:ext cx="3594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50" dirty="0">
                <a:solidFill>
                  <a:srgbClr val="FFFFFF"/>
                </a:solidFill>
                <a:latin typeface="Arial Narrow"/>
                <a:cs typeface="Arial Narrow"/>
              </a:rPr>
              <a:t>11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Deleting from a</a:t>
            </a:r>
            <a:r>
              <a:rPr sz="4400" spc="-45" dirty="0"/>
              <a:t> </a:t>
            </a:r>
            <a:r>
              <a:rPr sz="4400" spc="-5" dirty="0"/>
              <a:t>Stack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50847" y="2071115"/>
            <a:ext cx="7875270" cy="2227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Template &lt;class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KeyType&gt;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KeyType* Stack&lt;KeyType&gt;::Delete(KeyType&amp;</a:t>
            </a:r>
            <a:r>
              <a:rPr sz="2400" b="1" spc="-14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x)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377190" marR="187325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 return the top element from the </a:t>
            </a:r>
            <a:r>
              <a:rPr sz="2400" b="1" spc="-10" dirty="0">
                <a:latin typeface="Courier New"/>
                <a:cs typeface="Courier New"/>
              </a:rPr>
              <a:t>stack  </a:t>
            </a:r>
            <a:r>
              <a:rPr sz="2400" b="1" spc="-5" dirty="0">
                <a:latin typeface="Courier New"/>
                <a:cs typeface="Courier New"/>
              </a:rPr>
              <a:t>if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(IsEmpty())</a:t>
            </a:r>
            <a:endParaRPr sz="2400" dirty="0">
              <a:latin typeface="Courier New"/>
              <a:cs typeface="Courier New"/>
            </a:endParaRPr>
          </a:p>
          <a:p>
            <a:pPr marL="37719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80842" y="4265676"/>
            <a:ext cx="3677920" cy="76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stack_empty(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);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/* returns and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error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13977" y="4631435"/>
            <a:ext cx="11214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key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0842" y="4997195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return</a:t>
            </a:r>
            <a:r>
              <a:rPr sz="2400" b="1" spc="-114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0;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20913" y="5165597"/>
            <a:ext cx="469900" cy="327025"/>
          </a:xfrm>
          <a:custGeom>
            <a:avLst/>
            <a:gdLst/>
            <a:ahLst/>
            <a:cxnLst/>
            <a:rect l="l" t="t" r="r" b="b"/>
            <a:pathLst>
              <a:path w="469900" h="327025">
                <a:moveTo>
                  <a:pt x="469392" y="326898"/>
                </a:moveTo>
                <a:lnTo>
                  <a:pt x="469392" y="0"/>
                </a:lnTo>
                <a:lnTo>
                  <a:pt x="0" y="0"/>
                </a:lnTo>
                <a:lnTo>
                  <a:pt x="0" y="326898"/>
                </a:lnTo>
                <a:lnTo>
                  <a:pt x="6108" y="326898"/>
                </a:lnTo>
                <a:lnTo>
                  <a:pt x="6108" y="12953"/>
                </a:lnTo>
                <a:lnTo>
                  <a:pt x="12204" y="6857"/>
                </a:lnTo>
                <a:lnTo>
                  <a:pt x="12204" y="12953"/>
                </a:lnTo>
                <a:lnTo>
                  <a:pt x="457212" y="12953"/>
                </a:lnTo>
                <a:lnTo>
                  <a:pt x="457212" y="6857"/>
                </a:lnTo>
                <a:lnTo>
                  <a:pt x="463308" y="12953"/>
                </a:lnTo>
                <a:lnTo>
                  <a:pt x="463308" y="326898"/>
                </a:lnTo>
                <a:lnTo>
                  <a:pt x="469392" y="326898"/>
                </a:lnTo>
                <a:close/>
              </a:path>
              <a:path w="469900" h="327025">
                <a:moveTo>
                  <a:pt x="12204" y="12953"/>
                </a:moveTo>
                <a:lnTo>
                  <a:pt x="12204" y="6857"/>
                </a:lnTo>
                <a:lnTo>
                  <a:pt x="6108" y="12953"/>
                </a:lnTo>
                <a:lnTo>
                  <a:pt x="12204" y="12953"/>
                </a:lnTo>
                <a:close/>
              </a:path>
              <a:path w="469900" h="327025">
                <a:moveTo>
                  <a:pt x="12204" y="326898"/>
                </a:moveTo>
                <a:lnTo>
                  <a:pt x="12204" y="12953"/>
                </a:lnTo>
                <a:lnTo>
                  <a:pt x="6108" y="12953"/>
                </a:lnTo>
                <a:lnTo>
                  <a:pt x="6108" y="326898"/>
                </a:lnTo>
                <a:lnTo>
                  <a:pt x="12204" y="326898"/>
                </a:lnTo>
                <a:close/>
              </a:path>
              <a:path w="469900" h="327025">
                <a:moveTo>
                  <a:pt x="463308" y="12953"/>
                </a:moveTo>
                <a:lnTo>
                  <a:pt x="457212" y="6857"/>
                </a:lnTo>
                <a:lnTo>
                  <a:pt x="457212" y="12953"/>
                </a:lnTo>
                <a:lnTo>
                  <a:pt x="463308" y="12953"/>
                </a:lnTo>
                <a:close/>
              </a:path>
              <a:path w="469900" h="327025">
                <a:moveTo>
                  <a:pt x="463308" y="326898"/>
                </a:moveTo>
                <a:lnTo>
                  <a:pt x="463308" y="12953"/>
                </a:lnTo>
                <a:lnTo>
                  <a:pt x="457212" y="12953"/>
                </a:lnTo>
                <a:lnTo>
                  <a:pt x="457212" y="326898"/>
                </a:lnTo>
                <a:lnTo>
                  <a:pt x="463308" y="3268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01713" y="5165597"/>
            <a:ext cx="469900" cy="327025"/>
          </a:xfrm>
          <a:custGeom>
            <a:avLst/>
            <a:gdLst/>
            <a:ahLst/>
            <a:cxnLst/>
            <a:rect l="l" t="t" r="r" b="b"/>
            <a:pathLst>
              <a:path w="469900" h="327025">
                <a:moveTo>
                  <a:pt x="469392" y="326898"/>
                </a:moveTo>
                <a:lnTo>
                  <a:pt x="469392" y="0"/>
                </a:lnTo>
                <a:lnTo>
                  <a:pt x="0" y="0"/>
                </a:lnTo>
                <a:lnTo>
                  <a:pt x="0" y="326898"/>
                </a:lnTo>
                <a:lnTo>
                  <a:pt x="6108" y="326898"/>
                </a:lnTo>
                <a:lnTo>
                  <a:pt x="6108" y="12953"/>
                </a:lnTo>
                <a:lnTo>
                  <a:pt x="12204" y="6857"/>
                </a:lnTo>
                <a:lnTo>
                  <a:pt x="12204" y="12953"/>
                </a:lnTo>
                <a:lnTo>
                  <a:pt x="457200" y="12953"/>
                </a:lnTo>
                <a:lnTo>
                  <a:pt x="457200" y="6857"/>
                </a:lnTo>
                <a:lnTo>
                  <a:pt x="463308" y="12953"/>
                </a:lnTo>
                <a:lnTo>
                  <a:pt x="463308" y="326898"/>
                </a:lnTo>
                <a:lnTo>
                  <a:pt x="469392" y="326898"/>
                </a:lnTo>
                <a:close/>
              </a:path>
              <a:path w="469900" h="327025">
                <a:moveTo>
                  <a:pt x="12204" y="12953"/>
                </a:moveTo>
                <a:lnTo>
                  <a:pt x="12204" y="6857"/>
                </a:lnTo>
                <a:lnTo>
                  <a:pt x="6108" y="12953"/>
                </a:lnTo>
                <a:lnTo>
                  <a:pt x="12204" y="12953"/>
                </a:lnTo>
                <a:close/>
              </a:path>
              <a:path w="469900" h="327025">
                <a:moveTo>
                  <a:pt x="12204" y="326898"/>
                </a:moveTo>
                <a:lnTo>
                  <a:pt x="12204" y="12953"/>
                </a:lnTo>
                <a:lnTo>
                  <a:pt x="6108" y="12953"/>
                </a:lnTo>
                <a:lnTo>
                  <a:pt x="6108" y="326898"/>
                </a:lnTo>
                <a:lnTo>
                  <a:pt x="12204" y="326898"/>
                </a:lnTo>
                <a:close/>
              </a:path>
              <a:path w="469900" h="327025">
                <a:moveTo>
                  <a:pt x="463308" y="12953"/>
                </a:moveTo>
                <a:lnTo>
                  <a:pt x="457200" y="6857"/>
                </a:lnTo>
                <a:lnTo>
                  <a:pt x="457200" y="12953"/>
                </a:lnTo>
                <a:lnTo>
                  <a:pt x="463308" y="12953"/>
                </a:lnTo>
                <a:close/>
              </a:path>
              <a:path w="469900" h="327025">
                <a:moveTo>
                  <a:pt x="463308" y="326898"/>
                </a:moveTo>
                <a:lnTo>
                  <a:pt x="463308" y="12953"/>
                </a:lnTo>
                <a:lnTo>
                  <a:pt x="457200" y="12953"/>
                </a:lnTo>
                <a:lnTo>
                  <a:pt x="457200" y="326898"/>
                </a:lnTo>
                <a:lnTo>
                  <a:pt x="463308" y="3268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07821" y="517207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27021" y="517207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65021" y="5286755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1242"/>
                </a:lnTo>
                <a:lnTo>
                  <a:pt x="76200" y="31242"/>
                </a:lnTo>
                <a:close/>
              </a:path>
              <a:path w="228600" h="76200">
                <a:moveTo>
                  <a:pt x="228600" y="44196"/>
                </a:moveTo>
                <a:lnTo>
                  <a:pt x="228600" y="31242"/>
                </a:lnTo>
                <a:lnTo>
                  <a:pt x="63246" y="31242"/>
                </a:lnTo>
                <a:lnTo>
                  <a:pt x="63246" y="44196"/>
                </a:lnTo>
                <a:lnTo>
                  <a:pt x="228600" y="44196"/>
                </a:lnTo>
                <a:close/>
              </a:path>
              <a:path w="228600" h="76200">
                <a:moveTo>
                  <a:pt x="76200" y="76200"/>
                </a:moveTo>
                <a:lnTo>
                  <a:pt x="76200" y="44196"/>
                </a:lnTo>
                <a:lnTo>
                  <a:pt x="63246" y="44196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56359" y="5125211"/>
            <a:ext cx="448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3365"/>
                </a:solidFill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315857" y="5362955"/>
            <a:ext cx="2766695" cy="11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x=stack</a:t>
            </a:r>
            <a:r>
              <a:rPr sz="2400" b="1" spc="-5" dirty="0">
                <a:latin typeface="Courier New"/>
                <a:cs typeface="Courier New"/>
              </a:rPr>
              <a:t>[</a:t>
            </a:r>
            <a:r>
              <a:rPr sz="2400" b="1" spc="-10" dirty="0">
                <a:solidFill>
                  <a:srgbClr val="FF0000"/>
                </a:solidFill>
                <a:latin typeface="Courier New"/>
                <a:cs typeface="Courier New"/>
              </a:rPr>
              <a:t>top-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-</a:t>
            </a:r>
            <a:r>
              <a:rPr sz="2400" b="1" spc="-10" dirty="0">
                <a:latin typeface="Courier New"/>
                <a:cs typeface="Courier New"/>
              </a:rPr>
              <a:t>];  </a:t>
            </a:r>
            <a:r>
              <a:rPr sz="2400" b="1" spc="-5" dirty="0">
                <a:latin typeface="Courier New"/>
                <a:cs typeface="Courier New"/>
              </a:rPr>
              <a:t>return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&amp;x;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27014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784214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07814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65008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784221" y="5667755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1242"/>
                </a:lnTo>
                <a:lnTo>
                  <a:pt x="76200" y="31242"/>
                </a:lnTo>
                <a:close/>
              </a:path>
              <a:path w="228600" h="76200">
                <a:moveTo>
                  <a:pt x="228600" y="44196"/>
                </a:moveTo>
                <a:lnTo>
                  <a:pt x="228600" y="31242"/>
                </a:lnTo>
                <a:lnTo>
                  <a:pt x="63246" y="31242"/>
                </a:lnTo>
                <a:lnTo>
                  <a:pt x="63246" y="44196"/>
                </a:lnTo>
                <a:lnTo>
                  <a:pt x="228600" y="44196"/>
                </a:lnTo>
                <a:close/>
              </a:path>
              <a:path w="228600" h="76200">
                <a:moveTo>
                  <a:pt x="76200" y="76200"/>
                </a:moveTo>
                <a:lnTo>
                  <a:pt x="76200" y="44196"/>
                </a:lnTo>
                <a:lnTo>
                  <a:pt x="63246" y="44196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075546" y="5509259"/>
            <a:ext cx="448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3365"/>
                </a:solidFill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399396" y="6638290"/>
            <a:ext cx="1981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5" dirty="0"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50847" y="6460235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320913" y="6349746"/>
            <a:ext cx="469900" cy="734060"/>
          </a:xfrm>
          <a:custGeom>
            <a:avLst/>
            <a:gdLst/>
            <a:ahLst/>
            <a:cxnLst/>
            <a:rect l="l" t="t" r="r" b="b"/>
            <a:pathLst>
              <a:path w="469900" h="734059">
                <a:moveTo>
                  <a:pt x="12204" y="720852"/>
                </a:moveTo>
                <a:lnTo>
                  <a:pt x="12204" y="0"/>
                </a:lnTo>
                <a:lnTo>
                  <a:pt x="0" y="0"/>
                </a:lnTo>
                <a:lnTo>
                  <a:pt x="0" y="733806"/>
                </a:lnTo>
                <a:lnTo>
                  <a:pt x="6108" y="733806"/>
                </a:lnTo>
                <a:lnTo>
                  <a:pt x="6108" y="720852"/>
                </a:lnTo>
                <a:lnTo>
                  <a:pt x="12204" y="720852"/>
                </a:lnTo>
                <a:close/>
              </a:path>
              <a:path w="469900" h="734059">
                <a:moveTo>
                  <a:pt x="463308" y="720852"/>
                </a:moveTo>
                <a:lnTo>
                  <a:pt x="6108" y="720852"/>
                </a:lnTo>
                <a:lnTo>
                  <a:pt x="12204" y="727710"/>
                </a:lnTo>
                <a:lnTo>
                  <a:pt x="12204" y="733806"/>
                </a:lnTo>
                <a:lnTo>
                  <a:pt x="457212" y="733806"/>
                </a:lnTo>
                <a:lnTo>
                  <a:pt x="457212" y="727710"/>
                </a:lnTo>
                <a:lnTo>
                  <a:pt x="463308" y="720852"/>
                </a:lnTo>
                <a:close/>
              </a:path>
              <a:path w="469900" h="734059">
                <a:moveTo>
                  <a:pt x="12204" y="733806"/>
                </a:moveTo>
                <a:lnTo>
                  <a:pt x="12204" y="727710"/>
                </a:lnTo>
                <a:lnTo>
                  <a:pt x="6108" y="720852"/>
                </a:lnTo>
                <a:lnTo>
                  <a:pt x="6108" y="733806"/>
                </a:lnTo>
                <a:lnTo>
                  <a:pt x="12204" y="733806"/>
                </a:lnTo>
                <a:close/>
              </a:path>
              <a:path w="469900" h="734059">
                <a:moveTo>
                  <a:pt x="469392" y="733806"/>
                </a:moveTo>
                <a:lnTo>
                  <a:pt x="469392" y="0"/>
                </a:lnTo>
                <a:lnTo>
                  <a:pt x="457212" y="0"/>
                </a:lnTo>
                <a:lnTo>
                  <a:pt x="457212" y="720852"/>
                </a:lnTo>
                <a:lnTo>
                  <a:pt x="463308" y="720852"/>
                </a:lnTo>
                <a:lnTo>
                  <a:pt x="463308" y="733806"/>
                </a:lnTo>
                <a:lnTo>
                  <a:pt x="469392" y="733806"/>
                </a:lnTo>
                <a:close/>
              </a:path>
              <a:path w="469900" h="734059">
                <a:moveTo>
                  <a:pt x="463308" y="733806"/>
                </a:moveTo>
                <a:lnTo>
                  <a:pt x="463308" y="720852"/>
                </a:lnTo>
                <a:lnTo>
                  <a:pt x="457212" y="727710"/>
                </a:lnTo>
                <a:lnTo>
                  <a:pt x="457212" y="733806"/>
                </a:lnTo>
                <a:lnTo>
                  <a:pt x="463308" y="7338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431656" y="5567171"/>
            <a:ext cx="245745" cy="147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D  C  </a:t>
            </a: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B  A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101713" y="6349746"/>
            <a:ext cx="469900" cy="734060"/>
          </a:xfrm>
          <a:custGeom>
            <a:avLst/>
            <a:gdLst/>
            <a:ahLst/>
            <a:cxnLst/>
            <a:rect l="l" t="t" r="r" b="b"/>
            <a:pathLst>
              <a:path w="469900" h="734059">
                <a:moveTo>
                  <a:pt x="12204" y="720852"/>
                </a:moveTo>
                <a:lnTo>
                  <a:pt x="12204" y="0"/>
                </a:lnTo>
                <a:lnTo>
                  <a:pt x="0" y="0"/>
                </a:lnTo>
                <a:lnTo>
                  <a:pt x="0" y="733806"/>
                </a:lnTo>
                <a:lnTo>
                  <a:pt x="6108" y="733806"/>
                </a:lnTo>
                <a:lnTo>
                  <a:pt x="6108" y="720852"/>
                </a:lnTo>
                <a:lnTo>
                  <a:pt x="12204" y="720852"/>
                </a:lnTo>
                <a:close/>
              </a:path>
              <a:path w="469900" h="734059">
                <a:moveTo>
                  <a:pt x="463308" y="720852"/>
                </a:moveTo>
                <a:lnTo>
                  <a:pt x="6108" y="720852"/>
                </a:lnTo>
                <a:lnTo>
                  <a:pt x="12204" y="727710"/>
                </a:lnTo>
                <a:lnTo>
                  <a:pt x="12204" y="733806"/>
                </a:lnTo>
                <a:lnTo>
                  <a:pt x="457200" y="733806"/>
                </a:lnTo>
                <a:lnTo>
                  <a:pt x="457200" y="727710"/>
                </a:lnTo>
                <a:lnTo>
                  <a:pt x="463308" y="720852"/>
                </a:lnTo>
                <a:close/>
              </a:path>
              <a:path w="469900" h="734059">
                <a:moveTo>
                  <a:pt x="12204" y="733806"/>
                </a:moveTo>
                <a:lnTo>
                  <a:pt x="12204" y="727710"/>
                </a:lnTo>
                <a:lnTo>
                  <a:pt x="6108" y="720852"/>
                </a:lnTo>
                <a:lnTo>
                  <a:pt x="6108" y="733806"/>
                </a:lnTo>
                <a:lnTo>
                  <a:pt x="12204" y="733806"/>
                </a:lnTo>
                <a:close/>
              </a:path>
              <a:path w="469900" h="734059">
                <a:moveTo>
                  <a:pt x="469392" y="733806"/>
                </a:moveTo>
                <a:lnTo>
                  <a:pt x="469392" y="0"/>
                </a:lnTo>
                <a:lnTo>
                  <a:pt x="457200" y="0"/>
                </a:lnTo>
                <a:lnTo>
                  <a:pt x="457200" y="720852"/>
                </a:lnTo>
                <a:lnTo>
                  <a:pt x="463308" y="720852"/>
                </a:lnTo>
                <a:lnTo>
                  <a:pt x="463308" y="733806"/>
                </a:lnTo>
                <a:lnTo>
                  <a:pt x="469392" y="733806"/>
                </a:lnTo>
                <a:close/>
              </a:path>
              <a:path w="469900" h="734059">
                <a:moveTo>
                  <a:pt x="463308" y="733806"/>
                </a:moveTo>
                <a:lnTo>
                  <a:pt x="463308" y="720852"/>
                </a:lnTo>
                <a:lnTo>
                  <a:pt x="457200" y="727710"/>
                </a:lnTo>
                <a:lnTo>
                  <a:pt x="457200" y="733806"/>
                </a:lnTo>
                <a:lnTo>
                  <a:pt x="463308" y="7338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212456" y="5201411"/>
            <a:ext cx="245745" cy="1838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8255" algn="just">
              <a:lnSpc>
                <a:spcPct val="100000"/>
              </a:lnSpc>
            </a:pP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E  </a:t>
            </a: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D  C  </a:t>
            </a: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B  A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943725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/>
              <a:t>Queue: </a:t>
            </a:r>
            <a:r>
              <a:rPr spc="-5" dirty="0"/>
              <a:t>First-In-First-Out</a:t>
            </a:r>
            <a:r>
              <a:rPr spc="-25" dirty="0"/>
              <a:t> </a:t>
            </a:r>
            <a:r>
              <a:rPr dirty="0"/>
              <a:t>(FIFO</a:t>
            </a:r>
            <a:r>
              <a:rPr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altLang="zh-TW" dirty="0" smtClean="0"/>
              <a:t>List</a:t>
            </a:r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377799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27047" y="2305015"/>
            <a:ext cx="6409690" cy="2695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11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 smtClean="0">
                <a:latin typeface="Arial"/>
                <a:cs typeface="Arial"/>
              </a:rPr>
              <a:t>Add </a:t>
            </a:r>
            <a:r>
              <a:rPr sz="3200" spc="-5" dirty="0">
                <a:latin typeface="Arial"/>
                <a:cs typeface="Arial"/>
              </a:rPr>
              <a:t>an </a:t>
            </a:r>
            <a:r>
              <a:rPr sz="3200" spc="-10" dirty="0">
                <a:latin typeface="Arial"/>
                <a:cs typeface="Arial"/>
              </a:rPr>
              <a:t>element </a:t>
            </a:r>
            <a:r>
              <a:rPr sz="3200" spc="-5" dirty="0">
                <a:latin typeface="Arial"/>
                <a:cs typeface="Arial"/>
              </a:rPr>
              <a:t>into a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queue</a:t>
            </a:r>
            <a:endParaRPr sz="32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Get and </a:t>
            </a:r>
            <a:r>
              <a:rPr sz="3200" spc="-10" dirty="0">
                <a:latin typeface="Arial"/>
                <a:cs typeface="Arial"/>
              </a:rPr>
              <a:t>delete </a:t>
            </a:r>
            <a:r>
              <a:rPr sz="3200" spc="-5" dirty="0">
                <a:latin typeface="Arial"/>
                <a:cs typeface="Arial"/>
              </a:rPr>
              <a:t>an </a:t>
            </a:r>
            <a:r>
              <a:rPr sz="3200" spc="-10" dirty="0">
                <a:latin typeface="Arial"/>
                <a:cs typeface="Arial"/>
              </a:rPr>
              <a:t>element </a:t>
            </a:r>
            <a:r>
              <a:rPr sz="3200" spc="-5" dirty="0">
                <a:latin typeface="Arial"/>
                <a:cs typeface="Arial"/>
              </a:rPr>
              <a:t>from a  </a:t>
            </a:r>
            <a:r>
              <a:rPr sz="3200" spc="-10" dirty="0">
                <a:latin typeface="Arial"/>
                <a:cs typeface="Arial"/>
              </a:rPr>
              <a:t>queue</a:t>
            </a:r>
            <a:endParaRPr sz="3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Variation</a:t>
            </a:r>
            <a:endParaRPr sz="32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0"/>
              </a:spcBef>
            </a:pPr>
            <a:r>
              <a:rPr sz="2800" dirty="0">
                <a:latin typeface="Arial"/>
                <a:cs typeface="Arial"/>
              </a:rPr>
              <a:t>– Priority</a:t>
            </a:r>
            <a:r>
              <a:rPr sz="2800" spc="-2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queue</a:t>
            </a:r>
          </a:p>
        </p:txBody>
      </p:sp>
      <p:sp>
        <p:nvSpPr>
          <p:cNvPr id="11" name="object 11"/>
          <p:cNvSpPr/>
          <p:nvPr/>
        </p:nvSpPr>
        <p:spPr>
          <a:xfrm>
            <a:off x="1414919" y="5248655"/>
            <a:ext cx="609600" cy="243840"/>
          </a:xfrm>
          <a:custGeom>
            <a:avLst/>
            <a:gdLst/>
            <a:ahLst/>
            <a:cxnLst/>
            <a:rect l="l" t="t" r="r" b="b"/>
            <a:pathLst>
              <a:path w="609600" h="243839">
                <a:moveTo>
                  <a:pt x="0" y="0"/>
                </a:moveTo>
                <a:lnTo>
                  <a:pt x="0" y="243839"/>
                </a:lnTo>
                <a:lnTo>
                  <a:pt x="609600" y="24383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08823" y="5241797"/>
            <a:ext cx="622300" cy="250825"/>
          </a:xfrm>
          <a:custGeom>
            <a:avLst/>
            <a:gdLst/>
            <a:ahLst/>
            <a:cxnLst/>
            <a:rect l="l" t="t" r="r" b="b"/>
            <a:pathLst>
              <a:path w="622300" h="250825">
                <a:moveTo>
                  <a:pt x="621791" y="250698"/>
                </a:moveTo>
                <a:lnTo>
                  <a:pt x="621791" y="0"/>
                </a:lnTo>
                <a:lnTo>
                  <a:pt x="0" y="0"/>
                </a:lnTo>
                <a:lnTo>
                  <a:pt x="0" y="250698"/>
                </a:lnTo>
                <a:lnTo>
                  <a:pt x="6096" y="250698"/>
                </a:lnTo>
                <a:lnTo>
                  <a:pt x="6096" y="12953"/>
                </a:lnTo>
                <a:lnTo>
                  <a:pt x="12192" y="6857"/>
                </a:lnTo>
                <a:lnTo>
                  <a:pt x="12191" y="12953"/>
                </a:lnTo>
                <a:lnTo>
                  <a:pt x="609600" y="12953"/>
                </a:lnTo>
                <a:lnTo>
                  <a:pt x="609600" y="6857"/>
                </a:lnTo>
                <a:lnTo>
                  <a:pt x="615696" y="12953"/>
                </a:lnTo>
                <a:lnTo>
                  <a:pt x="615696" y="250698"/>
                </a:lnTo>
                <a:lnTo>
                  <a:pt x="621791" y="250698"/>
                </a:lnTo>
                <a:close/>
              </a:path>
              <a:path w="622300" h="250825">
                <a:moveTo>
                  <a:pt x="12191" y="12953"/>
                </a:moveTo>
                <a:lnTo>
                  <a:pt x="12192" y="6857"/>
                </a:lnTo>
                <a:lnTo>
                  <a:pt x="6096" y="12953"/>
                </a:lnTo>
                <a:lnTo>
                  <a:pt x="12191" y="12953"/>
                </a:lnTo>
                <a:close/>
              </a:path>
              <a:path w="622300" h="250825">
                <a:moveTo>
                  <a:pt x="12191" y="250698"/>
                </a:moveTo>
                <a:lnTo>
                  <a:pt x="12191" y="12953"/>
                </a:lnTo>
                <a:lnTo>
                  <a:pt x="6096" y="12953"/>
                </a:lnTo>
                <a:lnTo>
                  <a:pt x="6096" y="250698"/>
                </a:lnTo>
                <a:lnTo>
                  <a:pt x="12191" y="250698"/>
                </a:lnTo>
                <a:close/>
              </a:path>
              <a:path w="622300" h="250825">
                <a:moveTo>
                  <a:pt x="615696" y="12953"/>
                </a:moveTo>
                <a:lnTo>
                  <a:pt x="609600" y="6857"/>
                </a:lnTo>
                <a:lnTo>
                  <a:pt x="609600" y="12953"/>
                </a:lnTo>
                <a:lnTo>
                  <a:pt x="615696" y="12953"/>
                </a:lnTo>
                <a:close/>
              </a:path>
              <a:path w="622300" h="250825">
                <a:moveTo>
                  <a:pt x="615696" y="250698"/>
                </a:moveTo>
                <a:lnTo>
                  <a:pt x="615696" y="12953"/>
                </a:lnTo>
                <a:lnTo>
                  <a:pt x="609600" y="12953"/>
                </a:lnTo>
                <a:lnTo>
                  <a:pt x="609600" y="250698"/>
                </a:lnTo>
                <a:lnTo>
                  <a:pt x="615696" y="2506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85223" y="5241797"/>
            <a:ext cx="622300" cy="250825"/>
          </a:xfrm>
          <a:custGeom>
            <a:avLst/>
            <a:gdLst/>
            <a:ahLst/>
            <a:cxnLst/>
            <a:rect l="l" t="t" r="r" b="b"/>
            <a:pathLst>
              <a:path w="622300" h="250825">
                <a:moveTo>
                  <a:pt x="621791" y="250698"/>
                </a:moveTo>
                <a:lnTo>
                  <a:pt x="621791" y="0"/>
                </a:lnTo>
                <a:lnTo>
                  <a:pt x="0" y="0"/>
                </a:lnTo>
                <a:lnTo>
                  <a:pt x="0" y="250698"/>
                </a:lnTo>
                <a:lnTo>
                  <a:pt x="6095" y="250698"/>
                </a:lnTo>
                <a:lnTo>
                  <a:pt x="6095" y="12953"/>
                </a:lnTo>
                <a:lnTo>
                  <a:pt x="12191" y="6857"/>
                </a:lnTo>
                <a:lnTo>
                  <a:pt x="12191" y="12953"/>
                </a:lnTo>
                <a:lnTo>
                  <a:pt x="609599" y="12953"/>
                </a:lnTo>
                <a:lnTo>
                  <a:pt x="609599" y="6857"/>
                </a:lnTo>
                <a:lnTo>
                  <a:pt x="615695" y="12953"/>
                </a:lnTo>
                <a:lnTo>
                  <a:pt x="615695" y="250698"/>
                </a:lnTo>
                <a:lnTo>
                  <a:pt x="621791" y="250698"/>
                </a:lnTo>
                <a:close/>
              </a:path>
              <a:path w="622300" h="250825">
                <a:moveTo>
                  <a:pt x="12191" y="12953"/>
                </a:moveTo>
                <a:lnTo>
                  <a:pt x="12191" y="6857"/>
                </a:lnTo>
                <a:lnTo>
                  <a:pt x="6095" y="12953"/>
                </a:lnTo>
                <a:lnTo>
                  <a:pt x="12191" y="12953"/>
                </a:lnTo>
                <a:close/>
              </a:path>
              <a:path w="622300" h="250825">
                <a:moveTo>
                  <a:pt x="12191" y="250698"/>
                </a:moveTo>
                <a:lnTo>
                  <a:pt x="12191" y="12953"/>
                </a:lnTo>
                <a:lnTo>
                  <a:pt x="6095" y="12953"/>
                </a:lnTo>
                <a:lnTo>
                  <a:pt x="6095" y="250698"/>
                </a:lnTo>
                <a:lnTo>
                  <a:pt x="12191" y="250698"/>
                </a:lnTo>
                <a:close/>
              </a:path>
              <a:path w="622300" h="250825">
                <a:moveTo>
                  <a:pt x="615695" y="12953"/>
                </a:moveTo>
                <a:lnTo>
                  <a:pt x="609599" y="6857"/>
                </a:lnTo>
                <a:lnTo>
                  <a:pt x="609599" y="12953"/>
                </a:lnTo>
                <a:lnTo>
                  <a:pt x="615695" y="12953"/>
                </a:lnTo>
                <a:close/>
              </a:path>
              <a:path w="622300" h="250825">
                <a:moveTo>
                  <a:pt x="615695" y="250698"/>
                </a:moveTo>
                <a:lnTo>
                  <a:pt x="615695" y="12953"/>
                </a:lnTo>
                <a:lnTo>
                  <a:pt x="609599" y="12953"/>
                </a:lnTo>
                <a:lnTo>
                  <a:pt x="609599" y="250698"/>
                </a:lnTo>
                <a:lnTo>
                  <a:pt x="615695" y="2506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85423" y="5241797"/>
            <a:ext cx="622300" cy="250825"/>
          </a:xfrm>
          <a:custGeom>
            <a:avLst/>
            <a:gdLst/>
            <a:ahLst/>
            <a:cxnLst/>
            <a:rect l="l" t="t" r="r" b="b"/>
            <a:pathLst>
              <a:path w="622300" h="250825">
                <a:moveTo>
                  <a:pt x="621791" y="250698"/>
                </a:moveTo>
                <a:lnTo>
                  <a:pt x="621791" y="0"/>
                </a:lnTo>
                <a:lnTo>
                  <a:pt x="0" y="0"/>
                </a:lnTo>
                <a:lnTo>
                  <a:pt x="0" y="250698"/>
                </a:lnTo>
                <a:lnTo>
                  <a:pt x="6096" y="250698"/>
                </a:lnTo>
                <a:lnTo>
                  <a:pt x="6096" y="12953"/>
                </a:lnTo>
                <a:lnTo>
                  <a:pt x="12192" y="6857"/>
                </a:lnTo>
                <a:lnTo>
                  <a:pt x="12192" y="12953"/>
                </a:lnTo>
                <a:lnTo>
                  <a:pt x="609600" y="12953"/>
                </a:lnTo>
                <a:lnTo>
                  <a:pt x="609600" y="6857"/>
                </a:lnTo>
                <a:lnTo>
                  <a:pt x="615696" y="12953"/>
                </a:lnTo>
                <a:lnTo>
                  <a:pt x="615696" y="250698"/>
                </a:lnTo>
                <a:lnTo>
                  <a:pt x="621791" y="250698"/>
                </a:lnTo>
                <a:close/>
              </a:path>
              <a:path w="622300" h="250825">
                <a:moveTo>
                  <a:pt x="12192" y="12953"/>
                </a:moveTo>
                <a:lnTo>
                  <a:pt x="12192" y="6857"/>
                </a:lnTo>
                <a:lnTo>
                  <a:pt x="6096" y="12953"/>
                </a:lnTo>
                <a:lnTo>
                  <a:pt x="12192" y="12953"/>
                </a:lnTo>
                <a:close/>
              </a:path>
              <a:path w="622300" h="250825">
                <a:moveTo>
                  <a:pt x="12192" y="250698"/>
                </a:moveTo>
                <a:lnTo>
                  <a:pt x="12192" y="12953"/>
                </a:lnTo>
                <a:lnTo>
                  <a:pt x="6096" y="12953"/>
                </a:lnTo>
                <a:lnTo>
                  <a:pt x="6096" y="250698"/>
                </a:lnTo>
                <a:lnTo>
                  <a:pt x="12192" y="250698"/>
                </a:lnTo>
                <a:close/>
              </a:path>
              <a:path w="622300" h="250825">
                <a:moveTo>
                  <a:pt x="615696" y="12953"/>
                </a:moveTo>
                <a:lnTo>
                  <a:pt x="609600" y="6857"/>
                </a:lnTo>
                <a:lnTo>
                  <a:pt x="609600" y="12953"/>
                </a:lnTo>
                <a:lnTo>
                  <a:pt x="615696" y="12953"/>
                </a:lnTo>
                <a:close/>
              </a:path>
              <a:path w="622300" h="250825">
                <a:moveTo>
                  <a:pt x="615696" y="250698"/>
                </a:moveTo>
                <a:lnTo>
                  <a:pt x="615696" y="12953"/>
                </a:lnTo>
                <a:lnTo>
                  <a:pt x="609600" y="12953"/>
                </a:lnTo>
                <a:lnTo>
                  <a:pt x="609600" y="250698"/>
                </a:lnTo>
                <a:lnTo>
                  <a:pt x="615696" y="2506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09423" y="5241797"/>
            <a:ext cx="622300" cy="250825"/>
          </a:xfrm>
          <a:custGeom>
            <a:avLst/>
            <a:gdLst/>
            <a:ahLst/>
            <a:cxnLst/>
            <a:rect l="l" t="t" r="r" b="b"/>
            <a:pathLst>
              <a:path w="622300" h="250825">
                <a:moveTo>
                  <a:pt x="621791" y="250698"/>
                </a:moveTo>
                <a:lnTo>
                  <a:pt x="621791" y="0"/>
                </a:lnTo>
                <a:lnTo>
                  <a:pt x="0" y="0"/>
                </a:lnTo>
                <a:lnTo>
                  <a:pt x="0" y="250698"/>
                </a:lnTo>
                <a:lnTo>
                  <a:pt x="6096" y="250698"/>
                </a:lnTo>
                <a:lnTo>
                  <a:pt x="6096" y="12953"/>
                </a:lnTo>
                <a:lnTo>
                  <a:pt x="12192" y="6857"/>
                </a:lnTo>
                <a:lnTo>
                  <a:pt x="12192" y="12953"/>
                </a:lnTo>
                <a:lnTo>
                  <a:pt x="609587" y="12953"/>
                </a:lnTo>
                <a:lnTo>
                  <a:pt x="609587" y="6857"/>
                </a:lnTo>
                <a:lnTo>
                  <a:pt x="615695" y="12953"/>
                </a:lnTo>
                <a:lnTo>
                  <a:pt x="615695" y="250698"/>
                </a:lnTo>
                <a:lnTo>
                  <a:pt x="621791" y="250698"/>
                </a:lnTo>
                <a:close/>
              </a:path>
              <a:path w="622300" h="250825">
                <a:moveTo>
                  <a:pt x="12192" y="12953"/>
                </a:moveTo>
                <a:lnTo>
                  <a:pt x="12192" y="6857"/>
                </a:lnTo>
                <a:lnTo>
                  <a:pt x="6096" y="12953"/>
                </a:lnTo>
                <a:lnTo>
                  <a:pt x="12192" y="12953"/>
                </a:lnTo>
                <a:close/>
              </a:path>
              <a:path w="622300" h="250825">
                <a:moveTo>
                  <a:pt x="12192" y="250698"/>
                </a:moveTo>
                <a:lnTo>
                  <a:pt x="12192" y="12953"/>
                </a:lnTo>
                <a:lnTo>
                  <a:pt x="6096" y="12953"/>
                </a:lnTo>
                <a:lnTo>
                  <a:pt x="6096" y="250698"/>
                </a:lnTo>
                <a:lnTo>
                  <a:pt x="12192" y="250698"/>
                </a:lnTo>
                <a:close/>
              </a:path>
              <a:path w="622300" h="250825">
                <a:moveTo>
                  <a:pt x="615695" y="12953"/>
                </a:moveTo>
                <a:lnTo>
                  <a:pt x="609587" y="6857"/>
                </a:lnTo>
                <a:lnTo>
                  <a:pt x="609587" y="12953"/>
                </a:lnTo>
                <a:lnTo>
                  <a:pt x="615695" y="12953"/>
                </a:lnTo>
                <a:close/>
              </a:path>
              <a:path w="622300" h="250825">
                <a:moveTo>
                  <a:pt x="615695" y="250698"/>
                </a:moveTo>
                <a:lnTo>
                  <a:pt x="615695" y="12953"/>
                </a:lnTo>
                <a:lnTo>
                  <a:pt x="609587" y="12953"/>
                </a:lnTo>
                <a:lnTo>
                  <a:pt x="609587" y="250698"/>
                </a:lnTo>
                <a:lnTo>
                  <a:pt x="615695" y="2506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96354" y="5231892"/>
            <a:ext cx="2457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733424" y="5165597"/>
            <a:ext cx="622300" cy="327025"/>
          </a:xfrm>
          <a:custGeom>
            <a:avLst/>
            <a:gdLst/>
            <a:ahLst/>
            <a:cxnLst/>
            <a:rect l="l" t="t" r="r" b="b"/>
            <a:pathLst>
              <a:path w="622300" h="327025">
                <a:moveTo>
                  <a:pt x="621792" y="326898"/>
                </a:moveTo>
                <a:lnTo>
                  <a:pt x="621792" y="0"/>
                </a:lnTo>
                <a:lnTo>
                  <a:pt x="0" y="0"/>
                </a:lnTo>
                <a:lnTo>
                  <a:pt x="0" y="326898"/>
                </a:lnTo>
                <a:lnTo>
                  <a:pt x="6095" y="326898"/>
                </a:lnTo>
                <a:lnTo>
                  <a:pt x="6095" y="12953"/>
                </a:lnTo>
                <a:lnTo>
                  <a:pt x="12191" y="6857"/>
                </a:lnTo>
                <a:lnTo>
                  <a:pt x="12191" y="12953"/>
                </a:lnTo>
                <a:lnTo>
                  <a:pt x="609600" y="12953"/>
                </a:lnTo>
                <a:lnTo>
                  <a:pt x="609600" y="6857"/>
                </a:lnTo>
                <a:lnTo>
                  <a:pt x="615695" y="12953"/>
                </a:lnTo>
                <a:lnTo>
                  <a:pt x="615695" y="326898"/>
                </a:lnTo>
                <a:lnTo>
                  <a:pt x="621792" y="326898"/>
                </a:lnTo>
                <a:close/>
              </a:path>
              <a:path w="622300" h="327025">
                <a:moveTo>
                  <a:pt x="12191" y="12953"/>
                </a:moveTo>
                <a:lnTo>
                  <a:pt x="12191" y="6857"/>
                </a:lnTo>
                <a:lnTo>
                  <a:pt x="6095" y="12953"/>
                </a:lnTo>
                <a:lnTo>
                  <a:pt x="12191" y="12953"/>
                </a:lnTo>
                <a:close/>
              </a:path>
              <a:path w="622300" h="327025">
                <a:moveTo>
                  <a:pt x="12191" y="326898"/>
                </a:moveTo>
                <a:lnTo>
                  <a:pt x="12191" y="12953"/>
                </a:lnTo>
                <a:lnTo>
                  <a:pt x="6095" y="12953"/>
                </a:lnTo>
                <a:lnTo>
                  <a:pt x="6095" y="326898"/>
                </a:lnTo>
                <a:lnTo>
                  <a:pt x="12191" y="326898"/>
                </a:lnTo>
                <a:close/>
              </a:path>
              <a:path w="622300" h="327025">
                <a:moveTo>
                  <a:pt x="615695" y="12953"/>
                </a:moveTo>
                <a:lnTo>
                  <a:pt x="609600" y="6857"/>
                </a:lnTo>
                <a:lnTo>
                  <a:pt x="609600" y="12953"/>
                </a:lnTo>
                <a:lnTo>
                  <a:pt x="615695" y="12953"/>
                </a:lnTo>
                <a:close/>
              </a:path>
              <a:path w="622300" h="327025">
                <a:moveTo>
                  <a:pt x="615695" y="326898"/>
                </a:moveTo>
                <a:lnTo>
                  <a:pt x="615695" y="12953"/>
                </a:lnTo>
                <a:lnTo>
                  <a:pt x="609600" y="12953"/>
                </a:lnTo>
                <a:lnTo>
                  <a:pt x="609600" y="326898"/>
                </a:lnTo>
                <a:lnTo>
                  <a:pt x="615695" y="3268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25119" y="5350002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76200" y="32003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2003"/>
                </a:lnTo>
                <a:lnTo>
                  <a:pt x="76200" y="32003"/>
                </a:lnTo>
                <a:close/>
              </a:path>
              <a:path w="304800" h="76200">
                <a:moveTo>
                  <a:pt x="304800" y="44196"/>
                </a:moveTo>
                <a:lnTo>
                  <a:pt x="304800" y="32003"/>
                </a:lnTo>
                <a:lnTo>
                  <a:pt x="63246" y="32003"/>
                </a:lnTo>
                <a:lnTo>
                  <a:pt x="63246" y="44196"/>
                </a:lnTo>
                <a:lnTo>
                  <a:pt x="304800" y="44196"/>
                </a:lnTo>
                <a:close/>
              </a:path>
              <a:path w="304800" h="76200">
                <a:moveTo>
                  <a:pt x="76200" y="76200"/>
                </a:moveTo>
                <a:lnTo>
                  <a:pt x="76200" y="44196"/>
                </a:lnTo>
                <a:lnTo>
                  <a:pt x="63246" y="44196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141591" y="5179314"/>
            <a:ext cx="567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rea</a:t>
            </a:r>
            <a:r>
              <a:rPr sz="2400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14919" y="5248275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091319" y="5248275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0" y="0"/>
                </a:moveTo>
                <a:lnTo>
                  <a:pt x="609599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91519" y="5248275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15519" y="5248275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39519" y="5172075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1295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349119" y="5492496"/>
            <a:ext cx="1569720" cy="857250"/>
          </a:xfrm>
          <a:custGeom>
            <a:avLst/>
            <a:gdLst/>
            <a:ahLst/>
            <a:cxnLst/>
            <a:rect l="l" t="t" r="r" b="b"/>
            <a:pathLst>
              <a:path w="1569720" h="857250">
                <a:moveTo>
                  <a:pt x="0" y="0"/>
                </a:moveTo>
                <a:lnTo>
                  <a:pt x="0" y="857250"/>
                </a:lnTo>
                <a:lnTo>
                  <a:pt x="1569720" y="857250"/>
                </a:lnTo>
                <a:lnTo>
                  <a:pt x="1569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25119" y="5492496"/>
            <a:ext cx="914400" cy="857250"/>
          </a:xfrm>
          <a:custGeom>
            <a:avLst/>
            <a:gdLst/>
            <a:ahLst/>
            <a:cxnLst/>
            <a:rect l="l" t="t" r="r" b="b"/>
            <a:pathLst>
              <a:path w="914400" h="857250">
                <a:moveTo>
                  <a:pt x="0" y="0"/>
                </a:moveTo>
                <a:lnTo>
                  <a:pt x="0" y="857250"/>
                </a:lnTo>
                <a:lnTo>
                  <a:pt x="914399" y="857250"/>
                </a:lnTo>
                <a:lnTo>
                  <a:pt x="914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301119" y="5492496"/>
            <a:ext cx="914400" cy="857250"/>
          </a:xfrm>
          <a:custGeom>
            <a:avLst/>
            <a:gdLst/>
            <a:ahLst/>
            <a:cxnLst/>
            <a:rect l="l" t="t" r="r" b="b"/>
            <a:pathLst>
              <a:path w="914400" h="857250">
                <a:moveTo>
                  <a:pt x="0" y="0"/>
                </a:moveTo>
                <a:lnTo>
                  <a:pt x="0" y="857250"/>
                </a:lnTo>
                <a:lnTo>
                  <a:pt x="914400" y="85725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700919" y="5492496"/>
            <a:ext cx="990600" cy="857250"/>
          </a:xfrm>
          <a:custGeom>
            <a:avLst/>
            <a:gdLst/>
            <a:ahLst/>
            <a:cxnLst/>
            <a:rect l="l" t="t" r="r" b="b"/>
            <a:pathLst>
              <a:path w="990600" h="857250">
                <a:moveTo>
                  <a:pt x="0" y="0"/>
                </a:moveTo>
                <a:lnTo>
                  <a:pt x="0" y="857250"/>
                </a:lnTo>
                <a:lnTo>
                  <a:pt x="990600" y="857250"/>
                </a:lnTo>
                <a:lnTo>
                  <a:pt x="990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24519" y="5492496"/>
            <a:ext cx="1066800" cy="857250"/>
          </a:xfrm>
          <a:custGeom>
            <a:avLst/>
            <a:gdLst/>
            <a:ahLst/>
            <a:cxnLst/>
            <a:rect l="l" t="t" r="r" b="b"/>
            <a:pathLst>
              <a:path w="1066800" h="857250">
                <a:moveTo>
                  <a:pt x="0" y="0"/>
                </a:moveTo>
                <a:lnTo>
                  <a:pt x="0" y="857250"/>
                </a:lnTo>
                <a:lnTo>
                  <a:pt x="1066800" y="857250"/>
                </a:lnTo>
                <a:lnTo>
                  <a:pt x="1066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14919" y="5492496"/>
            <a:ext cx="609600" cy="857250"/>
          </a:xfrm>
          <a:custGeom>
            <a:avLst/>
            <a:gdLst/>
            <a:ahLst/>
            <a:cxnLst/>
            <a:rect l="l" t="t" r="r" b="b"/>
            <a:pathLst>
              <a:path w="609600" h="857250">
                <a:moveTo>
                  <a:pt x="0" y="0"/>
                </a:moveTo>
                <a:lnTo>
                  <a:pt x="0" y="857250"/>
                </a:lnTo>
                <a:lnTo>
                  <a:pt x="609600" y="857250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149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0245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913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7009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915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011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215519" y="5492496"/>
            <a:ext cx="609600" cy="857250"/>
          </a:xfrm>
          <a:custGeom>
            <a:avLst/>
            <a:gdLst/>
            <a:ahLst/>
            <a:cxnLst/>
            <a:rect l="l" t="t" r="r" b="b"/>
            <a:pathLst>
              <a:path w="609600" h="857250">
                <a:moveTo>
                  <a:pt x="0" y="0"/>
                </a:moveTo>
                <a:lnTo>
                  <a:pt x="0" y="857250"/>
                </a:lnTo>
                <a:lnTo>
                  <a:pt x="609600" y="857250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2155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825113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396354" y="5597652"/>
            <a:ext cx="245745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" marR="5080" indent="-889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  </a:t>
            </a:r>
            <a:r>
              <a:rPr sz="240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7395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3491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700919" y="6112002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76200" y="32003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2003"/>
                </a:lnTo>
                <a:lnTo>
                  <a:pt x="76200" y="32003"/>
                </a:lnTo>
                <a:close/>
              </a:path>
              <a:path w="304800" h="76200">
                <a:moveTo>
                  <a:pt x="304800" y="44196"/>
                </a:moveTo>
                <a:lnTo>
                  <a:pt x="304800" y="32003"/>
                </a:lnTo>
                <a:lnTo>
                  <a:pt x="63246" y="32003"/>
                </a:lnTo>
                <a:lnTo>
                  <a:pt x="63246" y="44196"/>
                </a:lnTo>
                <a:lnTo>
                  <a:pt x="304800" y="44196"/>
                </a:lnTo>
                <a:close/>
              </a:path>
              <a:path w="304800" h="76200">
                <a:moveTo>
                  <a:pt x="76200" y="76200"/>
                </a:moveTo>
                <a:lnTo>
                  <a:pt x="76200" y="44196"/>
                </a:lnTo>
                <a:lnTo>
                  <a:pt x="63246" y="44196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301119" y="5743955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1242"/>
                </a:lnTo>
                <a:lnTo>
                  <a:pt x="76200" y="31242"/>
                </a:lnTo>
                <a:close/>
              </a:path>
              <a:path w="304800" h="76200">
                <a:moveTo>
                  <a:pt x="304800" y="44196"/>
                </a:moveTo>
                <a:lnTo>
                  <a:pt x="304800" y="31242"/>
                </a:lnTo>
                <a:lnTo>
                  <a:pt x="63246" y="31242"/>
                </a:lnTo>
                <a:lnTo>
                  <a:pt x="63246" y="44196"/>
                </a:lnTo>
                <a:lnTo>
                  <a:pt x="304800" y="44196"/>
                </a:lnTo>
                <a:close/>
              </a:path>
              <a:path w="304800" h="76200">
                <a:moveTo>
                  <a:pt x="76200" y="76200"/>
                </a:moveTo>
                <a:lnTo>
                  <a:pt x="76200" y="44196"/>
                </a:lnTo>
                <a:lnTo>
                  <a:pt x="63246" y="44196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349119" y="5667755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1242"/>
                </a:lnTo>
                <a:lnTo>
                  <a:pt x="76200" y="31242"/>
                </a:lnTo>
                <a:close/>
              </a:path>
              <a:path w="304800" h="76200">
                <a:moveTo>
                  <a:pt x="304800" y="44196"/>
                </a:moveTo>
                <a:lnTo>
                  <a:pt x="304800" y="31242"/>
                </a:lnTo>
                <a:lnTo>
                  <a:pt x="63246" y="31242"/>
                </a:lnTo>
                <a:lnTo>
                  <a:pt x="63246" y="44196"/>
                </a:lnTo>
                <a:lnTo>
                  <a:pt x="304800" y="44196"/>
                </a:lnTo>
                <a:close/>
              </a:path>
              <a:path w="304800" h="76200">
                <a:moveTo>
                  <a:pt x="76200" y="76200"/>
                </a:moveTo>
                <a:lnTo>
                  <a:pt x="76200" y="44196"/>
                </a:lnTo>
                <a:lnTo>
                  <a:pt x="63246" y="44196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4036440" y="5945885"/>
            <a:ext cx="5664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rear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633592" y="5560314"/>
            <a:ext cx="5664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rear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689213" y="5506211"/>
            <a:ext cx="5664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rear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414919" y="6349746"/>
            <a:ext cx="609600" cy="346710"/>
          </a:xfrm>
          <a:custGeom>
            <a:avLst/>
            <a:gdLst/>
            <a:ahLst/>
            <a:cxnLst/>
            <a:rect l="l" t="t" r="r" b="b"/>
            <a:pathLst>
              <a:path w="609600" h="346709">
                <a:moveTo>
                  <a:pt x="0" y="0"/>
                </a:moveTo>
                <a:lnTo>
                  <a:pt x="0" y="346709"/>
                </a:lnTo>
                <a:lnTo>
                  <a:pt x="609600" y="346709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408823" y="6349746"/>
            <a:ext cx="622300" cy="353060"/>
          </a:xfrm>
          <a:custGeom>
            <a:avLst/>
            <a:gdLst/>
            <a:ahLst/>
            <a:cxnLst/>
            <a:rect l="l" t="t" r="r" b="b"/>
            <a:pathLst>
              <a:path w="622300" h="353059">
                <a:moveTo>
                  <a:pt x="12192" y="339851"/>
                </a:moveTo>
                <a:lnTo>
                  <a:pt x="12192" y="0"/>
                </a:lnTo>
                <a:lnTo>
                  <a:pt x="0" y="0"/>
                </a:lnTo>
                <a:lnTo>
                  <a:pt x="0" y="352805"/>
                </a:lnTo>
                <a:lnTo>
                  <a:pt x="6096" y="352805"/>
                </a:lnTo>
                <a:lnTo>
                  <a:pt x="6096" y="339851"/>
                </a:lnTo>
                <a:lnTo>
                  <a:pt x="12192" y="339851"/>
                </a:lnTo>
                <a:close/>
              </a:path>
              <a:path w="622300" h="353059">
                <a:moveTo>
                  <a:pt x="615696" y="339851"/>
                </a:moveTo>
                <a:lnTo>
                  <a:pt x="6096" y="339851"/>
                </a:lnTo>
                <a:lnTo>
                  <a:pt x="12192" y="346709"/>
                </a:lnTo>
                <a:lnTo>
                  <a:pt x="12192" y="352805"/>
                </a:lnTo>
                <a:lnTo>
                  <a:pt x="609600" y="352805"/>
                </a:lnTo>
                <a:lnTo>
                  <a:pt x="609600" y="346709"/>
                </a:lnTo>
                <a:lnTo>
                  <a:pt x="615696" y="339851"/>
                </a:lnTo>
                <a:close/>
              </a:path>
              <a:path w="622300" h="353059">
                <a:moveTo>
                  <a:pt x="12192" y="352805"/>
                </a:moveTo>
                <a:lnTo>
                  <a:pt x="12192" y="346709"/>
                </a:lnTo>
                <a:lnTo>
                  <a:pt x="6096" y="339851"/>
                </a:lnTo>
                <a:lnTo>
                  <a:pt x="6096" y="352805"/>
                </a:lnTo>
                <a:lnTo>
                  <a:pt x="12192" y="352805"/>
                </a:lnTo>
                <a:close/>
              </a:path>
              <a:path w="622300" h="353059">
                <a:moveTo>
                  <a:pt x="621791" y="352805"/>
                </a:moveTo>
                <a:lnTo>
                  <a:pt x="621791" y="0"/>
                </a:lnTo>
                <a:lnTo>
                  <a:pt x="609600" y="0"/>
                </a:lnTo>
                <a:lnTo>
                  <a:pt x="609600" y="339851"/>
                </a:lnTo>
                <a:lnTo>
                  <a:pt x="615696" y="339851"/>
                </a:lnTo>
                <a:lnTo>
                  <a:pt x="615696" y="352805"/>
                </a:lnTo>
                <a:lnTo>
                  <a:pt x="621791" y="352805"/>
                </a:lnTo>
                <a:close/>
              </a:path>
              <a:path w="622300" h="353059">
                <a:moveTo>
                  <a:pt x="615696" y="352805"/>
                </a:moveTo>
                <a:lnTo>
                  <a:pt x="615696" y="339851"/>
                </a:lnTo>
                <a:lnTo>
                  <a:pt x="609600" y="346709"/>
                </a:lnTo>
                <a:lnTo>
                  <a:pt x="609600" y="352805"/>
                </a:lnTo>
                <a:lnTo>
                  <a:pt x="615696" y="352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604149" y="6329171"/>
            <a:ext cx="2292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085223" y="6349746"/>
            <a:ext cx="622300" cy="353060"/>
          </a:xfrm>
          <a:custGeom>
            <a:avLst/>
            <a:gdLst/>
            <a:ahLst/>
            <a:cxnLst/>
            <a:rect l="l" t="t" r="r" b="b"/>
            <a:pathLst>
              <a:path w="622300" h="353059">
                <a:moveTo>
                  <a:pt x="12191" y="339851"/>
                </a:moveTo>
                <a:lnTo>
                  <a:pt x="12191" y="0"/>
                </a:lnTo>
                <a:lnTo>
                  <a:pt x="0" y="0"/>
                </a:lnTo>
                <a:lnTo>
                  <a:pt x="0" y="352805"/>
                </a:lnTo>
                <a:lnTo>
                  <a:pt x="6095" y="352805"/>
                </a:lnTo>
                <a:lnTo>
                  <a:pt x="6095" y="339851"/>
                </a:lnTo>
                <a:lnTo>
                  <a:pt x="12191" y="339851"/>
                </a:lnTo>
                <a:close/>
              </a:path>
              <a:path w="622300" h="353059">
                <a:moveTo>
                  <a:pt x="615696" y="339851"/>
                </a:moveTo>
                <a:lnTo>
                  <a:pt x="6095" y="339851"/>
                </a:lnTo>
                <a:lnTo>
                  <a:pt x="12191" y="346709"/>
                </a:lnTo>
                <a:lnTo>
                  <a:pt x="12191" y="352805"/>
                </a:lnTo>
                <a:lnTo>
                  <a:pt x="609600" y="352805"/>
                </a:lnTo>
                <a:lnTo>
                  <a:pt x="609600" y="346709"/>
                </a:lnTo>
                <a:lnTo>
                  <a:pt x="615696" y="339851"/>
                </a:lnTo>
                <a:close/>
              </a:path>
              <a:path w="622300" h="353059">
                <a:moveTo>
                  <a:pt x="12191" y="352805"/>
                </a:moveTo>
                <a:lnTo>
                  <a:pt x="12191" y="346709"/>
                </a:lnTo>
                <a:lnTo>
                  <a:pt x="6095" y="339851"/>
                </a:lnTo>
                <a:lnTo>
                  <a:pt x="6095" y="352805"/>
                </a:lnTo>
                <a:lnTo>
                  <a:pt x="12191" y="352805"/>
                </a:lnTo>
                <a:close/>
              </a:path>
              <a:path w="622300" h="353059">
                <a:moveTo>
                  <a:pt x="621792" y="352805"/>
                </a:moveTo>
                <a:lnTo>
                  <a:pt x="621792" y="0"/>
                </a:lnTo>
                <a:lnTo>
                  <a:pt x="609600" y="0"/>
                </a:lnTo>
                <a:lnTo>
                  <a:pt x="609600" y="339851"/>
                </a:lnTo>
                <a:lnTo>
                  <a:pt x="615696" y="339851"/>
                </a:lnTo>
                <a:lnTo>
                  <a:pt x="615696" y="352805"/>
                </a:lnTo>
                <a:lnTo>
                  <a:pt x="621792" y="352805"/>
                </a:lnTo>
                <a:close/>
              </a:path>
              <a:path w="622300" h="353059">
                <a:moveTo>
                  <a:pt x="615696" y="352805"/>
                </a:moveTo>
                <a:lnTo>
                  <a:pt x="615696" y="339851"/>
                </a:lnTo>
                <a:lnTo>
                  <a:pt x="609600" y="346709"/>
                </a:lnTo>
                <a:lnTo>
                  <a:pt x="609600" y="352805"/>
                </a:lnTo>
                <a:lnTo>
                  <a:pt x="615696" y="352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280536" y="5963411"/>
            <a:ext cx="229235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B  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685423" y="6349746"/>
            <a:ext cx="622300" cy="353060"/>
          </a:xfrm>
          <a:custGeom>
            <a:avLst/>
            <a:gdLst/>
            <a:ahLst/>
            <a:cxnLst/>
            <a:rect l="l" t="t" r="r" b="b"/>
            <a:pathLst>
              <a:path w="622300" h="353059">
                <a:moveTo>
                  <a:pt x="12192" y="339851"/>
                </a:moveTo>
                <a:lnTo>
                  <a:pt x="12192" y="0"/>
                </a:lnTo>
                <a:lnTo>
                  <a:pt x="0" y="0"/>
                </a:lnTo>
                <a:lnTo>
                  <a:pt x="0" y="352805"/>
                </a:lnTo>
                <a:lnTo>
                  <a:pt x="6096" y="352805"/>
                </a:lnTo>
                <a:lnTo>
                  <a:pt x="6096" y="339851"/>
                </a:lnTo>
                <a:lnTo>
                  <a:pt x="12192" y="339851"/>
                </a:lnTo>
                <a:close/>
              </a:path>
              <a:path w="622300" h="353059">
                <a:moveTo>
                  <a:pt x="615696" y="339851"/>
                </a:moveTo>
                <a:lnTo>
                  <a:pt x="6096" y="339851"/>
                </a:lnTo>
                <a:lnTo>
                  <a:pt x="12192" y="346709"/>
                </a:lnTo>
                <a:lnTo>
                  <a:pt x="12192" y="352805"/>
                </a:lnTo>
                <a:lnTo>
                  <a:pt x="609600" y="352805"/>
                </a:lnTo>
                <a:lnTo>
                  <a:pt x="609600" y="346709"/>
                </a:lnTo>
                <a:lnTo>
                  <a:pt x="615696" y="339851"/>
                </a:lnTo>
                <a:close/>
              </a:path>
              <a:path w="622300" h="353059">
                <a:moveTo>
                  <a:pt x="12192" y="352805"/>
                </a:moveTo>
                <a:lnTo>
                  <a:pt x="12192" y="346709"/>
                </a:lnTo>
                <a:lnTo>
                  <a:pt x="6096" y="339851"/>
                </a:lnTo>
                <a:lnTo>
                  <a:pt x="6096" y="352805"/>
                </a:lnTo>
                <a:lnTo>
                  <a:pt x="12192" y="352805"/>
                </a:lnTo>
                <a:close/>
              </a:path>
              <a:path w="622300" h="353059">
                <a:moveTo>
                  <a:pt x="621791" y="352805"/>
                </a:moveTo>
                <a:lnTo>
                  <a:pt x="621791" y="0"/>
                </a:lnTo>
                <a:lnTo>
                  <a:pt x="609600" y="0"/>
                </a:lnTo>
                <a:lnTo>
                  <a:pt x="609600" y="339851"/>
                </a:lnTo>
                <a:lnTo>
                  <a:pt x="615696" y="339851"/>
                </a:lnTo>
                <a:lnTo>
                  <a:pt x="615696" y="352805"/>
                </a:lnTo>
                <a:lnTo>
                  <a:pt x="621791" y="352805"/>
                </a:lnTo>
                <a:close/>
              </a:path>
              <a:path w="622300" h="353059">
                <a:moveTo>
                  <a:pt x="615696" y="352805"/>
                </a:moveTo>
                <a:lnTo>
                  <a:pt x="615696" y="339851"/>
                </a:lnTo>
                <a:lnTo>
                  <a:pt x="609600" y="346709"/>
                </a:lnTo>
                <a:lnTo>
                  <a:pt x="609600" y="352805"/>
                </a:lnTo>
                <a:lnTo>
                  <a:pt x="615696" y="352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4872354" y="5597652"/>
            <a:ext cx="245745" cy="110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" marR="5080" indent="-8890" algn="just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  </a:t>
            </a:r>
            <a:r>
              <a:rPr sz="2400" dirty="0">
                <a:latin typeface="Arial"/>
                <a:cs typeface="Arial"/>
              </a:rPr>
              <a:t>B  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209423" y="6349746"/>
            <a:ext cx="622300" cy="353060"/>
          </a:xfrm>
          <a:custGeom>
            <a:avLst/>
            <a:gdLst/>
            <a:ahLst/>
            <a:cxnLst/>
            <a:rect l="l" t="t" r="r" b="b"/>
            <a:pathLst>
              <a:path w="622300" h="353059">
                <a:moveTo>
                  <a:pt x="12192" y="339852"/>
                </a:moveTo>
                <a:lnTo>
                  <a:pt x="12192" y="0"/>
                </a:lnTo>
                <a:lnTo>
                  <a:pt x="0" y="0"/>
                </a:lnTo>
                <a:lnTo>
                  <a:pt x="0" y="352806"/>
                </a:lnTo>
                <a:lnTo>
                  <a:pt x="6096" y="352806"/>
                </a:lnTo>
                <a:lnTo>
                  <a:pt x="6096" y="339852"/>
                </a:lnTo>
                <a:lnTo>
                  <a:pt x="12192" y="339852"/>
                </a:lnTo>
                <a:close/>
              </a:path>
              <a:path w="622300" h="353059">
                <a:moveTo>
                  <a:pt x="615695" y="339852"/>
                </a:moveTo>
                <a:lnTo>
                  <a:pt x="6096" y="339852"/>
                </a:lnTo>
                <a:lnTo>
                  <a:pt x="12192" y="346710"/>
                </a:lnTo>
                <a:lnTo>
                  <a:pt x="12192" y="352806"/>
                </a:lnTo>
                <a:lnTo>
                  <a:pt x="609587" y="352806"/>
                </a:lnTo>
                <a:lnTo>
                  <a:pt x="609587" y="346710"/>
                </a:lnTo>
                <a:lnTo>
                  <a:pt x="615695" y="339852"/>
                </a:lnTo>
                <a:close/>
              </a:path>
              <a:path w="622300" h="353059">
                <a:moveTo>
                  <a:pt x="12192" y="352806"/>
                </a:moveTo>
                <a:lnTo>
                  <a:pt x="12192" y="346710"/>
                </a:lnTo>
                <a:lnTo>
                  <a:pt x="6096" y="339852"/>
                </a:lnTo>
                <a:lnTo>
                  <a:pt x="6096" y="352806"/>
                </a:lnTo>
                <a:lnTo>
                  <a:pt x="12192" y="352806"/>
                </a:lnTo>
                <a:close/>
              </a:path>
              <a:path w="622300" h="353059">
                <a:moveTo>
                  <a:pt x="621791" y="352806"/>
                </a:moveTo>
                <a:lnTo>
                  <a:pt x="621791" y="0"/>
                </a:lnTo>
                <a:lnTo>
                  <a:pt x="609587" y="0"/>
                </a:lnTo>
                <a:lnTo>
                  <a:pt x="609587" y="339852"/>
                </a:lnTo>
                <a:lnTo>
                  <a:pt x="615695" y="339852"/>
                </a:lnTo>
                <a:lnTo>
                  <a:pt x="615695" y="352806"/>
                </a:lnTo>
                <a:lnTo>
                  <a:pt x="621791" y="352806"/>
                </a:lnTo>
                <a:close/>
              </a:path>
              <a:path w="622300" h="353059">
                <a:moveTo>
                  <a:pt x="615695" y="352806"/>
                </a:moveTo>
                <a:lnTo>
                  <a:pt x="615695" y="339852"/>
                </a:lnTo>
                <a:lnTo>
                  <a:pt x="609587" y="346710"/>
                </a:lnTo>
                <a:lnTo>
                  <a:pt x="609587" y="352806"/>
                </a:lnTo>
                <a:lnTo>
                  <a:pt x="615695" y="3528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6404736" y="6329171"/>
            <a:ext cx="2292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733424" y="6349746"/>
            <a:ext cx="622300" cy="276860"/>
          </a:xfrm>
          <a:custGeom>
            <a:avLst/>
            <a:gdLst/>
            <a:ahLst/>
            <a:cxnLst/>
            <a:rect l="l" t="t" r="r" b="b"/>
            <a:pathLst>
              <a:path w="622300" h="276859">
                <a:moveTo>
                  <a:pt x="12191" y="263652"/>
                </a:moveTo>
                <a:lnTo>
                  <a:pt x="12191" y="0"/>
                </a:lnTo>
                <a:lnTo>
                  <a:pt x="0" y="0"/>
                </a:lnTo>
                <a:lnTo>
                  <a:pt x="0" y="276606"/>
                </a:lnTo>
                <a:lnTo>
                  <a:pt x="6095" y="276606"/>
                </a:lnTo>
                <a:lnTo>
                  <a:pt x="6095" y="263652"/>
                </a:lnTo>
                <a:lnTo>
                  <a:pt x="12191" y="263652"/>
                </a:lnTo>
                <a:close/>
              </a:path>
              <a:path w="622300" h="276859">
                <a:moveTo>
                  <a:pt x="615695" y="263652"/>
                </a:moveTo>
                <a:lnTo>
                  <a:pt x="6095" y="263652"/>
                </a:lnTo>
                <a:lnTo>
                  <a:pt x="12191" y="270510"/>
                </a:lnTo>
                <a:lnTo>
                  <a:pt x="12191" y="276606"/>
                </a:lnTo>
                <a:lnTo>
                  <a:pt x="609600" y="276606"/>
                </a:lnTo>
                <a:lnTo>
                  <a:pt x="609600" y="270510"/>
                </a:lnTo>
                <a:lnTo>
                  <a:pt x="615695" y="263652"/>
                </a:lnTo>
                <a:close/>
              </a:path>
              <a:path w="622300" h="276859">
                <a:moveTo>
                  <a:pt x="12191" y="276606"/>
                </a:moveTo>
                <a:lnTo>
                  <a:pt x="12191" y="270510"/>
                </a:lnTo>
                <a:lnTo>
                  <a:pt x="6095" y="263652"/>
                </a:lnTo>
                <a:lnTo>
                  <a:pt x="6095" y="276606"/>
                </a:lnTo>
                <a:lnTo>
                  <a:pt x="12191" y="276606"/>
                </a:lnTo>
                <a:close/>
              </a:path>
              <a:path w="622300" h="276859">
                <a:moveTo>
                  <a:pt x="621792" y="276606"/>
                </a:moveTo>
                <a:lnTo>
                  <a:pt x="621792" y="0"/>
                </a:lnTo>
                <a:lnTo>
                  <a:pt x="609600" y="0"/>
                </a:lnTo>
                <a:lnTo>
                  <a:pt x="609600" y="263652"/>
                </a:lnTo>
                <a:lnTo>
                  <a:pt x="615695" y="263652"/>
                </a:lnTo>
                <a:lnTo>
                  <a:pt x="615695" y="276606"/>
                </a:lnTo>
                <a:lnTo>
                  <a:pt x="621792" y="276606"/>
                </a:lnTo>
                <a:close/>
              </a:path>
              <a:path w="622300" h="276859">
                <a:moveTo>
                  <a:pt x="615695" y="276606"/>
                </a:moveTo>
                <a:lnTo>
                  <a:pt x="615695" y="263652"/>
                </a:lnTo>
                <a:lnTo>
                  <a:pt x="609600" y="270510"/>
                </a:lnTo>
                <a:lnTo>
                  <a:pt x="609600" y="276606"/>
                </a:lnTo>
                <a:lnTo>
                  <a:pt x="615695" y="2766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920355" y="5521452"/>
            <a:ext cx="245745" cy="110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D  C  </a:t>
            </a:r>
            <a:r>
              <a:rPr sz="240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011565" y="6429755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4007" y="70103"/>
                </a:lnTo>
                <a:lnTo>
                  <a:pt x="64007" y="31242"/>
                </a:lnTo>
                <a:lnTo>
                  <a:pt x="76200" y="31242"/>
                </a:lnTo>
                <a:close/>
              </a:path>
              <a:path w="304800" h="76200">
                <a:moveTo>
                  <a:pt x="304800" y="44196"/>
                </a:moveTo>
                <a:lnTo>
                  <a:pt x="304800" y="31242"/>
                </a:lnTo>
                <a:lnTo>
                  <a:pt x="64007" y="31242"/>
                </a:lnTo>
                <a:lnTo>
                  <a:pt x="64007" y="44196"/>
                </a:lnTo>
                <a:lnTo>
                  <a:pt x="304800" y="44196"/>
                </a:lnTo>
                <a:close/>
              </a:path>
              <a:path w="304800" h="76200">
                <a:moveTo>
                  <a:pt x="76200" y="76200"/>
                </a:moveTo>
                <a:lnTo>
                  <a:pt x="76200" y="44196"/>
                </a:lnTo>
                <a:lnTo>
                  <a:pt x="64007" y="44196"/>
                </a:lnTo>
                <a:lnTo>
                  <a:pt x="64007" y="7010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86419" y="6734556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3245" y="69723"/>
                </a:lnTo>
                <a:lnTo>
                  <a:pt x="63245" y="31242"/>
                </a:lnTo>
                <a:lnTo>
                  <a:pt x="76200" y="31242"/>
                </a:lnTo>
                <a:close/>
              </a:path>
              <a:path w="304800" h="76200">
                <a:moveTo>
                  <a:pt x="304800" y="44196"/>
                </a:moveTo>
                <a:lnTo>
                  <a:pt x="304800" y="31242"/>
                </a:lnTo>
                <a:lnTo>
                  <a:pt x="63245" y="31242"/>
                </a:lnTo>
                <a:lnTo>
                  <a:pt x="63245" y="44196"/>
                </a:lnTo>
                <a:lnTo>
                  <a:pt x="304800" y="44196"/>
                </a:lnTo>
                <a:close/>
              </a:path>
              <a:path w="304800" h="76200">
                <a:moveTo>
                  <a:pt x="76200" y="76200"/>
                </a:moveTo>
                <a:lnTo>
                  <a:pt x="76200" y="44196"/>
                </a:lnTo>
                <a:lnTo>
                  <a:pt x="63245" y="44196"/>
                </a:lnTo>
                <a:lnTo>
                  <a:pt x="63245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700919" y="6746747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76200" y="32003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2003"/>
                </a:lnTo>
                <a:lnTo>
                  <a:pt x="76200" y="32003"/>
                </a:lnTo>
                <a:close/>
              </a:path>
              <a:path w="304800" h="76200">
                <a:moveTo>
                  <a:pt x="304800" y="44957"/>
                </a:moveTo>
                <a:lnTo>
                  <a:pt x="304800" y="32003"/>
                </a:lnTo>
                <a:lnTo>
                  <a:pt x="63246" y="32003"/>
                </a:lnTo>
                <a:lnTo>
                  <a:pt x="63246" y="44957"/>
                </a:lnTo>
                <a:lnTo>
                  <a:pt x="304800" y="44957"/>
                </a:lnTo>
                <a:close/>
              </a:path>
              <a:path w="304800" h="76200">
                <a:moveTo>
                  <a:pt x="76200" y="76200"/>
                </a:moveTo>
                <a:lnTo>
                  <a:pt x="76200" y="44957"/>
                </a:lnTo>
                <a:lnTo>
                  <a:pt x="63246" y="44957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01119" y="6759702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76200" y="32003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2003"/>
                </a:lnTo>
                <a:lnTo>
                  <a:pt x="76200" y="32003"/>
                </a:lnTo>
                <a:close/>
              </a:path>
              <a:path w="304800" h="76200">
                <a:moveTo>
                  <a:pt x="304800" y="44196"/>
                </a:moveTo>
                <a:lnTo>
                  <a:pt x="304800" y="32003"/>
                </a:lnTo>
                <a:lnTo>
                  <a:pt x="63246" y="32003"/>
                </a:lnTo>
                <a:lnTo>
                  <a:pt x="63246" y="44196"/>
                </a:lnTo>
                <a:lnTo>
                  <a:pt x="304800" y="44196"/>
                </a:lnTo>
                <a:close/>
              </a:path>
              <a:path w="304800" h="76200">
                <a:moveTo>
                  <a:pt x="76200" y="76200"/>
                </a:moveTo>
                <a:lnTo>
                  <a:pt x="76200" y="44196"/>
                </a:lnTo>
                <a:lnTo>
                  <a:pt x="63246" y="44196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825119" y="6778752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76200" y="32003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2003"/>
                </a:lnTo>
                <a:lnTo>
                  <a:pt x="76200" y="32003"/>
                </a:lnTo>
                <a:close/>
              </a:path>
              <a:path w="304800" h="76200">
                <a:moveTo>
                  <a:pt x="304800" y="44196"/>
                </a:moveTo>
                <a:lnTo>
                  <a:pt x="304800" y="32003"/>
                </a:lnTo>
                <a:lnTo>
                  <a:pt x="63246" y="32003"/>
                </a:lnTo>
                <a:lnTo>
                  <a:pt x="63246" y="44196"/>
                </a:lnTo>
                <a:lnTo>
                  <a:pt x="304800" y="44196"/>
                </a:lnTo>
                <a:close/>
              </a:path>
              <a:path w="304800" h="76200">
                <a:moveTo>
                  <a:pt x="76200" y="76200"/>
                </a:moveTo>
                <a:lnTo>
                  <a:pt x="76200" y="44196"/>
                </a:lnTo>
                <a:lnTo>
                  <a:pt x="63246" y="44196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349119" y="6715506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76200" y="31242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1242"/>
                </a:lnTo>
                <a:lnTo>
                  <a:pt x="76200" y="31242"/>
                </a:lnTo>
                <a:close/>
              </a:path>
              <a:path w="304800" h="76200">
                <a:moveTo>
                  <a:pt x="304800" y="44196"/>
                </a:moveTo>
                <a:lnTo>
                  <a:pt x="304800" y="31242"/>
                </a:lnTo>
                <a:lnTo>
                  <a:pt x="63246" y="31242"/>
                </a:lnTo>
                <a:lnTo>
                  <a:pt x="63246" y="44196"/>
                </a:lnTo>
                <a:lnTo>
                  <a:pt x="304800" y="44196"/>
                </a:lnTo>
                <a:close/>
              </a:path>
              <a:path w="304800" h="76200">
                <a:moveTo>
                  <a:pt x="76200" y="76200"/>
                </a:moveTo>
                <a:lnTo>
                  <a:pt x="76200" y="44196"/>
                </a:lnTo>
                <a:lnTo>
                  <a:pt x="63246" y="44196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2366136" y="6244590"/>
            <a:ext cx="567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rea</a:t>
            </a:r>
            <a:r>
              <a:rPr sz="2400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330335" y="6585204"/>
            <a:ext cx="6343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front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036440" y="6564630"/>
            <a:ext cx="6343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front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654166" y="6580631"/>
            <a:ext cx="6343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front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179703" y="6564630"/>
            <a:ext cx="6343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front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680081" y="6549390"/>
            <a:ext cx="93027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front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100" spc="-7" baseline="11904" dirty="0">
                <a:latin typeface="Arial"/>
                <a:cs typeface="Arial"/>
              </a:rPr>
              <a:t>12</a:t>
            </a:r>
            <a:endParaRPr sz="2100" baseline="11904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Application: </a:t>
            </a:r>
            <a:r>
              <a:rPr sz="4400" dirty="0"/>
              <a:t>Job</a:t>
            </a:r>
            <a:r>
              <a:rPr sz="4400" spc="-35" dirty="0"/>
              <a:t> </a:t>
            </a:r>
            <a:r>
              <a:rPr sz="4400" spc="-5" dirty="0"/>
              <a:t>Scheduling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299495"/>
              </p:ext>
            </p:extLst>
          </p:nvPr>
        </p:nvGraphicFramePr>
        <p:xfrm>
          <a:off x="1668911" y="2316479"/>
          <a:ext cx="8249789" cy="31089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63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32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228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1138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86910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947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69278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front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956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rear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Q[0]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Q[1]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84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Q[2]</a:t>
                      </a:r>
                      <a:r>
                        <a:rPr sz="2400" b="1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10" dirty="0">
                          <a:latin typeface="Courier New"/>
                          <a:cs typeface="Courier New"/>
                        </a:rPr>
                        <a:t>Q[3]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192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4455">
                        <a:lnSpc>
                          <a:spcPts val="2845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Comments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217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956">
                      <a:solidFill>
                        <a:srgbClr val="000000"/>
                      </a:solidFill>
                      <a:prstDash val="solid"/>
                    </a:lnL>
                    <a:lnR w="12954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4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T w="1295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1295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192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Queue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  <a:lnT w="1295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2400" b="1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5" dirty="0">
                          <a:latin typeface="Courier New"/>
                          <a:cs typeface="Courier New"/>
                        </a:rPr>
                        <a:t>empty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194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76835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956">
                      <a:solidFill>
                        <a:srgbClr val="000000"/>
                      </a:solidFill>
                      <a:prstDash val="solid"/>
                    </a:lnL>
                    <a:lnR w="12954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77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4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J1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192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J1</a:t>
                      </a:r>
                      <a:r>
                        <a:rPr sz="2400" b="1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10" dirty="0">
                          <a:latin typeface="Courier New"/>
                          <a:cs typeface="Courier New"/>
                        </a:rPr>
                        <a:t>is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added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911">
                <a:tc>
                  <a:txBody>
                    <a:bodyPr/>
                    <a:lstStyle/>
                    <a:p>
                      <a:pPr marL="76835">
                        <a:lnSpc>
                          <a:spcPts val="277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956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77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J1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J2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192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J2</a:t>
                      </a:r>
                      <a:r>
                        <a:rPr sz="2400" b="1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10" dirty="0">
                          <a:latin typeface="Courier New"/>
                          <a:cs typeface="Courier New"/>
                        </a:rPr>
                        <a:t>is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added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76835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956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77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J1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J2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J3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192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J3</a:t>
                      </a:r>
                      <a:r>
                        <a:rPr sz="2400" b="1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10" dirty="0">
                          <a:latin typeface="Courier New"/>
                          <a:cs typeface="Courier New"/>
                        </a:rPr>
                        <a:t>is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added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76835">
                        <a:lnSpc>
                          <a:spcPts val="277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956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77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J2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J3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192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J1</a:t>
                      </a:r>
                      <a:r>
                        <a:rPr sz="2400" b="1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10" dirty="0">
                          <a:latin typeface="Courier New"/>
                          <a:cs typeface="Courier New"/>
                        </a:rPr>
                        <a:t>is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deleted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3932">
                <a:tc>
                  <a:txBody>
                    <a:bodyPr/>
                    <a:lstStyle/>
                    <a:p>
                      <a:pPr marL="76835">
                        <a:lnSpc>
                          <a:spcPts val="277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956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77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J3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192">
                      <a:solidFill>
                        <a:srgbClr val="000000"/>
                      </a:solidFill>
                      <a:prstDash val="solid"/>
                    </a:lnR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J2</a:t>
                      </a:r>
                      <a:r>
                        <a:rPr sz="2400" b="1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10" dirty="0">
                          <a:latin typeface="Courier New"/>
                          <a:cs typeface="Courier New"/>
                        </a:rPr>
                        <a:t>is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77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deleted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194">
                      <a:solidFill>
                        <a:srgbClr val="000000"/>
                      </a:solidFill>
                      <a:prstDash val="solid"/>
                    </a:lnR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774839" y="2920745"/>
            <a:ext cx="824484" cy="257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09177" y="5988558"/>
            <a:ext cx="629666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Insertion and deletion from a sequential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queue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1023111"/>
            <a:ext cx="6574155" cy="664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230"/>
              </a:lnSpc>
              <a:tabLst>
                <a:tab pos="4527550" algn="l"/>
                <a:tab pos="5102225" algn="l"/>
              </a:tabLst>
            </a:pPr>
            <a:r>
              <a:rPr sz="4400" spc="-5" dirty="0"/>
              <a:t>Abstract Data Type</a:t>
            </a:r>
            <a:r>
              <a:rPr sz="4400" dirty="0"/>
              <a:t>	</a:t>
            </a:r>
            <a:r>
              <a:rPr sz="4400" spc="-5" dirty="0"/>
              <a:t>of</a:t>
            </a:r>
            <a:r>
              <a:rPr sz="4400" dirty="0"/>
              <a:t>	</a:t>
            </a:r>
            <a:r>
              <a:rPr sz="4400" spc="-10" dirty="0"/>
              <a:t>Q</a:t>
            </a:r>
            <a:r>
              <a:rPr sz="4400" spc="-5" dirty="0"/>
              <a:t>ueue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12163" y="1716023"/>
            <a:ext cx="7487284" cy="301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570730">
              <a:lnSpc>
                <a:spcPts val="2160"/>
              </a:lnSpc>
            </a:pPr>
            <a:r>
              <a:rPr sz="2000" b="1" spc="-25" dirty="0">
                <a:latin typeface="Times New Roman"/>
                <a:cs typeface="Times New Roman"/>
              </a:rPr>
              <a:t>Template </a:t>
            </a:r>
            <a:r>
              <a:rPr sz="2000" b="1" spc="-5" dirty="0">
                <a:latin typeface="Times New Roman"/>
                <a:cs typeface="Times New Roman"/>
              </a:rPr>
              <a:t>&lt;class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KeyType&gt;  </a:t>
            </a:r>
            <a:r>
              <a:rPr sz="2000" b="1" spc="-5" dirty="0">
                <a:latin typeface="Times New Roman"/>
                <a:cs typeface="Times New Roman"/>
              </a:rPr>
              <a:t>class Queue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39065" marR="1273175" indent="-127000">
              <a:lnSpc>
                <a:spcPts val="2160"/>
              </a:lnSpc>
            </a:pPr>
            <a:r>
              <a:rPr sz="2000" b="1" spc="-5" dirty="0">
                <a:latin typeface="Times New Roman"/>
                <a:cs typeface="Times New Roman"/>
              </a:rPr>
              <a:t>// objects: A finite </a:t>
            </a:r>
            <a:r>
              <a:rPr sz="2000" b="1" spc="-10" dirty="0">
                <a:latin typeface="Times New Roman"/>
                <a:cs typeface="Times New Roman"/>
              </a:rPr>
              <a:t>ordered </a:t>
            </a:r>
            <a:r>
              <a:rPr sz="2000" b="1" spc="-5" dirty="0">
                <a:latin typeface="Times New Roman"/>
                <a:cs typeface="Times New Roman"/>
              </a:rPr>
              <a:t>list with </a:t>
            </a:r>
            <a:r>
              <a:rPr sz="2000" b="1" spc="-10" dirty="0">
                <a:latin typeface="Times New Roman"/>
                <a:cs typeface="Times New Roman"/>
              </a:rPr>
              <a:t>zero </a:t>
            </a:r>
            <a:r>
              <a:rPr sz="2000" b="1" spc="-5" dirty="0">
                <a:latin typeface="Times New Roman"/>
                <a:cs typeface="Times New Roman"/>
              </a:rPr>
              <a:t>or </a:t>
            </a:r>
            <a:r>
              <a:rPr sz="2000" b="1" spc="-10" dirty="0">
                <a:latin typeface="Times New Roman"/>
                <a:cs typeface="Times New Roman"/>
              </a:rPr>
              <a:t>more</a:t>
            </a:r>
            <a:r>
              <a:rPr sz="2000" b="1" spc="-229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elements  public:</a:t>
            </a:r>
            <a:endParaRPr sz="2000">
              <a:latin typeface="Times New Roman"/>
              <a:cs typeface="Times New Roman"/>
            </a:endParaRPr>
          </a:p>
          <a:p>
            <a:pPr marL="265430">
              <a:lnSpc>
                <a:spcPts val="2010"/>
              </a:lnSpc>
            </a:pPr>
            <a:r>
              <a:rPr sz="2000" b="1" spc="-5" dirty="0">
                <a:latin typeface="Times New Roman"/>
                <a:cs typeface="Times New Roman"/>
              </a:rPr>
              <a:t>Queue(int MaxQueueSize =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DefaultSize);</a:t>
            </a:r>
            <a:endParaRPr sz="2000">
              <a:latin typeface="Times New Roman"/>
              <a:cs typeface="Times New Roman"/>
            </a:endParaRPr>
          </a:p>
          <a:p>
            <a:pPr marL="265430" marR="473709" indent="-253365">
              <a:lnSpc>
                <a:spcPts val="2160"/>
              </a:lnSpc>
              <a:spcBef>
                <a:spcPts val="150"/>
              </a:spcBef>
            </a:pPr>
            <a:r>
              <a:rPr sz="2000" b="1" spc="-5" dirty="0">
                <a:latin typeface="Times New Roman"/>
                <a:cs typeface="Times New Roman"/>
              </a:rPr>
              <a:t>// </a:t>
            </a:r>
            <a:r>
              <a:rPr sz="2000" b="1" spc="-10" dirty="0">
                <a:latin typeface="Times New Roman"/>
                <a:cs typeface="Times New Roman"/>
              </a:rPr>
              <a:t>Create </a:t>
            </a:r>
            <a:r>
              <a:rPr sz="2000" b="1" spc="-5" dirty="0">
                <a:latin typeface="Times New Roman"/>
                <a:cs typeface="Times New Roman"/>
              </a:rPr>
              <a:t>an empty queue whose maximum size is MaxQueueSize  Boolean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IsFull();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</a:pPr>
            <a:r>
              <a:rPr sz="2000" b="1" spc="-5" dirty="0">
                <a:latin typeface="Times New Roman"/>
                <a:cs typeface="Times New Roman"/>
              </a:rPr>
              <a:t>/* if </a:t>
            </a:r>
            <a:r>
              <a:rPr sz="2000" b="1" spc="-10" dirty="0">
                <a:latin typeface="Times New Roman"/>
                <a:cs typeface="Times New Roman"/>
              </a:rPr>
              <a:t>number </a:t>
            </a:r>
            <a:r>
              <a:rPr sz="2000" b="1" spc="-5" dirty="0">
                <a:latin typeface="Times New Roman"/>
                <a:cs typeface="Times New Roman"/>
              </a:rPr>
              <a:t>of elements in the </a:t>
            </a:r>
            <a:r>
              <a:rPr sz="2000" b="1" spc="-10" dirty="0">
                <a:latin typeface="Times New Roman"/>
                <a:cs typeface="Times New Roman"/>
              </a:rPr>
              <a:t>queue </a:t>
            </a:r>
            <a:r>
              <a:rPr sz="2000" b="1" spc="-5" dirty="0">
                <a:latin typeface="Times New Roman"/>
                <a:cs typeface="Times New Roman"/>
              </a:rPr>
              <a:t>is equal to the maximum size of  the queue, </a:t>
            </a:r>
            <a:r>
              <a:rPr sz="2000" b="1" spc="-10" dirty="0">
                <a:latin typeface="Times New Roman"/>
                <a:cs typeface="Times New Roman"/>
              </a:rPr>
              <a:t>return </a:t>
            </a:r>
            <a:r>
              <a:rPr sz="2000" b="1" spc="-5" dirty="0">
                <a:latin typeface="Times New Roman"/>
                <a:cs typeface="Times New Roman"/>
              </a:rPr>
              <a:t>TRUE(1); otherwise, </a:t>
            </a:r>
            <a:r>
              <a:rPr sz="2000" b="1" spc="-10" dirty="0">
                <a:latin typeface="Times New Roman"/>
                <a:cs typeface="Times New Roman"/>
              </a:rPr>
              <a:t>return </a:t>
            </a:r>
            <a:r>
              <a:rPr sz="2000" b="1" spc="-25" dirty="0">
                <a:latin typeface="Times New Roman"/>
                <a:cs typeface="Times New Roman"/>
              </a:rPr>
              <a:t>FALSE(0)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  <a:p>
            <a:pPr marL="265430">
              <a:lnSpc>
                <a:spcPts val="2010"/>
              </a:lnSpc>
            </a:pPr>
            <a:r>
              <a:rPr sz="2000" b="1" spc="-5" dirty="0">
                <a:latin typeface="Times New Roman"/>
                <a:cs typeface="Times New Roman"/>
              </a:rPr>
              <a:t>void Add(const </a:t>
            </a:r>
            <a:r>
              <a:rPr sz="2000" b="1" spc="-25" dirty="0">
                <a:latin typeface="Times New Roman"/>
                <a:cs typeface="Times New Roman"/>
              </a:rPr>
              <a:t>KeyType&amp;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item);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</a:pPr>
            <a:r>
              <a:rPr sz="2000" b="1" spc="-5" dirty="0">
                <a:latin typeface="Times New Roman"/>
                <a:cs typeface="Times New Roman"/>
              </a:rPr>
              <a:t>// if IsFull(), then QueueFull(); else insert item at </a:t>
            </a:r>
            <a:r>
              <a:rPr sz="2000" b="1" spc="-10" dirty="0">
                <a:latin typeface="Times New Roman"/>
                <a:cs typeface="Times New Roman"/>
              </a:rPr>
              <a:t>rear </a:t>
            </a:r>
            <a:r>
              <a:rPr sz="2000" b="1" spc="-5" dirty="0">
                <a:latin typeface="Times New Roman"/>
                <a:cs typeface="Times New Roman"/>
              </a:rPr>
              <a:t>of the queue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2163" y="4699000"/>
            <a:ext cx="7381240" cy="2237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5430">
              <a:lnSpc>
                <a:spcPts val="2280"/>
              </a:lnSpc>
            </a:pPr>
            <a:r>
              <a:rPr sz="2000" b="1" spc="-5" dirty="0">
                <a:latin typeface="Times New Roman"/>
                <a:cs typeface="Times New Roman"/>
              </a:rPr>
              <a:t>Boolean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IsEmpty();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160"/>
              </a:lnSpc>
            </a:pPr>
            <a:r>
              <a:rPr sz="2000" b="1" spc="-5" dirty="0">
                <a:latin typeface="Times New Roman"/>
                <a:cs typeface="Times New Roman"/>
              </a:rPr>
              <a:t>// if number of elements in the queue is equal to 0, </a:t>
            </a:r>
            <a:r>
              <a:rPr sz="2000" b="1" spc="-10" dirty="0">
                <a:latin typeface="Times New Roman"/>
                <a:cs typeface="Times New Roman"/>
              </a:rPr>
              <a:t>return </a:t>
            </a:r>
            <a:r>
              <a:rPr sz="2000" b="1" spc="-5" dirty="0">
                <a:latin typeface="Times New Roman"/>
                <a:cs typeface="Times New Roman"/>
              </a:rPr>
              <a:t>TRUE(1)</a:t>
            </a:r>
            <a:endParaRPr sz="2000">
              <a:latin typeface="Times New Roman"/>
              <a:cs typeface="Times New Roman"/>
            </a:endParaRPr>
          </a:p>
          <a:p>
            <a:pPr marL="265430" marR="3837940" indent="-253365">
              <a:lnSpc>
                <a:spcPts val="2160"/>
              </a:lnSpc>
              <a:spcBef>
                <a:spcPts val="150"/>
              </a:spcBef>
            </a:pPr>
            <a:r>
              <a:rPr sz="2000" b="1" spc="-5" dirty="0">
                <a:latin typeface="Times New Roman"/>
                <a:cs typeface="Times New Roman"/>
              </a:rPr>
              <a:t>// else </a:t>
            </a:r>
            <a:r>
              <a:rPr sz="2000" b="1" spc="-10" dirty="0">
                <a:latin typeface="Times New Roman"/>
                <a:cs typeface="Times New Roman"/>
              </a:rPr>
              <a:t>return </a:t>
            </a:r>
            <a:r>
              <a:rPr sz="2000" b="1" spc="-25" dirty="0">
                <a:latin typeface="Times New Roman"/>
                <a:cs typeface="Times New Roman"/>
              </a:rPr>
              <a:t>FALSE(0)  KeyType*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spc="-15" dirty="0">
                <a:latin typeface="Times New Roman"/>
                <a:cs typeface="Times New Roman"/>
              </a:rPr>
              <a:t>Delete(KeyType&amp;);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010"/>
              </a:lnSpc>
            </a:pPr>
            <a:r>
              <a:rPr sz="2000" b="1" spc="-5" dirty="0">
                <a:latin typeface="Times New Roman"/>
                <a:cs typeface="Times New Roman"/>
              </a:rPr>
              <a:t>// if IsEmpty(), then QueueEmpty() and </a:t>
            </a:r>
            <a:r>
              <a:rPr sz="2000" b="1" spc="-10" dirty="0">
                <a:latin typeface="Times New Roman"/>
                <a:cs typeface="Times New Roman"/>
              </a:rPr>
              <a:t>return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0;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160"/>
              </a:lnSpc>
              <a:spcBef>
                <a:spcPts val="150"/>
              </a:spcBef>
            </a:pPr>
            <a:r>
              <a:rPr sz="2000" b="1" spc="-5" dirty="0">
                <a:latin typeface="Times New Roman"/>
                <a:cs typeface="Times New Roman"/>
              </a:rPr>
              <a:t>// else </a:t>
            </a:r>
            <a:r>
              <a:rPr sz="2000" b="1" spc="-10" dirty="0">
                <a:latin typeface="Times New Roman"/>
                <a:cs typeface="Times New Roman"/>
              </a:rPr>
              <a:t>remove </a:t>
            </a:r>
            <a:r>
              <a:rPr sz="2000" b="1" spc="-5" dirty="0">
                <a:latin typeface="Times New Roman"/>
                <a:cs typeface="Times New Roman"/>
              </a:rPr>
              <a:t>the item at the </a:t>
            </a:r>
            <a:r>
              <a:rPr sz="2000" b="1" spc="-10" dirty="0">
                <a:latin typeface="Times New Roman"/>
                <a:cs typeface="Times New Roman"/>
              </a:rPr>
              <a:t>front </a:t>
            </a:r>
            <a:r>
              <a:rPr sz="2000" b="1" spc="-5" dirty="0">
                <a:latin typeface="Times New Roman"/>
                <a:cs typeface="Times New Roman"/>
              </a:rPr>
              <a:t>of the queue and </a:t>
            </a:r>
            <a:r>
              <a:rPr sz="2000" b="1" spc="-10" dirty="0">
                <a:latin typeface="Times New Roman"/>
                <a:cs typeface="Times New Roman"/>
              </a:rPr>
              <a:t>return </a:t>
            </a:r>
            <a:r>
              <a:rPr sz="2000" b="1" spc="-5" dirty="0">
                <a:latin typeface="Times New Roman"/>
                <a:cs typeface="Times New Roman"/>
              </a:rPr>
              <a:t>a pointer  to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it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sz="2000" b="1" spc="-10" dirty="0">
                <a:latin typeface="Times New Roman"/>
                <a:cs typeface="Times New Roman"/>
              </a:rPr>
              <a:t>};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Implementation 1: Using</a:t>
            </a:r>
            <a:r>
              <a:rPr sz="4400" spc="-20" dirty="0"/>
              <a:t> </a:t>
            </a:r>
            <a:r>
              <a:rPr sz="4400" spc="-5" dirty="0"/>
              <a:t>Array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1777873" y="1800225"/>
            <a:ext cx="81470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Private: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206349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77873" y="2165603"/>
            <a:ext cx="7660640" cy="2476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5430" marR="5588000">
              <a:lnSpc>
                <a:spcPts val="2160"/>
              </a:lnSpc>
            </a:pP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int front,rear;  </a:t>
            </a:r>
            <a:r>
              <a:rPr sz="2000" spc="-25" dirty="0">
                <a:latin typeface="Times New Roman"/>
                <a:cs typeface="Times New Roman"/>
              </a:rPr>
              <a:t>KeyType </a:t>
            </a:r>
            <a:r>
              <a:rPr sz="2000" spc="-5" dirty="0">
                <a:latin typeface="Times New Roman"/>
                <a:cs typeface="Times New Roman"/>
              </a:rPr>
              <a:t>*queue;  int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MaxSize;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2010"/>
              </a:lnSpc>
            </a:pPr>
            <a:r>
              <a:rPr sz="2000" spc="-15" dirty="0">
                <a:latin typeface="Times New Roman"/>
                <a:cs typeface="Times New Roman"/>
              </a:rPr>
              <a:t>Template&lt;class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KeyType&gt;</a:t>
            </a:r>
            <a:endParaRPr sz="2000" dirty="0">
              <a:latin typeface="Times New Roman"/>
              <a:cs typeface="Times New Roman"/>
            </a:endParaRPr>
          </a:p>
          <a:p>
            <a:pPr marL="265430" marR="5080" indent="-253365">
              <a:lnSpc>
                <a:spcPts val="2160"/>
              </a:lnSpc>
              <a:spcBef>
                <a:spcPts val="150"/>
              </a:spcBef>
            </a:pPr>
            <a:r>
              <a:rPr sz="2000" spc="-10" dirty="0">
                <a:latin typeface="Times New Roman"/>
                <a:cs typeface="Times New Roman"/>
              </a:rPr>
              <a:t>Queue&lt;KeyType&gt;::Queue(int </a:t>
            </a:r>
            <a:r>
              <a:rPr sz="2000" spc="-5" dirty="0">
                <a:latin typeface="Times New Roman"/>
                <a:cs typeface="Times New Roman"/>
              </a:rPr>
              <a:t>MaxQueueSize):MaxSize(MaxQueueSize) {  queue=new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KeyType[MaxSize];</a:t>
            </a:r>
            <a:endParaRPr sz="2000" dirty="0">
              <a:latin typeface="Times New Roman"/>
              <a:cs typeface="Times New Roman"/>
            </a:endParaRPr>
          </a:p>
          <a:p>
            <a:pPr marL="265430">
              <a:lnSpc>
                <a:spcPts val="2010"/>
              </a:lnSpc>
            </a:pP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front=rear=</a:t>
            </a:r>
            <a:r>
              <a:rPr sz="2000" spc="-7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-1;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2160"/>
              </a:lnSpc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template&lt;classs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KeyType&gt;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4839" y="3777996"/>
            <a:ext cx="824484" cy="1714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964044" y="4511040"/>
            <a:ext cx="1853564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How to</a:t>
            </a:r>
            <a:r>
              <a:rPr sz="2400" spc="-8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check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64044" y="4876800"/>
            <a:ext cx="2159635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whether a</a:t>
            </a:r>
            <a:r>
              <a:rPr sz="2400" spc="-7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stack  is full or</a:t>
            </a:r>
            <a:r>
              <a:rPr sz="2400" spc="-8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empty?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77873" y="4634483"/>
            <a:ext cx="4535805" cy="1104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1930" marR="5080" indent="-189865">
              <a:lnSpc>
                <a:spcPts val="2160"/>
              </a:lnSpc>
            </a:pPr>
            <a:r>
              <a:rPr sz="2000" spc="-5" dirty="0">
                <a:latin typeface="Times New Roman"/>
                <a:cs typeface="Times New Roman"/>
              </a:rPr>
              <a:t>inline Boolean </a:t>
            </a:r>
            <a:r>
              <a:rPr sz="2000" spc="-10" dirty="0">
                <a:latin typeface="Times New Roman"/>
                <a:cs typeface="Times New Roman"/>
              </a:rPr>
              <a:t>Queue&lt;KeyType&gt;::IsFull() </a:t>
            </a:r>
            <a:r>
              <a:rPr sz="2000" spc="-5" dirty="0">
                <a:latin typeface="Times New Roman"/>
                <a:cs typeface="Times New Roman"/>
              </a:rPr>
              <a:t>{  if (rear==MaxSize-1) return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TRUE;</a:t>
            </a:r>
            <a:endParaRPr sz="2000">
              <a:latin typeface="Times New Roman"/>
              <a:cs typeface="Times New Roman"/>
            </a:endParaRPr>
          </a:p>
          <a:p>
            <a:pPr marL="201930">
              <a:lnSpc>
                <a:spcPts val="2010"/>
              </a:lnSpc>
            </a:pPr>
            <a:r>
              <a:rPr sz="2000" spc="-5" dirty="0">
                <a:latin typeface="Times New Roman"/>
                <a:cs typeface="Times New Roman"/>
              </a:rPr>
              <a:t>else return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FALSE;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77873" y="5697220"/>
            <a:ext cx="4704080" cy="865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template&lt;classs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KeyType&gt;</a:t>
            </a:r>
            <a:endParaRPr sz="2000">
              <a:latin typeface="Times New Roman"/>
              <a:cs typeface="Times New Roman"/>
            </a:endParaRPr>
          </a:p>
          <a:p>
            <a:pPr marL="201930" marR="5080" indent="-189865">
              <a:lnSpc>
                <a:spcPts val="2160"/>
              </a:lnSpc>
              <a:spcBef>
                <a:spcPts val="150"/>
              </a:spcBef>
            </a:pPr>
            <a:r>
              <a:rPr sz="2000" spc="-5" dirty="0">
                <a:latin typeface="Times New Roman"/>
                <a:cs typeface="Times New Roman"/>
              </a:rPr>
              <a:t>inline Boolean </a:t>
            </a:r>
            <a:r>
              <a:rPr sz="2000" spc="-10" dirty="0">
                <a:latin typeface="Times New Roman"/>
                <a:cs typeface="Times New Roman"/>
              </a:rPr>
              <a:t>Stack&lt;KeyType&gt;::IsEmpty() </a:t>
            </a:r>
            <a:r>
              <a:rPr sz="2000" spc="-5" dirty="0">
                <a:latin typeface="Times New Roman"/>
                <a:cs typeface="Times New Roman"/>
              </a:rPr>
              <a:t>{  if (front==rear) return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TRUE;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67623" y="6520180"/>
            <a:ext cx="1977389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else return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FALSE;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77898" y="6794512"/>
            <a:ext cx="14732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Add to a</a:t>
            </a:r>
            <a:r>
              <a:rPr sz="4400" spc="-65" dirty="0"/>
              <a:t> </a:t>
            </a:r>
            <a:r>
              <a:rPr sz="4400" spc="-5" dirty="0"/>
              <a:t>Queue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9590">
              <a:lnSpc>
                <a:spcPct val="100000"/>
              </a:lnSpc>
            </a:pPr>
            <a:r>
              <a:rPr sz="2400" spc="-5" dirty="0"/>
              <a:t>Template &lt;class</a:t>
            </a:r>
            <a:r>
              <a:rPr sz="2400" spc="-100" dirty="0"/>
              <a:t> </a:t>
            </a:r>
            <a:r>
              <a:rPr sz="2400" spc="-10" dirty="0"/>
              <a:t>KeyType&gt;</a:t>
            </a:r>
            <a:endParaRPr sz="2400"/>
          </a:p>
          <a:p>
            <a:pPr marL="529590">
              <a:lnSpc>
                <a:spcPct val="100000"/>
              </a:lnSpc>
            </a:pPr>
            <a:r>
              <a:rPr sz="2400" spc="-5" dirty="0"/>
              <a:t>void Queue&lt;KeyType&gt;::Add(const KeyType&amp;</a:t>
            </a:r>
            <a:r>
              <a:rPr sz="2400" spc="-135" dirty="0"/>
              <a:t> </a:t>
            </a:r>
            <a:r>
              <a:rPr sz="2400" spc="-5" dirty="0"/>
              <a:t>x)</a:t>
            </a:r>
            <a:endParaRPr sz="2400"/>
          </a:p>
          <a:p>
            <a:pPr marL="529590">
              <a:lnSpc>
                <a:spcPct val="100000"/>
              </a:lnSpc>
            </a:pPr>
            <a:r>
              <a:rPr sz="2400" spc="-5" dirty="0"/>
              <a:t>{</a:t>
            </a:r>
            <a:endParaRPr sz="2400"/>
          </a:p>
          <a:p>
            <a:pPr marL="894080" marR="551815">
              <a:lnSpc>
                <a:spcPct val="100000"/>
              </a:lnSpc>
            </a:pPr>
            <a:r>
              <a:rPr sz="2400" spc="-5" dirty="0"/>
              <a:t>/* add an item to the global stack</a:t>
            </a:r>
            <a:r>
              <a:rPr sz="2400" spc="-130" dirty="0"/>
              <a:t> </a:t>
            </a:r>
            <a:r>
              <a:rPr sz="2400" spc="-5" dirty="0"/>
              <a:t>*/  if</a:t>
            </a:r>
            <a:r>
              <a:rPr sz="2400" spc="-65" dirty="0"/>
              <a:t> </a:t>
            </a:r>
            <a:r>
              <a:rPr sz="2400" spc="-10" dirty="0"/>
              <a:t>(IsFull())</a:t>
            </a:r>
            <a:endParaRPr sz="2400"/>
          </a:p>
          <a:p>
            <a:pPr marL="894080" marR="4568825" indent="364490">
              <a:lnSpc>
                <a:spcPct val="100000"/>
              </a:lnSpc>
            </a:pPr>
            <a:r>
              <a:rPr sz="2400" spc="-5" dirty="0"/>
              <a:t>QueueFull(</a:t>
            </a:r>
            <a:r>
              <a:rPr sz="2400" spc="-114" dirty="0"/>
              <a:t> </a:t>
            </a:r>
            <a:r>
              <a:rPr sz="2400" spc="-10" dirty="0"/>
              <a:t>);  else</a:t>
            </a:r>
            <a:endParaRPr sz="2400"/>
          </a:p>
          <a:p>
            <a:pPr marL="1259205">
              <a:lnSpc>
                <a:spcPct val="100000"/>
              </a:lnSpc>
            </a:pPr>
            <a:r>
              <a:rPr sz="2400" spc="-10" dirty="0"/>
              <a:t>queue[</a:t>
            </a:r>
            <a:r>
              <a:rPr sz="2400" spc="-10" dirty="0">
                <a:solidFill>
                  <a:srgbClr val="FF3300"/>
                </a:solidFill>
              </a:rPr>
              <a:t>++rear</a:t>
            </a:r>
            <a:r>
              <a:rPr sz="2400" spc="-10" dirty="0"/>
              <a:t>]=x;</a:t>
            </a:r>
            <a:endParaRPr sz="2400"/>
          </a:p>
          <a:p>
            <a:pPr marL="529590">
              <a:lnSpc>
                <a:spcPct val="100000"/>
              </a:lnSpc>
            </a:pPr>
            <a:r>
              <a:rPr sz="2400" spc="-5" dirty="0"/>
              <a:t>}</a:t>
            </a:r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Delete from a</a:t>
            </a:r>
            <a:r>
              <a:rPr sz="4400" spc="-60" dirty="0"/>
              <a:t> </a:t>
            </a:r>
            <a:r>
              <a:rPr sz="4400" spc="-5" dirty="0"/>
              <a:t>Queue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50346" y="3034284"/>
            <a:ext cx="9398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stack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6923" y="1937003"/>
            <a:ext cx="6597650" cy="1828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50545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Template &lt;class KeyType&gt;  KeyType*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Queue&lt;KeyType&gt;::Delete()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377190" marR="50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 return the top element from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the  </a:t>
            </a:r>
            <a:r>
              <a:rPr sz="2400" b="1" spc="-5" dirty="0">
                <a:latin typeface="Courier New"/>
                <a:cs typeface="Courier New"/>
              </a:rPr>
              <a:t>if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(IsEmpty())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1920" y="3765803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64632" y="4131564"/>
            <a:ext cx="22167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error key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2920745"/>
            <a:ext cx="824484" cy="257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26919" y="4131564"/>
            <a:ext cx="2582545" cy="11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/* returns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and  </a:t>
            </a:r>
            <a:r>
              <a:rPr sz="2400" b="1" spc="-5" dirty="0">
                <a:latin typeface="Courier New"/>
                <a:cs typeface="Courier New"/>
              </a:rPr>
              <a:t>QueueEmpty(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);  return</a:t>
            </a:r>
            <a:r>
              <a:rPr sz="2400" b="1" spc="-114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61920" y="5228844"/>
            <a:ext cx="7539990" cy="11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23260" algn="l"/>
              </a:tabLst>
            </a:pPr>
            <a:r>
              <a:rPr sz="2400" b="1" spc="-5" dirty="0">
                <a:latin typeface="Courier New"/>
                <a:cs typeface="Courier New"/>
              </a:rPr>
              <a:t>}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Problem: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x=queue[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++front</a:t>
            </a:r>
            <a:r>
              <a:rPr sz="2400" b="1" spc="-5" dirty="0">
                <a:latin typeface="Courier New"/>
                <a:cs typeface="Courier New"/>
              </a:rPr>
              <a:t>];</a:t>
            </a:r>
            <a:r>
              <a:rPr sz="2400" b="1" spc="-625" dirty="0"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There may be available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space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223260" algn="l"/>
              </a:tabLst>
            </a:pPr>
            <a:r>
              <a:rPr sz="2400" b="1" spc="-5" dirty="0">
                <a:latin typeface="Courier New"/>
                <a:cs typeface="Courier New"/>
              </a:rPr>
              <a:t>return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x;	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when QueueFull is true i.e,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17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96923" y="6326123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72989" y="6325361"/>
            <a:ext cx="34124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movements are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required.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Probl</a:t>
            </a:r>
            <a:r>
              <a:rPr sz="4400" spc="-10" dirty="0"/>
              <a:t>em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27047" y="2372359"/>
            <a:ext cx="7510780" cy="3034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57175" indent="-342900">
              <a:lnSpc>
                <a:spcPts val="302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As the elements enter and leave the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queue,  the queue gradually shifts to the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right.</a:t>
            </a:r>
            <a:endParaRPr sz="2800">
              <a:latin typeface="Arial"/>
              <a:cs typeface="Arial"/>
            </a:endParaRPr>
          </a:p>
          <a:p>
            <a:pPr marL="755650" marR="187960" lvl="1" indent="-285750">
              <a:lnSpc>
                <a:spcPts val="2590"/>
              </a:lnSpc>
              <a:spcBef>
                <a:spcPts val="5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Eventually the rear index equals </a:t>
            </a:r>
            <a:r>
              <a:rPr sz="2400" i="1" spc="-5" dirty="0">
                <a:latin typeface="Arial"/>
                <a:cs typeface="Arial"/>
              </a:rPr>
              <a:t>MaxSize-1</a:t>
            </a:r>
            <a:r>
              <a:rPr sz="2400" spc="-5" dirty="0">
                <a:latin typeface="Arial"/>
                <a:cs typeface="Arial"/>
              </a:rPr>
              <a:t>,  suggesting that the queue is full even though the  underlying array is not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full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Solution:</a:t>
            </a:r>
            <a:endParaRPr sz="2800">
              <a:latin typeface="Arial"/>
              <a:cs typeface="Arial"/>
            </a:endParaRPr>
          </a:p>
          <a:p>
            <a:pPr marL="755650" marR="5080" lvl="1" indent="-285750">
              <a:lnSpc>
                <a:spcPts val="2590"/>
              </a:lnSpc>
              <a:spcBef>
                <a:spcPts val="62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Use a function to move the entire queue to the left  so that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front=-1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84247" y="5433821"/>
            <a:ext cx="30187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– </a:t>
            </a: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is</a:t>
            </a:r>
            <a:r>
              <a:rPr sz="2400" spc="204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time-consuming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4247" y="5836158"/>
            <a:ext cx="4298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– Time</a:t>
            </a:r>
            <a:r>
              <a:rPr sz="2400" spc="1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complexity=O(MaxSize)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91541" y="6347459"/>
            <a:ext cx="654685" cy="0"/>
          </a:xfrm>
          <a:custGeom>
            <a:avLst/>
            <a:gdLst/>
            <a:ahLst/>
            <a:cxnLst/>
            <a:rect l="l" t="t" r="r" b="b"/>
            <a:pathLst>
              <a:path w="654684">
                <a:moveTo>
                  <a:pt x="0" y="0"/>
                </a:moveTo>
                <a:lnTo>
                  <a:pt x="654557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4669" y="6347459"/>
            <a:ext cx="654050" cy="0"/>
          </a:xfrm>
          <a:custGeom>
            <a:avLst/>
            <a:gdLst/>
            <a:ahLst/>
            <a:cxnLst/>
            <a:rect l="l" t="t" r="r" b="b"/>
            <a:pathLst>
              <a:path w="654050">
                <a:moveTo>
                  <a:pt x="0" y="0"/>
                </a:moveTo>
                <a:lnTo>
                  <a:pt x="653796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74736" y="6347459"/>
            <a:ext cx="654050" cy="0"/>
          </a:xfrm>
          <a:custGeom>
            <a:avLst/>
            <a:gdLst/>
            <a:ahLst/>
            <a:cxnLst/>
            <a:rect l="l" t="t" r="r" b="b"/>
            <a:pathLst>
              <a:path w="654050">
                <a:moveTo>
                  <a:pt x="0" y="0"/>
                </a:moveTo>
                <a:lnTo>
                  <a:pt x="653796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15591" y="6347459"/>
            <a:ext cx="654685" cy="0"/>
          </a:xfrm>
          <a:custGeom>
            <a:avLst/>
            <a:gdLst/>
            <a:ahLst/>
            <a:cxnLst/>
            <a:rect l="l" t="t" r="r" b="b"/>
            <a:pathLst>
              <a:path w="654684">
                <a:moveTo>
                  <a:pt x="0" y="0"/>
                </a:moveTo>
                <a:lnTo>
                  <a:pt x="654557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955671" y="6347459"/>
            <a:ext cx="654050" cy="0"/>
          </a:xfrm>
          <a:custGeom>
            <a:avLst/>
            <a:gdLst/>
            <a:ahLst/>
            <a:cxnLst/>
            <a:rect l="l" t="t" r="r" b="b"/>
            <a:pathLst>
              <a:path w="654050">
                <a:moveTo>
                  <a:pt x="0" y="0"/>
                </a:moveTo>
                <a:lnTo>
                  <a:pt x="653796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278494" y="5651753"/>
            <a:ext cx="134429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89940" algn="l"/>
              </a:tabLst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fron</a:t>
            </a: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t	</a:t>
            </a:r>
            <a:r>
              <a:rPr sz="2400" spc="-10" dirty="0">
                <a:solidFill>
                  <a:srgbClr val="003365"/>
                </a:solidFill>
                <a:latin typeface="Arial"/>
                <a:cs typeface="Arial"/>
              </a:rPr>
              <a:t>rear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554846" y="6016752"/>
            <a:ext cx="76200" cy="290830"/>
          </a:xfrm>
          <a:custGeom>
            <a:avLst/>
            <a:gdLst/>
            <a:ahLst/>
            <a:cxnLst/>
            <a:rect l="l" t="t" r="r" b="b"/>
            <a:pathLst>
              <a:path w="76200" h="290829">
                <a:moveTo>
                  <a:pt x="44208" y="279432"/>
                </a:moveTo>
                <a:lnTo>
                  <a:pt x="44208" y="227075"/>
                </a:lnTo>
                <a:lnTo>
                  <a:pt x="32003" y="227075"/>
                </a:lnTo>
                <a:lnTo>
                  <a:pt x="31836" y="214565"/>
                </a:lnTo>
                <a:lnTo>
                  <a:pt x="0" y="214884"/>
                </a:lnTo>
                <a:lnTo>
                  <a:pt x="38874" y="290322"/>
                </a:lnTo>
                <a:lnTo>
                  <a:pt x="44208" y="279432"/>
                </a:lnTo>
                <a:close/>
              </a:path>
              <a:path w="76200" h="290829">
                <a:moveTo>
                  <a:pt x="44081" y="214443"/>
                </a:moveTo>
                <a:lnTo>
                  <a:pt x="41922" y="0"/>
                </a:lnTo>
                <a:lnTo>
                  <a:pt x="28968" y="0"/>
                </a:lnTo>
                <a:lnTo>
                  <a:pt x="31836" y="214565"/>
                </a:lnTo>
                <a:lnTo>
                  <a:pt x="44081" y="214443"/>
                </a:lnTo>
                <a:close/>
              </a:path>
              <a:path w="76200" h="290829">
                <a:moveTo>
                  <a:pt x="44208" y="227075"/>
                </a:moveTo>
                <a:lnTo>
                  <a:pt x="44081" y="214443"/>
                </a:lnTo>
                <a:lnTo>
                  <a:pt x="31836" y="214565"/>
                </a:lnTo>
                <a:lnTo>
                  <a:pt x="32003" y="227075"/>
                </a:lnTo>
                <a:lnTo>
                  <a:pt x="44208" y="227075"/>
                </a:lnTo>
                <a:close/>
              </a:path>
              <a:path w="76200" h="290829">
                <a:moveTo>
                  <a:pt x="76200" y="214122"/>
                </a:moveTo>
                <a:lnTo>
                  <a:pt x="44081" y="214443"/>
                </a:lnTo>
                <a:lnTo>
                  <a:pt x="44208" y="227075"/>
                </a:lnTo>
                <a:lnTo>
                  <a:pt x="44208" y="279432"/>
                </a:lnTo>
                <a:lnTo>
                  <a:pt x="76200" y="2141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240646" y="6032753"/>
            <a:ext cx="76200" cy="243204"/>
          </a:xfrm>
          <a:custGeom>
            <a:avLst/>
            <a:gdLst/>
            <a:ahLst/>
            <a:cxnLst/>
            <a:rect l="l" t="t" r="r" b="b"/>
            <a:pathLst>
              <a:path w="76200" h="243204">
                <a:moveTo>
                  <a:pt x="44970" y="230508"/>
                </a:moveTo>
                <a:lnTo>
                  <a:pt x="44970" y="179070"/>
                </a:lnTo>
                <a:lnTo>
                  <a:pt x="32003" y="179070"/>
                </a:lnTo>
                <a:lnTo>
                  <a:pt x="31897" y="166559"/>
                </a:lnTo>
                <a:lnTo>
                  <a:pt x="0" y="166878"/>
                </a:lnTo>
                <a:lnTo>
                  <a:pt x="38874" y="243078"/>
                </a:lnTo>
                <a:lnTo>
                  <a:pt x="44970" y="230508"/>
                </a:lnTo>
                <a:close/>
              </a:path>
              <a:path w="76200" h="243204">
                <a:moveTo>
                  <a:pt x="44863" y="166429"/>
                </a:moveTo>
                <a:lnTo>
                  <a:pt x="43446" y="0"/>
                </a:lnTo>
                <a:lnTo>
                  <a:pt x="30479" y="0"/>
                </a:lnTo>
                <a:lnTo>
                  <a:pt x="31897" y="166559"/>
                </a:lnTo>
                <a:lnTo>
                  <a:pt x="44863" y="166429"/>
                </a:lnTo>
                <a:close/>
              </a:path>
              <a:path w="76200" h="243204">
                <a:moveTo>
                  <a:pt x="44970" y="179070"/>
                </a:moveTo>
                <a:lnTo>
                  <a:pt x="44863" y="166429"/>
                </a:lnTo>
                <a:lnTo>
                  <a:pt x="31897" y="166559"/>
                </a:lnTo>
                <a:lnTo>
                  <a:pt x="32003" y="179070"/>
                </a:lnTo>
                <a:lnTo>
                  <a:pt x="44970" y="179070"/>
                </a:lnTo>
                <a:close/>
              </a:path>
              <a:path w="76200" h="243204">
                <a:moveTo>
                  <a:pt x="76200" y="166116"/>
                </a:moveTo>
                <a:lnTo>
                  <a:pt x="44863" y="166429"/>
                </a:lnTo>
                <a:lnTo>
                  <a:pt x="44970" y="230508"/>
                </a:lnTo>
                <a:lnTo>
                  <a:pt x="76200" y="166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961767" y="6352032"/>
            <a:ext cx="641985" cy="56324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98386" y="6352032"/>
            <a:ext cx="641350" cy="563245"/>
          </a:xfrm>
          <a:custGeom>
            <a:avLst/>
            <a:gdLst/>
            <a:ahLst/>
            <a:cxnLst/>
            <a:rect l="l" t="t" r="r" b="b"/>
            <a:pathLst>
              <a:path w="641350" h="563245">
                <a:moveTo>
                  <a:pt x="0" y="0"/>
                </a:moveTo>
                <a:lnTo>
                  <a:pt x="0" y="563118"/>
                </a:lnTo>
                <a:lnTo>
                  <a:pt x="640841" y="563118"/>
                </a:lnTo>
                <a:lnTo>
                  <a:pt x="64084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91541" y="6349746"/>
            <a:ext cx="654685" cy="571500"/>
          </a:xfrm>
          <a:custGeom>
            <a:avLst/>
            <a:gdLst/>
            <a:ahLst/>
            <a:cxnLst/>
            <a:rect l="l" t="t" r="r" b="b"/>
            <a:pathLst>
              <a:path w="654684" h="571500">
                <a:moveTo>
                  <a:pt x="654557" y="571500"/>
                </a:moveTo>
                <a:lnTo>
                  <a:pt x="654557" y="0"/>
                </a:lnTo>
                <a:lnTo>
                  <a:pt x="0" y="0"/>
                </a:lnTo>
                <a:lnTo>
                  <a:pt x="0" y="571500"/>
                </a:lnTo>
                <a:lnTo>
                  <a:pt x="6845" y="571500"/>
                </a:lnTo>
                <a:lnTo>
                  <a:pt x="6845" y="8381"/>
                </a:lnTo>
                <a:lnTo>
                  <a:pt x="12941" y="2286"/>
                </a:lnTo>
                <a:lnTo>
                  <a:pt x="12941" y="8381"/>
                </a:lnTo>
                <a:lnTo>
                  <a:pt x="641603" y="8381"/>
                </a:lnTo>
                <a:lnTo>
                  <a:pt x="641603" y="2286"/>
                </a:lnTo>
                <a:lnTo>
                  <a:pt x="647699" y="8381"/>
                </a:lnTo>
                <a:lnTo>
                  <a:pt x="647699" y="571500"/>
                </a:lnTo>
                <a:lnTo>
                  <a:pt x="654557" y="571500"/>
                </a:lnTo>
                <a:close/>
              </a:path>
              <a:path w="654684" h="571500">
                <a:moveTo>
                  <a:pt x="12941" y="8381"/>
                </a:moveTo>
                <a:lnTo>
                  <a:pt x="12941" y="2286"/>
                </a:lnTo>
                <a:lnTo>
                  <a:pt x="6845" y="8381"/>
                </a:lnTo>
                <a:lnTo>
                  <a:pt x="12941" y="8381"/>
                </a:lnTo>
                <a:close/>
              </a:path>
              <a:path w="654684" h="571500">
                <a:moveTo>
                  <a:pt x="12941" y="559308"/>
                </a:moveTo>
                <a:lnTo>
                  <a:pt x="12941" y="8381"/>
                </a:lnTo>
                <a:lnTo>
                  <a:pt x="6845" y="8381"/>
                </a:lnTo>
                <a:lnTo>
                  <a:pt x="6845" y="559308"/>
                </a:lnTo>
                <a:lnTo>
                  <a:pt x="12941" y="559308"/>
                </a:lnTo>
                <a:close/>
              </a:path>
              <a:path w="654684" h="571500">
                <a:moveTo>
                  <a:pt x="647699" y="559308"/>
                </a:moveTo>
                <a:lnTo>
                  <a:pt x="6845" y="559308"/>
                </a:lnTo>
                <a:lnTo>
                  <a:pt x="12941" y="565404"/>
                </a:lnTo>
                <a:lnTo>
                  <a:pt x="12941" y="571500"/>
                </a:lnTo>
                <a:lnTo>
                  <a:pt x="641603" y="571500"/>
                </a:lnTo>
                <a:lnTo>
                  <a:pt x="641603" y="565404"/>
                </a:lnTo>
                <a:lnTo>
                  <a:pt x="647699" y="559308"/>
                </a:lnTo>
                <a:close/>
              </a:path>
              <a:path w="654684" h="571500">
                <a:moveTo>
                  <a:pt x="12941" y="571500"/>
                </a:moveTo>
                <a:lnTo>
                  <a:pt x="12941" y="565404"/>
                </a:lnTo>
                <a:lnTo>
                  <a:pt x="6845" y="559308"/>
                </a:lnTo>
                <a:lnTo>
                  <a:pt x="6845" y="571500"/>
                </a:lnTo>
                <a:lnTo>
                  <a:pt x="12941" y="571500"/>
                </a:lnTo>
                <a:close/>
              </a:path>
              <a:path w="654684" h="571500">
                <a:moveTo>
                  <a:pt x="647699" y="8381"/>
                </a:moveTo>
                <a:lnTo>
                  <a:pt x="641603" y="2286"/>
                </a:lnTo>
                <a:lnTo>
                  <a:pt x="641603" y="8381"/>
                </a:lnTo>
                <a:lnTo>
                  <a:pt x="647699" y="8381"/>
                </a:lnTo>
                <a:close/>
              </a:path>
              <a:path w="654684" h="571500">
                <a:moveTo>
                  <a:pt x="647699" y="559308"/>
                </a:moveTo>
                <a:lnTo>
                  <a:pt x="647699" y="8381"/>
                </a:lnTo>
                <a:lnTo>
                  <a:pt x="641603" y="8381"/>
                </a:lnTo>
                <a:lnTo>
                  <a:pt x="641603" y="559308"/>
                </a:lnTo>
                <a:lnTo>
                  <a:pt x="647699" y="559308"/>
                </a:lnTo>
                <a:close/>
              </a:path>
              <a:path w="654684" h="571500">
                <a:moveTo>
                  <a:pt x="647699" y="571500"/>
                </a:moveTo>
                <a:lnTo>
                  <a:pt x="647699" y="559308"/>
                </a:lnTo>
                <a:lnTo>
                  <a:pt x="641603" y="565404"/>
                </a:lnTo>
                <a:lnTo>
                  <a:pt x="641603" y="571500"/>
                </a:lnTo>
                <a:lnTo>
                  <a:pt x="647699" y="5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40765" y="6352032"/>
            <a:ext cx="641985" cy="563245"/>
          </a:xfrm>
          <a:custGeom>
            <a:avLst/>
            <a:gdLst/>
            <a:ahLst/>
            <a:cxnLst/>
            <a:rect l="l" t="t" r="r" b="b"/>
            <a:pathLst>
              <a:path w="641984" h="563245">
                <a:moveTo>
                  <a:pt x="0" y="0"/>
                </a:moveTo>
                <a:lnTo>
                  <a:pt x="0" y="563118"/>
                </a:lnTo>
                <a:lnTo>
                  <a:pt x="641603" y="563118"/>
                </a:lnTo>
                <a:lnTo>
                  <a:pt x="64160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34669" y="6349746"/>
            <a:ext cx="654050" cy="571500"/>
          </a:xfrm>
          <a:custGeom>
            <a:avLst/>
            <a:gdLst/>
            <a:ahLst/>
            <a:cxnLst/>
            <a:rect l="l" t="t" r="r" b="b"/>
            <a:pathLst>
              <a:path w="654050" h="571500">
                <a:moveTo>
                  <a:pt x="653796" y="571500"/>
                </a:moveTo>
                <a:lnTo>
                  <a:pt x="653796" y="0"/>
                </a:lnTo>
                <a:lnTo>
                  <a:pt x="0" y="0"/>
                </a:lnTo>
                <a:lnTo>
                  <a:pt x="0" y="571500"/>
                </a:lnTo>
                <a:lnTo>
                  <a:pt x="6096" y="571500"/>
                </a:lnTo>
                <a:lnTo>
                  <a:pt x="6096" y="8381"/>
                </a:lnTo>
                <a:lnTo>
                  <a:pt x="12941" y="2286"/>
                </a:lnTo>
                <a:lnTo>
                  <a:pt x="12941" y="8381"/>
                </a:lnTo>
                <a:lnTo>
                  <a:pt x="641604" y="8381"/>
                </a:lnTo>
                <a:lnTo>
                  <a:pt x="641604" y="2286"/>
                </a:lnTo>
                <a:lnTo>
                  <a:pt x="647700" y="8381"/>
                </a:lnTo>
                <a:lnTo>
                  <a:pt x="647700" y="571500"/>
                </a:lnTo>
                <a:lnTo>
                  <a:pt x="653796" y="571500"/>
                </a:lnTo>
                <a:close/>
              </a:path>
              <a:path w="654050" h="571500">
                <a:moveTo>
                  <a:pt x="12941" y="8381"/>
                </a:moveTo>
                <a:lnTo>
                  <a:pt x="12941" y="2286"/>
                </a:lnTo>
                <a:lnTo>
                  <a:pt x="6096" y="8381"/>
                </a:lnTo>
                <a:lnTo>
                  <a:pt x="12941" y="8381"/>
                </a:lnTo>
                <a:close/>
              </a:path>
              <a:path w="654050" h="571500">
                <a:moveTo>
                  <a:pt x="12941" y="559308"/>
                </a:moveTo>
                <a:lnTo>
                  <a:pt x="12941" y="8381"/>
                </a:lnTo>
                <a:lnTo>
                  <a:pt x="6096" y="8381"/>
                </a:lnTo>
                <a:lnTo>
                  <a:pt x="6096" y="559308"/>
                </a:lnTo>
                <a:lnTo>
                  <a:pt x="12941" y="559308"/>
                </a:lnTo>
                <a:close/>
              </a:path>
              <a:path w="654050" h="571500">
                <a:moveTo>
                  <a:pt x="647700" y="559308"/>
                </a:moveTo>
                <a:lnTo>
                  <a:pt x="6096" y="559308"/>
                </a:lnTo>
                <a:lnTo>
                  <a:pt x="12941" y="565404"/>
                </a:lnTo>
                <a:lnTo>
                  <a:pt x="12941" y="571500"/>
                </a:lnTo>
                <a:lnTo>
                  <a:pt x="641604" y="571500"/>
                </a:lnTo>
                <a:lnTo>
                  <a:pt x="641604" y="565404"/>
                </a:lnTo>
                <a:lnTo>
                  <a:pt x="647700" y="559308"/>
                </a:lnTo>
                <a:close/>
              </a:path>
              <a:path w="654050" h="571500">
                <a:moveTo>
                  <a:pt x="12941" y="571500"/>
                </a:moveTo>
                <a:lnTo>
                  <a:pt x="12941" y="565404"/>
                </a:lnTo>
                <a:lnTo>
                  <a:pt x="6096" y="559308"/>
                </a:lnTo>
                <a:lnTo>
                  <a:pt x="6096" y="571500"/>
                </a:lnTo>
                <a:lnTo>
                  <a:pt x="12941" y="571500"/>
                </a:lnTo>
                <a:close/>
              </a:path>
              <a:path w="654050" h="571500">
                <a:moveTo>
                  <a:pt x="647700" y="8381"/>
                </a:moveTo>
                <a:lnTo>
                  <a:pt x="641604" y="2286"/>
                </a:lnTo>
                <a:lnTo>
                  <a:pt x="641604" y="8381"/>
                </a:lnTo>
                <a:lnTo>
                  <a:pt x="647700" y="8381"/>
                </a:lnTo>
                <a:close/>
              </a:path>
              <a:path w="654050" h="571500">
                <a:moveTo>
                  <a:pt x="647700" y="559308"/>
                </a:moveTo>
                <a:lnTo>
                  <a:pt x="647700" y="8381"/>
                </a:lnTo>
                <a:lnTo>
                  <a:pt x="641604" y="8381"/>
                </a:lnTo>
                <a:lnTo>
                  <a:pt x="641604" y="559308"/>
                </a:lnTo>
                <a:lnTo>
                  <a:pt x="647700" y="559308"/>
                </a:lnTo>
                <a:close/>
              </a:path>
              <a:path w="654050" h="571500">
                <a:moveTo>
                  <a:pt x="647700" y="571500"/>
                </a:moveTo>
                <a:lnTo>
                  <a:pt x="647700" y="559308"/>
                </a:lnTo>
                <a:lnTo>
                  <a:pt x="641604" y="565404"/>
                </a:lnTo>
                <a:lnTo>
                  <a:pt x="641604" y="571500"/>
                </a:lnTo>
                <a:lnTo>
                  <a:pt x="647700" y="5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80845" y="6352032"/>
            <a:ext cx="641985" cy="563245"/>
          </a:xfrm>
          <a:custGeom>
            <a:avLst/>
            <a:gdLst/>
            <a:ahLst/>
            <a:cxnLst/>
            <a:rect l="l" t="t" r="r" b="b"/>
            <a:pathLst>
              <a:path w="641984" h="563245">
                <a:moveTo>
                  <a:pt x="0" y="0"/>
                </a:moveTo>
                <a:lnTo>
                  <a:pt x="0" y="563118"/>
                </a:lnTo>
                <a:lnTo>
                  <a:pt x="641603" y="563118"/>
                </a:lnTo>
                <a:lnTo>
                  <a:pt x="64160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74736" y="6349746"/>
            <a:ext cx="654050" cy="571500"/>
          </a:xfrm>
          <a:custGeom>
            <a:avLst/>
            <a:gdLst/>
            <a:ahLst/>
            <a:cxnLst/>
            <a:rect l="l" t="t" r="r" b="b"/>
            <a:pathLst>
              <a:path w="654050" h="571500">
                <a:moveTo>
                  <a:pt x="653796" y="571500"/>
                </a:moveTo>
                <a:lnTo>
                  <a:pt x="653796" y="0"/>
                </a:lnTo>
                <a:lnTo>
                  <a:pt x="0" y="0"/>
                </a:lnTo>
                <a:lnTo>
                  <a:pt x="0" y="571500"/>
                </a:lnTo>
                <a:lnTo>
                  <a:pt x="6108" y="571500"/>
                </a:lnTo>
                <a:lnTo>
                  <a:pt x="6108" y="8381"/>
                </a:lnTo>
                <a:lnTo>
                  <a:pt x="12204" y="2286"/>
                </a:lnTo>
                <a:lnTo>
                  <a:pt x="12204" y="8381"/>
                </a:lnTo>
                <a:lnTo>
                  <a:pt x="640854" y="8381"/>
                </a:lnTo>
                <a:lnTo>
                  <a:pt x="640854" y="2286"/>
                </a:lnTo>
                <a:lnTo>
                  <a:pt x="647700" y="8381"/>
                </a:lnTo>
                <a:lnTo>
                  <a:pt x="647700" y="571500"/>
                </a:lnTo>
                <a:lnTo>
                  <a:pt x="653796" y="571500"/>
                </a:lnTo>
                <a:close/>
              </a:path>
              <a:path w="654050" h="571500">
                <a:moveTo>
                  <a:pt x="12204" y="8381"/>
                </a:moveTo>
                <a:lnTo>
                  <a:pt x="12204" y="2286"/>
                </a:lnTo>
                <a:lnTo>
                  <a:pt x="6108" y="8381"/>
                </a:lnTo>
                <a:lnTo>
                  <a:pt x="12204" y="8381"/>
                </a:lnTo>
                <a:close/>
              </a:path>
              <a:path w="654050" h="571500">
                <a:moveTo>
                  <a:pt x="12204" y="559308"/>
                </a:moveTo>
                <a:lnTo>
                  <a:pt x="12204" y="8381"/>
                </a:lnTo>
                <a:lnTo>
                  <a:pt x="6108" y="8381"/>
                </a:lnTo>
                <a:lnTo>
                  <a:pt x="6108" y="559308"/>
                </a:lnTo>
                <a:lnTo>
                  <a:pt x="12204" y="559308"/>
                </a:lnTo>
                <a:close/>
              </a:path>
              <a:path w="654050" h="571500">
                <a:moveTo>
                  <a:pt x="647700" y="559308"/>
                </a:moveTo>
                <a:lnTo>
                  <a:pt x="6108" y="559308"/>
                </a:lnTo>
                <a:lnTo>
                  <a:pt x="12204" y="565404"/>
                </a:lnTo>
                <a:lnTo>
                  <a:pt x="12204" y="571500"/>
                </a:lnTo>
                <a:lnTo>
                  <a:pt x="640854" y="571500"/>
                </a:lnTo>
                <a:lnTo>
                  <a:pt x="640854" y="565404"/>
                </a:lnTo>
                <a:lnTo>
                  <a:pt x="647700" y="559308"/>
                </a:lnTo>
                <a:close/>
              </a:path>
              <a:path w="654050" h="571500">
                <a:moveTo>
                  <a:pt x="12204" y="571500"/>
                </a:moveTo>
                <a:lnTo>
                  <a:pt x="12204" y="565404"/>
                </a:lnTo>
                <a:lnTo>
                  <a:pt x="6108" y="559308"/>
                </a:lnTo>
                <a:lnTo>
                  <a:pt x="6108" y="571500"/>
                </a:lnTo>
                <a:lnTo>
                  <a:pt x="12204" y="571500"/>
                </a:lnTo>
                <a:close/>
              </a:path>
              <a:path w="654050" h="571500">
                <a:moveTo>
                  <a:pt x="647700" y="8381"/>
                </a:moveTo>
                <a:lnTo>
                  <a:pt x="640854" y="2286"/>
                </a:lnTo>
                <a:lnTo>
                  <a:pt x="640854" y="8381"/>
                </a:lnTo>
                <a:lnTo>
                  <a:pt x="647700" y="8381"/>
                </a:lnTo>
                <a:close/>
              </a:path>
              <a:path w="654050" h="571500">
                <a:moveTo>
                  <a:pt x="647700" y="559308"/>
                </a:moveTo>
                <a:lnTo>
                  <a:pt x="647700" y="8381"/>
                </a:lnTo>
                <a:lnTo>
                  <a:pt x="640854" y="8381"/>
                </a:lnTo>
                <a:lnTo>
                  <a:pt x="640854" y="559308"/>
                </a:lnTo>
                <a:lnTo>
                  <a:pt x="647700" y="559308"/>
                </a:lnTo>
                <a:close/>
              </a:path>
              <a:path w="654050" h="571500">
                <a:moveTo>
                  <a:pt x="647700" y="571500"/>
                </a:moveTo>
                <a:lnTo>
                  <a:pt x="647700" y="559308"/>
                </a:lnTo>
                <a:lnTo>
                  <a:pt x="640854" y="565404"/>
                </a:lnTo>
                <a:lnTo>
                  <a:pt x="640854" y="571500"/>
                </a:lnTo>
                <a:lnTo>
                  <a:pt x="647700" y="5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322436" y="6352032"/>
            <a:ext cx="641350" cy="563245"/>
          </a:xfrm>
          <a:custGeom>
            <a:avLst/>
            <a:gdLst/>
            <a:ahLst/>
            <a:cxnLst/>
            <a:rect l="l" t="t" r="r" b="b"/>
            <a:pathLst>
              <a:path w="641350" h="563245">
                <a:moveTo>
                  <a:pt x="0" y="0"/>
                </a:moveTo>
                <a:lnTo>
                  <a:pt x="0" y="563118"/>
                </a:lnTo>
                <a:lnTo>
                  <a:pt x="640842" y="563118"/>
                </a:lnTo>
                <a:lnTo>
                  <a:pt x="64084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315591" y="6349746"/>
            <a:ext cx="654685" cy="571500"/>
          </a:xfrm>
          <a:custGeom>
            <a:avLst/>
            <a:gdLst/>
            <a:ahLst/>
            <a:cxnLst/>
            <a:rect l="l" t="t" r="r" b="b"/>
            <a:pathLst>
              <a:path w="654684" h="571500">
                <a:moveTo>
                  <a:pt x="654557" y="571500"/>
                </a:moveTo>
                <a:lnTo>
                  <a:pt x="654557" y="0"/>
                </a:lnTo>
                <a:lnTo>
                  <a:pt x="0" y="0"/>
                </a:lnTo>
                <a:lnTo>
                  <a:pt x="0" y="571500"/>
                </a:lnTo>
                <a:lnTo>
                  <a:pt x="6845" y="571500"/>
                </a:lnTo>
                <a:lnTo>
                  <a:pt x="6845" y="8381"/>
                </a:lnTo>
                <a:lnTo>
                  <a:pt x="12954" y="2286"/>
                </a:lnTo>
                <a:lnTo>
                  <a:pt x="12954" y="8381"/>
                </a:lnTo>
                <a:lnTo>
                  <a:pt x="641604" y="8381"/>
                </a:lnTo>
                <a:lnTo>
                  <a:pt x="641604" y="2286"/>
                </a:lnTo>
                <a:lnTo>
                  <a:pt x="647700" y="8381"/>
                </a:lnTo>
                <a:lnTo>
                  <a:pt x="647700" y="571500"/>
                </a:lnTo>
                <a:lnTo>
                  <a:pt x="654557" y="571500"/>
                </a:lnTo>
                <a:close/>
              </a:path>
              <a:path w="654684" h="571500">
                <a:moveTo>
                  <a:pt x="12954" y="8381"/>
                </a:moveTo>
                <a:lnTo>
                  <a:pt x="12954" y="2286"/>
                </a:lnTo>
                <a:lnTo>
                  <a:pt x="6845" y="8381"/>
                </a:lnTo>
                <a:lnTo>
                  <a:pt x="12954" y="8381"/>
                </a:lnTo>
                <a:close/>
              </a:path>
              <a:path w="654684" h="571500">
                <a:moveTo>
                  <a:pt x="12954" y="559308"/>
                </a:moveTo>
                <a:lnTo>
                  <a:pt x="12954" y="8381"/>
                </a:lnTo>
                <a:lnTo>
                  <a:pt x="6845" y="8381"/>
                </a:lnTo>
                <a:lnTo>
                  <a:pt x="6845" y="559308"/>
                </a:lnTo>
                <a:lnTo>
                  <a:pt x="12954" y="559308"/>
                </a:lnTo>
                <a:close/>
              </a:path>
              <a:path w="654684" h="571500">
                <a:moveTo>
                  <a:pt x="647700" y="559308"/>
                </a:moveTo>
                <a:lnTo>
                  <a:pt x="6845" y="559308"/>
                </a:lnTo>
                <a:lnTo>
                  <a:pt x="12954" y="565404"/>
                </a:lnTo>
                <a:lnTo>
                  <a:pt x="12954" y="571500"/>
                </a:lnTo>
                <a:lnTo>
                  <a:pt x="641604" y="571500"/>
                </a:lnTo>
                <a:lnTo>
                  <a:pt x="641604" y="565404"/>
                </a:lnTo>
                <a:lnTo>
                  <a:pt x="647700" y="559308"/>
                </a:lnTo>
                <a:close/>
              </a:path>
              <a:path w="654684" h="571500">
                <a:moveTo>
                  <a:pt x="12954" y="571500"/>
                </a:moveTo>
                <a:lnTo>
                  <a:pt x="12954" y="565404"/>
                </a:lnTo>
                <a:lnTo>
                  <a:pt x="6845" y="559308"/>
                </a:lnTo>
                <a:lnTo>
                  <a:pt x="6845" y="571500"/>
                </a:lnTo>
                <a:lnTo>
                  <a:pt x="12954" y="571500"/>
                </a:lnTo>
                <a:close/>
              </a:path>
              <a:path w="654684" h="571500">
                <a:moveTo>
                  <a:pt x="647700" y="8381"/>
                </a:moveTo>
                <a:lnTo>
                  <a:pt x="641604" y="2286"/>
                </a:lnTo>
                <a:lnTo>
                  <a:pt x="641604" y="8381"/>
                </a:lnTo>
                <a:lnTo>
                  <a:pt x="647700" y="8381"/>
                </a:lnTo>
                <a:close/>
              </a:path>
              <a:path w="654684" h="571500">
                <a:moveTo>
                  <a:pt x="647700" y="559308"/>
                </a:moveTo>
                <a:lnTo>
                  <a:pt x="647700" y="8381"/>
                </a:lnTo>
                <a:lnTo>
                  <a:pt x="641604" y="8381"/>
                </a:lnTo>
                <a:lnTo>
                  <a:pt x="641604" y="559308"/>
                </a:lnTo>
                <a:lnTo>
                  <a:pt x="647700" y="559308"/>
                </a:lnTo>
                <a:close/>
              </a:path>
              <a:path w="654684" h="571500">
                <a:moveTo>
                  <a:pt x="647700" y="571500"/>
                </a:moveTo>
                <a:lnTo>
                  <a:pt x="647700" y="559308"/>
                </a:lnTo>
                <a:lnTo>
                  <a:pt x="641604" y="565404"/>
                </a:lnTo>
                <a:lnTo>
                  <a:pt x="641604" y="571500"/>
                </a:lnTo>
                <a:lnTo>
                  <a:pt x="647700" y="5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961767" y="6352032"/>
            <a:ext cx="641985" cy="563245"/>
          </a:xfrm>
          <a:custGeom>
            <a:avLst/>
            <a:gdLst/>
            <a:ahLst/>
            <a:cxnLst/>
            <a:rect l="l" t="t" r="r" b="b"/>
            <a:pathLst>
              <a:path w="641984" h="563245">
                <a:moveTo>
                  <a:pt x="0" y="0"/>
                </a:moveTo>
                <a:lnTo>
                  <a:pt x="0" y="563118"/>
                </a:lnTo>
                <a:lnTo>
                  <a:pt x="641603" y="563118"/>
                </a:lnTo>
                <a:lnTo>
                  <a:pt x="64160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955671" y="6349746"/>
            <a:ext cx="654050" cy="571500"/>
          </a:xfrm>
          <a:custGeom>
            <a:avLst/>
            <a:gdLst/>
            <a:ahLst/>
            <a:cxnLst/>
            <a:rect l="l" t="t" r="r" b="b"/>
            <a:pathLst>
              <a:path w="654050" h="571500">
                <a:moveTo>
                  <a:pt x="653796" y="571500"/>
                </a:moveTo>
                <a:lnTo>
                  <a:pt x="653796" y="0"/>
                </a:lnTo>
                <a:lnTo>
                  <a:pt x="0" y="0"/>
                </a:lnTo>
                <a:lnTo>
                  <a:pt x="0" y="571500"/>
                </a:lnTo>
                <a:lnTo>
                  <a:pt x="6095" y="571500"/>
                </a:lnTo>
                <a:lnTo>
                  <a:pt x="6095" y="8381"/>
                </a:lnTo>
                <a:lnTo>
                  <a:pt x="12953" y="2286"/>
                </a:lnTo>
                <a:lnTo>
                  <a:pt x="12953" y="8381"/>
                </a:lnTo>
                <a:lnTo>
                  <a:pt x="641603" y="8381"/>
                </a:lnTo>
                <a:lnTo>
                  <a:pt x="641603" y="2286"/>
                </a:lnTo>
                <a:lnTo>
                  <a:pt x="647700" y="8381"/>
                </a:lnTo>
                <a:lnTo>
                  <a:pt x="647700" y="571500"/>
                </a:lnTo>
                <a:lnTo>
                  <a:pt x="653796" y="571500"/>
                </a:lnTo>
                <a:close/>
              </a:path>
              <a:path w="654050" h="571500">
                <a:moveTo>
                  <a:pt x="12953" y="8381"/>
                </a:moveTo>
                <a:lnTo>
                  <a:pt x="12953" y="2286"/>
                </a:lnTo>
                <a:lnTo>
                  <a:pt x="6095" y="8381"/>
                </a:lnTo>
                <a:lnTo>
                  <a:pt x="12953" y="8381"/>
                </a:lnTo>
                <a:close/>
              </a:path>
              <a:path w="654050" h="571500">
                <a:moveTo>
                  <a:pt x="12953" y="559308"/>
                </a:moveTo>
                <a:lnTo>
                  <a:pt x="12953" y="8381"/>
                </a:lnTo>
                <a:lnTo>
                  <a:pt x="6095" y="8381"/>
                </a:lnTo>
                <a:lnTo>
                  <a:pt x="6095" y="559308"/>
                </a:lnTo>
                <a:lnTo>
                  <a:pt x="12953" y="559308"/>
                </a:lnTo>
                <a:close/>
              </a:path>
              <a:path w="654050" h="571500">
                <a:moveTo>
                  <a:pt x="647700" y="559308"/>
                </a:moveTo>
                <a:lnTo>
                  <a:pt x="6095" y="559308"/>
                </a:lnTo>
                <a:lnTo>
                  <a:pt x="12953" y="565404"/>
                </a:lnTo>
                <a:lnTo>
                  <a:pt x="12953" y="571500"/>
                </a:lnTo>
                <a:lnTo>
                  <a:pt x="641603" y="571500"/>
                </a:lnTo>
                <a:lnTo>
                  <a:pt x="641603" y="565404"/>
                </a:lnTo>
                <a:lnTo>
                  <a:pt x="647700" y="559308"/>
                </a:lnTo>
                <a:close/>
              </a:path>
              <a:path w="654050" h="571500">
                <a:moveTo>
                  <a:pt x="12953" y="571500"/>
                </a:moveTo>
                <a:lnTo>
                  <a:pt x="12953" y="565404"/>
                </a:lnTo>
                <a:lnTo>
                  <a:pt x="6095" y="559308"/>
                </a:lnTo>
                <a:lnTo>
                  <a:pt x="6095" y="571500"/>
                </a:lnTo>
                <a:lnTo>
                  <a:pt x="12953" y="571500"/>
                </a:lnTo>
                <a:close/>
              </a:path>
              <a:path w="654050" h="571500">
                <a:moveTo>
                  <a:pt x="647700" y="8381"/>
                </a:moveTo>
                <a:lnTo>
                  <a:pt x="641603" y="2286"/>
                </a:lnTo>
                <a:lnTo>
                  <a:pt x="641603" y="8381"/>
                </a:lnTo>
                <a:lnTo>
                  <a:pt x="647700" y="8381"/>
                </a:lnTo>
                <a:close/>
              </a:path>
              <a:path w="654050" h="571500">
                <a:moveTo>
                  <a:pt x="647700" y="559308"/>
                </a:moveTo>
                <a:lnTo>
                  <a:pt x="647700" y="8381"/>
                </a:lnTo>
                <a:lnTo>
                  <a:pt x="641603" y="8381"/>
                </a:lnTo>
                <a:lnTo>
                  <a:pt x="641603" y="559308"/>
                </a:lnTo>
                <a:lnTo>
                  <a:pt x="647700" y="559308"/>
                </a:lnTo>
                <a:close/>
              </a:path>
              <a:path w="654050" h="571500">
                <a:moveTo>
                  <a:pt x="647700" y="571500"/>
                </a:moveTo>
                <a:lnTo>
                  <a:pt x="647700" y="559308"/>
                </a:lnTo>
                <a:lnTo>
                  <a:pt x="641603" y="565404"/>
                </a:lnTo>
                <a:lnTo>
                  <a:pt x="641603" y="571500"/>
                </a:lnTo>
                <a:lnTo>
                  <a:pt x="647700" y="5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733679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/>
              <a:t>Implementation 2: Regard an</a:t>
            </a:r>
            <a:r>
              <a:rPr spc="-105" dirty="0"/>
              <a:t> </a:t>
            </a:r>
            <a:r>
              <a:rPr spc="-5" dirty="0" smtClean="0"/>
              <a:t>Array</a:t>
            </a:r>
            <a:r>
              <a:rPr lang="en-US" spc="-5" dirty="0" smtClean="0"/>
              <a:t/>
            </a:r>
            <a:br>
              <a:rPr lang="en-US" spc="-5" dirty="0" smtClean="0"/>
            </a:br>
            <a:r>
              <a:rPr lang="en-US" altLang="zh-TW" dirty="0"/>
              <a:t>as a Circular</a:t>
            </a:r>
            <a:r>
              <a:rPr lang="en-US" altLang="zh-TW" spc="-114" dirty="0"/>
              <a:t> </a:t>
            </a:r>
            <a:r>
              <a:rPr lang="en-US" altLang="zh-TW" dirty="0" smtClean="0"/>
              <a:t>Queue</a:t>
            </a:r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2027047" y="2430120"/>
            <a:ext cx="7220584" cy="394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11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 smtClean="0">
                <a:latin typeface="Arial"/>
                <a:cs typeface="Arial"/>
              </a:rPr>
              <a:t>Two</a:t>
            </a:r>
            <a:r>
              <a:rPr sz="3200" spc="-90" dirty="0" smtClean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indices</a:t>
            </a:r>
            <a:endParaRPr sz="3200" dirty="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front: one position counterclockwise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from  the first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element</a:t>
            </a:r>
          </a:p>
          <a:p>
            <a:pPr marL="755015" lvl="1" indent="-285115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rear: current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end</a:t>
            </a: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Problem</a:t>
            </a:r>
            <a:endParaRPr sz="3200" dirty="0">
              <a:latin typeface="Arial"/>
              <a:cs typeface="Arial"/>
            </a:endParaRPr>
          </a:p>
          <a:p>
            <a:pPr marL="755650" marR="141605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In order to distinguish whether a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circular  queue is full or empty, one space is left  when queue is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full</a:t>
            </a:r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/>
          <p:nvPr/>
        </p:nvSpPr>
        <p:spPr>
          <a:xfrm>
            <a:off x="6162941" y="2552700"/>
            <a:ext cx="2438399" cy="266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An Example Circular</a:t>
            </a:r>
            <a:r>
              <a:rPr sz="4400" spc="-35" dirty="0"/>
              <a:t> </a:t>
            </a:r>
            <a:r>
              <a:rPr sz="4400" spc="-5" dirty="0"/>
              <a:t>Queue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3478398" y="2903422"/>
            <a:ext cx="491490" cy="0"/>
          </a:xfrm>
          <a:custGeom>
            <a:avLst/>
            <a:gdLst/>
            <a:ahLst/>
            <a:cxnLst/>
            <a:rect l="l" t="t" r="r" b="b"/>
            <a:pathLst>
              <a:path w="491489">
                <a:moveTo>
                  <a:pt x="0" y="0"/>
                </a:moveTo>
                <a:lnTo>
                  <a:pt x="491486" y="0"/>
                </a:lnTo>
              </a:path>
            </a:pathLst>
          </a:custGeom>
          <a:ln w="346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34957" y="2113788"/>
            <a:ext cx="1886585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Empty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Queue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91914" y="2920745"/>
            <a:ext cx="1864360" cy="857250"/>
          </a:xfrm>
          <a:custGeom>
            <a:avLst/>
            <a:gdLst/>
            <a:ahLst/>
            <a:cxnLst/>
            <a:rect l="l" t="t" r="r" b="b"/>
            <a:pathLst>
              <a:path w="1864360" h="857250">
                <a:moveTo>
                  <a:pt x="736587" y="0"/>
                </a:moveTo>
                <a:lnTo>
                  <a:pt x="686484" y="0"/>
                </a:lnTo>
                <a:lnTo>
                  <a:pt x="653931" y="9684"/>
                </a:lnTo>
                <a:lnTo>
                  <a:pt x="610877" y="24906"/>
                </a:lnTo>
                <a:lnTo>
                  <a:pt x="568900" y="42171"/>
                </a:lnTo>
                <a:lnTo>
                  <a:pt x="528045" y="61412"/>
                </a:lnTo>
                <a:lnTo>
                  <a:pt x="488354" y="82565"/>
                </a:lnTo>
                <a:lnTo>
                  <a:pt x="449870" y="105564"/>
                </a:lnTo>
                <a:lnTo>
                  <a:pt x="412636" y="130346"/>
                </a:lnTo>
                <a:lnTo>
                  <a:pt x="376697" y="156844"/>
                </a:lnTo>
                <a:lnTo>
                  <a:pt x="342094" y="184993"/>
                </a:lnTo>
                <a:lnTo>
                  <a:pt x="308872" y="214729"/>
                </a:lnTo>
                <a:lnTo>
                  <a:pt x="277073" y="245987"/>
                </a:lnTo>
                <a:lnTo>
                  <a:pt x="246741" y="278701"/>
                </a:lnTo>
                <a:lnTo>
                  <a:pt x="217918" y="312807"/>
                </a:lnTo>
                <a:lnTo>
                  <a:pt x="190649" y="348239"/>
                </a:lnTo>
                <a:lnTo>
                  <a:pt x="164975" y="384933"/>
                </a:lnTo>
                <a:lnTo>
                  <a:pt x="140941" y="422823"/>
                </a:lnTo>
                <a:lnTo>
                  <a:pt x="118590" y="461845"/>
                </a:lnTo>
                <a:lnTo>
                  <a:pt x="97964" y="501933"/>
                </a:lnTo>
                <a:lnTo>
                  <a:pt x="79107" y="543023"/>
                </a:lnTo>
                <a:lnTo>
                  <a:pt x="62063" y="585049"/>
                </a:lnTo>
                <a:lnTo>
                  <a:pt x="46874" y="627946"/>
                </a:lnTo>
                <a:lnTo>
                  <a:pt x="33583" y="671650"/>
                </a:lnTo>
                <a:lnTo>
                  <a:pt x="22234" y="716095"/>
                </a:lnTo>
                <a:lnTo>
                  <a:pt x="12870" y="761217"/>
                </a:lnTo>
                <a:lnTo>
                  <a:pt x="5535" y="806949"/>
                </a:lnTo>
                <a:lnTo>
                  <a:pt x="270" y="853229"/>
                </a:lnTo>
                <a:lnTo>
                  <a:pt x="0" y="857250"/>
                </a:lnTo>
                <a:lnTo>
                  <a:pt x="12790" y="857250"/>
                </a:lnTo>
                <a:lnTo>
                  <a:pt x="13189" y="851305"/>
                </a:lnTo>
                <a:lnTo>
                  <a:pt x="18656" y="804110"/>
                </a:lnTo>
                <a:lnTo>
                  <a:pt x="26331" y="757499"/>
                </a:lnTo>
                <a:lnTo>
                  <a:pt x="36163" y="711544"/>
                </a:lnTo>
                <a:lnTo>
                  <a:pt x="48103" y="666315"/>
                </a:lnTo>
                <a:lnTo>
                  <a:pt x="62099" y="621884"/>
                </a:lnTo>
                <a:lnTo>
                  <a:pt x="78102" y="578321"/>
                </a:lnTo>
                <a:lnTo>
                  <a:pt x="96060" y="535698"/>
                </a:lnTo>
                <a:lnTo>
                  <a:pt x="115923" y="494085"/>
                </a:lnTo>
                <a:lnTo>
                  <a:pt x="137640" y="453553"/>
                </a:lnTo>
                <a:lnTo>
                  <a:pt x="161162" y="414174"/>
                </a:lnTo>
                <a:lnTo>
                  <a:pt x="186437" y="376018"/>
                </a:lnTo>
                <a:lnTo>
                  <a:pt x="213415" y="339156"/>
                </a:lnTo>
                <a:lnTo>
                  <a:pt x="242045" y="303660"/>
                </a:lnTo>
                <a:lnTo>
                  <a:pt x="272277" y="269600"/>
                </a:lnTo>
                <a:lnTo>
                  <a:pt x="304061" y="237047"/>
                </a:lnTo>
                <a:lnTo>
                  <a:pt x="337345" y="206073"/>
                </a:lnTo>
                <a:lnTo>
                  <a:pt x="372080" y="176748"/>
                </a:lnTo>
                <a:lnTo>
                  <a:pt x="408215" y="149143"/>
                </a:lnTo>
                <a:lnTo>
                  <a:pt x="445699" y="123329"/>
                </a:lnTo>
                <a:lnTo>
                  <a:pt x="484482" y="99378"/>
                </a:lnTo>
                <a:lnTo>
                  <a:pt x="524513" y="77359"/>
                </a:lnTo>
                <a:lnTo>
                  <a:pt x="565741" y="57345"/>
                </a:lnTo>
                <a:lnTo>
                  <a:pt x="608117" y="39406"/>
                </a:lnTo>
                <a:lnTo>
                  <a:pt x="651590" y="23614"/>
                </a:lnTo>
                <a:lnTo>
                  <a:pt x="696109" y="10038"/>
                </a:lnTo>
                <a:lnTo>
                  <a:pt x="736587" y="0"/>
                </a:lnTo>
                <a:close/>
              </a:path>
              <a:path w="1864360" h="857250">
                <a:moveTo>
                  <a:pt x="1864036" y="857250"/>
                </a:moveTo>
                <a:lnTo>
                  <a:pt x="1857996" y="802788"/>
                </a:lnTo>
                <a:lnTo>
                  <a:pt x="1850401" y="756645"/>
                </a:lnTo>
                <a:lnTo>
                  <a:pt x="1840754" y="711184"/>
                </a:lnTo>
                <a:lnTo>
                  <a:pt x="1829102" y="666468"/>
                </a:lnTo>
                <a:lnTo>
                  <a:pt x="1815495" y="622556"/>
                </a:lnTo>
                <a:lnTo>
                  <a:pt x="1799979" y="579511"/>
                </a:lnTo>
                <a:lnTo>
                  <a:pt x="1782603" y="537395"/>
                </a:lnTo>
                <a:lnTo>
                  <a:pt x="1763414" y="496269"/>
                </a:lnTo>
                <a:lnTo>
                  <a:pt x="1742462" y="456195"/>
                </a:lnTo>
                <a:lnTo>
                  <a:pt x="1719792" y="417234"/>
                </a:lnTo>
                <a:lnTo>
                  <a:pt x="1695454" y="379448"/>
                </a:lnTo>
                <a:lnTo>
                  <a:pt x="1669496" y="342899"/>
                </a:lnTo>
                <a:lnTo>
                  <a:pt x="1641965" y="307648"/>
                </a:lnTo>
                <a:lnTo>
                  <a:pt x="1612910" y="273756"/>
                </a:lnTo>
                <a:lnTo>
                  <a:pt x="1582377" y="241287"/>
                </a:lnTo>
                <a:lnTo>
                  <a:pt x="1550416" y="210300"/>
                </a:lnTo>
                <a:lnTo>
                  <a:pt x="1517074" y="180857"/>
                </a:lnTo>
                <a:lnTo>
                  <a:pt x="1482400" y="153021"/>
                </a:lnTo>
                <a:lnTo>
                  <a:pt x="1446440" y="126853"/>
                </a:lnTo>
                <a:lnTo>
                  <a:pt x="1409244" y="102414"/>
                </a:lnTo>
                <a:lnTo>
                  <a:pt x="1370858" y="79767"/>
                </a:lnTo>
                <a:lnTo>
                  <a:pt x="1331332" y="58972"/>
                </a:lnTo>
                <a:lnTo>
                  <a:pt x="1290712" y="40091"/>
                </a:lnTo>
                <a:lnTo>
                  <a:pt x="1249047" y="23186"/>
                </a:lnTo>
                <a:lnTo>
                  <a:pt x="1206386" y="8319"/>
                </a:lnTo>
                <a:lnTo>
                  <a:pt x="1177971" y="0"/>
                </a:lnTo>
                <a:lnTo>
                  <a:pt x="1126982" y="0"/>
                </a:lnTo>
                <a:lnTo>
                  <a:pt x="1169272" y="10547"/>
                </a:lnTo>
                <a:lnTo>
                  <a:pt x="1213759" y="24165"/>
                </a:lnTo>
                <a:lnTo>
                  <a:pt x="1257185" y="39983"/>
                </a:lnTo>
                <a:lnTo>
                  <a:pt x="1299501" y="57933"/>
                </a:lnTo>
                <a:lnTo>
                  <a:pt x="1340659" y="77944"/>
                </a:lnTo>
                <a:lnTo>
                  <a:pt x="1380609" y="99947"/>
                </a:lnTo>
                <a:lnTo>
                  <a:pt x="1419304" y="123872"/>
                </a:lnTo>
                <a:lnTo>
                  <a:pt x="1456693" y="149651"/>
                </a:lnTo>
                <a:lnTo>
                  <a:pt x="1492729" y="177212"/>
                </a:lnTo>
                <a:lnTo>
                  <a:pt x="1527363" y="206487"/>
                </a:lnTo>
                <a:lnTo>
                  <a:pt x="1560545" y="237406"/>
                </a:lnTo>
                <a:lnTo>
                  <a:pt x="1592228" y="269900"/>
                </a:lnTo>
                <a:lnTo>
                  <a:pt x="1622362" y="303899"/>
                </a:lnTo>
                <a:lnTo>
                  <a:pt x="1650899" y="339332"/>
                </a:lnTo>
                <a:lnTo>
                  <a:pt x="1677790" y="376132"/>
                </a:lnTo>
                <a:lnTo>
                  <a:pt x="1702987" y="414228"/>
                </a:lnTo>
                <a:lnTo>
                  <a:pt x="1726439" y="453551"/>
                </a:lnTo>
                <a:lnTo>
                  <a:pt x="1748100" y="494031"/>
                </a:lnTo>
                <a:lnTo>
                  <a:pt x="1767919" y="535598"/>
                </a:lnTo>
                <a:lnTo>
                  <a:pt x="1785849" y="578184"/>
                </a:lnTo>
                <a:lnTo>
                  <a:pt x="1801841" y="621717"/>
                </a:lnTo>
                <a:lnTo>
                  <a:pt x="1815845" y="666130"/>
                </a:lnTo>
                <a:lnTo>
                  <a:pt x="1827813" y="711352"/>
                </a:lnTo>
                <a:lnTo>
                  <a:pt x="1837696" y="757313"/>
                </a:lnTo>
                <a:lnTo>
                  <a:pt x="1845446" y="803945"/>
                </a:lnTo>
                <a:lnTo>
                  <a:pt x="1851014" y="851177"/>
                </a:lnTo>
                <a:lnTo>
                  <a:pt x="1851438" y="857250"/>
                </a:lnTo>
                <a:lnTo>
                  <a:pt x="1864036" y="857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36811" y="3521964"/>
            <a:ext cx="683260" cy="256540"/>
          </a:xfrm>
          <a:custGeom>
            <a:avLst/>
            <a:gdLst/>
            <a:ahLst/>
            <a:cxnLst/>
            <a:rect l="l" t="t" r="r" b="b"/>
            <a:pathLst>
              <a:path w="683260" h="256539">
                <a:moveTo>
                  <a:pt x="682810" y="256032"/>
                </a:moveTo>
                <a:lnTo>
                  <a:pt x="4571" y="0"/>
                </a:lnTo>
                <a:lnTo>
                  <a:pt x="0" y="11430"/>
                </a:lnTo>
                <a:lnTo>
                  <a:pt x="646406" y="256032"/>
                </a:lnTo>
                <a:lnTo>
                  <a:pt x="682810" y="256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54737" y="3521202"/>
            <a:ext cx="755015" cy="257175"/>
          </a:xfrm>
          <a:custGeom>
            <a:avLst/>
            <a:gdLst/>
            <a:ahLst/>
            <a:cxnLst/>
            <a:rect l="l" t="t" r="r" b="b"/>
            <a:pathLst>
              <a:path w="755014" h="257175">
                <a:moveTo>
                  <a:pt x="754485" y="12192"/>
                </a:moveTo>
                <a:lnTo>
                  <a:pt x="750675" y="0"/>
                </a:lnTo>
                <a:lnTo>
                  <a:pt x="0" y="256794"/>
                </a:lnTo>
                <a:lnTo>
                  <a:pt x="40036" y="256794"/>
                </a:lnTo>
                <a:lnTo>
                  <a:pt x="754485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07136" y="3547871"/>
            <a:ext cx="659130" cy="230504"/>
          </a:xfrm>
          <a:custGeom>
            <a:avLst/>
            <a:gdLst/>
            <a:ahLst/>
            <a:cxnLst/>
            <a:rect l="l" t="t" r="r" b="b"/>
            <a:pathLst>
              <a:path w="659129" h="230504">
                <a:moveTo>
                  <a:pt x="658530" y="230124"/>
                </a:moveTo>
                <a:lnTo>
                  <a:pt x="632986" y="174413"/>
                </a:lnTo>
                <a:lnTo>
                  <a:pt x="607777" y="136970"/>
                </a:lnTo>
                <a:lnTo>
                  <a:pt x="578104" y="103155"/>
                </a:lnTo>
                <a:lnTo>
                  <a:pt x="544383" y="73388"/>
                </a:lnTo>
                <a:lnTo>
                  <a:pt x="507030" y="48090"/>
                </a:lnTo>
                <a:lnTo>
                  <a:pt x="466459" y="27682"/>
                </a:lnTo>
                <a:lnTo>
                  <a:pt x="423087" y="12583"/>
                </a:lnTo>
                <a:lnTo>
                  <a:pt x="377327" y="3216"/>
                </a:lnTo>
                <a:lnTo>
                  <a:pt x="329597" y="0"/>
                </a:lnTo>
                <a:lnTo>
                  <a:pt x="281852" y="3216"/>
                </a:lnTo>
                <a:lnTo>
                  <a:pt x="236051" y="12583"/>
                </a:lnTo>
                <a:lnTo>
                  <a:pt x="192616" y="27682"/>
                </a:lnTo>
                <a:lnTo>
                  <a:pt x="151966" y="48090"/>
                </a:lnTo>
                <a:lnTo>
                  <a:pt x="114524" y="73388"/>
                </a:lnTo>
                <a:lnTo>
                  <a:pt x="80709" y="103155"/>
                </a:lnTo>
                <a:lnTo>
                  <a:pt x="50942" y="136970"/>
                </a:lnTo>
                <a:lnTo>
                  <a:pt x="25644" y="174413"/>
                </a:lnTo>
                <a:lnTo>
                  <a:pt x="5235" y="215062"/>
                </a:lnTo>
                <a:lnTo>
                  <a:pt x="0" y="230124"/>
                </a:lnTo>
                <a:lnTo>
                  <a:pt x="658530" y="230124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00609" y="3542538"/>
            <a:ext cx="672465" cy="235585"/>
          </a:xfrm>
          <a:custGeom>
            <a:avLst/>
            <a:gdLst/>
            <a:ahLst/>
            <a:cxnLst/>
            <a:rect l="l" t="t" r="r" b="b"/>
            <a:pathLst>
              <a:path w="672464" h="235585">
                <a:moveTo>
                  <a:pt x="672262" y="235458"/>
                </a:moveTo>
                <a:lnTo>
                  <a:pt x="635335" y="160784"/>
                </a:lnTo>
                <a:lnTo>
                  <a:pt x="607663" y="124102"/>
                </a:lnTo>
                <a:lnTo>
                  <a:pt x="575649" y="91330"/>
                </a:lnTo>
                <a:lnTo>
                  <a:pt x="539746" y="62882"/>
                </a:lnTo>
                <a:lnTo>
                  <a:pt x="500411" y="39172"/>
                </a:lnTo>
                <a:lnTo>
                  <a:pt x="458097" y="20615"/>
                </a:lnTo>
                <a:lnTo>
                  <a:pt x="413260" y="7624"/>
                </a:lnTo>
                <a:lnTo>
                  <a:pt x="366355" y="614"/>
                </a:lnTo>
                <a:lnTo>
                  <a:pt x="317835" y="0"/>
                </a:lnTo>
                <a:lnTo>
                  <a:pt x="271166" y="5256"/>
                </a:lnTo>
                <a:lnTo>
                  <a:pt x="226576" y="16330"/>
                </a:lnTo>
                <a:lnTo>
                  <a:pt x="184443" y="32812"/>
                </a:lnTo>
                <a:lnTo>
                  <a:pt x="145144" y="54296"/>
                </a:lnTo>
                <a:lnTo>
                  <a:pt x="109055" y="80375"/>
                </a:lnTo>
                <a:lnTo>
                  <a:pt x="76553" y="110642"/>
                </a:lnTo>
                <a:lnTo>
                  <a:pt x="48015" y="144689"/>
                </a:lnTo>
                <a:lnTo>
                  <a:pt x="23819" y="182109"/>
                </a:lnTo>
                <a:lnTo>
                  <a:pt x="4341" y="222495"/>
                </a:lnTo>
                <a:lnTo>
                  <a:pt x="0" y="235458"/>
                </a:lnTo>
                <a:lnTo>
                  <a:pt x="13428" y="235458"/>
                </a:lnTo>
                <a:lnTo>
                  <a:pt x="17634" y="223311"/>
                </a:lnTo>
                <a:lnTo>
                  <a:pt x="37665" y="183365"/>
                </a:lnTo>
                <a:lnTo>
                  <a:pt x="62543" y="146520"/>
                </a:lnTo>
                <a:lnTo>
                  <a:pt x="91836" y="113214"/>
                </a:lnTo>
                <a:lnTo>
                  <a:pt x="125112" y="83883"/>
                </a:lnTo>
                <a:lnTo>
                  <a:pt x="161939" y="58967"/>
                </a:lnTo>
                <a:lnTo>
                  <a:pt x="201885" y="38902"/>
                </a:lnTo>
                <a:lnTo>
                  <a:pt x="244519" y="24126"/>
                </a:lnTo>
                <a:lnTo>
                  <a:pt x="289409" y="15077"/>
                </a:lnTo>
                <a:lnTo>
                  <a:pt x="336123" y="12191"/>
                </a:lnTo>
                <a:lnTo>
                  <a:pt x="382769" y="15038"/>
                </a:lnTo>
                <a:lnTo>
                  <a:pt x="427604" y="24065"/>
                </a:lnTo>
                <a:lnTo>
                  <a:pt x="470197" y="38832"/>
                </a:lnTo>
                <a:lnTo>
                  <a:pt x="510116" y="58899"/>
                </a:lnTo>
                <a:lnTo>
                  <a:pt x="546928" y="83826"/>
                </a:lnTo>
                <a:lnTo>
                  <a:pt x="580202" y="113171"/>
                </a:lnTo>
                <a:lnTo>
                  <a:pt x="609503" y="146495"/>
                </a:lnTo>
                <a:lnTo>
                  <a:pt x="634401" y="183356"/>
                </a:lnTo>
                <a:lnTo>
                  <a:pt x="654463" y="223316"/>
                </a:lnTo>
                <a:lnTo>
                  <a:pt x="658678" y="235458"/>
                </a:lnTo>
                <a:lnTo>
                  <a:pt x="672262" y="2354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49423" y="2784855"/>
            <a:ext cx="30797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[2]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90771" y="2644800"/>
            <a:ext cx="3734435" cy="823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425" marR="5080" indent="-2245360">
              <a:lnSpc>
                <a:spcPct val="141700"/>
              </a:lnSpc>
              <a:tabLst>
                <a:tab pos="1759585" algn="l"/>
                <a:tab pos="3050540" algn="l"/>
                <a:tab pos="3438525" algn="l"/>
              </a:tabLst>
            </a:pPr>
            <a:r>
              <a:rPr sz="2000" spc="-5" dirty="0">
                <a:latin typeface="Arial"/>
                <a:cs typeface="Arial"/>
              </a:rPr>
              <a:t>[3]	</a:t>
            </a:r>
            <a:r>
              <a:rPr sz="2000" spc="-5" dirty="0" smtClean="0">
                <a:latin typeface="Arial"/>
                <a:cs typeface="Arial"/>
              </a:rPr>
              <a:t>[</a:t>
            </a:r>
            <a:r>
              <a:rPr lang="en-US" sz="2000" spc="-10" dirty="0" smtClean="0">
                <a:latin typeface="Arial"/>
                <a:cs typeface="Arial"/>
              </a:rPr>
              <a:t>2</a:t>
            </a:r>
            <a:r>
              <a:rPr sz="2000" spc="-5" dirty="0" smtClean="0">
                <a:latin typeface="Arial"/>
                <a:cs typeface="Arial"/>
              </a:rPr>
              <a:t>]</a:t>
            </a:r>
            <a:r>
              <a:rPr sz="2000" dirty="0">
                <a:latin typeface="Arial"/>
                <a:cs typeface="Arial"/>
              </a:rPr>
              <a:t>			</a:t>
            </a:r>
            <a:r>
              <a:rPr sz="2000" spc="-5" dirty="0" smtClean="0">
                <a:latin typeface="Arial"/>
                <a:cs typeface="Arial"/>
              </a:rPr>
              <a:t>[</a:t>
            </a:r>
            <a:r>
              <a:rPr lang="en-US" sz="2000" spc="-5" dirty="0" smtClean="0">
                <a:latin typeface="Arial"/>
                <a:cs typeface="Arial"/>
              </a:rPr>
              <a:t>3</a:t>
            </a:r>
            <a:r>
              <a:rPr sz="2000" spc="-5" dirty="0" smtClean="0">
                <a:latin typeface="Arial"/>
                <a:cs typeface="Arial"/>
              </a:rPr>
              <a:t>]  </a:t>
            </a:r>
            <a:r>
              <a:rPr sz="2000" spc="-5" dirty="0">
                <a:latin typeface="Arial"/>
                <a:cs typeface="Arial"/>
              </a:rPr>
              <a:t>J2	J3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88043" y="3777996"/>
            <a:ext cx="1872614" cy="857250"/>
          </a:xfrm>
          <a:custGeom>
            <a:avLst/>
            <a:gdLst/>
            <a:ahLst/>
            <a:cxnLst/>
            <a:rect l="l" t="t" r="r" b="b"/>
            <a:pathLst>
              <a:path w="1872614" h="857250">
                <a:moveTo>
                  <a:pt x="16661" y="0"/>
                </a:moveTo>
                <a:lnTo>
                  <a:pt x="3871" y="0"/>
                </a:lnTo>
                <a:lnTo>
                  <a:pt x="992" y="42739"/>
                </a:lnTo>
                <a:lnTo>
                  <a:pt x="0" y="89915"/>
                </a:lnTo>
                <a:lnTo>
                  <a:pt x="1524" y="140969"/>
                </a:lnTo>
                <a:lnTo>
                  <a:pt x="4787" y="188238"/>
                </a:lnTo>
                <a:lnTo>
                  <a:pt x="10213" y="234958"/>
                </a:lnTo>
                <a:lnTo>
                  <a:pt x="12953" y="251718"/>
                </a:lnTo>
                <a:lnTo>
                  <a:pt x="12953" y="89915"/>
                </a:lnTo>
                <a:lnTo>
                  <a:pt x="13852" y="41764"/>
                </a:lnTo>
                <a:lnTo>
                  <a:pt x="16661" y="0"/>
                </a:lnTo>
                <a:close/>
              </a:path>
              <a:path w="1872614" h="857250">
                <a:moveTo>
                  <a:pt x="371833" y="857250"/>
                </a:moveTo>
                <a:lnTo>
                  <a:pt x="342007" y="832138"/>
                </a:lnTo>
                <a:lnTo>
                  <a:pt x="308773" y="801294"/>
                </a:lnTo>
                <a:lnTo>
                  <a:pt x="277030" y="768867"/>
                </a:lnTo>
                <a:lnTo>
                  <a:pt x="246827" y="734927"/>
                </a:lnTo>
                <a:lnTo>
                  <a:pt x="218214" y="699542"/>
                </a:lnTo>
                <a:lnTo>
                  <a:pt x="191242" y="662781"/>
                </a:lnTo>
                <a:lnTo>
                  <a:pt x="165959" y="624714"/>
                </a:lnTo>
                <a:lnTo>
                  <a:pt x="142417" y="585409"/>
                </a:lnTo>
                <a:lnTo>
                  <a:pt x="120666" y="544935"/>
                </a:lnTo>
                <a:lnTo>
                  <a:pt x="100754" y="503361"/>
                </a:lnTo>
                <a:lnTo>
                  <a:pt x="82733" y="460756"/>
                </a:lnTo>
                <a:lnTo>
                  <a:pt x="66652" y="417189"/>
                </a:lnTo>
                <a:lnTo>
                  <a:pt x="52562" y="372729"/>
                </a:lnTo>
                <a:lnTo>
                  <a:pt x="40512" y="327445"/>
                </a:lnTo>
                <a:lnTo>
                  <a:pt x="30552" y="281405"/>
                </a:lnTo>
                <a:lnTo>
                  <a:pt x="22733" y="234680"/>
                </a:lnTo>
                <a:lnTo>
                  <a:pt x="17104" y="187337"/>
                </a:lnTo>
                <a:lnTo>
                  <a:pt x="13715" y="139445"/>
                </a:lnTo>
                <a:lnTo>
                  <a:pt x="12953" y="89915"/>
                </a:lnTo>
                <a:lnTo>
                  <a:pt x="12953" y="251718"/>
                </a:lnTo>
                <a:lnTo>
                  <a:pt x="27357" y="326502"/>
                </a:lnTo>
                <a:lnTo>
                  <a:pt x="38977" y="371201"/>
                </a:lnTo>
                <a:lnTo>
                  <a:pt x="52565" y="415102"/>
                </a:lnTo>
                <a:lnTo>
                  <a:pt x="68070" y="458142"/>
                </a:lnTo>
                <a:lnTo>
                  <a:pt x="85445" y="500258"/>
                </a:lnTo>
                <a:lnTo>
                  <a:pt x="104641" y="541389"/>
                </a:lnTo>
                <a:lnTo>
                  <a:pt x="125609" y="581473"/>
                </a:lnTo>
                <a:lnTo>
                  <a:pt x="148299" y="620445"/>
                </a:lnTo>
                <a:lnTo>
                  <a:pt x="172663" y="658245"/>
                </a:lnTo>
                <a:lnTo>
                  <a:pt x="198653" y="694810"/>
                </a:lnTo>
                <a:lnTo>
                  <a:pt x="226218" y="730077"/>
                </a:lnTo>
                <a:lnTo>
                  <a:pt x="255312" y="763984"/>
                </a:lnTo>
                <a:lnTo>
                  <a:pt x="285883" y="796469"/>
                </a:lnTo>
                <a:lnTo>
                  <a:pt x="317885" y="827469"/>
                </a:lnTo>
                <a:lnTo>
                  <a:pt x="351268" y="856921"/>
                </a:lnTo>
                <a:lnTo>
                  <a:pt x="351677" y="857250"/>
                </a:lnTo>
                <a:lnTo>
                  <a:pt x="371833" y="857250"/>
                </a:lnTo>
                <a:close/>
              </a:path>
              <a:path w="1872614" h="857250">
                <a:moveTo>
                  <a:pt x="1859279" y="250628"/>
                </a:moveTo>
                <a:lnTo>
                  <a:pt x="1859279" y="89915"/>
                </a:lnTo>
                <a:lnTo>
                  <a:pt x="1858207" y="138187"/>
                </a:lnTo>
                <a:lnTo>
                  <a:pt x="1854858" y="185997"/>
                </a:lnTo>
                <a:lnTo>
                  <a:pt x="1849282" y="233274"/>
                </a:lnTo>
                <a:lnTo>
                  <a:pt x="1841527" y="279950"/>
                </a:lnTo>
                <a:lnTo>
                  <a:pt x="1831642" y="325954"/>
                </a:lnTo>
                <a:lnTo>
                  <a:pt x="1819674" y="371216"/>
                </a:lnTo>
                <a:lnTo>
                  <a:pt x="1805671" y="415667"/>
                </a:lnTo>
                <a:lnTo>
                  <a:pt x="1789683" y="459237"/>
                </a:lnTo>
                <a:lnTo>
                  <a:pt x="1771758" y="501856"/>
                </a:lnTo>
                <a:lnTo>
                  <a:pt x="1751942" y="543454"/>
                </a:lnTo>
                <a:lnTo>
                  <a:pt x="1730286" y="583962"/>
                </a:lnTo>
                <a:lnTo>
                  <a:pt x="1706837" y="623310"/>
                </a:lnTo>
                <a:lnTo>
                  <a:pt x="1681644" y="661428"/>
                </a:lnTo>
                <a:lnTo>
                  <a:pt x="1654755" y="698247"/>
                </a:lnTo>
                <a:lnTo>
                  <a:pt x="1626217" y="733695"/>
                </a:lnTo>
                <a:lnTo>
                  <a:pt x="1596080" y="767705"/>
                </a:lnTo>
                <a:lnTo>
                  <a:pt x="1564391" y="800205"/>
                </a:lnTo>
                <a:lnTo>
                  <a:pt x="1531200" y="831127"/>
                </a:lnTo>
                <a:lnTo>
                  <a:pt x="1500283" y="857250"/>
                </a:lnTo>
                <a:lnTo>
                  <a:pt x="1519902" y="857250"/>
                </a:lnTo>
                <a:lnTo>
                  <a:pt x="1561035" y="820844"/>
                </a:lnTo>
                <a:lnTo>
                  <a:pt x="1592809" y="789401"/>
                </a:lnTo>
                <a:lnTo>
                  <a:pt x="1623102" y="756504"/>
                </a:lnTo>
                <a:lnTo>
                  <a:pt x="1651873" y="722218"/>
                </a:lnTo>
                <a:lnTo>
                  <a:pt x="1679080" y="686610"/>
                </a:lnTo>
                <a:lnTo>
                  <a:pt x="1704680" y="649749"/>
                </a:lnTo>
                <a:lnTo>
                  <a:pt x="1728631" y="611701"/>
                </a:lnTo>
                <a:lnTo>
                  <a:pt x="1750891" y="572533"/>
                </a:lnTo>
                <a:lnTo>
                  <a:pt x="1771418" y="532313"/>
                </a:lnTo>
                <a:lnTo>
                  <a:pt x="1790169" y="491107"/>
                </a:lnTo>
                <a:lnTo>
                  <a:pt x="1807102" y="448983"/>
                </a:lnTo>
                <a:lnTo>
                  <a:pt x="1822174" y="406008"/>
                </a:lnTo>
                <a:lnTo>
                  <a:pt x="1835344" y="362249"/>
                </a:lnTo>
                <a:lnTo>
                  <a:pt x="1846569" y="317773"/>
                </a:lnTo>
                <a:lnTo>
                  <a:pt x="1855807" y="272647"/>
                </a:lnTo>
                <a:lnTo>
                  <a:pt x="1859279" y="250628"/>
                </a:lnTo>
                <a:close/>
              </a:path>
              <a:path w="1872614" h="857250">
                <a:moveTo>
                  <a:pt x="1872041" y="86990"/>
                </a:moveTo>
                <a:lnTo>
                  <a:pt x="1870709" y="39624"/>
                </a:lnTo>
                <a:lnTo>
                  <a:pt x="1867907" y="0"/>
                </a:lnTo>
                <a:lnTo>
                  <a:pt x="1855310" y="0"/>
                </a:lnTo>
                <a:lnTo>
                  <a:pt x="1858222" y="41691"/>
                </a:lnTo>
                <a:lnTo>
                  <a:pt x="1859279" y="89915"/>
                </a:lnTo>
                <a:lnTo>
                  <a:pt x="1859279" y="250628"/>
                </a:lnTo>
                <a:lnTo>
                  <a:pt x="1863015" y="226939"/>
                </a:lnTo>
                <a:lnTo>
                  <a:pt x="1868152" y="180715"/>
                </a:lnTo>
                <a:lnTo>
                  <a:pt x="1871175" y="134043"/>
                </a:lnTo>
                <a:lnTo>
                  <a:pt x="1872041" y="86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83218" y="3777996"/>
            <a:ext cx="198120" cy="73660"/>
          </a:xfrm>
          <a:custGeom>
            <a:avLst/>
            <a:gdLst/>
            <a:ahLst/>
            <a:cxnLst/>
            <a:rect l="l" t="t" r="r" b="b"/>
            <a:pathLst>
              <a:path w="198120" h="73660">
                <a:moveTo>
                  <a:pt x="197889" y="60959"/>
                </a:moveTo>
                <a:lnTo>
                  <a:pt x="36404" y="0"/>
                </a:lnTo>
                <a:lnTo>
                  <a:pt x="0" y="0"/>
                </a:lnTo>
                <a:lnTo>
                  <a:pt x="193317" y="73151"/>
                </a:lnTo>
                <a:lnTo>
                  <a:pt x="197889" y="60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37979" y="3862578"/>
            <a:ext cx="645795" cy="643890"/>
          </a:xfrm>
          <a:custGeom>
            <a:avLst/>
            <a:gdLst/>
            <a:ahLst/>
            <a:cxnLst/>
            <a:rect l="l" t="t" r="r" b="b"/>
            <a:pathLst>
              <a:path w="645795" h="643889">
                <a:moveTo>
                  <a:pt x="645413" y="9144"/>
                </a:moveTo>
                <a:lnTo>
                  <a:pt x="636269" y="0"/>
                </a:lnTo>
                <a:lnTo>
                  <a:pt x="0" y="635508"/>
                </a:lnTo>
                <a:lnTo>
                  <a:pt x="8381" y="643889"/>
                </a:lnTo>
                <a:lnTo>
                  <a:pt x="645413" y="9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76535" y="3777996"/>
            <a:ext cx="218440" cy="73660"/>
          </a:xfrm>
          <a:custGeom>
            <a:avLst/>
            <a:gdLst/>
            <a:ahLst/>
            <a:cxnLst/>
            <a:rect l="l" t="t" r="r" b="b"/>
            <a:pathLst>
              <a:path w="218439" h="73660">
                <a:moveTo>
                  <a:pt x="218238" y="0"/>
                </a:moveTo>
                <a:lnTo>
                  <a:pt x="178202" y="0"/>
                </a:lnTo>
                <a:lnTo>
                  <a:pt x="0" y="60959"/>
                </a:lnTo>
                <a:lnTo>
                  <a:pt x="4572" y="73151"/>
                </a:lnTo>
                <a:lnTo>
                  <a:pt x="2182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97109" y="3862578"/>
            <a:ext cx="757555" cy="621030"/>
          </a:xfrm>
          <a:custGeom>
            <a:avLst/>
            <a:gdLst/>
            <a:ahLst/>
            <a:cxnLst/>
            <a:rect l="l" t="t" r="r" b="b"/>
            <a:pathLst>
              <a:path w="757554" h="621029">
                <a:moveTo>
                  <a:pt x="757427" y="611124"/>
                </a:moveTo>
                <a:lnTo>
                  <a:pt x="7620" y="0"/>
                </a:lnTo>
                <a:lnTo>
                  <a:pt x="0" y="9906"/>
                </a:lnTo>
                <a:lnTo>
                  <a:pt x="749046" y="621030"/>
                </a:lnTo>
                <a:lnTo>
                  <a:pt x="757427" y="611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84689" y="3777996"/>
            <a:ext cx="703580" cy="473709"/>
          </a:xfrm>
          <a:custGeom>
            <a:avLst/>
            <a:gdLst/>
            <a:ahLst/>
            <a:cxnLst/>
            <a:rect l="l" t="t" r="r" b="b"/>
            <a:pathLst>
              <a:path w="703579" h="473710">
                <a:moveTo>
                  <a:pt x="703326" y="121919"/>
                </a:moveTo>
                <a:lnTo>
                  <a:pt x="700124" y="74174"/>
                </a:lnTo>
                <a:lnTo>
                  <a:pt x="690798" y="28373"/>
                </a:lnTo>
                <a:lnTo>
                  <a:pt x="680976" y="0"/>
                </a:lnTo>
                <a:lnTo>
                  <a:pt x="22446" y="0"/>
                </a:lnTo>
                <a:lnTo>
                  <a:pt x="12583" y="28373"/>
                </a:lnTo>
                <a:lnTo>
                  <a:pt x="3216" y="74174"/>
                </a:lnTo>
                <a:lnTo>
                  <a:pt x="0" y="121919"/>
                </a:lnTo>
                <a:lnTo>
                  <a:pt x="3216" y="169650"/>
                </a:lnTo>
                <a:lnTo>
                  <a:pt x="12583" y="215409"/>
                </a:lnTo>
                <a:lnTo>
                  <a:pt x="27682" y="258782"/>
                </a:lnTo>
                <a:lnTo>
                  <a:pt x="48090" y="299353"/>
                </a:lnTo>
                <a:lnTo>
                  <a:pt x="73388" y="336706"/>
                </a:lnTo>
                <a:lnTo>
                  <a:pt x="103155" y="370427"/>
                </a:lnTo>
                <a:lnTo>
                  <a:pt x="136970" y="400099"/>
                </a:lnTo>
                <a:lnTo>
                  <a:pt x="174413" y="425308"/>
                </a:lnTo>
                <a:lnTo>
                  <a:pt x="215062" y="445639"/>
                </a:lnTo>
                <a:lnTo>
                  <a:pt x="258497" y="460674"/>
                </a:lnTo>
                <a:lnTo>
                  <a:pt x="304298" y="470000"/>
                </a:lnTo>
                <a:lnTo>
                  <a:pt x="352043" y="473201"/>
                </a:lnTo>
                <a:lnTo>
                  <a:pt x="399774" y="470000"/>
                </a:lnTo>
                <a:lnTo>
                  <a:pt x="445533" y="460674"/>
                </a:lnTo>
                <a:lnTo>
                  <a:pt x="488906" y="445639"/>
                </a:lnTo>
                <a:lnTo>
                  <a:pt x="529477" y="425308"/>
                </a:lnTo>
                <a:lnTo>
                  <a:pt x="566830" y="400099"/>
                </a:lnTo>
                <a:lnTo>
                  <a:pt x="600551" y="370427"/>
                </a:lnTo>
                <a:lnTo>
                  <a:pt x="630223" y="336706"/>
                </a:lnTo>
                <a:lnTo>
                  <a:pt x="655432" y="299353"/>
                </a:lnTo>
                <a:lnTo>
                  <a:pt x="675763" y="258782"/>
                </a:lnTo>
                <a:lnTo>
                  <a:pt x="690798" y="215409"/>
                </a:lnTo>
                <a:lnTo>
                  <a:pt x="700124" y="169650"/>
                </a:lnTo>
                <a:lnTo>
                  <a:pt x="703326" y="121919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78593" y="3777996"/>
            <a:ext cx="715645" cy="479425"/>
          </a:xfrm>
          <a:custGeom>
            <a:avLst/>
            <a:gdLst/>
            <a:ahLst/>
            <a:cxnLst/>
            <a:rect l="l" t="t" r="r" b="b"/>
            <a:pathLst>
              <a:path w="715645" h="479425">
                <a:moveTo>
                  <a:pt x="35444" y="0"/>
                </a:moveTo>
                <a:lnTo>
                  <a:pt x="22016" y="0"/>
                </a:lnTo>
                <a:lnTo>
                  <a:pt x="11974" y="29982"/>
                </a:lnTo>
                <a:lnTo>
                  <a:pt x="3062" y="75079"/>
                </a:lnTo>
                <a:lnTo>
                  <a:pt x="0" y="121919"/>
                </a:lnTo>
                <a:lnTo>
                  <a:pt x="762" y="140207"/>
                </a:lnTo>
                <a:lnTo>
                  <a:pt x="6455" y="188595"/>
                </a:lnTo>
                <a:lnTo>
                  <a:pt x="12953" y="213878"/>
                </a:lnTo>
                <a:lnTo>
                  <a:pt x="12953" y="121919"/>
                </a:lnTo>
                <a:lnTo>
                  <a:pt x="15854" y="75297"/>
                </a:lnTo>
                <a:lnTo>
                  <a:pt x="24897" y="30462"/>
                </a:lnTo>
                <a:lnTo>
                  <a:pt x="35444" y="0"/>
                </a:lnTo>
                <a:close/>
              </a:path>
              <a:path w="715645" h="479425">
                <a:moveTo>
                  <a:pt x="703326" y="213981"/>
                </a:moveTo>
                <a:lnTo>
                  <a:pt x="703326" y="121919"/>
                </a:lnTo>
                <a:lnTo>
                  <a:pt x="700324" y="168455"/>
                </a:lnTo>
                <a:lnTo>
                  <a:pt x="691201" y="213228"/>
                </a:lnTo>
                <a:lnTo>
                  <a:pt x="676388" y="255799"/>
                </a:lnTo>
                <a:lnTo>
                  <a:pt x="656316" y="295726"/>
                </a:lnTo>
                <a:lnTo>
                  <a:pt x="631415" y="332569"/>
                </a:lnTo>
                <a:lnTo>
                  <a:pt x="602118" y="365888"/>
                </a:lnTo>
                <a:lnTo>
                  <a:pt x="568854" y="395241"/>
                </a:lnTo>
                <a:lnTo>
                  <a:pt x="532056" y="420189"/>
                </a:lnTo>
                <a:lnTo>
                  <a:pt x="492154" y="440290"/>
                </a:lnTo>
                <a:lnTo>
                  <a:pt x="449580" y="455103"/>
                </a:lnTo>
                <a:lnTo>
                  <a:pt x="404765" y="464189"/>
                </a:lnTo>
                <a:lnTo>
                  <a:pt x="358139" y="467105"/>
                </a:lnTo>
                <a:lnTo>
                  <a:pt x="308967" y="463662"/>
                </a:lnTo>
                <a:lnTo>
                  <a:pt x="261849" y="453531"/>
                </a:lnTo>
                <a:lnTo>
                  <a:pt x="217287" y="437184"/>
                </a:lnTo>
                <a:lnTo>
                  <a:pt x="175782" y="415096"/>
                </a:lnTo>
                <a:lnTo>
                  <a:pt x="137835" y="387738"/>
                </a:lnTo>
                <a:lnTo>
                  <a:pt x="103948" y="355585"/>
                </a:lnTo>
                <a:lnTo>
                  <a:pt x="74622" y="319110"/>
                </a:lnTo>
                <a:lnTo>
                  <a:pt x="50358" y="278785"/>
                </a:lnTo>
                <a:lnTo>
                  <a:pt x="31657" y="235084"/>
                </a:lnTo>
                <a:lnTo>
                  <a:pt x="19022" y="188479"/>
                </a:lnTo>
                <a:lnTo>
                  <a:pt x="12953" y="139445"/>
                </a:lnTo>
                <a:lnTo>
                  <a:pt x="12953" y="213878"/>
                </a:lnTo>
                <a:lnTo>
                  <a:pt x="35837" y="278001"/>
                </a:lnTo>
                <a:lnTo>
                  <a:pt x="58631" y="318216"/>
                </a:lnTo>
                <a:lnTo>
                  <a:pt x="86232" y="354905"/>
                </a:lnTo>
                <a:lnTo>
                  <a:pt x="118190" y="387667"/>
                </a:lnTo>
                <a:lnTo>
                  <a:pt x="154061" y="416100"/>
                </a:lnTo>
                <a:lnTo>
                  <a:pt x="193395" y="439803"/>
                </a:lnTo>
                <a:lnTo>
                  <a:pt x="235746" y="458376"/>
                </a:lnTo>
                <a:lnTo>
                  <a:pt x="280667" y="471416"/>
                </a:lnTo>
                <a:lnTo>
                  <a:pt x="327710" y="478524"/>
                </a:lnTo>
                <a:lnTo>
                  <a:pt x="376427" y="479298"/>
                </a:lnTo>
                <a:lnTo>
                  <a:pt x="424880" y="473527"/>
                </a:lnTo>
                <a:lnTo>
                  <a:pt x="470994" y="461617"/>
                </a:lnTo>
                <a:lnTo>
                  <a:pt x="514369" y="444014"/>
                </a:lnTo>
                <a:lnTo>
                  <a:pt x="554606" y="421163"/>
                </a:lnTo>
                <a:lnTo>
                  <a:pt x="591304" y="393508"/>
                </a:lnTo>
                <a:lnTo>
                  <a:pt x="624063" y="361497"/>
                </a:lnTo>
                <a:lnTo>
                  <a:pt x="652484" y="325574"/>
                </a:lnTo>
                <a:lnTo>
                  <a:pt x="676167" y="286184"/>
                </a:lnTo>
                <a:lnTo>
                  <a:pt x="694712" y="243773"/>
                </a:lnTo>
                <a:lnTo>
                  <a:pt x="703326" y="213981"/>
                </a:lnTo>
                <a:close/>
              </a:path>
              <a:path w="715645" h="479425">
                <a:moveTo>
                  <a:pt x="715517" y="102869"/>
                </a:moveTo>
                <a:lnTo>
                  <a:pt x="709764" y="54690"/>
                </a:lnTo>
                <a:lnTo>
                  <a:pt x="697849" y="8763"/>
                </a:lnTo>
                <a:lnTo>
                  <a:pt x="694278" y="0"/>
                </a:lnTo>
                <a:lnTo>
                  <a:pt x="680694" y="0"/>
                </a:lnTo>
                <a:lnTo>
                  <a:pt x="691273" y="30475"/>
                </a:lnTo>
                <a:lnTo>
                  <a:pt x="700366" y="75309"/>
                </a:lnTo>
                <a:lnTo>
                  <a:pt x="703326" y="121919"/>
                </a:lnTo>
                <a:lnTo>
                  <a:pt x="703326" y="213981"/>
                </a:lnTo>
                <a:lnTo>
                  <a:pt x="707718" y="198787"/>
                </a:lnTo>
                <a:lnTo>
                  <a:pt x="714787" y="151671"/>
                </a:lnTo>
                <a:lnTo>
                  <a:pt x="715517" y="1028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247277" y="3770884"/>
            <a:ext cx="30861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[1]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05140" y="3770884"/>
            <a:ext cx="114935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52805" algn="l"/>
              </a:tabLst>
            </a:pPr>
            <a:r>
              <a:rPr sz="2000" spc="-5" dirty="0">
                <a:latin typeface="Arial"/>
                <a:cs typeface="Arial"/>
              </a:rPr>
              <a:t>[4]	</a:t>
            </a:r>
            <a:r>
              <a:rPr sz="2000" spc="-5" dirty="0" smtClean="0">
                <a:latin typeface="Arial"/>
                <a:cs typeface="Arial"/>
              </a:rPr>
              <a:t>[</a:t>
            </a:r>
            <a:r>
              <a:rPr lang="en-US" sz="2000" spc="-5" dirty="0" smtClean="0">
                <a:latin typeface="Arial"/>
                <a:cs typeface="Arial"/>
              </a:rPr>
              <a:t>1</a:t>
            </a:r>
            <a:r>
              <a:rPr sz="2000" spc="-5" dirty="0" smtClean="0">
                <a:latin typeface="Arial"/>
                <a:cs typeface="Arial"/>
              </a:rPr>
              <a:t>]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17869" y="3816603"/>
            <a:ext cx="29464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J1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39721" y="4635246"/>
            <a:ext cx="1168400" cy="214629"/>
          </a:xfrm>
          <a:custGeom>
            <a:avLst/>
            <a:gdLst/>
            <a:ahLst/>
            <a:cxnLst/>
            <a:rect l="l" t="t" r="r" b="b"/>
            <a:pathLst>
              <a:path w="1168400" h="214629">
                <a:moveTo>
                  <a:pt x="1168224" y="0"/>
                </a:moveTo>
                <a:lnTo>
                  <a:pt x="1148605" y="0"/>
                </a:lnTo>
                <a:lnTo>
                  <a:pt x="1144876" y="3150"/>
                </a:lnTo>
                <a:lnTo>
                  <a:pt x="1108823" y="30705"/>
                </a:lnTo>
                <a:lnTo>
                  <a:pt x="1071412" y="56472"/>
                </a:lnTo>
                <a:lnTo>
                  <a:pt x="1032691" y="80380"/>
                </a:lnTo>
                <a:lnTo>
                  <a:pt x="992709" y="102361"/>
                </a:lnTo>
                <a:lnTo>
                  <a:pt x="951513" y="122345"/>
                </a:lnTo>
                <a:lnTo>
                  <a:pt x="909152" y="140261"/>
                </a:lnTo>
                <a:lnTo>
                  <a:pt x="865674" y="156040"/>
                </a:lnTo>
                <a:lnTo>
                  <a:pt x="821127" y="169612"/>
                </a:lnTo>
                <a:lnTo>
                  <a:pt x="775561" y="180908"/>
                </a:lnTo>
                <a:lnTo>
                  <a:pt x="729022" y="189857"/>
                </a:lnTo>
                <a:lnTo>
                  <a:pt x="681560" y="196391"/>
                </a:lnTo>
                <a:lnTo>
                  <a:pt x="633223" y="200438"/>
                </a:lnTo>
                <a:lnTo>
                  <a:pt x="584058" y="201929"/>
                </a:lnTo>
                <a:lnTo>
                  <a:pt x="535213" y="200480"/>
                </a:lnTo>
                <a:lnTo>
                  <a:pt x="487159" y="196483"/>
                </a:lnTo>
                <a:lnTo>
                  <a:pt x="439945" y="190007"/>
                </a:lnTo>
                <a:lnTo>
                  <a:pt x="393620" y="181121"/>
                </a:lnTo>
                <a:lnTo>
                  <a:pt x="348236" y="169895"/>
                </a:lnTo>
                <a:lnTo>
                  <a:pt x="303841" y="156396"/>
                </a:lnTo>
                <a:lnTo>
                  <a:pt x="260487" y="140694"/>
                </a:lnTo>
                <a:lnTo>
                  <a:pt x="218223" y="122858"/>
                </a:lnTo>
                <a:lnTo>
                  <a:pt x="177098" y="102957"/>
                </a:lnTo>
                <a:lnTo>
                  <a:pt x="137164" y="81060"/>
                </a:lnTo>
                <a:lnTo>
                  <a:pt x="98470" y="57236"/>
                </a:lnTo>
                <a:lnTo>
                  <a:pt x="61066" y="31553"/>
                </a:lnTo>
                <a:lnTo>
                  <a:pt x="25003" y="4080"/>
                </a:lnTo>
                <a:lnTo>
                  <a:pt x="20155" y="0"/>
                </a:lnTo>
                <a:lnTo>
                  <a:pt x="0" y="0"/>
                </a:lnTo>
                <a:lnTo>
                  <a:pt x="34305" y="27514"/>
                </a:lnTo>
                <a:lnTo>
                  <a:pt x="70303" y="53685"/>
                </a:lnTo>
                <a:lnTo>
                  <a:pt x="107535" y="78122"/>
                </a:lnTo>
                <a:lnTo>
                  <a:pt x="145953" y="100761"/>
                </a:lnTo>
                <a:lnTo>
                  <a:pt x="185508" y="121542"/>
                </a:lnTo>
                <a:lnTo>
                  <a:pt x="226150" y="140401"/>
                </a:lnTo>
                <a:lnTo>
                  <a:pt x="267832" y="157275"/>
                </a:lnTo>
                <a:lnTo>
                  <a:pt x="310503" y="172104"/>
                </a:lnTo>
                <a:lnTo>
                  <a:pt x="354116" y="184823"/>
                </a:lnTo>
                <a:lnTo>
                  <a:pt x="398622" y="195371"/>
                </a:lnTo>
                <a:lnTo>
                  <a:pt x="443971" y="203686"/>
                </a:lnTo>
                <a:lnTo>
                  <a:pt x="490114" y="209704"/>
                </a:lnTo>
                <a:lnTo>
                  <a:pt x="537004" y="213364"/>
                </a:lnTo>
                <a:lnTo>
                  <a:pt x="584591" y="214604"/>
                </a:lnTo>
                <a:lnTo>
                  <a:pt x="632826" y="213359"/>
                </a:lnTo>
                <a:lnTo>
                  <a:pt x="680878" y="209344"/>
                </a:lnTo>
                <a:lnTo>
                  <a:pt x="728041" y="202933"/>
                </a:lnTo>
                <a:lnTo>
                  <a:pt x="774275" y="194194"/>
                </a:lnTo>
                <a:lnTo>
                  <a:pt x="819536" y="183194"/>
                </a:lnTo>
                <a:lnTo>
                  <a:pt x="863782" y="169999"/>
                </a:lnTo>
                <a:lnTo>
                  <a:pt x="906972" y="154678"/>
                </a:lnTo>
                <a:lnTo>
                  <a:pt x="949061" y="137296"/>
                </a:lnTo>
                <a:lnTo>
                  <a:pt x="990010" y="117922"/>
                </a:lnTo>
                <a:lnTo>
                  <a:pt x="1029774" y="96623"/>
                </a:lnTo>
                <a:lnTo>
                  <a:pt x="1068312" y="73465"/>
                </a:lnTo>
                <a:lnTo>
                  <a:pt x="1105582" y="48516"/>
                </a:lnTo>
                <a:lnTo>
                  <a:pt x="1141541" y="21843"/>
                </a:lnTo>
                <a:lnTo>
                  <a:pt x="11682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699475" y="2870454"/>
            <a:ext cx="0" cy="1971675"/>
          </a:xfrm>
          <a:custGeom>
            <a:avLst/>
            <a:gdLst/>
            <a:ahLst/>
            <a:cxnLst/>
            <a:rect l="l" t="t" r="r" b="b"/>
            <a:pathLst>
              <a:path h="1971675">
                <a:moveTo>
                  <a:pt x="0" y="0"/>
                </a:moveTo>
                <a:lnTo>
                  <a:pt x="0" y="1971294"/>
                </a:lnTo>
              </a:path>
            </a:pathLst>
          </a:custGeom>
          <a:ln w="123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506615" y="4910073"/>
            <a:ext cx="30861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 smtClean="0">
                <a:latin typeface="Arial"/>
                <a:cs typeface="Arial"/>
              </a:rPr>
              <a:t>[</a:t>
            </a:r>
            <a:r>
              <a:rPr lang="en-US" sz="2000" spc="-5" dirty="0" smtClean="0">
                <a:latin typeface="Arial"/>
                <a:cs typeface="Arial"/>
              </a:rPr>
              <a:t>0</a:t>
            </a:r>
            <a:r>
              <a:rPr sz="2000" spc="-5" dirty="0" smtClean="0">
                <a:latin typeface="Arial"/>
                <a:cs typeface="Arial"/>
              </a:rPr>
              <a:t>]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87241" y="4910073"/>
            <a:ext cx="30861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 smtClean="0">
                <a:latin typeface="Arial"/>
                <a:cs typeface="Arial"/>
              </a:rPr>
              <a:t>[</a:t>
            </a:r>
            <a:r>
              <a:rPr lang="en-US" sz="2000" spc="-5" dirty="0" smtClean="0">
                <a:latin typeface="Arial"/>
                <a:cs typeface="Arial"/>
              </a:rPr>
              <a:t>5</a:t>
            </a:r>
            <a:r>
              <a:rPr sz="2000" spc="-5" dirty="0" smtClean="0">
                <a:latin typeface="Arial"/>
                <a:cs typeface="Arial"/>
              </a:rPr>
              <a:t>]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79369" y="4910073"/>
            <a:ext cx="1312545" cy="122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92505" algn="l"/>
              </a:tabLst>
            </a:pPr>
            <a:r>
              <a:rPr sz="2000" spc="-5" dirty="0">
                <a:latin typeface="Arial"/>
                <a:cs typeface="Arial"/>
              </a:rPr>
              <a:t>[0]	[5]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front =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2921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rear =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70062" y="5519673"/>
            <a:ext cx="1033780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front =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5334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rear =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30551" y="6431533"/>
            <a:ext cx="590486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Empty and nonempty circular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queues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331777" y="3770884"/>
            <a:ext cx="30861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 smtClean="0">
                <a:latin typeface="Arial"/>
                <a:cs typeface="Arial"/>
              </a:rPr>
              <a:t>[</a:t>
            </a:r>
            <a:r>
              <a:rPr lang="en-US" sz="2000" spc="-5" dirty="0" smtClean="0">
                <a:latin typeface="Arial"/>
                <a:cs typeface="Arial"/>
              </a:rPr>
              <a:t>4</a:t>
            </a:r>
            <a:r>
              <a:rPr sz="2000" spc="-5" dirty="0" smtClean="0">
                <a:latin typeface="Arial"/>
                <a:cs typeface="Arial"/>
              </a:rPr>
              <a:t>]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7"/>
          <p:cNvSpPr/>
          <p:nvPr/>
        </p:nvSpPr>
        <p:spPr>
          <a:xfrm>
            <a:off x="2912249" y="2920745"/>
            <a:ext cx="5756147" cy="27706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Full</a:t>
            </a:r>
            <a:r>
              <a:rPr sz="4400" spc="-80" dirty="0"/>
              <a:t> </a:t>
            </a:r>
            <a:r>
              <a:rPr sz="4400" spc="-5" dirty="0"/>
              <a:t>Queues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12249" y="2221229"/>
            <a:ext cx="5756147" cy="699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41490" y="3081273"/>
            <a:ext cx="30797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J8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23690" y="3081273"/>
            <a:ext cx="30797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J9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8536" y="3919473"/>
            <a:ext cx="30861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[1]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44936" y="3919473"/>
            <a:ext cx="59182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[4][1]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24550" y="3919473"/>
            <a:ext cx="30861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[4]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4809" y="3943858"/>
            <a:ext cx="30797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J1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56156" y="3943858"/>
            <a:ext cx="30797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J4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23736" y="3897376"/>
            <a:ext cx="30734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Arial"/>
                <a:cs typeface="Arial"/>
              </a:rPr>
              <a:t>J7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90620" y="5100573"/>
            <a:ext cx="30861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[0]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90537" y="5100573"/>
            <a:ext cx="30861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[5]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69473" y="5100573"/>
            <a:ext cx="30861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[0]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29119" y="5100573"/>
            <a:ext cx="30861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[5]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78769" y="4647183"/>
            <a:ext cx="30734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Arial"/>
                <a:cs typeface="Arial"/>
              </a:rPr>
              <a:t>J5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99986" y="4532883"/>
            <a:ext cx="30734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Arial"/>
                <a:cs typeface="Arial"/>
              </a:rPr>
              <a:t>J6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71131" y="4532883"/>
            <a:ext cx="30734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Arial"/>
                <a:cs typeface="Arial"/>
              </a:rPr>
              <a:t>J5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82466" y="5667502"/>
            <a:ext cx="960119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front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=0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rear =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85915" y="5670550"/>
            <a:ext cx="960119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front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=4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rear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=3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4839" y="2920745"/>
            <a:ext cx="824484" cy="4286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66136" y="6606540"/>
            <a:ext cx="66865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Full circular queues and then we remove the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item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807335" y="2170938"/>
            <a:ext cx="2061210" cy="1260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275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Full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Queue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2000" spc="-5" dirty="0">
                <a:latin typeface="Arial"/>
                <a:cs typeface="Arial"/>
              </a:rPr>
              <a:t>[2]</a:t>
            </a:r>
            <a:endParaRPr sz="2000" dirty="0">
              <a:latin typeface="Arial"/>
              <a:cs typeface="Arial"/>
            </a:endParaRPr>
          </a:p>
          <a:p>
            <a:pPr marL="574675">
              <a:lnSpc>
                <a:spcPct val="100000"/>
              </a:lnSpc>
              <a:spcBef>
                <a:spcPts val="635"/>
              </a:spcBef>
              <a:tabLst>
                <a:tab pos="1765935" algn="l"/>
              </a:tabLst>
            </a:pPr>
            <a:r>
              <a:rPr sz="2000" b="1" spc="-5" dirty="0">
                <a:latin typeface="Arial"/>
                <a:cs typeface="Arial"/>
              </a:rPr>
              <a:t>J2	J3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3921" y="2740659"/>
            <a:ext cx="10090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13105" algn="l"/>
              </a:tabLst>
            </a:pPr>
            <a:r>
              <a:rPr sz="2000" spc="-5" dirty="0">
                <a:latin typeface="Arial"/>
                <a:cs typeface="Arial"/>
              </a:rPr>
              <a:t>[3]	[2]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1719" y="2170938"/>
            <a:ext cx="1598295" cy="884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Full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Queue</a:t>
            </a:r>
            <a:endParaRPr sz="2400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605"/>
              </a:spcBef>
            </a:pPr>
            <a:r>
              <a:rPr sz="2000" spc="-5" dirty="0">
                <a:latin typeface="Arial"/>
                <a:cs typeface="Arial"/>
              </a:rPr>
              <a:t>[3]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Add to a Circular</a:t>
            </a:r>
            <a:r>
              <a:rPr sz="4400" spc="-35" dirty="0"/>
              <a:t> </a:t>
            </a:r>
            <a:r>
              <a:rPr sz="4400" spc="-5" dirty="0"/>
              <a:t>Queue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15617" y="2506979"/>
            <a:ext cx="7329170" cy="33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Template&lt;class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KeyType&gt;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void Queue&lt;KeyType&gt;::Add(const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KeyType&amp;)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377190" marR="1645285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int newrear=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(rear+1)%MaxSize</a:t>
            </a:r>
            <a:r>
              <a:rPr sz="2400" b="1" spc="-5" dirty="0">
                <a:latin typeface="Courier New"/>
                <a:cs typeface="Courier New"/>
              </a:rPr>
              <a:t>;  if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(front==newrear)</a:t>
            </a:r>
            <a:endParaRPr sz="2400">
              <a:latin typeface="Courier New"/>
              <a:cs typeface="Courier New"/>
            </a:endParaRPr>
          </a:p>
          <a:p>
            <a:pPr marL="377190" marR="4384675" indent="36449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QueueFull();  else</a:t>
            </a:r>
            <a:endParaRPr sz="2400">
              <a:latin typeface="Courier New"/>
              <a:cs typeface="Courier New"/>
            </a:endParaRPr>
          </a:p>
          <a:p>
            <a:pPr marL="742315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queue[rear=newrear]=x;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Delete from a Circular</a:t>
            </a:r>
            <a:r>
              <a:rPr sz="4400" spc="-35" dirty="0"/>
              <a:t> </a:t>
            </a:r>
            <a:r>
              <a:rPr sz="4400" spc="-5" dirty="0"/>
              <a:t>Queue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3777996"/>
            <a:ext cx="824484" cy="1714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2163" y="1941576"/>
            <a:ext cx="7875270" cy="478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Template&lt;class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KeyType&gt;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KeyType* Queue&lt;KeyType&gt;::Delete(KeyType&amp;</a:t>
            </a:r>
            <a:r>
              <a:rPr sz="2400" b="1" spc="-14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x)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377190" marR="50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/* remove front element from the queue </a:t>
            </a:r>
            <a:r>
              <a:rPr sz="2400" b="1" spc="-10" dirty="0">
                <a:latin typeface="Courier New"/>
                <a:cs typeface="Courier New"/>
              </a:rPr>
              <a:t>*/  </a:t>
            </a:r>
            <a:r>
              <a:rPr sz="2400" b="1" spc="-5" dirty="0">
                <a:latin typeface="Courier New"/>
                <a:cs typeface="Courier New"/>
              </a:rPr>
              <a:t>if (front ==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rear)</a:t>
            </a:r>
            <a:endParaRPr sz="2400">
              <a:latin typeface="Courier New"/>
              <a:cs typeface="Courier New"/>
            </a:endParaRPr>
          </a:p>
          <a:p>
            <a:pPr marL="37719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742315" marR="474853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QueueEmpty();  </a:t>
            </a:r>
            <a:r>
              <a:rPr sz="2400" b="1" spc="-5" dirty="0">
                <a:latin typeface="Courier New"/>
                <a:cs typeface="Courier New"/>
              </a:rPr>
              <a:t>return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  <a:p>
            <a:pPr marL="37719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377190" marR="273939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front =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(front+1)%MaxSize</a:t>
            </a:r>
            <a:r>
              <a:rPr sz="2400" b="1" spc="-5" dirty="0">
                <a:latin typeface="Courier New"/>
                <a:cs typeface="Courier New"/>
              </a:rPr>
              <a:t>;  </a:t>
            </a:r>
            <a:r>
              <a:rPr sz="2400" b="1" spc="-10" dirty="0">
                <a:latin typeface="Courier New"/>
                <a:cs typeface="Courier New"/>
              </a:rPr>
              <a:t>x=queue[front];</a:t>
            </a:r>
            <a:endParaRPr sz="2400">
              <a:latin typeface="Courier New"/>
              <a:cs typeface="Courier New"/>
            </a:endParaRPr>
          </a:p>
          <a:p>
            <a:pPr marL="37719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return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&amp;x;</a:t>
            </a:r>
            <a:endParaRPr sz="2400">
              <a:latin typeface="Courier New"/>
              <a:cs typeface="Courier New"/>
            </a:endParaRPr>
          </a:p>
          <a:p>
            <a:pPr marL="19431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A Mazing</a:t>
            </a:r>
            <a:r>
              <a:rPr sz="4400" spc="-60" dirty="0"/>
              <a:t> </a:t>
            </a:r>
            <a:r>
              <a:rPr sz="4400" spc="-5" dirty="0"/>
              <a:t>Problem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35743" y="2154173"/>
            <a:ext cx="5194935" cy="767080"/>
          </a:xfrm>
          <a:custGeom>
            <a:avLst/>
            <a:gdLst/>
            <a:ahLst/>
            <a:cxnLst/>
            <a:rect l="l" t="t" r="r" b="b"/>
            <a:pathLst>
              <a:path w="5194934" h="767080">
                <a:moveTo>
                  <a:pt x="5194553" y="766571"/>
                </a:moveTo>
                <a:lnTo>
                  <a:pt x="5194553" y="0"/>
                </a:lnTo>
                <a:lnTo>
                  <a:pt x="0" y="0"/>
                </a:lnTo>
                <a:lnTo>
                  <a:pt x="0" y="766571"/>
                </a:lnTo>
                <a:lnTo>
                  <a:pt x="6096" y="766571"/>
                </a:lnTo>
                <a:lnTo>
                  <a:pt x="6096" y="12953"/>
                </a:lnTo>
                <a:lnTo>
                  <a:pt x="12953" y="6857"/>
                </a:lnTo>
                <a:lnTo>
                  <a:pt x="12953" y="12953"/>
                </a:lnTo>
                <a:lnTo>
                  <a:pt x="5181599" y="12953"/>
                </a:lnTo>
                <a:lnTo>
                  <a:pt x="5181599" y="6857"/>
                </a:lnTo>
                <a:lnTo>
                  <a:pt x="5187683" y="12953"/>
                </a:lnTo>
                <a:lnTo>
                  <a:pt x="5187683" y="766571"/>
                </a:lnTo>
                <a:lnTo>
                  <a:pt x="5194553" y="766571"/>
                </a:lnTo>
                <a:close/>
              </a:path>
              <a:path w="5194934" h="767080">
                <a:moveTo>
                  <a:pt x="12953" y="12953"/>
                </a:moveTo>
                <a:lnTo>
                  <a:pt x="12953" y="6857"/>
                </a:lnTo>
                <a:lnTo>
                  <a:pt x="6096" y="12953"/>
                </a:lnTo>
                <a:lnTo>
                  <a:pt x="12953" y="12953"/>
                </a:lnTo>
                <a:close/>
              </a:path>
              <a:path w="5194934" h="767080">
                <a:moveTo>
                  <a:pt x="12953" y="766571"/>
                </a:moveTo>
                <a:lnTo>
                  <a:pt x="12953" y="12953"/>
                </a:lnTo>
                <a:lnTo>
                  <a:pt x="6096" y="12953"/>
                </a:lnTo>
                <a:lnTo>
                  <a:pt x="6096" y="766571"/>
                </a:lnTo>
                <a:lnTo>
                  <a:pt x="12953" y="766571"/>
                </a:lnTo>
                <a:close/>
              </a:path>
              <a:path w="5194934" h="767080">
                <a:moveTo>
                  <a:pt x="5187683" y="12953"/>
                </a:moveTo>
                <a:lnTo>
                  <a:pt x="5181599" y="6857"/>
                </a:lnTo>
                <a:lnTo>
                  <a:pt x="5181599" y="12953"/>
                </a:lnTo>
                <a:lnTo>
                  <a:pt x="5187683" y="12953"/>
                </a:lnTo>
                <a:close/>
              </a:path>
              <a:path w="5194934" h="767080">
                <a:moveTo>
                  <a:pt x="5187683" y="766571"/>
                </a:moveTo>
                <a:lnTo>
                  <a:pt x="5187683" y="12953"/>
                </a:lnTo>
                <a:lnTo>
                  <a:pt x="5181599" y="12953"/>
                </a:lnTo>
                <a:lnTo>
                  <a:pt x="5181599" y="766571"/>
                </a:lnTo>
                <a:lnTo>
                  <a:pt x="5187683" y="7665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20566" y="2197608"/>
            <a:ext cx="50215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6870" algn="l"/>
                <a:tab pos="701675" algn="l"/>
                <a:tab pos="1046480" algn="l"/>
                <a:tab pos="1391285" algn="l"/>
                <a:tab pos="1736089" algn="l"/>
                <a:tab pos="2080895" algn="l"/>
                <a:tab pos="2425700" algn="l"/>
                <a:tab pos="2770505" algn="l"/>
                <a:tab pos="3115310" algn="l"/>
                <a:tab pos="3460115" algn="l"/>
                <a:tab pos="3804920" algn="l"/>
                <a:tab pos="4149725" algn="l"/>
                <a:tab pos="4494530" algn="l"/>
                <a:tab pos="4839335" algn="l"/>
              </a:tabLst>
            </a:pP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0	</a:t>
            </a:r>
            <a:r>
              <a:rPr sz="2400" spc="-5" dirty="0">
                <a:latin typeface="Arial"/>
                <a:cs typeface="Arial"/>
              </a:rPr>
              <a:t>1	0	0	0	1	1	0	0	0	1	1	1	1	1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37039" y="2273045"/>
            <a:ext cx="381000" cy="647700"/>
          </a:xfrm>
          <a:custGeom>
            <a:avLst/>
            <a:gdLst/>
            <a:ahLst/>
            <a:cxnLst/>
            <a:rect l="l" t="t" r="r" b="b"/>
            <a:pathLst>
              <a:path w="381000" h="647700">
                <a:moveTo>
                  <a:pt x="0" y="0"/>
                </a:moveTo>
                <a:lnTo>
                  <a:pt x="0" y="647700"/>
                </a:lnTo>
                <a:lnTo>
                  <a:pt x="380999" y="647700"/>
                </a:lnTo>
                <a:lnTo>
                  <a:pt x="380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30943" y="2266950"/>
            <a:ext cx="394335" cy="654050"/>
          </a:xfrm>
          <a:custGeom>
            <a:avLst/>
            <a:gdLst/>
            <a:ahLst/>
            <a:cxnLst/>
            <a:rect l="l" t="t" r="r" b="b"/>
            <a:pathLst>
              <a:path w="394335" h="654050">
                <a:moveTo>
                  <a:pt x="393953" y="653795"/>
                </a:moveTo>
                <a:lnTo>
                  <a:pt x="393953" y="0"/>
                </a:lnTo>
                <a:lnTo>
                  <a:pt x="0" y="0"/>
                </a:lnTo>
                <a:lnTo>
                  <a:pt x="0" y="653795"/>
                </a:lnTo>
                <a:lnTo>
                  <a:pt x="6095" y="653795"/>
                </a:lnTo>
                <a:lnTo>
                  <a:pt x="6095" y="12953"/>
                </a:lnTo>
                <a:lnTo>
                  <a:pt x="12953" y="6095"/>
                </a:lnTo>
                <a:lnTo>
                  <a:pt x="12953" y="12953"/>
                </a:lnTo>
                <a:lnTo>
                  <a:pt x="381000" y="12953"/>
                </a:lnTo>
                <a:lnTo>
                  <a:pt x="381000" y="6095"/>
                </a:lnTo>
                <a:lnTo>
                  <a:pt x="387096" y="12953"/>
                </a:lnTo>
                <a:lnTo>
                  <a:pt x="387096" y="653795"/>
                </a:lnTo>
                <a:lnTo>
                  <a:pt x="393953" y="653795"/>
                </a:lnTo>
                <a:close/>
              </a:path>
              <a:path w="394335" h="654050">
                <a:moveTo>
                  <a:pt x="12953" y="12953"/>
                </a:moveTo>
                <a:lnTo>
                  <a:pt x="12953" y="6095"/>
                </a:lnTo>
                <a:lnTo>
                  <a:pt x="6095" y="12953"/>
                </a:lnTo>
                <a:lnTo>
                  <a:pt x="12953" y="12953"/>
                </a:lnTo>
                <a:close/>
              </a:path>
              <a:path w="394335" h="654050">
                <a:moveTo>
                  <a:pt x="12953" y="653795"/>
                </a:moveTo>
                <a:lnTo>
                  <a:pt x="12953" y="12953"/>
                </a:lnTo>
                <a:lnTo>
                  <a:pt x="6095" y="12953"/>
                </a:lnTo>
                <a:lnTo>
                  <a:pt x="6095" y="653795"/>
                </a:lnTo>
                <a:lnTo>
                  <a:pt x="12953" y="653795"/>
                </a:lnTo>
                <a:close/>
              </a:path>
              <a:path w="394335" h="654050">
                <a:moveTo>
                  <a:pt x="387096" y="12953"/>
                </a:moveTo>
                <a:lnTo>
                  <a:pt x="381000" y="6095"/>
                </a:lnTo>
                <a:lnTo>
                  <a:pt x="381000" y="12953"/>
                </a:lnTo>
                <a:lnTo>
                  <a:pt x="387096" y="12953"/>
                </a:lnTo>
                <a:close/>
              </a:path>
              <a:path w="394335" h="654050">
                <a:moveTo>
                  <a:pt x="387096" y="653795"/>
                </a:moveTo>
                <a:lnTo>
                  <a:pt x="387096" y="12953"/>
                </a:lnTo>
                <a:lnTo>
                  <a:pt x="381000" y="12953"/>
                </a:lnTo>
                <a:lnTo>
                  <a:pt x="381000" y="653795"/>
                </a:lnTo>
                <a:lnTo>
                  <a:pt x="387096" y="6537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4639" y="2409825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93954" y="44195"/>
                </a:moveTo>
                <a:lnTo>
                  <a:pt x="393954" y="31241"/>
                </a:lnTo>
                <a:lnTo>
                  <a:pt x="0" y="31241"/>
                </a:lnTo>
                <a:lnTo>
                  <a:pt x="0" y="44195"/>
                </a:lnTo>
                <a:lnTo>
                  <a:pt x="393954" y="44195"/>
                </a:lnTo>
                <a:close/>
              </a:path>
              <a:path w="457200" h="76200">
                <a:moveTo>
                  <a:pt x="457200" y="38100"/>
                </a:moveTo>
                <a:lnTo>
                  <a:pt x="381000" y="0"/>
                </a:lnTo>
                <a:lnTo>
                  <a:pt x="381000" y="31241"/>
                </a:lnTo>
                <a:lnTo>
                  <a:pt x="393954" y="31241"/>
                </a:lnTo>
                <a:lnTo>
                  <a:pt x="393954" y="69723"/>
                </a:lnTo>
                <a:lnTo>
                  <a:pt x="457200" y="38100"/>
                </a:lnTo>
                <a:close/>
              </a:path>
              <a:path w="457200" h="76200">
                <a:moveTo>
                  <a:pt x="393954" y="69723"/>
                </a:moveTo>
                <a:lnTo>
                  <a:pt x="393954" y="44195"/>
                </a:lnTo>
                <a:lnTo>
                  <a:pt x="381000" y="44195"/>
                </a:lnTo>
                <a:lnTo>
                  <a:pt x="381000" y="76200"/>
                </a:lnTo>
                <a:lnTo>
                  <a:pt x="393954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69669" y="2181225"/>
            <a:ext cx="1446530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entrance  </a:t>
            </a:r>
            <a:r>
              <a:rPr sz="2400" spc="-5" dirty="0">
                <a:latin typeface="Arial"/>
                <a:cs typeface="Arial"/>
              </a:rPr>
              <a:t>maze[1][1]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45268" y="2700527"/>
            <a:ext cx="0" cy="220345"/>
          </a:xfrm>
          <a:custGeom>
            <a:avLst/>
            <a:gdLst/>
            <a:ahLst/>
            <a:cxnLst/>
            <a:rect l="l" t="t" r="r" b="b"/>
            <a:pathLst>
              <a:path h="220344">
                <a:moveTo>
                  <a:pt x="0" y="0"/>
                </a:moveTo>
                <a:lnTo>
                  <a:pt x="0" y="220217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42220" y="3025901"/>
            <a:ext cx="0" cy="752475"/>
          </a:xfrm>
          <a:custGeom>
            <a:avLst/>
            <a:gdLst/>
            <a:ahLst/>
            <a:cxnLst/>
            <a:rect l="l" t="t" r="r" b="b"/>
            <a:pathLst>
              <a:path h="752475">
                <a:moveTo>
                  <a:pt x="0" y="0"/>
                </a:moveTo>
                <a:lnTo>
                  <a:pt x="0" y="752094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23820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49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37039" y="2920745"/>
            <a:ext cx="381000" cy="105410"/>
          </a:xfrm>
          <a:custGeom>
            <a:avLst/>
            <a:gdLst/>
            <a:ahLst/>
            <a:cxnLst/>
            <a:rect l="l" t="t" r="r" b="b"/>
            <a:pathLst>
              <a:path w="381000" h="105410">
                <a:moveTo>
                  <a:pt x="0" y="0"/>
                </a:moveTo>
                <a:lnTo>
                  <a:pt x="0" y="105156"/>
                </a:lnTo>
                <a:lnTo>
                  <a:pt x="380999" y="105156"/>
                </a:lnTo>
                <a:lnTo>
                  <a:pt x="380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30943" y="2920745"/>
            <a:ext cx="394335" cy="111760"/>
          </a:xfrm>
          <a:custGeom>
            <a:avLst/>
            <a:gdLst/>
            <a:ahLst/>
            <a:cxnLst/>
            <a:rect l="l" t="t" r="r" b="b"/>
            <a:pathLst>
              <a:path w="394335" h="111760">
                <a:moveTo>
                  <a:pt x="12954" y="99059"/>
                </a:moveTo>
                <a:lnTo>
                  <a:pt x="12953" y="0"/>
                </a:lnTo>
                <a:lnTo>
                  <a:pt x="0" y="0"/>
                </a:lnTo>
                <a:lnTo>
                  <a:pt x="0" y="111251"/>
                </a:lnTo>
                <a:lnTo>
                  <a:pt x="6096" y="111251"/>
                </a:lnTo>
                <a:lnTo>
                  <a:pt x="6096" y="99059"/>
                </a:lnTo>
                <a:lnTo>
                  <a:pt x="12954" y="99059"/>
                </a:lnTo>
                <a:close/>
              </a:path>
              <a:path w="394335" h="111760">
                <a:moveTo>
                  <a:pt x="387096" y="99059"/>
                </a:moveTo>
                <a:lnTo>
                  <a:pt x="6096" y="99059"/>
                </a:lnTo>
                <a:lnTo>
                  <a:pt x="12954" y="105155"/>
                </a:lnTo>
                <a:lnTo>
                  <a:pt x="12954" y="111251"/>
                </a:lnTo>
                <a:lnTo>
                  <a:pt x="381000" y="111251"/>
                </a:lnTo>
                <a:lnTo>
                  <a:pt x="381000" y="105155"/>
                </a:lnTo>
                <a:lnTo>
                  <a:pt x="387096" y="99059"/>
                </a:lnTo>
                <a:close/>
              </a:path>
              <a:path w="394335" h="111760">
                <a:moveTo>
                  <a:pt x="12954" y="111251"/>
                </a:moveTo>
                <a:lnTo>
                  <a:pt x="12954" y="105155"/>
                </a:lnTo>
                <a:lnTo>
                  <a:pt x="6096" y="99059"/>
                </a:lnTo>
                <a:lnTo>
                  <a:pt x="6096" y="111251"/>
                </a:lnTo>
                <a:lnTo>
                  <a:pt x="12954" y="111251"/>
                </a:lnTo>
                <a:close/>
              </a:path>
              <a:path w="394335" h="111760">
                <a:moveTo>
                  <a:pt x="393953" y="111251"/>
                </a:moveTo>
                <a:lnTo>
                  <a:pt x="393953" y="0"/>
                </a:lnTo>
                <a:lnTo>
                  <a:pt x="381000" y="0"/>
                </a:lnTo>
                <a:lnTo>
                  <a:pt x="381000" y="99059"/>
                </a:lnTo>
                <a:lnTo>
                  <a:pt x="387096" y="99059"/>
                </a:lnTo>
                <a:lnTo>
                  <a:pt x="387096" y="111251"/>
                </a:lnTo>
                <a:lnTo>
                  <a:pt x="393953" y="111251"/>
                </a:lnTo>
                <a:close/>
              </a:path>
              <a:path w="394335" h="111760">
                <a:moveTo>
                  <a:pt x="387096" y="111251"/>
                </a:moveTo>
                <a:lnTo>
                  <a:pt x="387096" y="99059"/>
                </a:lnTo>
                <a:lnTo>
                  <a:pt x="381000" y="105155"/>
                </a:lnTo>
                <a:lnTo>
                  <a:pt x="381000" y="111251"/>
                </a:lnTo>
                <a:lnTo>
                  <a:pt x="387096" y="1112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45268" y="2920745"/>
            <a:ext cx="0" cy="154940"/>
          </a:xfrm>
          <a:custGeom>
            <a:avLst/>
            <a:gdLst/>
            <a:ahLst/>
            <a:cxnLst/>
            <a:rect l="l" t="t" r="r" b="b"/>
            <a:pathLst>
              <a:path h="154939">
                <a:moveTo>
                  <a:pt x="0" y="0"/>
                </a:moveTo>
                <a:lnTo>
                  <a:pt x="0" y="154686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4839" y="2920745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42220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23820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42220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23820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227184" y="5915025"/>
            <a:ext cx="4997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exit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3511041" y="2585624"/>
          <a:ext cx="5041181" cy="36956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1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47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448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447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4472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4468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4482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34472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344728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344768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345161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279698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2225">
                        <a:lnSpc>
                          <a:spcPts val="270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0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70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70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22225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22225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22225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22225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22225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22225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22225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22225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marL="22225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665"/>
                        </a:lnSpc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774839" y="4635246"/>
            <a:ext cx="824484" cy="1714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35743" y="5492496"/>
            <a:ext cx="5194935" cy="792480"/>
          </a:xfrm>
          <a:custGeom>
            <a:avLst/>
            <a:gdLst/>
            <a:ahLst/>
            <a:cxnLst/>
            <a:rect l="l" t="t" r="r" b="b"/>
            <a:pathLst>
              <a:path w="5194934" h="792479">
                <a:moveTo>
                  <a:pt x="12954" y="779526"/>
                </a:moveTo>
                <a:lnTo>
                  <a:pt x="12953" y="0"/>
                </a:lnTo>
                <a:lnTo>
                  <a:pt x="0" y="0"/>
                </a:lnTo>
                <a:lnTo>
                  <a:pt x="0" y="792480"/>
                </a:lnTo>
                <a:lnTo>
                  <a:pt x="6096" y="792480"/>
                </a:lnTo>
                <a:lnTo>
                  <a:pt x="6096" y="779526"/>
                </a:lnTo>
                <a:lnTo>
                  <a:pt x="12954" y="779526"/>
                </a:lnTo>
                <a:close/>
              </a:path>
              <a:path w="5194934" h="792479">
                <a:moveTo>
                  <a:pt x="5187683" y="779526"/>
                </a:moveTo>
                <a:lnTo>
                  <a:pt x="6096" y="779526"/>
                </a:lnTo>
                <a:lnTo>
                  <a:pt x="12954" y="786384"/>
                </a:lnTo>
                <a:lnTo>
                  <a:pt x="12954" y="792480"/>
                </a:lnTo>
                <a:lnTo>
                  <a:pt x="5181599" y="792479"/>
                </a:lnTo>
                <a:lnTo>
                  <a:pt x="5181599" y="786383"/>
                </a:lnTo>
                <a:lnTo>
                  <a:pt x="5187683" y="779526"/>
                </a:lnTo>
                <a:close/>
              </a:path>
              <a:path w="5194934" h="792479">
                <a:moveTo>
                  <a:pt x="12954" y="792480"/>
                </a:moveTo>
                <a:lnTo>
                  <a:pt x="12954" y="786384"/>
                </a:lnTo>
                <a:lnTo>
                  <a:pt x="6096" y="779526"/>
                </a:lnTo>
                <a:lnTo>
                  <a:pt x="6096" y="792480"/>
                </a:lnTo>
                <a:lnTo>
                  <a:pt x="12954" y="792480"/>
                </a:lnTo>
                <a:close/>
              </a:path>
              <a:path w="5194934" h="792479">
                <a:moveTo>
                  <a:pt x="5194553" y="792479"/>
                </a:moveTo>
                <a:lnTo>
                  <a:pt x="5194553" y="0"/>
                </a:lnTo>
                <a:lnTo>
                  <a:pt x="5181599" y="0"/>
                </a:lnTo>
                <a:lnTo>
                  <a:pt x="5181599" y="779526"/>
                </a:lnTo>
                <a:lnTo>
                  <a:pt x="5187683" y="779526"/>
                </a:lnTo>
                <a:lnTo>
                  <a:pt x="5187683" y="792479"/>
                </a:lnTo>
                <a:lnTo>
                  <a:pt x="5194553" y="792479"/>
                </a:lnTo>
                <a:close/>
              </a:path>
              <a:path w="5194934" h="792479">
                <a:moveTo>
                  <a:pt x="5187683" y="792479"/>
                </a:moveTo>
                <a:lnTo>
                  <a:pt x="5187683" y="779526"/>
                </a:lnTo>
                <a:lnTo>
                  <a:pt x="5181599" y="786383"/>
                </a:lnTo>
                <a:lnTo>
                  <a:pt x="5181599" y="792479"/>
                </a:lnTo>
                <a:lnTo>
                  <a:pt x="5187683" y="792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547227" y="5997702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0"/>
                </a:moveTo>
                <a:lnTo>
                  <a:pt x="0" y="304800"/>
                </a:lnTo>
                <a:lnTo>
                  <a:pt x="381000" y="304800"/>
                </a:lnTo>
                <a:lnTo>
                  <a:pt x="381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41143" y="5991605"/>
            <a:ext cx="394335" cy="317500"/>
          </a:xfrm>
          <a:custGeom>
            <a:avLst/>
            <a:gdLst/>
            <a:ahLst/>
            <a:cxnLst/>
            <a:rect l="l" t="t" r="r" b="b"/>
            <a:pathLst>
              <a:path w="394334" h="317500">
                <a:moveTo>
                  <a:pt x="393953" y="316991"/>
                </a:moveTo>
                <a:lnTo>
                  <a:pt x="393953" y="0"/>
                </a:lnTo>
                <a:lnTo>
                  <a:pt x="0" y="0"/>
                </a:lnTo>
                <a:lnTo>
                  <a:pt x="0" y="316991"/>
                </a:lnTo>
                <a:lnTo>
                  <a:pt x="6083" y="316991"/>
                </a:lnTo>
                <a:lnTo>
                  <a:pt x="6083" y="12191"/>
                </a:lnTo>
                <a:lnTo>
                  <a:pt x="12954" y="6095"/>
                </a:lnTo>
                <a:lnTo>
                  <a:pt x="12954" y="12191"/>
                </a:lnTo>
                <a:lnTo>
                  <a:pt x="381000" y="12191"/>
                </a:lnTo>
                <a:lnTo>
                  <a:pt x="381000" y="6095"/>
                </a:lnTo>
                <a:lnTo>
                  <a:pt x="387083" y="12191"/>
                </a:lnTo>
                <a:lnTo>
                  <a:pt x="387083" y="316991"/>
                </a:lnTo>
                <a:lnTo>
                  <a:pt x="393953" y="316991"/>
                </a:lnTo>
                <a:close/>
              </a:path>
              <a:path w="394334" h="317500">
                <a:moveTo>
                  <a:pt x="12954" y="12191"/>
                </a:moveTo>
                <a:lnTo>
                  <a:pt x="12954" y="6095"/>
                </a:lnTo>
                <a:lnTo>
                  <a:pt x="6083" y="12191"/>
                </a:lnTo>
                <a:lnTo>
                  <a:pt x="12954" y="12191"/>
                </a:lnTo>
                <a:close/>
              </a:path>
              <a:path w="394334" h="317500">
                <a:moveTo>
                  <a:pt x="12954" y="304799"/>
                </a:moveTo>
                <a:lnTo>
                  <a:pt x="12954" y="12191"/>
                </a:lnTo>
                <a:lnTo>
                  <a:pt x="6083" y="12191"/>
                </a:lnTo>
                <a:lnTo>
                  <a:pt x="6083" y="304799"/>
                </a:lnTo>
                <a:lnTo>
                  <a:pt x="12954" y="304799"/>
                </a:lnTo>
                <a:close/>
              </a:path>
              <a:path w="394334" h="317500">
                <a:moveTo>
                  <a:pt x="387083" y="304799"/>
                </a:moveTo>
                <a:lnTo>
                  <a:pt x="6083" y="304799"/>
                </a:lnTo>
                <a:lnTo>
                  <a:pt x="12954" y="310895"/>
                </a:lnTo>
                <a:lnTo>
                  <a:pt x="12954" y="316991"/>
                </a:lnTo>
                <a:lnTo>
                  <a:pt x="381000" y="316991"/>
                </a:lnTo>
                <a:lnTo>
                  <a:pt x="381000" y="310895"/>
                </a:lnTo>
                <a:lnTo>
                  <a:pt x="387083" y="304799"/>
                </a:lnTo>
                <a:close/>
              </a:path>
              <a:path w="394334" h="317500">
                <a:moveTo>
                  <a:pt x="12954" y="316991"/>
                </a:moveTo>
                <a:lnTo>
                  <a:pt x="12954" y="310895"/>
                </a:lnTo>
                <a:lnTo>
                  <a:pt x="6083" y="304799"/>
                </a:lnTo>
                <a:lnTo>
                  <a:pt x="6083" y="316991"/>
                </a:lnTo>
                <a:lnTo>
                  <a:pt x="12954" y="316991"/>
                </a:lnTo>
                <a:close/>
              </a:path>
              <a:path w="394334" h="317500">
                <a:moveTo>
                  <a:pt x="387083" y="12191"/>
                </a:moveTo>
                <a:lnTo>
                  <a:pt x="381000" y="6095"/>
                </a:lnTo>
                <a:lnTo>
                  <a:pt x="381000" y="12191"/>
                </a:lnTo>
                <a:lnTo>
                  <a:pt x="387083" y="12191"/>
                </a:lnTo>
                <a:close/>
              </a:path>
              <a:path w="394334" h="317500">
                <a:moveTo>
                  <a:pt x="387083" y="304799"/>
                </a:moveTo>
                <a:lnTo>
                  <a:pt x="387083" y="12191"/>
                </a:lnTo>
                <a:lnTo>
                  <a:pt x="381000" y="12191"/>
                </a:lnTo>
                <a:lnTo>
                  <a:pt x="381000" y="304799"/>
                </a:lnTo>
                <a:lnTo>
                  <a:pt x="387083" y="304799"/>
                </a:lnTo>
                <a:close/>
              </a:path>
              <a:path w="394334" h="317500">
                <a:moveTo>
                  <a:pt x="387083" y="316991"/>
                </a:moveTo>
                <a:lnTo>
                  <a:pt x="387083" y="304799"/>
                </a:lnTo>
                <a:lnTo>
                  <a:pt x="381000" y="310895"/>
                </a:lnTo>
                <a:lnTo>
                  <a:pt x="381000" y="316991"/>
                </a:lnTo>
                <a:lnTo>
                  <a:pt x="387083" y="3169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623427" y="6112002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93953" y="44196"/>
                </a:moveTo>
                <a:lnTo>
                  <a:pt x="393953" y="32003"/>
                </a:lnTo>
                <a:lnTo>
                  <a:pt x="0" y="32003"/>
                </a:lnTo>
                <a:lnTo>
                  <a:pt x="0" y="44196"/>
                </a:lnTo>
                <a:lnTo>
                  <a:pt x="393953" y="44196"/>
                </a:lnTo>
                <a:close/>
              </a:path>
              <a:path w="457200" h="76200">
                <a:moveTo>
                  <a:pt x="457200" y="38100"/>
                </a:moveTo>
                <a:lnTo>
                  <a:pt x="381000" y="0"/>
                </a:lnTo>
                <a:lnTo>
                  <a:pt x="381000" y="32003"/>
                </a:lnTo>
                <a:lnTo>
                  <a:pt x="393953" y="32003"/>
                </a:lnTo>
                <a:lnTo>
                  <a:pt x="393953" y="69723"/>
                </a:lnTo>
                <a:lnTo>
                  <a:pt x="457200" y="38100"/>
                </a:lnTo>
                <a:close/>
              </a:path>
              <a:path w="457200" h="76200">
                <a:moveTo>
                  <a:pt x="393953" y="69723"/>
                </a:moveTo>
                <a:lnTo>
                  <a:pt x="393953" y="44196"/>
                </a:lnTo>
                <a:lnTo>
                  <a:pt x="381000" y="44196"/>
                </a:lnTo>
                <a:lnTo>
                  <a:pt x="381000" y="76200"/>
                </a:lnTo>
                <a:lnTo>
                  <a:pt x="393953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115948" y="6349746"/>
            <a:ext cx="1691005" cy="508634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Times New Roman"/>
              <a:cs typeface="Times New Roman"/>
            </a:endParaRPr>
          </a:p>
          <a:p>
            <a:pPr marR="201930" algn="r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115948" y="6349746"/>
            <a:ext cx="1691005" cy="508634"/>
          </a:xfrm>
          <a:custGeom>
            <a:avLst/>
            <a:gdLst/>
            <a:ahLst/>
            <a:cxnLst/>
            <a:rect l="l" t="t" r="r" b="b"/>
            <a:pathLst>
              <a:path w="1691004" h="508634">
                <a:moveTo>
                  <a:pt x="0" y="0"/>
                </a:moveTo>
                <a:lnTo>
                  <a:pt x="0" y="508254"/>
                </a:lnTo>
                <a:lnTo>
                  <a:pt x="1690877" y="508254"/>
                </a:lnTo>
                <a:lnTo>
                  <a:pt x="16908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8310880" y="6296025"/>
            <a:ext cx="15316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maze[m][p]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485514" y="6409182"/>
            <a:ext cx="444512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1: blocked </a:t>
            </a:r>
            <a:r>
              <a:rPr sz="2400" spc="-5" dirty="0" smtClean="0">
                <a:solidFill>
                  <a:srgbClr val="003365"/>
                </a:solidFill>
                <a:latin typeface="Arial"/>
                <a:cs typeface="Arial"/>
              </a:rPr>
              <a:t>path</a:t>
            </a:r>
            <a:r>
              <a:rPr lang="en-US" sz="2400" spc="-5" dirty="0" smtClean="0">
                <a:solidFill>
                  <a:srgbClr val="003365"/>
                </a:solidFill>
                <a:latin typeface="Arial"/>
                <a:cs typeface="Arial"/>
              </a:rPr>
              <a:t>,</a:t>
            </a:r>
            <a:r>
              <a:rPr sz="2400" spc="-5" dirty="0" smtClean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0: through</a:t>
            </a:r>
            <a:r>
              <a:rPr sz="2400" spc="-2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3365"/>
                </a:solidFill>
                <a:latin typeface="Arial"/>
                <a:cs typeface="Arial"/>
              </a:rPr>
              <a:t>path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A Possible</a:t>
            </a:r>
            <a:r>
              <a:rPr sz="4400" spc="-25" dirty="0"/>
              <a:t> </a:t>
            </a:r>
            <a:r>
              <a:rPr sz="4400" spc="-5" dirty="0"/>
              <a:t>Representation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4481969" y="1822704"/>
            <a:ext cx="0" cy="241300"/>
          </a:xfrm>
          <a:custGeom>
            <a:avLst/>
            <a:gdLst/>
            <a:ahLst/>
            <a:cxnLst/>
            <a:rect l="l" t="t" r="r" b="b"/>
            <a:pathLst>
              <a:path h="241300">
                <a:moveTo>
                  <a:pt x="0" y="0"/>
                </a:moveTo>
                <a:lnTo>
                  <a:pt x="0" y="240792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15607" y="1822704"/>
            <a:ext cx="0" cy="241300"/>
          </a:xfrm>
          <a:custGeom>
            <a:avLst/>
            <a:gdLst/>
            <a:ahLst/>
            <a:cxnLst/>
            <a:rect l="l" t="t" r="r" b="b"/>
            <a:pathLst>
              <a:path h="241300">
                <a:moveTo>
                  <a:pt x="0" y="0"/>
                </a:moveTo>
                <a:lnTo>
                  <a:pt x="0" y="2407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48319" y="1822704"/>
            <a:ext cx="0" cy="241300"/>
          </a:xfrm>
          <a:custGeom>
            <a:avLst/>
            <a:gdLst/>
            <a:ahLst/>
            <a:cxnLst/>
            <a:rect l="l" t="t" r="r" b="b"/>
            <a:pathLst>
              <a:path h="241300">
                <a:moveTo>
                  <a:pt x="0" y="0"/>
                </a:moveTo>
                <a:lnTo>
                  <a:pt x="0" y="2407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49269" y="1822704"/>
            <a:ext cx="0" cy="241300"/>
          </a:xfrm>
          <a:custGeom>
            <a:avLst/>
            <a:gdLst/>
            <a:ahLst/>
            <a:cxnLst/>
            <a:rect l="l" t="t" r="r" b="b"/>
            <a:pathLst>
              <a:path h="241300">
                <a:moveTo>
                  <a:pt x="0" y="0"/>
                </a:moveTo>
                <a:lnTo>
                  <a:pt x="0" y="240791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33841" y="1836801"/>
            <a:ext cx="7630159" cy="0"/>
          </a:xfrm>
          <a:custGeom>
            <a:avLst/>
            <a:gdLst/>
            <a:ahLst/>
            <a:cxnLst/>
            <a:rect l="l" t="t" r="r" b="b"/>
            <a:pathLst>
              <a:path w="7630159">
                <a:moveTo>
                  <a:pt x="0" y="0"/>
                </a:moveTo>
                <a:lnTo>
                  <a:pt x="7629906" y="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81969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15607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48319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49269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81969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15607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33841" y="3564254"/>
            <a:ext cx="7630159" cy="0"/>
          </a:xfrm>
          <a:custGeom>
            <a:avLst/>
            <a:gdLst/>
            <a:ahLst/>
            <a:cxnLst/>
            <a:rect l="l" t="t" r="r" b="b"/>
            <a:pathLst>
              <a:path w="7630159">
                <a:moveTo>
                  <a:pt x="0" y="0"/>
                </a:moveTo>
                <a:lnTo>
                  <a:pt x="7629906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48319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549269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171826" y="2220721"/>
            <a:ext cx="2085339" cy="948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NW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Arial"/>
                <a:cs typeface="Arial"/>
              </a:rPr>
              <a:t>[ro</a:t>
            </a:r>
            <a:r>
              <a:rPr sz="2800" spc="-5" dirty="0">
                <a:latin typeface="Arial"/>
                <a:cs typeface="Arial"/>
              </a:rPr>
              <a:t>w</a:t>
            </a:r>
            <a:r>
              <a:rPr sz="2800" dirty="0">
                <a:latin typeface="Arial"/>
                <a:cs typeface="Arial"/>
              </a:rPr>
              <a:t>-1][col-1]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63972" y="2220721"/>
            <a:ext cx="1768475" cy="948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N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Arial"/>
                <a:cs typeface="Arial"/>
              </a:rPr>
              <a:t>[ro</a:t>
            </a:r>
            <a:r>
              <a:rPr sz="2800" spc="-5" dirty="0">
                <a:latin typeface="Arial"/>
                <a:cs typeface="Arial"/>
              </a:rPr>
              <a:t>w</a:t>
            </a:r>
            <a:r>
              <a:rPr sz="2800" dirty="0">
                <a:latin typeface="Arial"/>
                <a:cs typeface="Arial"/>
              </a:rPr>
              <a:t>-1][col]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94181" y="2220721"/>
            <a:ext cx="2174240" cy="948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NE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Arial"/>
                <a:cs typeface="Arial"/>
              </a:rPr>
              <a:t>[ro</a:t>
            </a:r>
            <a:r>
              <a:rPr sz="2800" spc="-5" dirty="0">
                <a:latin typeface="Arial"/>
                <a:cs typeface="Arial"/>
              </a:rPr>
              <a:t>w</a:t>
            </a:r>
            <a:r>
              <a:rPr sz="2800" dirty="0">
                <a:latin typeface="Arial"/>
                <a:cs typeface="Arial"/>
              </a:rPr>
              <a:t>-1][col+1]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695073" y="3154679"/>
            <a:ext cx="76200" cy="623570"/>
          </a:xfrm>
          <a:custGeom>
            <a:avLst/>
            <a:gdLst/>
            <a:ahLst/>
            <a:cxnLst/>
            <a:rect l="l" t="t" r="r" b="b"/>
            <a:pathLst>
              <a:path w="76200" h="623570">
                <a:moveTo>
                  <a:pt x="76200" y="76200"/>
                </a:moveTo>
                <a:lnTo>
                  <a:pt x="39624" y="0"/>
                </a:lnTo>
                <a:lnTo>
                  <a:pt x="0" y="75437"/>
                </a:lnTo>
                <a:lnTo>
                  <a:pt x="31826" y="75756"/>
                </a:lnTo>
                <a:lnTo>
                  <a:pt x="32004" y="63245"/>
                </a:lnTo>
                <a:lnTo>
                  <a:pt x="44958" y="63245"/>
                </a:lnTo>
                <a:lnTo>
                  <a:pt x="44958" y="75887"/>
                </a:lnTo>
                <a:lnTo>
                  <a:pt x="76200" y="76200"/>
                </a:lnTo>
                <a:close/>
              </a:path>
              <a:path w="76200" h="623570">
                <a:moveTo>
                  <a:pt x="44768" y="75885"/>
                </a:moveTo>
                <a:lnTo>
                  <a:pt x="31826" y="75756"/>
                </a:lnTo>
                <a:lnTo>
                  <a:pt x="24056" y="623316"/>
                </a:lnTo>
                <a:lnTo>
                  <a:pt x="36542" y="623316"/>
                </a:lnTo>
                <a:lnTo>
                  <a:pt x="44768" y="75885"/>
                </a:lnTo>
                <a:close/>
              </a:path>
              <a:path w="76200" h="623570">
                <a:moveTo>
                  <a:pt x="44958" y="63245"/>
                </a:moveTo>
                <a:lnTo>
                  <a:pt x="32004" y="63245"/>
                </a:lnTo>
                <a:lnTo>
                  <a:pt x="31826" y="75756"/>
                </a:lnTo>
                <a:lnTo>
                  <a:pt x="44768" y="75885"/>
                </a:lnTo>
                <a:lnTo>
                  <a:pt x="44958" y="63245"/>
                </a:lnTo>
                <a:close/>
              </a:path>
              <a:path w="76200" h="623570">
                <a:moveTo>
                  <a:pt x="44958" y="75887"/>
                </a:moveTo>
                <a:lnTo>
                  <a:pt x="44958" y="63245"/>
                </a:lnTo>
                <a:lnTo>
                  <a:pt x="44768" y="75885"/>
                </a:lnTo>
                <a:lnTo>
                  <a:pt x="44958" y="758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69930" y="3330702"/>
            <a:ext cx="715645" cy="447675"/>
          </a:xfrm>
          <a:custGeom>
            <a:avLst/>
            <a:gdLst/>
            <a:ahLst/>
            <a:cxnLst/>
            <a:rect l="l" t="t" r="r" b="b"/>
            <a:pathLst>
              <a:path w="715645" h="447675">
                <a:moveTo>
                  <a:pt x="654890" y="46497"/>
                </a:moveTo>
                <a:lnTo>
                  <a:pt x="648090" y="35792"/>
                </a:lnTo>
                <a:lnTo>
                  <a:pt x="0" y="447294"/>
                </a:lnTo>
                <a:lnTo>
                  <a:pt x="23659" y="447294"/>
                </a:lnTo>
                <a:lnTo>
                  <a:pt x="654890" y="46497"/>
                </a:lnTo>
                <a:close/>
              </a:path>
              <a:path w="715645" h="447675">
                <a:moveTo>
                  <a:pt x="715245" y="0"/>
                </a:moveTo>
                <a:lnTo>
                  <a:pt x="630676" y="8382"/>
                </a:lnTo>
                <a:lnTo>
                  <a:pt x="648090" y="35792"/>
                </a:lnTo>
                <a:lnTo>
                  <a:pt x="658857" y="28956"/>
                </a:lnTo>
                <a:lnTo>
                  <a:pt x="665715" y="39624"/>
                </a:lnTo>
                <a:lnTo>
                  <a:pt x="665715" y="63536"/>
                </a:lnTo>
                <a:lnTo>
                  <a:pt x="671824" y="73151"/>
                </a:lnTo>
                <a:lnTo>
                  <a:pt x="715245" y="0"/>
                </a:lnTo>
                <a:close/>
              </a:path>
              <a:path w="715645" h="447675">
                <a:moveTo>
                  <a:pt x="665715" y="39624"/>
                </a:moveTo>
                <a:lnTo>
                  <a:pt x="658857" y="28956"/>
                </a:lnTo>
                <a:lnTo>
                  <a:pt x="648090" y="35792"/>
                </a:lnTo>
                <a:lnTo>
                  <a:pt x="654890" y="46497"/>
                </a:lnTo>
                <a:lnTo>
                  <a:pt x="665715" y="39624"/>
                </a:lnTo>
                <a:close/>
              </a:path>
              <a:path w="715645" h="447675">
                <a:moveTo>
                  <a:pt x="665715" y="63536"/>
                </a:moveTo>
                <a:lnTo>
                  <a:pt x="665715" y="39624"/>
                </a:lnTo>
                <a:lnTo>
                  <a:pt x="654890" y="46497"/>
                </a:lnTo>
                <a:lnTo>
                  <a:pt x="665715" y="63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91825" y="3300221"/>
            <a:ext cx="716915" cy="478155"/>
          </a:xfrm>
          <a:custGeom>
            <a:avLst/>
            <a:gdLst/>
            <a:ahLst/>
            <a:cxnLst/>
            <a:rect l="l" t="t" r="r" b="b"/>
            <a:pathLst>
              <a:path w="716914" h="478154">
                <a:moveTo>
                  <a:pt x="83820" y="11429"/>
                </a:moveTo>
                <a:lnTo>
                  <a:pt x="0" y="0"/>
                </a:lnTo>
                <a:lnTo>
                  <a:pt x="41148" y="74675"/>
                </a:lnTo>
                <a:lnTo>
                  <a:pt x="48768" y="63382"/>
                </a:lnTo>
                <a:lnTo>
                  <a:pt x="48768" y="41148"/>
                </a:lnTo>
                <a:lnTo>
                  <a:pt x="55626" y="30479"/>
                </a:lnTo>
                <a:lnTo>
                  <a:pt x="66158" y="37606"/>
                </a:lnTo>
                <a:lnTo>
                  <a:pt x="83820" y="11429"/>
                </a:lnTo>
                <a:close/>
              </a:path>
              <a:path w="716914" h="478154">
                <a:moveTo>
                  <a:pt x="66158" y="37606"/>
                </a:moveTo>
                <a:lnTo>
                  <a:pt x="55626" y="30479"/>
                </a:lnTo>
                <a:lnTo>
                  <a:pt x="48768" y="41148"/>
                </a:lnTo>
                <a:lnTo>
                  <a:pt x="59067" y="48116"/>
                </a:lnTo>
                <a:lnTo>
                  <a:pt x="66158" y="37606"/>
                </a:lnTo>
                <a:close/>
              </a:path>
              <a:path w="716914" h="478154">
                <a:moveTo>
                  <a:pt x="59067" y="48116"/>
                </a:moveTo>
                <a:lnTo>
                  <a:pt x="48768" y="41148"/>
                </a:lnTo>
                <a:lnTo>
                  <a:pt x="48768" y="63382"/>
                </a:lnTo>
                <a:lnTo>
                  <a:pt x="59067" y="48116"/>
                </a:lnTo>
                <a:close/>
              </a:path>
              <a:path w="716914" h="478154">
                <a:moveTo>
                  <a:pt x="716697" y="477774"/>
                </a:moveTo>
                <a:lnTo>
                  <a:pt x="66158" y="37606"/>
                </a:lnTo>
                <a:lnTo>
                  <a:pt x="59067" y="48116"/>
                </a:lnTo>
                <a:lnTo>
                  <a:pt x="694072" y="477774"/>
                </a:lnTo>
                <a:lnTo>
                  <a:pt x="716697" y="4777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81969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15607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48319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549269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34469" y="4119371"/>
            <a:ext cx="617220" cy="516255"/>
          </a:xfrm>
          <a:custGeom>
            <a:avLst/>
            <a:gdLst/>
            <a:ahLst/>
            <a:cxnLst/>
            <a:rect l="l" t="t" r="r" b="b"/>
            <a:pathLst>
              <a:path w="617220" h="516254">
                <a:moveTo>
                  <a:pt x="617220" y="309371"/>
                </a:moveTo>
                <a:lnTo>
                  <a:pt x="614213" y="263687"/>
                </a:lnTo>
                <a:lnTo>
                  <a:pt x="604690" y="220093"/>
                </a:lnTo>
                <a:lnTo>
                  <a:pt x="589153" y="179064"/>
                </a:lnTo>
                <a:lnTo>
                  <a:pt x="568104" y="141074"/>
                </a:lnTo>
                <a:lnTo>
                  <a:pt x="542045" y="106595"/>
                </a:lnTo>
                <a:lnTo>
                  <a:pt x="511479" y="76102"/>
                </a:lnTo>
                <a:lnTo>
                  <a:pt x="476907" y="50068"/>
                </a:lnTo>
                <a:lnTo>
                  <a:pt x="438832" y="28967"/>
                </a:lnTo>
                <a:lnTo>
                  <a:pt x="397756" y="13273"/>
                </a:lnTo>
                <a:lnTo>
                  <a:pt x="354329" y="3493"/>
                </a:lnTo>
                <a:lnTo>
                  <a:pt x="308610" y="0"/>
                </a:lnTo>
                <a:lnTo>
                  <a:pt x="263013" y="3600"/>
                </a:lnTo>
                <a:lnTo>
                  <a:pt x="219514" y="13466"/>
                </a:lnTo>
                <a:lnTo>
                  <a:pt x="178584" y="29138"/>
                </a:lnTo>
                <a:lnTo>
                  <a:pt x="140691" y="50160"/>
                </a:lnTo>
                <a:lnTo>
                  <a:pt x="106307" y="76073"/>
                </a:lnTo>
                <a:lnTo>
                  <a:pt x="75901" y="106419"/>
                </a:lnTo>
                <a:lnTo>
                  <a:pt x="49935" y="140755"/>
                </a:lnTo>
                <a:lnTo>
                  <a:pt x="28882" y="178636"/>
                </a:lnTo>
                <a:lnTo>
                  <a:pt x="13254" y="219473"/>
                </a:lnTo>
                <a:lnTo>
                  <a:pt x="3463" y="262970"/>
                </a:lnTo>
                <a:lnTo>
                  <a:pt x="0" y="308610"/>
                </a:lnTo>
                <a:lnTo>
                  <a:pt x="0" y="309372"/>
                </a:lnTo>
                <a:lnTo>
                  <a:pt x="3441" y="354933"/>
                </a:lnTo>
                <a:lnTo>
                  <a:pt x="12953" y="397205"/>
                </a:lnTo>
                <a:lnTo>
                  <a:pt x="12953" y="294131"/>
                </a:lnTo>
                <a:lnTo>
                  <a:pt x="16001" y="263651"/>
                </a:lnTo>
                <a:lnTo>
                  <a:pt x="16001" y="264413"/>
                </a:lnTo>
                <a:lnTo>
                  <a:pt x="19050" y="249174"/>
                </a:lnTo>
                <a:lnTo>
                  <a:pt x="22098" y="234695"/>
                </a:lnTo>
                <a:lnTo>
                  <a:pt x="22098" y="235457"/>
                </a:lnTo>
                <a:lnTo>
                  <a:pt x="25908" y="220979"/>
                </a:lnTo>
                <a:lnTo>
                  <a:pt x="30479" y="207263"/>
                </a:lnTo>
                <a:lnTo>
                  <a:pt x="35813" y="193548"/>
                </a:lnTo>
                <a:lnTo>
                  <a:pt x="35813" y="194310"/>
                </a:lnTo>
                <a:lnTo>
                  <a:pt x="41910" y="180593"/>
                </a:lnTo>
                <a:lnTo>
                  <a:pt x="48767" y="167639"/>
                </a:lnTo>
                <a:lnTo>
                  <a:pt x="48767" y="168401"/>
                </a:lnTo>
                <a:lnTo>
                  <a:pt x="55625" y="155448"/>
                </a:lnTo>
                <a:lnTo>
                  <a:pt x="63246" y="143255"/>
                </a:lnTo>
                <a:lnTo>
                  <a:pt x="63246" y="144017"/>
                </a:lnTo>
                <a:lnTo>
                  <a:pt x="71627" y="131825"/>
                </a:lnTo>
                <a:lnTo>
                  <a:pt x="80010" y="121348"/>
                </a:lnTo>
                <a:lnTo>
                  <a:pt x="80010" y="121157"/>
                </a:lnTo>
                <a:lnTo>
                  <a:pt x="89915" y="109727"/>
                </a:lnTo>
                <a:lnTo>
                  <a:pt x="99060" y="100584"/>
                </a:lnTo>
                <a:lnTo>
                  <a:pt x="99060" y="99822"/>
                </a:lnTo>
                <a:lnTo>
                  <a:pt x="121037" y="80114"/>
                </a:lnTo>
                <a:lnTo>
                  <a:pt x="143317" y="63412"/>
                </a:lnTo>
                <a:lnTo>
                  <a:pt x="167091" y="48913"/>
                </a:lnTo>
                <a:lnTo>
                  <a:pt x="193548" y="35813"/>
                </a:lnTo>
                <a:lnTo>
                  <a:pt x="193548" y="36575"/>
                </a:lnTo>
                <a:lnTo>
                  <a:pt x="220979" y="25907"/>
                </a:lnTo>
                <a:lnTo>
                  <a:pt x="220979" y="26669"/>
                </a:lnTo>
                <a:lnTo>
                  <a:pt x="234696" y="22098"/>
                </a:lnTo>
                <a:lnTo>
                  <a:pt x="263651" y="16001"/>
                </a:lnTo>
                <a:lnTo>
                  <a:pt x="263651" y="16763"/>
                </a:lnTo>
                <a:lnTo>
                  <a:pt x="278129" y="14592"/>
                </a:lnTo>
                <a:lnTo>
                  <a:pt x="308610" y="12953"/>
                </a:lnTo>
                <a:lnTo>
                  <a:pt x="323850" y="13679"/>
                </a:lnTo>
                <a:lnTo>
                  <a:pt x="324612" y="13754"/>
                </a:lnTo>
                <a:lnTo>
                  <a:pt x="339089" y="14477"/>
                </a:lnTo>
                <a:lnTo>
                  <a:pt x="353567" y="16649"/>
                </a:lnTo>
                <a:lnTo>
                  <a:pt x="353567" y="16001"/>
                </a:lnTo>
                <a:lnTo>
                  <a:pt x="368808" y="19050"/>
                </a:lnTo>
                <a:lnTo>
                  <a:pt x="368808" y="19202"/>
                </a:lnTo>
                <a:lnTo>
                  <a:pt x="383286" y="22098"/>
                </a:lnTo>
                <a:lnTo>
                  <a:pt x="383286" y="22338"/>
                </a:lnTo>
                <a:lnTo>
                  <a:pt x="397001" y="26669"/>
                </a:lnTo>
                <a:lnTo>
                  <a:pt x="397001" y="25907"/>
                </a:lnTo>
                <a:lnTo>
                  <a:pt x="423672" y="36279"/>
                </a:lnTo>
                <a:lnTo>
                  <a:pt x="423672" y="35813"/>
                </a:lnTo>
                <a:lnTo>
                  <a:pt x="437388" y="41910"/>
                </a:lnTo>
                <a:lnTo>
                  <a:pt x="450341" y="48767"/>
                </a:lnTo>
                <a:lnTo>
                  <a:pt x="450341" y="49171"/>
                </a:lnTo>
                <a:lnTo>
                  <a:pt x="462534" y="55625"/>
                </a:lnTo>
                <a:lnTo>
                  <a:pt x="474725" y="63245"/>
                </a:lnTo>
                <a:lnTo>
                  <a:pt x="474725" y="63769"/>
                </a:lnTo>
                <a:lnTo>
                  <a:pt x="486155" y="71627"/>
                </a:lnTo>
                <a:lnTo>
                  <a:pt x="497586" y="80771"/>
                </a:lnTo>
                <a:lnTo>
                  <a:pt x="497586" y="81381"/>
                </a:lnTo>
                <a:lnTo>
                  <a:pt x="508253" y="89915"/>
                </a:lnTo>
                <a:lnTo>
                  <a:pt x="508253" y="90623"/>
                </a:lnTo>
                <a:lnTo>
                  <a:pt x="518160" y="99821"/>
                </a:lnTo>
                <a:lnTo>
                  <a:pt x="528065" y="109727"/>
                </a:lnTo>
                <a:lnTo>
                  <a:pt x="537210" y="121157"/>
                </a:lnTo>
                <a:lnTo>
                  <a:pt x="537210" y="120395"/>
                </a:lnTo>
                <a:lnTo>
                  <a:pt x="546353" y="131825"/>
                </a:lnTo>
                <a:lnTo>
                  <a:pt x="546353" y="132841"/>
                </a:lnTo>
                <a:lnTo>
                  <a:pt x="554736" y="144017"/>
                </a:lnTo>
                <a:lnTo>
                  <a:pt x="554736" y="144364"/>
                </a:lnTo>
                <a:lnTo>
                  <a:pt x="562355" y="155447"/>
                </a:lnTo>
                <a:lnTo>
                  <a:pt x="562355" y="156743"/>
                </a:lnTo>
                <a:lnTo>
                  <a:pt x="569213" y="168401"/>
                </a:lnTo>
                <a:lnTo>
                  <a:pt x="569213" y="167639"/>
                </a:lnTo>
                <a:lnTo>
                  <a:pt x="576072" y="180593"/>
                </a:lnTo>
                <a:lnTo>
                  <a:pt x="576072" y="182308"/>
                </a:lnTo>
                <a:lnTo>
                  <a:pt x="581405" y="194309"/>
                </a:lnTo>
                <a:lnTo>
                  <a:pt x="581405" y="193547"/>
                </a:lnTo>
                <a:lnTo>
                  <a:pt x="586739" y="207263"/>
                </a:lnTo>
                <a:lnTo>
                  <a:pt x="591312" y="220979"/>
                </a:lnTo>
                <a:lnTo>
                  <a:pt x="595884" y="235457"/>
                </a:lnTo>
                <a:lnTo>
                  <a:pt x="595884" y="234695"/>
                </a:lnTo>
                <a:lnTo>
                  <a:pt x="598932" y="249173"/>
                </a:lnTo>
                <a:lnTo>
                  <a:pt x="601217" y="264413"/>
                </a:lnTo>
                <a:lnTo>
                  <a:pt x="601217" y="263651"/>
                </a:lnTo>
                <a:lnTo>
                  <a:pt x="603503" y="278891"/>
                </a:lnTo>
                <a:lnTo>
                  <a:pt x="604265" y="294131"/>
                </a:lnTo>
                <a:lnTo>
                  <a:pt x="604265" y="293369"/>
                </a:lnTo>
                <a:lnTo>
                  <a:pt x="605009" y="308990"/>
                </a:lnTo>
                <a:lnTo>
                  <a:pt x="605027" y="308609"/>
                </a:lnTo>
                <a:lnTo>
                  <a:pt x="605027" y="396173"/>
                </a:lnTo>
                <a:lnTo>
                  <a:pt x="614133" y="354895"/>
                </a:lnTo>
                <a:lnTo>
                  <a:pt x="617220" y="309371"/>
                </a:lnTo>
                <a:close/>
              </a:path>
              <a:path w="617220" h="516254">
                <a:moveTo>
                  <a:pt x="80772" y="497586"/>
                </a:moveTo>
                <a:lnTo>
                  <a:pt x="55358" y="462189"/>
                </a:lnTo>
                <a:lnTo>
                  <a:pt x="35528" y="423371"/>
                </a:lnTo>
                <a:lnTo>
                  <a:pt x="21746" y="382037"/>
                </a:lnTo>
                <a:lnTo>
                  <a:pt x="14477" y="339089"/>
                </a:lnTo>
                <a:lnTo>
                  <a:pt x="14477" y="339851"/>
                </a:lnTo>
                <a:lnTo>
                  <a:pt x="12953" y="323850"/>
                </a:lnTo>
                <a:lnTo>
                  <a:pt x="12953" y="397205"/>
                </a:lnTo>
                <a:lnTo>
                  <a:pt x="28905" y="439385"/>
                </a:lnTo>
                <a:lnTo>
                  <a:pt x="49944" y="477257"/>
                </a:lnTo>
                <a:lnTo>
                  <a:pt x="75911" y="511646"/>
                </a:lnTo>
                <a:lnTo>
                  <a:pt x="80010" y="515744"/>
                </a:lnTo>
                <a:lnTo>
                  <a:pt x="80010" y="497586"/>
                </a:lnTo>
                <a:lnTo>
                  <a:pt x="80772" y="497586"/>
                </a:lnTo>
                <a:close/>
              </a:path>
              <a:path w="617220" h="516254">
                <a:moveTo>
                  <a:pt x="80772" y="120395"/>
                </a:moveTo>
                <a:lnTo>
                  <a:pt x="80010" y="121157"/>
                </a:lnTo>
                <a:lnTo>
                  <a:pt x="80010" y="121348"/>
                </a:lnTo>
                <a:lnTo>
                  <a:pt x="80772" y="120395"/>
                </a:lnTo>
                <a:close/>
              </a:path>
              <a:path w="617220" h="516254">
                <a:moveTo>
                  <a:pt x="96991" y="515874"/>
                </a:moveTo>
                <a:lnTo>
                  <a:pt x="80010" y="497586"/>
                </a:lnTo>
                <a:lnTo>
                  <a:pt x="80010" y="515744"/>
                </a:lnTo>
                <a:lnTo>
                  <a:pt x="80139" y="515874"/>
                </a:lnTo>
                <a:lnTo>
                  <a:pt x="96991" y="515874"/>
                </a:lnTo>
                <a:close/>
              </a:path>
              <a:path w="617220" h="516254">
                <a:moveTo>
                  <a:pt x="99822" y="99822"/>
                </a:moveTo>
                <a:lnTo>
                  <a:pt x="99060" y="99822"/>
                </a:lnTo>
                <a:lnTo>
                  <a:pt x="99060" y="100584"/>
                </a:lnTo>
                <a:lnTo>
                  <a:pt x="99822" y="99822"/>
                </a:lnTo>
                <a:close/>
              </a:path>
              <a:path w="617220" h="516254">
                <a:moveTo>
                  <a:pt x="278891" y="14477"/>
                </a:moveTo>
                <a:lnTo>
                  <a:pt x="278129" y="14477"/>
                </a:lnTo>
                <a:lnTo>
                  <a:pt x="278891" y="14477"/>
                </a:lnTo>
                <a:close/>
              </a:path>
              <a:path w="617220" h="516254">
                <a:moveTo>
                  <a:pt x="324612" y="13754"/>
                </a:moveTo>
                <a:lnTo>
                  <a:pt x="323850" y="13715"/>
                </a:lnTo>
                <a:lnTo>
                  <a:pt x="324612" y="13754"/>
                </a:lnTo>
                <a:close/>
              </a:path>
              <a:path w="617220" h="516254">
                <a:moveTo>
                  <a:pt x="354329" y="16763"/>
                </a:moveTo>
                <a:lnTo>
                  <a:pt x="353567" y="16001"/>
                </a:lnTo>
                <a:lnTo>
                  <a:pt x="353567" y="16649"/>
                </a:lnTo>
                <a:lnTo>
                  <a:pt x="354329" y="16763"/>
                </a:lnTo>
                <a:close/>
              </a:path>
              <a:path w="617220" h="516254">
                <a:moveTo>
                  <a:pt x="368808" y="19202"/>
                </a:moveTo>
                <a:lnTo>
                  <a:pt x="368808" y="19050"/>
                </a:lnTo>
                <a:lnTo>
                  <a:pt x="368046" y="19050"/>
                </a:lnTo>
                <a:lnTo>
                  <a:pt x="368808" y="19202"/>
                </a:lnTo>
                <a:close/>
              </a:path>
              <a:path w="617220" h="516254">
                <a:moveTo>
                  <a:pt x="383286" y="22338"/>
                </a:moveTo>
                <a:lnTo>
                  <a:pt x="383286" y="22098"/>
                </a:lnTo>
                <a:lnTo>
                  <a:pt x="382524" y="22098"/>
                </a:lnTo>
                <a:lnTo>
                  <a:pt x="383286" y="22338"/>
                </a:lnTo>
                <a:close/>
              </a:path>
              <a:path w="617220" h="516254">
                <a:moveTo>
                  <a:pt x="424434" y="36575"/>
                </a:moveTo>
                <a:lnTo>
                  <a:pt x="423672" y="35813"/>
                </a:lnTo>
                <a:lnTo>
                  <a:pt x="423672" y="36279"/>
                </a:lnTo>
                <a:lnTo>
                  <a:pt x="424434" y="36575"/>
                </a:lnTo>
                <a:close/>
              </a:path>
              <a:path w="617220" h="516254">
                <a:moveTo>
                  <a:pt x="450341" y="49171"/>
                </a:moveTo>
                <a:lnTo>
                  <a:pt x="450341" y="48767"/>
                </a:lnTo>
                <a:lnTo>
                  <a:pt x="449579" y="48767"/>
                </a:lnTo>
                <a:lnTo>
                  <a:pt x="450341" y="49171"/>
                </a:lnTo>
                <a:close/>
              </a:path>
              <a:path w="617220" h="516254">
                <a:moveTo>
                  <a:pt x="474725" y="63769"/>
                </a:moveTo>
                <a:lnTo>
                  <a:pt x="474725" y="63245"/>
                </a:lnTo>
                <a:lnTo>
                  <a:pt x="473963" y="63245"/>
                </a:lnTo>
                <a:lnTo>
                  <a:pt x="474725" y="63769"/>
                </a:lnTo>
                <a:close/>
              </a:path>
              <a:path w="617220" h="516254">
                <a:moveTo>
                  <a:pt x="497586" y="81381"/>
                </a:moveTo>
                <a:lnTo>
                  <a:pt x="497586" y="80771"/>
                </a:lnTo>
                <a:lnTo>
                  <a:pt x="496824" y="80771"/>
                </a:lnTo>
                <a:lnTo>
                  <a:pt x="497586" y="81381"/>
                </a:lnTo>
                <a:close/>
              </a:path>
              <a:path w="617220" h="516254">
                <a:moveTo>
                  <a:pt x="508253" y="90623"/>
                </a:moveTo>
                <a:lnTo>
                  <a:pt x="508253" y="89915"/>
                </a:lnTo>
                <a:lnTo>
                  <a:pt x="507491" y="89915"/>
                </a:lnTo>
                <a:lnTo>
                  <a:pt x="508253" y="90623"/>
                </a:lnTo>
                <a:close/>
              </a:path>
              <a:path w="617220" h="516254">
                <a:moveTo>
                  <a:pt x="546353" y="505713"/>
                </a:moveTo>
                <a:lnTo>
                  <a:pt x="546353" y="486155"/>
                </a:lnTo>
                <a:lnTo>
                  <a:pt x="537210" y="497585"/>
                </a:lnTo>
                <a:lnTo>
                  <a:pt x="528065" y="508253"/>
                </a:lnTo>
                <a:lnTo>
                  <a:pt x="520990" y="515873"/>
                </a:lnTo>
                <a:lnTo>
                  <a:pt x="537657" y="515873"/>
                </a:lnTo>
                <a:lnTo>
                  <a:pt x="541758" y="511784"/>
                </a:lnTo>
                <a:lnTo>
                  <a:pt x="546353" y="505713"/>
                </a:lnTo>
                <a:close/>
              </a:path>
              <a:path w="617220" h="516254">
                <a:moveTo>
                  <a:pt x="546353" y="132841"/>
                </a:moveTo>
                <a:lnTo>
                  <a:pt x="546353" y="131825"/>
                </a:lnTo>
                <a:lnTo>
                  <a:pt x="545591" y="131825"/>
                </a:lnTo>
                <a:lnTo>
                  <a:pt x="546353" y="132841"/>
                </a:lnTo>
                <a:close/>
              </a:path>
              <a:path w="617220" h="516254">
                <a:moveTo>
                  <a:pt x="554736" y="494639"/>
                </a:moveTo>
                <a:lnTo>
                  <a:pt x="554736" y="474725"/>
                </a:lnTo>
                <a:lnTo>
                  <a:pt x="545591" y="486155"/>
                </a:lnTo>
                <a:lnTo>
                  <a:pt x="546353" y="486155"/>
                </a:lnTo>
                <a:lnTo>
                  <a:pt x="546353" y="505713"/>
                </a:lnTo>
                <a:lnTo>
                  <a:pt x="554736" y="494639"/>
                </a:lnTo>
                <a:close/>
              </a:path>
              <a:path w="617220" h="516254">
                <a:moveTo>
                  <a:pt x="554736" y="144364"/>
                </a:moveTo>
                <a:lnTo>
                  <a:pt x="554736" y="144017"/>
                </a:lnTo>
                <a:lnTo>
                  <a:pt x="553974" y="143255"/>
                </a:lnTo>
                <a:lnTo>
                  <a:pt x="554736" y="144364"/>
                </a:lnTo>
                <a:close/>
              </a:path>
              <a:path w="617220" h="516254">
                <a:moveTo>
                  <a:pt x="562355" y="484571"/>
                </a:moveTo>
                <a:lnTo>
                  <a:pt x="562355" y="462533"/>
                </a:lnTo>
                <a:lnTo>
                  <a:pt x="553974" y="474725"/>
                </a:lnTo>
                <a:lnTo>
                  <a:pt x="554736" y="474725"/>
                </a:lnTo>
                <a:lnTo>
                  <a:pt x="554736" y="494639"/>
                </a:lnTo>
                <a:lnTo>
                  <a:pt x="562355" y="484571"/>
                </a:lnTo>
                <a:close/>
              </a:path>
              <a:path w="617220" h="516254">
                <a:moveTo>
                  <a:pt x="562355" y="156743"/>
                </a:moveTo>
                <a:lnTo>
                  <a:pt x="562355" y="155447"/>
                </a:lnTo>
                <a:lnTo>
                  <a:pt x="561593" y="155447"/>
                </a:lnTo>
                <a:lnTo>
                  <a:pt x="562355" y="156743"/>
                </a:lnTo>
                <a:close/>
              </a:path>
              <a:path w="617220" h="516254">
                <a:moveTo>
                  <a:pt x="576072" y="462516"/>
                </a:moveTo>
                <a:lnTo>
                  <a:pt x="576072" y="437387"/>
                </a:lnTo>
                <a:lnTo>
                  <a:pt x="569213" y="450341"/>
                </a:lnTo>
                <a:lnTo>
                  <a:pt x="561593" y="462533"/>
                </a:lnTo>
                <a:lnTo>
                  <a:pt x="562355" y="462533"/>
                </a:lnTo>
                <a:lnTo>
                  <a:pt x="562355" y="484571"/>
                </a:lnTo>
                <a:lnTo>
                  <a:pt x="567848" y="477315"/>
                </a:lnTo>
                <a:lnTo>
                  <a:pt x="576072" y="462516"/>
                </a:lnTo>
                <a:close/>
              </a:path>
              <a:path w="617220" h="516254">
                <a:moveTo>
                  <a:pt x="576072" y="182308"/>
                </a:moveTo>
                <a:lnTo>
                  <a:pt x="576072" y="180593"/>
                </a:lnTo>
                <a:lnTo>
                  <a:pt x="575310" y="180593"/>
                </a:lnTo>
                <a:lnTo>
                  <a:pt x="576072" y="182308"/>
                </a:lnTo>
                <a:close/>
              </a:path>
              <a:path w="617220" h="516254">
                <a:moveTo>
                  <a:pt x="605027" y="396173"/>
                </a:moveTo>
                <a:lnTo>
                  <a:pt x="605027" y="309371"/>
                </a:lnTo>
                <a:lnTo>
                  <a:pt x="605009" y="308990"/>
                </a:lnTo>
                <a:lnTo>
                  <a:pt x="604265" y="324611"/>
                </a:lnTo>
                <a:lnTo>
                  <a:pt x="604265" y="323849"/>
                </a:lnTo>
                <a:lnTo>
                  <a:pt x="603503" y="339851"/>
                </a:lnTo>
                <a:lnTo>
                  <a:pt x="603503" y="339089"/>
                </a:lnTo>
                <a:lnTo>
                  <a:pt x="599607" y="365089"/>
                </a:lnTo>
                <a:lnTo>
                  <a:pt x="593831" y="389505"/>
                </a:lnTo>
                <a:lnTo>
                  <a:pt x="585842" y="413288"/>
                </a:lnTo>
                <a:lnTo>
                  <a:pt x="575310" y="437387"/>
                </a:lnTo>
                <a:lnTo>
                  <a:pt x="576072" y="437387"/>
                </a:lnTo>
                <a:lnTo>
                  <a:pt x="576072" y="462516"/>
                </a:lnTo>
                <a:lnTo>
                  <a:pt x="588943" y="439353"/>
                </a:lnTo>
                <a:lnTo>
                  <a:pt x="604540" y="398384"/>
                </a:lnTo>
                <a:lnTo>
                  <a:pt x="605027" y="396173"/>
                </a:lnTo>
                <a:close/>
              </a:path>
              <a:path w="617220" h="516254">
                <a:moveTo>
                  <a:pt x="605027" y="309371"/>
                </a:moveTo>
                <a:lnTo>
                  <a:pt x="605027" y="308609"/>
                </a:lnTo>
                <a:lnTo>
                  <a:pt x="605009" y="308990"/>
                </a:lnTo>
                <a:lnTo>
                  <a:pt x="605027" y="30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22870" y="3777996"/>
            <a:ext cx="0" cy="353060"/>
          </a:xfrm>
          <a:custGeom>
            <a:avLst/>
            <a:gdLst/>
            <a:ahLst/>
            <a:cxnLst/>
            <a:rect l="l" t="t" r="r" b="b"/>
            <a:pathLst>
              <a:path h="353060">
                <a:moveTo>
                  <a:pt x="0" y="0"/>
                </a:moveTo>
                <a:lnTo>
                  <a:pt x="0" y="352805"/>
                </a:lnTo>
              </a:path>
            </a:pathLst>
          </a:custGeom>
          <a:ln w="174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42545" y="4362450"/>
            <a:ext cx="1304925" cy="76200"/>
          </a:xfrm>
          <a:custGeom>
            <a:avLst/>
            <a:gdLst/>
            <a:ahLst/>
            <a:cxnLst/>
            <a:rect l="l" t="t" r="r" b="b"/>
            <a:pathLst>
              <a:path w="1304925" h="76200">
                <a:moveTo>
                  <a:pt x="1241297" y="44196"/>
                </a:moveTo>
                <a:lnTo>
                  <a:pt x="1241297" y="32004"/>
                </a:lnTo>
                <a:lnTo>
                  <a:pt x="0" y="32004"/>
                </a:lnTo>
                <a:lnTo>
                  <a:pt x="0" y="44196"/>
                </a:lnTo>
                <a:lnTo>
                  <a:pt x="1241297" y="44196"/>
                </a:lnTo>
                <a:close/>
              </a:path>
              <a:path w="1304925" h="76200">
                <a:moveTo>
                  <a:pt x="1304531" y="38100"/>
                </a:moveTo>
                <a:lnTo>
                  <a:pt x="1228331" y="0"/>
                </a:lnTo>
                <a:lnTo>
                  <a:pt x="1228331" y="32004"/>
                </a:lnTo>
                <a:lnTo>
                  <a:pt x="1241297" y="32004"/>
                </a:lnTo>
                <a:lnTo>
                  <a:pt x="1241297" y="69716"/>
                </a:lnTo>
                <a:lnTo>
                  <a:pt x="1304531" y="38100"/>
                </a:lnTo>
                <a:close/>
              </a:path>
              <a:path w="1304925" h="76200">
                <a:moveTo>
                  <a:pt x="1241297" y="69716"/>
                </a:moveTo>
                <a:lnTo>
                  <a:pt x="1241297" y="44196"/>
                </a:lnTo>
                <a:lnTo>
                  <a:pt x="1228331" y="44196"/>
                </a:lnTo>
                <a:lnTo>
                  <a:pt x="1228331" y="76200"/>
                </a:lnTo>
                <a:lnTo>
                  <a:pt x="1241297" y="69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136021" y="4378452"/>
            <a:ext cx="1300480" cy="76200"/>
          </a:xfrm>
          <a:custGeom>
            <a:avLst/>
            <a:gdLst/>
            <a:ahLst/>
            <a:cxnLst/>
            <a:rect l="l" t="t" r="r" b="b"/>
            <a:pathLst>
              <a:path w="1300479" h="76200">
                <a:moveTo>
                  <a:pt x="76200" y="31988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2003"/>
                </a:lnTo>
                <a:lnTo>
                  <a:pt x="76200" y="31988"/>
                </a:lnTo>
                <a:close/>
              </a:path>
              <a:path w="1300479" h="76200">
                <a:moveTo>
                  <a:pt x="1299972" y="42672"/>
                </a:moveTo>
                <a:lnTo>
                  <a:pt x="1299972" y="30480"/>
                </a:lnTo>
                <a:lnTo>
                  <a:pt x="63246" y="32003"/>
                </a:lnTo>
                <a:lnTo>
                  <a:pt x="63246" y="44196"/>
                </a:lnTo>
                <a:lnTo>
                  <a:pt x="1299972" y="42672"/>
                </a:lnTo>
                <a:close/>
              </a:path>
              <a:path w="1300479" h="76200">
                <a:moveTo>
                  <a:pt x="76200" y="76200"/>
                </a:moveTo>
                <a:lnTo>
                  <a:pt x="76200" y="44180"/>
                </a:lnTo>
                <a:lnTo>
                  <a:pt x="63246" y="44196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389930" y="4578096"/>
            <a:ext cx="88265" cy="57150"/>
          </a:xfrm>
          <a:custGeom>
            <a:avLst/>
            <a:gdLst/>
            <a:ahLst/>
            <a:cxnLst/>
            <a:rect l="l" t="t" r="r" b="b"/>
            <a:pathLst>
              <a:path w="88264" h="57150">
                <a:moveTo>
                  <a:pt x="87973" y="10667"/>
                </a:moveTo>
                <a:lnTo>
                  <a:pt x="80353" y="0"/>
                </a:lnTo>
                <a:lnTo>
                  <a:pt x="0" y="57150"/>
                </a:lnTo>
                <a:lnTo>
                  <a:pt x="22619" y="57150"/>
                </a:lnTo>
                <a:lnTo>
                  <a:pt x="87973" y="10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975489" y="4613147"/>
            <a:ext cx="41275" cy="22225"/>
          </a:xfrm>
          <a:custGeom>
            <a:avLst/>
            <a:gdLst/>
            <a:ahLst/>
            <a:cxnLst/>
            <a:rect l="l" t="t" r="r" b="b"/>
            <a:pathLst>
              <a:path w="41275" h="22225">
                <a:moveTo>
                  <a:pt x="40866" y="22098"/>
                </a:moveTo>
                <a:lnTo>
                  <a:pt x="6857" y="0"/>
                </a:lnTo>
                <a:lnTo>
                  <a:pt x="0" y="10667"/>
                </a:lnTo>
                <a:lnTo>
                  <a:pt x="17590" y="22098"/>
                </a:lnTo>
                <a:lnTo>
                  <a:pt x="40866" y="22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967869" y="3777996"/>
            <a:ext cx="725805" cy="456565"/>
          </a:xfrm>
          <a:custGeom>
            <a:avLst/>
            <a:gdLst/>
            <a:ahLst/>
            <a:cxnLst/>
            <a:rect l="l" t="t" r="r" b="b"/>
            <a:pathLst>
              <a:path w="725804" h="456564">
                <a:moveTo>
                  <a:pt x="725721" y="0"/>
                </a:moveTo>
                <a:lnTo>
                  <a:pt x="702061" y="0"/>
                </a:lnTo>
                <a:lnTo>
                  <a:pt x="0" y="445769"/>
                </a:lnTo>
                <a:lnTo>
                  <a:pt x="6858" y="456438"/>
                </a:lnTo>
                <a:lnTo>
                  <a:pt x="7257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785898" y="3777996"/>
            <a:ext cx="714375" cy="478790"/>
          </a:xfrm>
          <a:custGeom>
            <a:avLst/>
            <a:gdLst/>
            <a:ahLst/>
            <a:cxnLst/>
            <a:rect l="l" t="t" r="r" b="b"/>
            <a:pathLst>
              <a:path w="714375" h="478789">
                <a:moveTo>
                  <a:pt x="714103" y="467867"/>
                </a:moveTo>
                <a:lnTo>
                  <a:pt x="22624" y="0"/>
                </a:lnTo>
                <a:lnTo>
                  <a:pt x="0" y="0"/>
                </a:lnTo>
                <a:lnTo>
                  <a:pt x="707245" y="478536"/>
                </a:lnTo>
                <a:lnTo>
                  <a:pt x="714103" y="4678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481969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015607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33841" y="5292852"/>
            <a:ext cx="7630159" cy="0"/>
          </a:xfrm>
          <a:custGeom>
            <a:avLst/>
            <a:gdLst/>
            <a:ahLst/>
            <a:cxnLst/>
            <a:rect l="l" t="t" r="r" b="b"/>
            <a:pathLst>
              <a:path w="7630159">
                <a:moveTo>
                  <a:pt x="0" y="0"/>
                </a:moveTo>
                <a:lnTo>
                  <a:pt x="7629906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48319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549269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330335" y="3948938"/>
            <a:ext cx="1768475" cy="948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W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Arial"/>
                <a:cs typeface="Arial"/>
              </a:rPr>
              <a:t>[row][col-1]</a:t>
            </a:r>
            <a:endParaRPr sz="2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962525" y="4717033"/>
            <a:ext cx="145097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[row][col]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7352665" y="3948938"/>
            <a:ext cx="1858010" cy="948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Arial"/>
                <a:cs typeface="Arial"/>
              </a:rPr>
              <a:t>[row][col+1]</a:t>
            </a:r>
            <a:endParaRPr sz="28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514608" y="4635246"/>
            <a:ext cx="457834" cy="102235"/>
          </a:xfrm>
          <a:custGeom>
            <a:avLst/>
            <a:gdLst/>
            <a:ahLst/>
            <a:cxnLst/>
            <a:rect l="l" t="t" r="r" b="b"/>
            <a:pathLst>
              <a:path w="457835" h="102235">
                <a:moveTo>
                  <a:pt x="19682" y="19682"/>
                </a:moveTo>
                <a:lnTo>
                  <a:pt x="19682" y="3048"/>
                </a:lnTo>
                <a:lnTo>
                  <a:pt x="18920" y="2286"/>
                </a:lnTo>
                <a:lnTo>
                  <a:pt x="16852" y="0"/>
                </a:lnTo>
                <a:lnTo>
                  <a:pt x="0" y="0"/>
                </a:lnTo>
                <a:lnTo>
                  <a:pt x="19682" y="19682"/>
                </a:lnTo>
                <a:close/>
              </a:path>
              <a:path w="457835" h="102235">
                <a:moveTo>
                  <a:pt x="19316" y="2652"/>
                </a:moveTo>
                <a:lnTo>
                  <a:pt x="18920" y="2227"/>
                </a:lnTo>
                <a:lnTo>
                  <a:pt x="19316" y="2652"/>
                </a:lnTo>
                <a:close/>
              </a:path>
              <a:path w="457835" h="102235">
                <a:moveTo>
                  <a:pt x="19682" y="3048"/>
                </a:moveTo>
                <a:lnTo>
                  <a:pt x="19316" y="2652"/>
                </a:lnTo>
                <a:lnTo>
                  <a:pt x="18920" y="2286"/>
                </a:lnTo>
                <a:lnTo>
                  <a:pt x="19682" y="3048"/>
                </a:lnTo>
                <a:close/>
              </a:path>
              <a:path w="457835" h="102235">
                <a:moveTo>
                  <a:pt x="198752" y="87630"/>
                </a:moveTo>
                <a:lnTo>
                  <a:pt x="155798" y="80354"/>
                </a:lnTo>
                <a:lnTo>
                  <a:pt x="114461" y="66570"/>
                </a:lnTo>
                <a:lnTo>
                  <a:pt x="75646" y="46742"/>
                </a:lnTo>
                <a:lnTo>
                  <a:pt x="40256" y="21336"/>
                </a:lnTo>
                <a:lnTo>
                  <a:pt x="40256" y="22098"/>
                </a:lnTo>
                <a:lnTo>
                  <a:pt x="19316" y="2652"/>
                </a:lnTo>
                <a:lnTo>
                  <a:pt x="19682" y="3048"/>
                </a:lnTo>
                <a:lnTo>
                  <a:pt x="19682" y="19682"/>
                </a:lnTo>
                <a:lnTo>
                  <a:pt x="60596" y="52172"/>
                </a:lnTo>
                <a:lnTo>
                  <a:pt x="98497" y="73225"/>
                </a:lnTo>
                <a:lnTo>
                  <a:pt x="139426" y="88881"/>
                </a:lnTo>
                <a:lnTo>
                  <a:pt x="182908" y="98666"/>
                </a:lnTo>
                <a:lnTo>
                  <a:pt x="197990" y="99806"/>
                </a:lnTo>
                <a:lnTo>
                  <a:pt x="197990" y="87630"/>
                </a:lnTo>
                <a:lnTo>
                  <a:pt x="198752" y="87630"/>
                </a:lnTo>
                <a:close/>
              </a:path>
              <a:path w="457835" h="102235">
                <a:moveTo>
                  <a:pt x="274190" y="98760"/>
                </a:moveTo>
                <a:lnTo>
                  <a:pt x="274190" y="86106"/>
                </a:lnTo>
                <a:lnTo>
                  <a:pt x="255192" y="88088"/>
                </a:lnTo>
                <a:lnTo>
                  <a:pt x="236114" y="89244"/>
                </a:lnTo>
                <a:lnTo>
                  <a:pt x="217024" y="89211"/>
                </a:lnTo>
                <a:lnTo>
                  <a:pt x="197990" y="87630"/>
                </a:lnTo>
                <a:lnTo>
                  <a:pt x="197990" y="99806"/>
                </a:lnTo>
                <a:lnTo>
                  <a:pt x="228470" y="102108"/>
                </a:lnTo>
                <a:lnTo>
                  <a:pt x="273428" y="98854"/>
                </a:lnTo>
                <a:lnTo>
                  <a:pt x="274190" y="98760"/>
                </a:lnTo>
                <a:close/>
              </a:path>
              <a:path w="457835" h="102235">
                <a:moveTo>
                  <a:pt x="288668" y="95530"/>
                </a:moveTo>
                <a:lnTo>
                  <a:pt x="288668" y="83058"/>
                </a:lnTo>
                <a:lnTo>
                  <a:pt x="273428" y="86106"/>
                </a:lnTo>
                <a:lnTo>
                  <a:pt x="274190" y="86106"/>
                </a:lnTo>
                <a:lnTo>
                  <a:pt x="274190" y="98760"/>
                </a:lnTo>
                <a:lnTo>
                  <a:pt x="288668" y="95530"/>
                </a:lnTo>
                <a:close/>
              </a:path>
              <a:path w="457835" h="102235">
                <a:moveTo>
                  <a:pt x="303146" y="92300"/>
                </a:moveTo>
                <a:lnTo>
                  <a:pt x="303146" y="80010"/>
                </a:lnTo>
                <a:lnTo>
                  <a:pt x="287906" y="83058"/>
                </a:lnTo>
                <a:lnTo>
                  <a:pt x="288668" y="83058"/>
                </a:lnTo>
                <a:lnTo>
                  <a:pt x="288668" y="95530"/>
                </a:lnTo>
                <a:lnTo>
                  <a:pt x="303146" y="92300"/>
                </a:lnTo>
                <a:close/>
              </a:path>
              <a:path w="457835" h="102235">
                <a:moveTo>
                  <a:pt x="344294" y="78875"/>
                </a:moveTo>
                <a:lnTo>
                  <a:pt x="344294" y="66294"/>
                </a:lnTo>
                <a:lnTo>
                  <a:pt x="330578" y="71628"/>
                </a:lnTo>
                <a:lnTo>
                  <a:pt x="316862" y="76200"/>
                </a:lnTo>
                <a:lnTo>
                  <a:pt x="302384" y="80010"/>
                </a:lnTo>
                <a:lnTo>
                  <a:pt x="303146" y="80010"/>
                </a:lnTo>
                <a:lnTo>
                  <a:pt x="303146" y="92300"/>
                </a:lnTo>
                <a:lnTo>
                  <a:pt x="317416" y="89116"/>
                </a:lnTo>
                <a:lnTo>
                  <a:pt x="344294" y="78875"/>
                </a:lnTo>
                <a:close/>
              </a:path>
              <a:path w="457835" h="102235">
                <a:moveTo>
                  <a:pt x="370202" y="66971"/>
                </a:moveTo>
                <a:lnTo>
                  <a:pt x="370202" y="53340"/>
                </a:lnTo>
                <a:lnTo>
                  <a:pt x="357248" y="60198"/>
                </a:lnTo>
                <a:lnTo>
                  <a:pt x="343532" y="66294"/>
                </a:lnTo>
                <a:lnTo>
                  <a:pt x="344294" y="66294"/>
                </a:lnTo>
                <a:lnTo>
                  <a:pt x="344294" y="78875"/>
                </a:lnTo>
                <a:lnTo>
                  <a:pt x="358434" y="73488"/>
                </a:lnTo>
                <a:lnTo>
                  <a:pt x="370202" y="66971"/>
                </a:lnTo>
                <a:close/>
              </a:path>
              <a:path w="457835" h="102235">
                <a:moveTo>
                  <a:pt x="394586" y="53467"/>
                </a:moveTo>
                <a:lnTo>
                  <a:pt x="394586" y="38862"/>
                </a:lnTo>
                <a:lnTo>
                  <a:pt x="382394" y="46481"/>
                </a:lnTo>
                <a:lnTo>
                  <a:pt x="369440" y="53340"/>
                </a:lnTo>
                <a:lnTo>
                  <a:pt x="370202" y="53340"/>
                </a:lnTo>
                <a:lnTo>
                  <a:pt x="370202" y="66971"/>
                </a:lnTo>
                <a:lnTo>
                  <a:pt x="394586" y="53467"/>
                </a:lnTo>
                <a:close/>
              </a:path>
              <a:path w="457835" h="102235">
                <a:moveTo>
                  <a:pt x="417446" y="21336"/>
                </a:moveTo>
                <a:lnTo>
                  <a:pt x="406016" y="30479"/>
                </a:lnTo>
                <a:lnTo>
                  <a:pt x="393824" y="38862"/>
                </a:lnTo>
                <a:lnTo>
                  <a:pt x="394586" y="38862"/>
                </a:lnTo>
                <a:lnTo>
                  <a:pt x="394586" y="53467"/>
                </a:lnTo>
                <a:lnTo>
                  <a:pt x="396478" y="52420"/>
                </a:lnTo>
                <a:lnTo>
                  <a:pt x="416684" y="37207"/>
                </a:lnTo>
                <a:lnTo>
                  <a:pt x="416684" y="22098"/>
                </a:lnTo>
                <a:lnTo>
                  <a:pt x="417446" y="21336"/>
                </a:lnTo>
                <a:close/>
              </a:path>
              <a:path w="457835" h="102235">
                <a:moveTo>
                  <a:pt x="428114" y="28601"/>
                </a:moveTo>
                <a:lnTo>
                  <a:pt x="428114" y="12191"/>
                </a:lnTo>
                <a:lnTo>
                  <a:pt x="416684" y="22098"/>
                </a:lnTo>
                <a:lnTo>
                  <a:pt x="416684" y="37207"/>
                </a:lnTo>
                <a:lnTo>
                  <a:pt x="428114" y="28601"/>
                </a:lnTo>
                <a:close/>
              </a:path>
              <a:path w="457835" h="102235">
                <a:moveTo>
                  <a:pt x="457517" y="0"/>
                </a:moveTo>
                <a:lnTo>
                  <a:pt x="440851" y="0"/>
                </a:lnTo>
                <a:lnTo>
                  <a:pt x="438020" y="3048"/>
                </a:lnTo>
                <a:lnTo>
                  <a:pt x="438020" y="2286"/>
                </a:lnTo>
                <a:lnTo>
                  <a:pt x="427352" y="12191"/>
                </a:lnTo>
                <a:lnTo>
                  <a:pt x="428114" y="12191"/>
                </a:lnTo>
                <a:lnTo>
                  <a:pt x="428114" y="28601"/>
                </a:lnTo>
                <a:lnTo>
                  <a:pt x="431041" y="26398"/>
                </a:lnTo>
                <a:lnTo>
                  <a:pt x="4575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664593" y="4748021"/>
            <a:ext cx="76200" cy="744855"/>
          </a:xfrm>
          <a:custGeom>
            <a:avLst/>
            <a:gdLst/>
            <a:ahLst/>
            <a:cxnLst/>
            <a:rect l="l" t="t" r="r" b="b"/>
            <a:pathLst>
              <a:path w="76200" h="744854">
                <a:moveTo>
                  <a:pt x="76200" y="717041"/>
                </a:moveTo>
                <a:lnTo>
                  <a:pt x="44450" y="716407"/>
                </a:lnTo>
                <a:lnTo>
                  <a:pt x="44196" y="729233"/>
                </a:lnTo>
                <a:lnTo>
                  <a:pt x="31241" y="728472"/>
                </a:lnTo>
                <a:lnTo>
                  <a:pt x="31241" y="716142"/>
                </a:lnTo>
                <a:lnTo>
                  <a:pt x="0" y="715517"/>
                </a:lnTo>
                <a:lnTo>
                  <a:pt x="13761" y="744474"/>
                </a:lnTo>
                <a:lnTo>
                  <a:pt x="31241" y="744474"/>
                </a:lnTo>
                <a:lnTo>
                  <a:pt x="31241" y="728472"/>
                </a:lnTo>
                <a:lnTo>
                  <a:pt x="31499" y="716147"/>
                </a:lnTo>
                <a:lnTo>
                  <a:pt x="31499" y="744474"/>
                </a:lnTo>
                <a:lnTo>
                  <a:pt x="61791" y="744474"/>
                </a:lnTo>
                <a:lnTo>
                  <a:pt x="76200" y="717041"/>
                </a:lnTo>
                <a:close/>
              </a:path>
              <a:path w="76200" h="744854">
                <a:moveTo>
                  <a:pt x="44450" y="716407"/>
                </a:moveTo>
                <a:lnTo>
                  <a:pt x="31499" y="716147"/>
                </a:lnTo>
                <a:lnTo>
                  <a:pt x="31241" y="728472"/>
                </a:lnTo>
                <a:lnTo>
                  <a:pt x="44196" y="729233"/>
                </a:lnTo>
                <a:lnTo>
                  <a:pt x="44450" y="716407"/>
                </a:lnTo>
                <a:close/>
              </a:path>
              <a:path w="76200" h="744854">
                <a:moveTo>
                  <a:pt x="58674" y="762"/>
                </a:moveTo>
                <a:lnTo>
                  <a:pt x="46481" y="0"/>
                </a:lnTo>
                <a:lnTo>
                  <a:pt x="31499" y="716147"/>
                </a:lnTo>
                <a:lnTo>
                  <a:pt x="44450" y="716407"/>
                </a:lnTo>
                <a:lnTo>
                  <a:pt x="58674" y="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184634" y="4635246"/>
            <a:ext cx="1228090" cy="857250"/>
          </a:xfrm>
          <a:custGeom>
            <a:avLst/>
            <a:gdLst/>
            <a:ahLst/>
            <a:cxnLst/>
            <a:rect l="l" t="t" r="r" b="b"/>
            <a:pathLst>
              <a:path w="1228089" h="857250">
                <a:moveTo>
                  <a:pt x="1227915" y="0"/>
                </a:moveTo>
                <a:lnTo>
                  <a:pt x="1205296" y="0"/>
                </a:lnTo>
                <a:lnTo>
                  <a:pt x="0" y="857250"/>
                </a:lnTo>
                <a:lnTo>
                  <a:pt x="22619" y="857250"/>
                </a:lnTo>
                <a:lnTo>
                  <a:pt x="1227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993080" y="4635246"/>
            <a:ext cx="1369060" cy="857250"/>
          </a:xfrm>
          <a:custGeom>
            <a:avLst/>
            <a:gdLst/>
            <a:ahLst/>
            <a:cxnLst/>
            <a:rect l="l" t="t" r="r" b="b"/>
            <a:pathLst>
              <a:path w="1369059" h="857250">
                <a:moveTo>
                  <a:pt x="1331986" y="850374"/>
                </a:moveTo>
                <a:lnTo>
                  <a:pt x="23275" y="0"/>
                </a:lnTo>
                <a:lnTo>
                  <a:pt x="0" y="0"/>
                </a:lnTo>
                <a:lnTo>
                  <a:pt x="1319290" y="857250"/>
                </a:lnTo>
                <a:lnTo>
                  <a:pt x="1327484" y="857250"/>
                </a:lnTo>
                <a:lnTo>
                  <a:pt x="1331986" y="850374"/>
                </a:lnTo>
                <a:close/>
              </a:path>
              <a:path w="1369059" h="857250">
                <a:moveTo>
                  <a:pt x="1342566" y="857250"/>
                </a:moveTo>
                <a:lnTo>
                  <a:pt x="1331986" y="850374"/>
                </a:lnTo>
                <a:lnTo>
                  <a:pt x="1327484" y="857250"/>
                </a:lnTo>
                <a:lnTo>
                  <a:pt x="1342566" y="857250"/>
                </a:lnTo>
                <a:close/>
              </a:path>
              <a:path w="1369059" h="857250">
                <a:moveTo>
                  <a:pt x="1368788" y="857250"/>
                </a:moveTo>
                <a:lnTo>
                  <a:pt x="1349437" y="823721"/>
                </a:lnTo>
                <a:lnTo>
                  <a:pt x="1331986" y="850374"/>
                </a:lnTo>
                <a:lnTo>
                  <a:pt x="1342566" y="857250"/>
                </a:lnTo>
                <a:lnTo>
                  <a:pt x="1368788" y="857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48196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015607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483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54926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678354" y="5492496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48030" y="0"/>
                </a:moveTo>
                <a:lnTo>
                  <a:pt x="0" y="0"/>
                </a:lnTo>
                <a:lnTo>
                  <a:pt x="22814" y="48005"/>
                </a:lnTo>
                <a:lnTo>
                  <a:pt x="480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065917" y="5492496"/>
            <a:ext cx="141605" cy="92710"/>
          </a:xfrm>
          <a:custGeom>
            <a:avLst/>
            <a:gdLst/>
            <a:ahLst/>
            <a:cxnLst/>
            <a:rect l="l" t="t" r="r" b="b"/>
            <a:pathLst>
              <a:path w="141604" h="92710">
                <a:moveTo>
                  <a:pt x="58502" y="42826"/>
                </a:moveTo>
                <a:lnTo>
                  <a:pt x="40386" y="17525"/>
                </a:lnTo>
                <a:lnTo>
                  <a:pt x="0" y="92201"/>
                </a:lnTo>
                <a:lnTo>
                  <a:pt x="48005" y="84849"/>
                </a:lnTo>
                <a:lnTo>
                  <a:pt x="48005" y="50291"/>
                </a:lnTo>
                <a:lnTo>
                  <a:pt x="58502" y="42826"/>
                </a:lnTo>
                <a:close/>
              </a:path>
              <a:path w="141604" h="92710">
                <a:moveTo>
                  <a:pt x="66134" y="53485"/>
                </a:moveTo>
                <a:lnTo>
                  <a:pt x="58502" y="42826"/>
                </a:lnTo>
                <a:lnTo>
                  <a:pt x="48005" y="50291"/>
                </a:lnTo>
                <a:lnTo>
                  <a:pt x="55625" y="60959"/>
                </a:lnTo>
                <a:lnTo>
                  <a:pt x="66134" y="53485"/>
                </a:lnTo>
                <a:close/>
              </a:path>
              <a:path w="141604" h="92710">
                <a:moveTo>
                  <a:pt x="84581" y="79248"/>
                </a:moveTo>
                <a:lnTo>
                  <a:pt x="66134" y="53485"/>
                </a:lnTo>
                <a:lnTo>
                  <a:pt x="55625" y="60959"/>
                </a:lnTo>
                <a:lnTo>
                  <a:pt x="48005" y="50291"/>
                </a:lnTo>
                <a:lnTo>
                  <a:pt x="48005" y="84849"/>
                </a:lnTo>
                <a:lnTo>
                  <a:pt x="84581" y="79248"/>
                </a:lnTo>
                <a:close/>
              </a:path>
              <a:path w="141604" h="92710">
                <a:moveTo>
                  <a:pt x="141335" y="0"/>
                </a:moveTo>
                <a:lnTo>
                  <a:pt x="118716" y="0"/>
                </a:lnTo>
                <a:lnTo>
                  <a:pt x="58502" y="42826"/>
                </a:lnTo>
                <a:lnTo>
                  <a:pt x="66134" y="53485"/>
                </a:lnTo>
                <a:lnTo>
                  <a:pt x="1413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300607" y="5492496"/>
            <a:ext cx="85090" cy="40640"/>
          </a:xfrm>
          <a:custGeom>
            <a:avLst/>
            <a:gdLst/>
            <a:ahLst/>
            <a:cxnLst/>
            <a:rect l="l" t="t" r="r" b="b"/>
            <a:pathLst>
              <a:path w="85090" h="40639">
                <a:moveTo>
                  <a:pt x="84569" y="40386"/>
                </a:moveTo>
                <a:lnTo>
                  <a:pt x="61260" y="0"/>
                </a:lnTo>
                <a:lnTo>
                  <a:pt x="35039" y="0"/>
                </a:lnTo>
                <a:lnTo>
                  <a:pt x="28181" y="10667"/>
                </a:lnTo>
                <a:lnTo>
                  <a:pt x="17511" y="3735"/>
                </a:lnTo>
                <a:lnTo>
                  <a:pt x="0" y="30479"/>
                </a:lnTo>
                <a:lnTo>
                  <a:pt x="84569" y="40386"/>
                </a:lnTo>
                <a:close/>
              </a:path>
              <a:path w="85090" h="40639">
                <a:moveTo>
                  <a:pt x="19957" y="0"/>
                </a:moveTo>
                <a:lnTo>
                  <a:pt x="11763" y="0"/>
                </a:lnTo>
                <a:lnTo>
                  <a:pt x="17511" y="3735"/>
                </a:lnTo>
                <a:lnTo>
                  <a:pt x="19957" y="0"/>
                </a:lnTo>
                <a:close/>
              </a:path>
              <a:path w="85090" h="40639">
                <a:moveTo>
                  <a:pt x="35039" y="0"/>
                </a:moveTo>
                <a:lnTo>
                  <a:pt x="19957" y="0"/>
                </a:lnTo>
                <a:lnTo>
                  <a:pt x="17511" y="3735"/>
                </a:lnTo>
                <a:lnTo>
                  <a:pt x="28181" y="10667"/>
                </a:lnTo>
                <a:lnTo>
                  <a:pt x="35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25</a:t>
            </a:r>
            <a:endParaRPr sz="14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481969" y="6349746"/>
            <a:ext cx="0" cy="684530"/>
          </a:xfrm>
          <a:custGeom>
            <a:avLst/>
            <a:gdLst/>
            <a:ahLst/>
            <a:cxnLst/>
            <a:rect l="l" t="t" r="r" b="b"/>
            <a:pathLst>
              <a:path h="684529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015607" y="6349746"/>
            <a:ext cx="0" cy="684530"/>
          </a:xfrm>
          <a:custGeom>
            <a:avLst/>
            <a:gdLst/>
            <a:ahLst/>
            <a:cxnLst/>
            <a:rect l="l" t="t" r="r" b="b"/>
            <a:pathLst>
              <a:path h="684529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48319" y="6349746"/>
            <a:ext cx="0" cy="684530"/>
          </a:xfrm>
          <a:custGeom>
            <a:avLst/>
            <a:gdLst/>
            <a:ahLst/>
            <a:cxnLst/>
            <a:rect l="l" t="t" r="r" b="b"/>
            <a:pathLst>
              <a:path h="684529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9549269" y="6349746"/>
            <a:ext cx="0" cy="684530"/>
          </a:xfrm>
          <a:custGeom>
            <a:avLst/>
            <a:gdLst/>
            <a:ahLst/>
            <a:cxnLst/>
            <a:rect l="l" t="t" r="r" b="b"/>
            <a:pathLst>
              <a:path h="684529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33841" y="7019925"/>
            <a:ext cx="7630159" cy="0"/>
          </a:xfrm>
          <a:custGeom>
            <a:avLst/>
            <a:gdLst/>
            <a:ahLst/>
            <a:cxnLst/>
            <a:rect l="l" t="t" r="r" b="b"/>
            <a:pathLst>
              <a:path w="7630159">
                <a:moveTo>
                  <a:pt x="0" y="0"/>
                </a:moveTo>
                <a:lnTo>
                  <a:pt x="7629906" y="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2126869" y="5677153"/>
            <a:ext cx="2174875" cy="948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SW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Arial"/>
                <a:cs typeface="Arial"/>
              </a:rPr>
              <a:t>[ro</a:t>
            </a:r>
            <a:r>
              <a:rPr sz="2800" spc="-5" dirty="0">
                <a:latin typeface="Arial"/>
                <a:cs typeface="Arial"/>
              </a:rPr>
              <a:t>w</a:t>
            </a:r>
            <a:r>
              <a:rPr sz="2800" dirty="0">
                <a:latin typeface="Arial"/>
                <a:cs typeface="Arial"/>
              </a:rPr>
              <a:t>+1][col-1]</a:t>
            </a:r>
            <a:endParaRPr sz="28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819015" y="5677153"/>
            <a:ext cx="1857375" cy="948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Arial"/>
                <a:cs typeface="Arial"/>
              </a:rPr>
              <a:t>[ro</a:t>
            </a:r>
            <a:r>
              <a:rPr sz="2800" spc="-5" dirty="0">
                <a:latin typeface="Arial"/>
                <a:cs typeface="Arial"/>
              </a:rPr>
              <a:t>w</a:t>
            </a:r>
            <a:r>
              <a:rPr sz="2800" dirty="0">
                <a:latin typeface="Arial"/>
                <a:cs typeface="Arial"/>
              </a:rPr>
              <a:t>+1][col]</a:t>
            </a:r>
            <a:endParaRPr sz="28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149972" y="5677153"/>
            <a:ext cx="2263775" cy="948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SE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Arial"/>
                <a:cs typeface="Arial"/>
              </a:rPr>
              <a:t>[ro</a:t>
            </a:r>
            <a:r>
              <a:rPr sz="2800" spc="-5" dirty="0">
                <a:latin typeface="Arial"/>
                <a:cs typeface="Arial"/>
              </a:rPr>
              <a:t>w</a:t>
            </a:r>
            <a:r>
              <a:rPr sz="2800" dirty="0">
                <a:latin typeface="Arial"/>
                <a:cs typeface="Arial"/>
              </a:rPr>
              <a:t>+1][col+1]</a:t>
            </a:r>
            <a:endParaRPr sz="28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6171" y="1205483"/>
            <a:ext cx="4270375" cy="0"/>
          </a:xfrm>
          <a:custGeom>
            <a:avLst/>
            <a:gdLst/>
            <a:ahLst/>
            <a:cxnLst/>
            <a:rect l="l" t="t" r="r" b="b"/>
            <a:pathLst>
              <a:path w="4270375">
                <a:moveTo>
                  <a:pt x="0" y="0"/>
                </a:moveTo>
                <a:lnTo>
                  <a:pt x="4270248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94636" y="601980"/>
            <a:ext cx="13055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typedef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4781" y="601980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struct</a:t>
            </a:r>
            <a:r>
              <a:rPr sz="2400" b="1" spc="-12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84424" y="967740"/>
            <a:ext cx="11214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row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36171" y="1204722"/>
            <a:ext cx="4270375" cy="845185"/>
          </a:xfrm>
          <a:custGeom>
            <a:avLst/>
            <a:gdLst/>
            <a:ahLst/>
            <a:cxnLst/>
            <a:rect l="l" t="t" r="r" b="b"/>
            <a:pathLst>
              <a:path w="4270375" h="845185">
                <a:moveTo>
                  <a:pt x="4270248" y="845057"/>
                </a:moveTo>
                <a:lnTo>
                  <a:pt x="4270248" y="0"/>
                </a:lnTo>
                <a:lnTo>
                  <a:pt x="0" y="0"/>
                </a:lnTo>
                <a:lnTo>
                  <a:pt x="0" y="845058"/>
                </a:lnTo>
                <a:lnTo>
                  <a:pt x="6096" y="845058"/>
                </a:lnTo>
                <a:lnTo>
                  <a:pt x="6096" y="12954"/>
                </a:lnTo>
                <a:lnTo>
                  <a:pt x="12953" y="6858"/>
                </a:lnTo>
                <a:lnTo>
                  <a:pt x="12953" y="12954"/>
                </a:lnTo>
                <a:lnTo>
                  <a:pt x="4257294" y="12953"/>
                </a:lnTo>
                <a:lnTo>
                  <a:pt x="4257294" y="6858"/>
                </a:lnTo>
                <a:lnTo>
                  <a:pt x="4264152" y="12953"/>
                </a:lnTo>
                <a:lnTo>
                  <a:pt x="4264152" y="845057"/>
                </a:lnTo>
                <a:lnTo>
                  <a:pt x="4270248" y="845057"/>
                </a:lnTo>
                <a:close/>
              </a:path>
              <a:path w="4270375" h="845185">
                <a:moveTo>
                  <a:pt x="12953" y="12954"/>
                </a:moveTo>
                <a:lnTo>
                  <a:pt x="12953" y="6858"/>
                </a:lnTo>
                <a:lnTo>
                  <a:pt x="6096" y="12954"/>
                </a:lnTo>
                <a:lnTo>
                  <a:pt x="12953" y="12954"/>
                </a:lnTo>
                <a:close/>
              </a:path>
              <a:path w="4270375" h="845185">
                <a:moveTo>
                  <a:pt x="12953" y="832104"/>
                </a:moveTo>
                <a:lnTo>
                  <a:pt x="12953" y="12954"/>
                </a:lnTo>
                <a:lnTo>
                  <a:pt x="6096" y="12954"/>
                </a:lnTo>
                <a:lnTo>
                  <a:pt x="6096" y="832104"/>
                </a:lnTo>
                <a:lnTo>
                  <a:pt x="12953" y="832104"/>
                </a:lnTo>
                <a:close/>
              </a:path>
              <a:path w="4270375" h="845185">
                <a:moveTo>
                  <a:pt x="4264152" y="832103"/>
                </a:moveTo>
                <a:lnTo>
                  <a:pt x="6096" y="832104"/>
                </a:lnTo>
                <a:lnTo>
                  <a:pt x="12953" y="838200"/>
                </a:lnTo>
                <a:lnTo>
                  <a:pt x="12953" y="845058"/>
                </a:lnTo>
                <a:lnTo>
                  <a:pt x="4257294" y="845057"/>
                </a:lnTo>
                <a:lnTo>
                  <a:pt x="4257294" y="838200"/>
                </a:lnTo>
                <a:lnTo>
                  <a:pt x="4264152" y="832103"/>
                </a:lnTo>
                <a:close/>
              </a:path>
              <a:path w="4270375" h="845185">
                <a:moveTo>
                  <a:pt x="12953" y="845058"/>
                </a:moveTo>
                <a:lnTo>
                  <a:pt x="12953" y="838200"/>
                </a:lnTo>
                <a:lnTo>
                  <a:pt x="6096" y="832104"/>
                </a:lnTo>
                <a:lnTo>
                  <a:pt x="6096" y="845058"/>
                </a:lnTo>
                <a:lnTo>
                  <a:pt x="12953" y="845058"/>
                </a:lnTo>
                <a:close/>
              </a:path>
              <a:path w="4270375" h="845185">
                <a:moveTo>
                  <a:pt x="4264152" y="12953"/>
                </a:moveTo>
                <a:lnTo>
                  <a:pt x="4257294" y="6858"/>
                </a:lnTo>
                <a:lnTo>
                  <a:pt x="4257294" y="12953"/>
                </a:lnTo>
                <a:lnTo>
                  <a:pt x="4264152" y="12953"/>
                </a:lnTo>
                <a:close/>
              </a:path>
              <a:path w="4270375" h="845185">
                <a:moveTo>
                  <a:pt x="4264152" y="832103"/>
                </a:moveTo>
                <a:lnTo>
                  <a:pt x="4264152" y="12953"/>
                </a:lnTo>
                <a:lnTo>
                  <a:pt x="4257294" y="12953"/>
                </a:lnTo>
                <a:lnTo>
                  <a:pt x="4257294" y="832103"/>
                </a:lnTo>
                <a:lnTo>
                  <a:pt x="4264152" y="832103"/>
                </a:lnTo>
                <a:close/>
              </a:path>
              <a:path w="4270375" h="845185">
                <a:moveTo>
                  <a:pt x="4264152" y="845057"/>
                </a:moveTo>
                <a:lnTo>
                  <a:pt x="4264152" y="832103"/>
                </a:lnTo>
                <a:lnTo>
                  <a:pt x="4257294" y="838200"/>
                </a:lnTo>
                <a:lnTo>
                  <a:pt x="4257294" y="845057"/>
                </a:lnTo>
                <a:lnTo>
                  <a:pt x="4264152" y="84505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20995" y="1248155"/>
            <a:ext cx="4088129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1315720" algn="l"/>
                <a:tab pos="2136775" algn="l"/>
                <a:tab pos="2483485" algn="l"/>
              </a:tabLst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next_row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=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row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+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move[dir].a;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next_co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	=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co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+	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move[dir].b;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84211" y="1333500"/>
            <a:ext cx="11214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col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4636" y="967740"/>
            <a:ext cx="2033905" cy="11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7190" marR="50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int a;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/*  </a:t>
            </a:r>
            <a:r>
              <a:rPr sz="2400" b="1" spc="-5" dirty="0">
                <a:latin typeface="Courier New"/>
                <a:cs typeface="Courier New"/>
              </a:rPr>
              <a:t>int b;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/*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offsets;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94636" y="2065020"/>
            <a:ext cx="294830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offsets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move[8];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27161" y="2430779"/>
            <a:ext cx="7569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each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39580" y="2430779"/>
            <a:ext cx="20370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direction*/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4839" y="2063495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96069" y="2976372"/>
            <a:ext cx="0" cy="802005"/>
          </a:xfrm>
          <a:custGeom>
            <a:avLst/>
            <a:gdLst/>
            <a:ahLst/>
            <a:cxnLst/>
            <a:rect l="l" t="t" r="r" b="b"/>
            <a:pathLst>
              <a:path h="802004">
                <a:moveTo>
                  <a:pt x="0" y="0"/>
                </a:moveTo>
                <a:lnTo>
                  <a:pt x="0" y="801624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78643" y="2976372"/>
            <a:ext cx="0" cy="802005"/>
          </a:xfrm>
          <a:custGeom>
            <a:avLst/>
            <a:gdLst/>
            <a:ahLst/>
            <a:cxnLst/>
            <a:rect l="l" t="t" r="r" b="b"/>
            <a:pathLst>
              <a:path h="802004">
                <a:moveTo>
                  <a:pt x="0" y="0"/>
                </a:moveTo>
                <a:lnTo>
                  <a:pt x="0" y="801624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99898" y="2976372"/>
            <a:ext cx="0" cy="802005"/>
          </a:xfrm>
          <a:custGeom>
            <a:avLst/>
            <a:gdLst/>
            <a:ahLst/>
            <a:cxnLst/>
            <a:rect l="l" t="t" r="r" b="b"/>
            <a:pathLst>
              <a:path h="802004">
                <a:moveTo>
                  <a:pt x="0" y="0"/>
                </a:moveTo>
                <a:lnTo>
                  <a:pt x="0" y="80162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33841" y="3448050"/>
            <a:ext cx="6918325" cy="0"/>
          </a:xfrm>
          <a:custGeom>
            <a:avLst/>
            <a:gdLst/>
            <a:ahLst/>
            <a:cxnLst/>
            <a:rect l="l" t="t" r="r" b="b"/>
            <a:pathLst>
              <a:path w="6918325">
                <a:moveTo>
                  <a:pt x="0" y="0"/>
                </a:moveTo>
                <a:lnTo>
                  <a:pt x="6918198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48319" y="2976372"/>
            <a:ext cx="0" cy="802005"/>
          </a:xfrm>
          <a:custGeom>
            <a:avLst/>
            <a:gdLst/>
            <a:ahLst/>
            <a:cxnLst/>
            <a:rect l="l" t="t" r="r" b="b"/>
            <a:pathLst>
              <a:path h="802004">
                <a:moveTo>
                  <a:pt x="0" y="0"/>
                </a:moveTo>
                <a:lnTo>
                  <a:pt x="0" y="80162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37942" y="2976372"/>
            <a:ext cx="0" cy="802005"/>
          </a:xfrm>
          <a:custGeom>
            <a:avLst/>
            <a:gdLst/>
            <a:ahLst/>
            <a:cxnLst/>
            <a:rect l="l" t="t" r="r" b="b"/>
            <a:pathLst>
              <a:path h="802004">
                <a:moveTo>
                  <a:pt x="0" y="0"/>
                </a:moveTo>
                <a:lnTo>
                  <a:pt x="0" y="801624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33841" y="2990850"/>
            <a:ext cx="6918325" cy="0"/>
          </a:xfrm>
          <a:custGeom>
            <a:avLst/>
            <a:gdLst/>
            <a:ahLst/>
            <a:cxnLst/>
            <a:rect l="l" t="t" r="r" b="b"/>
            <a:pathLst>
              <a:path w="6918325">
                <a:moveTo>
                  <a:pt x="0" y="0"/>
                </a:moveTo>
                <a:lnTo>
                  <a:pt x="6918198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222473" y="3028188"/>
            <a:ext cx="15316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Move[dir].a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52556" y="3028188"/>
            <a:ext cx="15316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Move[dir].b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40351" y="3485388"/>
            <a:ext cx="2965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21244" y="34853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96069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778643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99898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33841" y="3905250"/>
            <a:ext cx="6918325" cy="0"/>
          </a:xfrm>
          <a:custGeom>
            <a:avLst/>
            <a:gdLst/>
            <a:ahLst/>
            <a:cxnLst/>
            <a:rect l="l" t="t" r="r" b="b"/>
            <a:pathLst>
              <a:path w="6918325">
                <a:moveTo>
                  <a:pt x="0" y="0"/>
                </a:moveTo>
                <a:lnTo>
                  <a:pt x="6918198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33841" y="4362450"/>
            <a:ext cx="6918325" cy="0"/>
          </a:xfrm>
          <a:custGeom>
            <a:avLst/>
            <a:gdLst/>
            <a:ahLst/>
            <a:cxnLst/>
            <a:rect l="l" t="t" r="r" b="b"/>
            <a:pathLst>
              <a:path w="6918325">
                <a:moveTo>
                  <a:pt x="0" y="0"/>
                </a:moveTo>
                <a:lnTo>
                  <a:pt x="6918198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48319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837942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840228" y="3942588"/>
            <a:ext cx="2965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21062" y="39425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891404" y="43997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421244" y="43997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996069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78643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199898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33841" y="4819650"/>
            <a:ext cx="6918325" cy="0"/>
          </a:xfrm>
          <a:custGeom>
            <a:avLst/>
            <a:gdLst/>
            <a:ahLst/>
            <a:cxnLst/>
            <a:rect l="l" t="t" r="r" b="b"/>
            <a:pathLst>
              <a:path w="6918325">
                <a:moveTo>
                  <a:pt x="0" y="0"/>
                </a:moveTo>
                <a:lnTo>
                  <a:pt x="6918198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33841" y="5276850"/>
            <a:ext cx="6918325" cy="0"/>
          </a:xfrm>
          <a:custGeom>
            <a:avLst/>
            <a:gdLst/>
            <a:ahLst/>
            <a:cxnLst/>
            <a:rect l="l" t="t" r="r" b="b"/>
            <a:pathLst>
              <a:path w="6918325">
                <a:moveTo>
                  <a:pt x="0" y="0"/>
                </a:moveTo>
                <a:lnTo>
                  <a:pt x="6918198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48319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837942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4891344" y="48569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421122" y="48569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99606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778643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199898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33841" y="5734050"/>
            <a:ext cx="6918325" cy="0"/>
          </a:xfrm>
          <a:custGeom>
            <a:avLst/>
            <a:gdLst/>
            <a:ahLst/>
            <a:cxnLst/>
            <a:rect l="l" t="t" r="r" b="b"/>
            <a:pathLst>
              <a:path w="6918325">
                <a:moveTo>
                  <a:pt x="0" y="0"/>
                </a:moveTo>
                <a:lnTo>
                  <a:pt x="6918198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33841" y="6191250"/>
            <a:ext cx="6918325" cy="0"/>
          </a:xfrm>
          <a:custGeom>
            <a:avLst/>
            <a:gdLst/>
            <a:ahLst/>
            <a:cxnLst/>
            <a:rect l="l" t="t" r="r" b="b"/>
            <a:pathLst>
              <a:path w="6918325">
                <a:moveTo>
                  <a:pt x="0" y="0"/>
                </a:moveTo>
                <a:lnTo>
                  <a:pt x="6918198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483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837942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4891404" y="53141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421244" y="53141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891265" y="57713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370752" y="5771388"/>
            <a:ext cx="2965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26</a:t>
            </a:r>
            <a:endParaRPr sz="14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996069" y="6349746"/>
            <a:ext cx="0" cy="770890"/>
          </a:xfrm>
          <a:custGeom>
            <a:avLst/>
            <a:gdLst/>
            <a:ahLst/>
            <a:cxnLst/>
            <a:rect l="l" t="t" r="r" b="b"/>
            <a:pathLst>
              <a:path h="770890">
                <a:moveTo>
                  <a:pt x="0" y="0"/>
                </a:moveTo>
                <a:lnTo>
                  <a:pt x="0" y="770381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778643" y="6349746"/>
            <a:ext cx="0" cy="770890"/>
          </a:xfrm>
          <a:custGeom>
            <a:avLst/>
            <a:gdLst/>
            <a:ahLst/>
            <a:cxnLst/>
            <a:rect l="l" t="t" r="r" b="b"/>
            <a:pathLst>
              <a:path h="770890">
                <a:moveTo>
                  <a:pt x="0" y="0"/>
                </a:moveTo>
                <a:lnTo>
                  <a:pt x="0" y="770381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199898" y="6349746"/>
            <a:ext cx="0" cy="770890"/>
          </a:xfrm>
          <a:custGeom>
            <a:avLst/>
            <a:gdLst/>
            <a:ahLst/>
            <a:cxnLst/>
            <a:rect l="l" t="t" r="r" b="b"/>
            <a:pathLst>
              <a:path h="770890">
                <a:moveTo>
                  <a:pt x="0" y="0"/>
                </a:moveTo>
                <a:lnTo>
                  <a:pt x="0" y="770382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33841" y="6648450"/>
            <a:ext cx="6918325" cy="0"/>
          </a:xfrm>
          <a:custGeom>
            <a:avLst/>
            <a:gdLst/>
            <a:ahLst/>
            <a:cxnLst/>
            <a:rect l="l" t="t" r="r" b="b"/>
            <a:pathLst>
              <a:path w="6918325">
                <a:moveTo>
                  <a:pt x="0" y="0"/>
                </a:moveTo>
                <a:lnTo>
                  <a:pt x="6918198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948319" y="6349746"/>
            <a:ext cx="0" cy="770890"/>
          </a:xfrm>
          <a:custGeom>
            <a:avLst/>
            <a:gdLst/>
            <a:ahLst/>
            <a:cxnLst/>
            <a:rect l="l" t="t" r="r" b="b"/>
            <a:pathLst>
              <a:path h="770890">
                <a:moveTo>
                  <a:pt x="0" y="0"/>
                </a:moveTo>
                <a:lnTo>
                  <a:pt x="0" y="77038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837942" y="6349746"/>
            <a:ext cx="0" cy="770890"/>
          </a:xfrm>
          <a:custGeom>
            <a:avLst/>
            <a:gdLst/>
            <a:ahLst/>
            <a:cxnLst/>
            <a:rect l="l" t="t" r="r" b="b"/>
            <a:pathLst>
              <a:path h="770890">
                <a:moveTo>
                  <a:pt x="0" y="0"/>
                </a:moveTo>
                <a:lnTo>
                  <a:pt x="0" y="770382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933841" y="7105650"/>
            <a:ext cx="6918325" cy="0"/>
          </a:xfrm>
          <a:custGeom>
            <a:avLst/>
            <a:gdLst/>
            <a:ahLst/>
            <a:cxnLst/>
            <a:rect l="l" t="t" r="r" b="b"/>
            <a:pathLst>
              <a:path w="6918325">
                <a:moveTo>
                  <a:pt x="0" y="0"/>
                </a:moveTo>
                <a:lnTo>
                  <a:pt x="6918198" y="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4891404" y="62285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370953" y="6228588"/>
            <a:ext cx="2965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794636" y="2430779"/>
            <a:ext cx="3677285" cy="4630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/*array of moves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for</a:t>
            </a:r>
            <a:endParaRPr sz="2400" dirty="0">
              <a:latin typeface="Courier New"/>
              <a:cs typeface="Courier New"/>
            </a:endParaRPr>
          </a:p>
          <a:p>
            <a:pPr marL="464184" marR="1882775" indent="-194310">
              <a:lnSpc>
                <a:spcPct val="125000"/>
              </a:lnSpc>
              <a:spcBef>
                <a:spcPts val="1105"/>
              </a:spcBef>
              <a:tabLst>
                <a:tab pos="1397000" algn="l"/>
                <a:tab pos="1507490" algn="l"/>
              </a:tabLst>
            </a:pPr>
            <a:r>
              <a:rPr sz="2400" spc="-10" dirty="0">
                <a:latin typeface="Arial"/>
                <a:cs typeface="Arial"/>
              </a:rPr>
              <a:t>Nam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" dirty="0">
                <a:latin typeface="Arial"/>
                <a:cs typeface="Arial"/>
              </a:rPr>
              <a:t>Dir  </a:t>
            </a:r>
            <a:r>
              <a:rPr sz="2400" spc="-5" dirty="0">
                <a:latin typeface="Arial"/>
                <a:cs typeface="Arial"/>
              </a:rPr>
              <a:t>N	</a:t>
            </a:r>
            <a:r>
              <a:rPr lang="en-US" sz="2400" spc="-5" dirty="0" smtClean="0">
                <a:latin typeface="Arial"/>
                <a:cs typeface="Arial"/>
              </a:rPr>
              <a:t> </a:t>
            </a:r>
            <a:r>
              <a:rPr sz="2400" spc="-5" dirty="0" smtClean="0">
                <a:latin typeface="Arial"/>
                <a:cs typeface="Arial"/>
              </a:rPr>
              <a:t>0  </a:t>
            </a:r>
            <a:r>
              <a:rPr sz="2400" spc="-5" dirty="0">
                <a:latin typeface="Arial"/>
                <a:cs typeface="Arial"/>
              </a:rPr>
              <a:t>NE		1</a:t>
            </a:r>
            <a:endParaRPr sz="2400" dirty="0">
              <a:latin typeface="Arial"/>
              <a:cs typeface="Arial"/>
            </a:endParaRPr>
          </a:p>
          <a:p>
            <a:pPr marL="472440" marR="1991995" indent="101600">
              <a:lnSpc>
                <a:spcPct val="125000"/>
              </a:lnSpc>
              <a:tabLst>
                <a:tab pos="1507490" algn="l"/>
              </a:tabLst>
            </a:pPr>
            <a:r>
              <a:rPr sz="2400" dirty="0">
                <a:latin typeface="Arial"/>
                <a:cs typeface="Arial"/>
              </a:rPr>
              <a:t>E 	</a:t>
            </a:r>
            <a:r>
              <a:rPr sz="2400" spc="-5" dirty="0">
                <a:latin typeface="Arial"/>
                <a:cs typeface="Arial"/>
              </a:rPr>
              <a:t>2  </a:t>
            </a:r>
            <a:r>
              <a:rPr sz="2400" dirty="0">
                <a:latin typeface="Arial"/>
                <a:cs typeface="Arial"/>
              </a:rPr>
              <a:t>SE 	</a:t>
            </a:r>
            <a:r>
              <a:rPr sz="2400" spc="-5" dirty="0">
                <a:latin typeface="Arial"/>
                <a:cs typeface="Arial"/>
              </a:rPr>
              <a:t>3</a:t>
            </a:r>
            <a:endParaRPr sz="2400" dirty="0">
              <a:latin typeface="Arial"/>
              <a:cs typeface="Arial"/>
            </a:endParaRPr>
          </a:p>
          <a:p>
            <a:pPr marL="430530" marR="1991995" indent="143510">
              <a:lnSpc>
                <a:spcPct val="125000"/>
              </a:lnSpc>
              <a:tabLst>
                <a:tab pos="1507490" algn="l"/>
              </a:tabLst>
            </a:pPr>
            <a:r>
              <a:rPr sz="2400" dirty="0">
                <a:latin typeface="Arial"/>
                <a:cs typeface="Arial"/>
              </a:rPr>
              <a:t>S 	</a:t>
            </a:r>
            <a:r>
              <a:rPr sz="2400" spc="-5" dirty="0">
                <a:latin typeface="Arial"/>
                <a:cs typeface="Arial"/>
              </a:rPr>
              <a:t>4  </a:t>
            </a:r>
            <a:r>
              <a:rPr sz="2400" dirty="0">
                <a:latin typeface="Arial"/>
                <a:cs typeface="Arial"/>
              </a:rPr>
              <a:t>SW 	</a:t>
            </a:r>
            <a:r>
              <a:rPr sz="2400" spc="-5" dirty="0">
                <a:latin typeface="Arial"/>
                <a:cs typeface="Arial"/>
              </a:rPr>
              <a:t>5</a:t>
            </a:r>
            <a:endParaRPr sz="2400" dirty="0">
              <a:latin typeface="Arial"/>
              <a:cs typeface="Arial"/>
            </a:endParaRPr>
          </a:p>
          <a:p>
            <a:pPr marL="422275" marR="1991995" indent="109220">
              <a:lnSpc>
                <a:spcPct val="125000"/>
              </a:lnSpc>
              <a:tabLst>
                <a:tab pos="1507490" algn="l"/>
              </a:tabLst>
            </a:pPr>
            <a:r>
              <a:rPr sz="2400" dirty="0">
                <a:latin typeface="Arial"/>
                <a:cs typeface="Arial"/>
              </a:rPr>
              <a:t>W 	</a:t>
            </a:r>
            <a:r>
              <a:rPr sz="2400" spc="-5" dirty="0">
                <a:latin typeface="Arial"/>
                <a:cs typeface="Arial"/>
              </a:rPr>
              <a:t>6  </a:t>
            </a:r>
            <a:r>
              <a:rPr sz="2400" dirty="0">
                <a:latin typeface="Arial"/>
                <a:cs typeface="Arial"/>
              </a:rPr>
              <a:t>NW 	</a:t>
            </a:r>
            <a:r>
              <a:rPr sz="2400" spc="-5" dirty="0">
                <a:latin typeface="Arial"/>
                <a:cs typeface="Arial"/>
              </a:rPr>
              <a:t>7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840290" y="6685788"/>
            <a:ext cx="2965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370831" y="6685788"/>
            <a:ext cx="2965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1023111"/>
            <a:ext cx="7534275" cy="68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62960" algn="l"/>
              </a:tabLst>
            </a:pPr>
            <a:r>
              <a:rPr sz="4400" spc="-5" dirty="0"/>
              <a:t>Use a</a:t>
            </a:r>
            <a:r>
              <a:rPr sz="4400" spc="5" dirty="0"/>
              <a:t> </a:t>
            </a:r>
            <a:r>
              <a:rPr sz="4400" spc="-5" dirty="0"/>
              <a:t>Stack</a:t>
            </a:r>
            <a:r>
              <a:rPr sz="4400" dirty="0"/>
              <a:t> </a:t>
            </a:r>
            <a:r>
              <a:rPr sz="4400" spc="-5" dirty="0"/>
              <a:t>to	Keep Pass</a:t>
            </a:r>
            <a:r>
              <a:rPr sz="4400" spc="-45" dirty="0"/>
              <a:t> </a:t>
            </a:r>
            <a:r>
              <a:rPr sz="4400" spc="-5" dirty="0"/>
              <a:t>History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7552690" cy="2379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What is the </a:t>
            </a:r>
            <a:r>
              <a:rPr sz="3200" spc="-10" dirty="0">
                <a:latin typeface="Arial"/>
                <a:cs typeface="Arial"/>
              </a:rPr>
              <a:t>maximal </a:t>
            </a:r>
            <a:r>
              <a:rPr sz="3200" spc="-5" dirty="0">
                <a:latin typeface="Arial"/>
                <a:cs typeface="Arial"/>
              </a:rPr>
              <a:t>size of the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stack?</a:t>
            </a:r>
            <a:endParaRPr sz="3200" dirty="0">
              <a:latin typeface="Arial"/>
              <a:cs typeface="Arial"/>
            </a:endParaRPr>
          </a:p>
          <a:p>
            <a:pPr marL="755650" marR="1685925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A maze is represented by a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two-  dimensional </a:t>
            </a:r>
            <a:r>
              <a:rPr sz="2800" spc="-5" dirty="0">
                <a:latin typeface="Arial"/>
                <a:cs typeface="Arial"/>
              </a:rPr>
              <a:t>array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maze[m][p]</a:t>
            </a:r>
            <a:endParaRPr sz="2800" dirty="0">
              <a:latin typeface="Arial"/>
              <a:cs typeface="Arial"/>
            </a:endParaRPr>
          </a:p>
          <a:p>
            <a:pPr marL="755650" marR="5080" lvl="1" indent="-285750">
              <a:lnSpc>
                <a:spcPts val="3340"/>
              </a:lnSpc>
              <a:spcBef>
                <a:spcPts val="80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Since </a:t>
            </a:r>
            <a:r>
              <a:rPr sz="2800" dirty="0">
                <a:latin typeface="Arial"/>
                <a:cs typeface="Arial"/>
              </a:rPr>
              <a:t>each position is visited at most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once,  at most </a:t>
            </a:r>
            <a:r>
              <a:rPr sz="2800" i="1" spc="-30" dirty="0">
                <a:latin typeface="Arial"/>
                <a:cs typeface="Arial"/>
              </a:rPr>
              <a:t>m</a:t>
            </a:r>
            <a:r>
              <a:rPr sz="2950" i="1" spc="-30" dirty="0">
                <a:latin typeface="Palatino Linotype"/>
                <a:cs typeface="Palatino Linotype"/>
              </a:rPr>
              <a:t>×</a:t>
            </a:r>
            <a:r>
              <a:rPr sz="2800" i="1" spc="-30" dirty="0">
                <a:latin typeface="Arial"/>
                <a:cs typeface="Arial"/>
              </a:rPr>
              <a:t>p </a:t>
            </a:r>
            <a:r>
              <a:rPr sz="2800" dirty="0">
                <a:latin typeface="Arial"/>
                <a:cs typeface="Arial"/>
              </a:rPr>
              <a:t>elements can be placed in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</a:p>
        </p:txBody>
      </p:sp>
      <p:sp>
        <p:nvSpPr>
          <p:cNvPr id="9" name="object 9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450969" y="4760976"/>
            <a:ext cx="29457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typedef struct</a:t>
            </a:r>
            <a:r>
              <a:rPr sz="2400" b="1" spc="-13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69984" y="4731511"/>
            <a:ext cx="85788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stack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27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50969" y="5126735"/>
            <a:ext cx="1851660" cy="149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7190" marR="50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int </a:t>
            </a:r>
            <a:r>
              <a:rPr sz="2400" b="1" spc="-10" dirty="0">
                <a:latin typeface="Courier New"/>
                <a:cs typeface="Courier New"/>
              </a:rPr>
              <a:t>x;  </a:t>
            </a:r>
            <a:r>
              <a:rPr sz="2400" b="1" spc="-5" dirty="0">
                <a:latin typeface="Courier New"/>
                <a:cs typeface="Courier New"/>
              </a:rPr>
              <a:t>int </a:t>
            </a:r>
            <a:r>
              <a:rPr sz="2400" b="1" spc="-10" dirty="0">
                <a:latin typeface="Courier New"/>
                <a:cs typeface="Courier New"/>
              </a:rPr>
              <a:t>y;  </a:t>
            </a:r>
            <a:r>
              <a:rPr sz="2400" b="1" spc="-5" dirty="0">
                <a:latin typeface="Courier New"/>
                <a:cs typeface="Courier New"/>
              </a:rPr>
              <a:t>int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dir;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item;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50981" y="6589776"/>
            <a:ext cx="7569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item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62943" y="6589776"/>
            <a:ext cx="20370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stack[m*p];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35593" y="833627"/>
            <a:ext cx="0" cy="372745"/>
          </a:xfrm>
          <a:custGeom>
            <a:avLst/>
            <a:gdLst/>
            <a:ahLst/>
            <a:cxnLst/>
            <a:rect l="l" t="t" r="r" b="b"/>
            <a:pathLst>
              <a:path h="372744">
                <a:moveTo>
                  <a:pt x="0" y="0"/>
                </a:moveTo>
                <a:lnTo>
                  <a:pt x="0" y="372618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53247" y="590550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16992" y="44195"/>
                </a:moveTo>
                <a:lnTo>
                  <a:pt x="316992" y="32003"/>
                </a:lnTo>
                <a:lnTo>
                  <a:pt x="0" y="32003"/>
                </a:lnTo>
                <a:lnTo>
                  <a:pt x="0" y="44195"/>
                </a:lnTo>
                <a:lnTo>
                  <a:pt x="316992" y="44195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800" y="0"/>
                </a:lnTo>
                <a:lnTo>
                  <a:pt x="304800" y="32003"/>
                </a:lnTo>
                <a:lnTo>
                  <a:pt x="316992" y="32003"/>
                </a:lnTo>
                <a:lnTo>
                  <a:pt x="316992" y="70103"/>
                </a:lnTo>
                <a:lnTo>
                  <a:pt x="381000" y="38099"/>
                </a:lnTo>
                <a:close/>
              </a:path>
              <a:path w="381000" h="76200">
                <a:moveTo>
                  <a:pt x="316992" y="70103"/>
                </a:moveTo>
                <a:lnTo>
                  <a:pt x="316992" y="44195"/>
                </a:lnTo>
                <a:lnTo>
                  <a:pt x="304800" y="44195"/>
                </a:lnTo>
                <a:lnTo>
                  <a:pt x="304800" y="76199"/>
                </a:lnTo>
                <a:lnTo>
                  <a:pt x="316992" y="70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35593" y="1206246"/>
            <a:ext cx="0" cy="680085"/>
          </a:xfrm>
          <a:custGeom>
            <a:avLst/>
            <a:gdLst/>
            <a:ahLst/>
            <a:cxnLst/>
            <a:rect l="l" t="t" r="r" b="b"/>
            <a:pathLst>
              <a:path h="680085">
                <a:moveTo>
                  <a:pt x="0" y="0"/>
                </a:moveTo>
                <a:lnTo>
                  <a:pt x="0" y="679703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7495" y="1701545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17753" y="44958"/>
                </a:moveTo>
                <a:lnTo>
                  <a:pt x="317753" y="32004"/>
                </a:lnTo>
                <a:lnTo>
                  <a:pt x="0" y="32004"/>
                </a:lnTo>
                <a:lnTo>
                  <a:pt x="0" y="44958"/>
                </a:lnTo>
                <a:lnTo>
                  <a:pt x="317753" y="44958"/>
                </a:lnTo>
                <a:close/>
              </a:path>
              <a:path w="381000" h="76200">
                <a:moveTo>
                  <a:pt x="381000" y="38100"/>
                </a:moveTo>
                <a:lnTo>
                  <a:pt x="304800" y="0"/>
                </a:lnTo>
                <a:lnTo>
                  <a:pt x="304800" y="32004"/>
                </a:lnTo>
                <a:lnTo>
                  <a:pt x="317753" y="32004"/>
                </a:lnTo>
                <a:lnTo>
                  <a:pt x="317753" y="69723"/>
                </a:lnTo>
                <a:lnTo>
                  <a:pt x="381000" y="38100"/>
                </a:lnTo>
                <a:close/>
              </a:path>
              <a:path w="381000" h="76200">
                <a:moveTo>
                  <a:pt x="317753" y="69723"/>
                </a:moveTo>
                <a:lnTo>
                  <a:pt x="317753" y="44958"/>
                </a:lnTo>
                <a:lnTo>
                  <a:pt x="304800" y="44958"/>
                </a:lnTo>
                <a:lnTo>
                  <a:pt x="304800" y="76200"/>
                </a:lnTo>
                <a:lnTo>
                  <a:pt x="317753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48832"/>
              </p:ext>
            </p:extLst>
          </p:nvPr>
        </p:nvGraphicFramePr>
        <p:xfrm>
          <a:off x="780936" y="-15875"/>
          <a:ext cx="9131299" cy="246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41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66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015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494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5449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1666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59475">
                <a:tc>
                  <a:txBody>
                    <a:bodyPr/>
                    <a:lstStyle/>
                    <a:p>
                      <a:endParaRPr sz="3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CC0066"/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sz="32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2896">
                <a:tc>
                  <a:txBody>
                    <a:bodyPr/>
                    <a:lstStyle/>
                    <a:p>
                      <a:pPr marL="220345">
                        <a:lnSpc>
                          <a:spcPts val="3235"/>
                        </a:lnSpc>
                      </a:pPr>
                      <a:r>
                        <a:rPr sz="3200" b="1" spc="-10" dirty="0">
                          <a:solidFill>
                            <a:srgbClr val="FFFFFF"/>
                          </a:solidFill>
                          <a:latin typeface="Arial Narrow"/>
                          <a:cs typeface="Arial Narrow"/>
                        </a:rPr>
                        <a:t>28</a:t>
                      </a:r>
                      <a:endParaRPr sz="32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CC0066"/>
                    </a:solidFill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59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59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1219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9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1219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ts val="259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  <a:lnT w="1219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36445">
                        <a:lnSpc>
                          <a:spcPts val="1630"/>
                        </a:lnSpc>
                        <a:spcBef>
                          <a:spcPts val="160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(2,4,6) (2,3) Mark</a:t>
                      </a:r>
                      <a:r>
                        <a:rPr sz="2000" b="1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(2,3)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3504"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4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4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ts val="24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36445">
                        <a:lnSpc>
                          <a:spcPts val="2110"/>
                        </a:lnSpc>
                        <a:spcBef>
                          <a:spcPts val="97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(1,4,4)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0505"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4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4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ts val="24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36445">
                        <a:lnSpc>
                          <a:spcPts val="2350"/>
                        </a:lnSpc>
                        <a:spcBef>
                          <a:spcPts val="489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(1,3,2)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8453"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72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219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72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219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72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219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72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0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219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27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(1,2,2)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7172"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40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Stack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1219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1219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1219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1219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ts val="2170"/>
                        </a:lnSpc>
                        <a:tabLst>
                          <a:tab pos="2042795" algn="l"/>
                        </a:tabLst>
                      </a:pPr>
                      <a:r>
                        <a:rPr sz="3000" b="1" spc="-7" baseline="-4166" dirty="0">
                          <a:latin typeface="Courier New"/>
                          <a:cs typeface="Courier New"/>
                        </a:rPr>
                        <a:t>Action	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(1,1,2)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91297">
                <a:tc gridSpan="6">
                  <a:txBody>
                    <a:bodyPr/>
                    <a:lstStyle/>
                    <a:p>
                      <a:pPr marL="891540">
                        <a:lnSpc>
                          <a:spcPts val="2270"/>
                        </a:lnSpc>
                        <a:tabLst>
                          <a:tab pos="1970405" algn="l"/>
                          <a:tab pos="4685030" algn="l"/>
                        </a:tabLst>
                      </a:pPr>
                      <a:r>
                        <a:rPr sz="2000" b="1" u="heavy" dirty="0">
                          <a:latin typeface="Courier New"/>
                          <a:cs typeface="Courier New"/>
                        </a:rPr>
                        <a:t> 	</a:t>
                      </a:r>
                      <a:r>
                        <a:rPr sz="2000" b="1" u="heavy" spc="-5" dirty="0">
                          <a:latin typeface="Courier New"/>
                          <a:cs typeface="Courier New"/>
                        </a:rPr>
                        <a:t>Position	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774839" y="1206246"/>
            <a:ext cx="824484" cy="4286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28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815592" y="2489408"/>
          <a:ext cx="5975715" cy="4695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47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40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172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53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4986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03167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-------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(1,1)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Mark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(1,1)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237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Move</a:t>
                      </a:r>
                      <a:r>
                        <a:rPr sz="2000" b="1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back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(1,1,2)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Mark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(1,4,4)</a:t>
                      </a:r>
                      <a:r>
                        <a:rPr sz="2000" b="1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(2,4)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96799"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200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(1,3,2)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2807">
                <a:tc>
                  <a:txBody>
                    <a:bodyPr/>
                    <a:lstStyle/>
                    <a:p>
                      <a:pPr marL="22225">
                        <a:lnSpc>
                          <a:spcPts val="219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(1,2,2)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19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(1,3)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19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Mark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19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(1,3)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207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(1,2,2)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marL="22225">
                        <a:lnSpc>
                          <a:spcPts val="213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(1,1,2)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200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(1,1,2)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65201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(1,3,2)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(1,4)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Mark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(1,4)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Move</a:t>
                      </a:r>
                      <a:r>
                        <a:rPr sz="2000" b="1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back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96798">
                <a:tc>
                  <a:txBody>
                    <a:bodyPr/>
                    <a:lstStyle/>
                    <a:p>
                      <a:pPr marL="22225">
                        <a:lnSpc>
                          <a:spcPts val="207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(1,2,2)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2225">
                        <a:lnSpc>
                          <a:spcPts val="213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(1,1,2)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200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(1,3,2)</a:t>
                      </a:r>
                      <a:r>
                        <a:rPr sz="2000" b="1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(1,4)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96799"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200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(1,2,2)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0801">
                <a:tc>
                  <a:txBody>
                    <a:bodyPr/>
                    <a:lstStyle/>
                    <a:p>
                      <a:pPr marL="22225">
                        <a:lnSpc>
                          <a:spcPts val="219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(1,4,4)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19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(2,4)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19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Mark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19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(2,4)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207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(1,1,2)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96792">
                <a:tc>
                  <a:txBody>
                    <a:bodyPr/>
                    <a:lstStyle/>
                    <a:p>
                      <a:pPr marL="22225">
                        <a:lnSpc>
                          <a:spcPts val="207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(1,3,2)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2807">
                <a:tc>
                  <a:txBody>
                    <a:bodyPr/>
                    <a:lstStyle/>
                    <a:p>
                      <a:pPr marL="22225">
                        <a:lnSpc>
                          <a:spcPts val="213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(1,2,2)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200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...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42772">
                <a:tc>
                  <a:txBody>
                    <a:bodyPr/>
                    <a:lstStyle/>
                    <a:p>
                      <a:pPr marL="22225">
                        <a:lnSpc>
                          <a:spcPts val="207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(1,1,2)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5307" y="537209"/>
            <a:ext cx="7491095" cy="641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50"/>
              </a:lnSpc>
            </a:pPr>
            <a:r>
              <a:rPr sz="2400" b="1" u="heavy" spc="-5" dirty="0">
                <a:latin typeface="Courier New"/>
                <a:cs typeface="Courier New"/>
              </a:rPr>
              <a:t>Program</a:t>
            </a:r>
            <a:r>
              <a:rPr sz="2400" b="1" u="heavy" spc="-105" dirty="0">
                <a:latin typeface="Courier New"/>
                <a:cs typeface="Courier New"/>
              </a:rPr>
              <a:t> </a:t>
            </a:r>
            <a:r>
              <a:rPr sz="2400" b="1" u="heavy" spc="-10" dirty="0">
                <a:latin typeface="Courier New"/>
                <a:cs typeface="Courier New"/>
              </a:rPr>
              <a:t>3.15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170"/>
              </a:lnSpc>
            </a:pPr>
            <a:r>
              <a:rPr sz="2000" b="1" spc="-5" dirty="0">
                <a:latin typeface="Courier New"/>
                <a:cs typeface="Courier New"/>
              </a:rPr>
              <a:t>initialize stack to the maze entrance</a:t>
            </a:r>
            <a:r>
              <a:rPr sz="2000" b="1" spc="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coordinates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68207" y="1088644"/>
            <a:ext cx="3072765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and direction east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5295" y="1332496"/>
            <a:ext cx="3986529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while (stack is not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empty)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9332" y="1820164"/>
            <a:ext cx="20066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(i, j, dir)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=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62933" y="1820164"/>
            <a:ext cx="5053965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coordinates and direction</a:t>
            </a:r>
            <a:r>
              <a:rPr sz="2000" b="1" spc="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deleted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68195" y="2064016"/>
            <a:ext cx="291973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from top of stack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9320" y="2307869"/>
            <a:ext cx="4291965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while (there are more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moves)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4839" y="2063495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34132" y="2795523"/>
            <a:ext cx="53594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(g, h) = coordinates of next move</a:t>
            </a:r>
            <a:r>
              <a:rPr sz="2000" b="1" spc="3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34145" y="3098304"/>
            <a:ext cx="5358765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20"/>
              </a:lnSpc>
            </a:pPr>
            <a:r>
              <a:rPr sz="2000" b="1" spc="-5" dirty="0">
                <a:latin typeface="Courier New"/>
                <a:cs typeface="Courier New"/>
              </a:rPr>
              <a:t>if ((g == m) &amp;&amp; (h == p)) success ;  if ((!maze[g][h]) // legal</a:t>
            </a:r>
            <a:r>
              <a:rPr sz="2000" b="1" spc="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move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38932" y="3527044"/>
            <a:ext cx="56642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&amp;&amp; (!mark[g][h]) // haven’t been</a:t>
            </a:r>
            <a:r>
              <a:rPr sz="2000" b="1" spc="4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here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68195" y="3770896"/>
            <a:ext cx="939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before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19832" y="4014749"/>
            <a:ext cx="177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24632" y="4258589"/>
            <a:ext cx="2463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mark[g][h] = 1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74839" y="3777996"/>
            <a:ext cx="824484" cy="1714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524632" y="4502404"/>
            <a:ext cx="44450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dir = next direction to try</a:t>
            </a:r>
            <a:r>
              <a:rPr sz="2000" b="1" spc="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24645" y="4805184"/>
            <a:ext cx="5053965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20"/>
              </a:lnSpc>
              <a:tabLst>
                <a:tab pos="1383665" algn="l"/>
              </a:tabLst>
            </a:pPr>
            <a:r>
              <a:rPr sz="2000" b="1" spc="-5" dirty="0">
                <a:latin typeface="Courier New"/>
                <a:cs typeface="Courier New"/>
              </a:rPr>
              <a:t>add (i, j, dir) to top of stack ;  i =</a:t>
            </a:r>
            <a:r>
              <a:rPr sz="2000" b="1" spc="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g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;	j = h ; dir = north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19832" y="5233923"/>
            <a:ext cx="177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029332" y="5477764"/>
            <a:ext cx="177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25295" y="5721616"/>
            <a:ext cx="177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25295" y="5965469"/>
            <a:ext cx="520573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cout &lt;&lt; “not path found” &lt;&lt; endl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29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68089" y="6552438"/>
            <a:ext cx="18040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u="heavy" spc="-5" dirty="0">
                <a:latin typeface="Arial"/>
                <a:cs typeface="Arial"/>
              </a:rPr>
              <a:t>Pseudo</a:t>
            </a:r>
            <a:r>
              <a:rPr sz="2400" u="heavy" spc="-75" dirty="0">
                <a:latin typeface="Arial"/>
                <a:cs typeface="Arial"/>
              </a:rPr>
              <a:t> </a:t>
            </a:r>
            <a:r>
              <a:rPr sz="2400" u="heavy" spc="-10" dirty="0">
                <a:latin typeface="Arial"/>
                <a:cs typeface="Arial"/>
              </a:rPr>
              <a:t>code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4827" y="433578"/>
            <a:ext cx="3302635" cy="676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u="heavy" spc="-5" dirty="0">
                <a:latin typeface="Courier New"/>
                <a:cs typeface="Courier New"/>
              </a:rPr>
              <a:t>Program</a:t>
            </a:r>
            <a:r>
              <a:rPr sz="2400" b="1" u="heavy" spc="-105" dirty="0">
                <a:latin typeface="Courier New"/>
                <a:cs typeface="Courier New"/>
              </a:rPr>
              <a:t> </a:t>
            </a:r>
            <a:r>
              <a:rPr sz="2400" b="1" u="heavy" spc="-10" dirty="0">
                <a:latin typeface="Courier New"/>
                <a:cs typeface="Courier New"/>
              </a:rPr>
              <a:t>3.16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b="1" spc="-5" dirty="0">
                <a:latin typeface="Courier New"/>
                <a:cs typeface="Courier New"/>
              </a:rPr>
              <a:t>void path (int m, int</a:t>
            </a:r>
            <a:r>
              <a:rPr sz="1800" b="1" spc="-17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94827" y="1062228"/>
            <a:ext cx="685355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/* Output a path (if any) in the maze;</a:t>
            </a:r>
            <a:r>
              <a:rPr sz="1800" b="1" spc="-17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maze[0][i]=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93767" y="1309115"/>
            <a:ext cx="152654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0&lt;=i&lt;=</a:t>
            </a:r>
            <a:r>
              <a:rPr sz="1800" b="1" spc="-114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p+1,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4827" y="1340611"/>
            <a:ext cx="5491480" cy="78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39"/>
              </a:lnSpc>
            </a:pPr>
            <a:r>
              <a:rPr sz="1800" b="1" spc="-5" dirty="0">
                <a:latin typeface="Courier New"/>
                <a:cs typeface="Courier New"/>
              </a:rPr>
              <a:t>maze[m+1][i]= </a:t>
            </a:r>
            <a:r>
              <a:rPr sz="1800" b="1" spc="-10" dirty="0">
                <a:latin typeface="Courier New"/>
                <a:cs typeface="Courier New"/>
              </a:rPr>
              <a:t>maze[j][0]=maze[j][p+1]=1,  </a:t>
            </a:r>
            <a:r>
              <a:rPr sz="1800" b="1" spc="-5" dirty="0">
                <a:latin typeface="Courier New"/>
                <a:cs typeface="Courier New"/>
              </a:rPr>
              <a:t>0&lt;=j&lt;= m+1.</a:t>
            </a:r>
            <a:r>
              <a:rPr sz="1800" b="1" spc="-1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*/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80"/>
              </a:lnSpc>
            </a:pPr>
            <a:r>
              <a:rPr sz="1800" b="1" spc="-5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98386" y="1916429"/>
            <a:ext cx="1946275" cy="147320"/>
          </a:xfrm>
          <a:custGeom>
            <a:avLst/>
            <a:gdLst/>
            <a:ahLst/>
            <a:cxnLst/>
            <a:rect l="l" t="t" r="r" b="b"/>
            <a:pathLst>
              <a:path w="1946275" h="147319">
                <a:moveTo>
                  <a:pt x="1946147" y="147065"/>
                </a:moveTo>
                <a:lnTo>
                  <a:pt x="1946147" y="0"/>
                </a:lnTo>
                <a:lnTo>
                  <a:pt x="0" y="0"/>
                </a:lnTo>
                <a:lnTo>
                  <a:pt x="0" y="147065"/>
                </a:lnTo>
                <a:lnTo>
                  <a:pt x="6096" y="147065"/>
                </a:lnTo>
                <a:lnTo>
                  <a:pt x="6096" y="12192"/>
                </a:lnTo>
                <a:lnTo>
                  <a:pt x="12204" y="6095"/>
                </a:lnTo>
                <a:lnTo>
                  <a:pt x="12204" y="12192"/>
                </a:lnTo>
                <a:lnTo>
                  <a:pt x="1933206" y="12192"/>
                </a:lnTo>
                <a:lnTo>
                  <a:pt x="1933206" y="6095"/>
                </a:lnTo>
                <a:lnTo>
                  <a:pt x="1939289" y="12192"/>
                </a:lnTo>
                <a:lnTo>
                  <a:pt x="1939289" y="147065"/>
                </a:lnTo>
                <a:lnTo>
                  <a:pt x="1946147" y="147065"/>
                </a:lnTo>
                <a:close/>
              </a:path>
              <a:path w="1946275" h="147319">
                <a:moveTo>
                  <a:pt x="12204" y="12192"/>
                </a:moveTo>
                <a:lnTo>
                  <a:pt x="12204" y="6095"/>
                </a:lnTo>
                <a:lnTo>
                  <a:pt x="6096" y="12192"/>
                </a:lnTo>
                <a:lnTo>
                  <a:pt x="12204" y="12192"/>
                </a:lnTo>
                <a:close/>
              </a:path>
              <a:path w="1946275" h="147319">
                <a:moveTo>
                  <a:pt x="12204" y="147065"/>
                </a:moveTo>
                <a:lnTo>
                  <a:pt x="12204" y="12192"/>
                </a:lnTo>
                <a:lnTo>
                  <a:pt x="6096" y="12192"/>
                </a:lnTo>
                <a:lnTo>
                  <a:pt x="6096" y="147065"/>
                </a:lnTo>
                <a:lnTo>
                  <a:pt x="12204" y="147065"/>
                </a:lnTo>
                <a:close/>
              </a:path>
              <a:path w="1946275" h="147319">
                <a:moveTo>
                  <a:pt x="1939289" y="12192"/>
                </a:moveTo>
                <a:lnTo>
                  <a:pt x="1933206" y="6095"/>
                </a:lnTo>
                <a:lnTo>
                  <a:pt x="1933206" y="12192"/>
                </a:lnTo>
                <a:lnTo>
                  <a:pt x="1939289" y="12192"/>
                </a:lnTo>
                <a:close/>
              </a:path>
              <a:path w="1946275" h="147319">
                <a:moveTo>
                  <a:pt x="1939289" y="147065"/>
                </a:moveTo>
                <a:lnTo>
                  <a:pt x="1939289" y="12192"/>
                </a:lnTo>
                <a:lnTo>
                  <a:pt x="1933206" y="12192"/>
                </a:lnTo>
                <a:lnTo>
                  <a:pt x="1933206" y="147065"/>
                </a:lnTo>
                <a:lnTo>
                  <a:pt x="1939289" y="147065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39141" y="1800605"/>
            <a:ext cx="2278380" cy="262890"/>
          </a:xfrm>
          <a:custGeom>
            <a:avLst/>
            <a:gdLst/>
            <a:ahLst/>
            <a:cxnLst/>
            <a:rect l="l" t="t" r="r" b="b"/>
            <a:pathLst>
              <a:path w="2278379" h="262889">
                <a:moveTo>
                  <a:pt x="2278380" y="262889"/>
                </a:moveTo>
                <a:lnTo>
                  <a:pt x="2278380" y="0"/>
                </a:lnTo>
                <a:lnTo>
                  <a:pt x="0" y="0"/>
                </a:lnTo>
                <a:lnTo>
                  <a:pt x="0" y="262889"/>
                </a:lnTo>
                <a:lnTo>
                  <a:pt x="6845" y="262889"/>
                </a:lnTo>
                <a:lnTo>
                  <a:pt x="6845" y="12192"/>
                </a:lnTo>
                <a:lnTo>
                  <a:pt x="12941" y="6095"/>
                </a:lnTo>
                <a:lnTo>
                  <a:pt x="12941" y="12192"/>
                </a:lnTo>
                <a:lnTo>
                  <a:pt x="2265425" y="12192"/>
                </a:lnTo>
                <a:lnTo>
                  <a:pt x="2265425" y="6095"/>
                </a:lnTo>
                <a:lnTo>
                  <a:pt x="2272271" y="12192"/>
                </a:lnTo>
                <a:lnTo>
                  <a:pt x="2272271" y="262889"/>
                </a:lnTo>
                <a:lnTo>
                  <a:pt x="2278380" y="262889"/>
                </a:lnTo>
                <a:close/>
              </a:path>
              <a:path w="2278379" h="262889">
                <a:moveTo>
                  <a:pt x="12941" y="12192"/>
                </a:moveTo>
                <a:lnTo>
                  <a:pt x="12941" y="6095"/>
                </a:lnTo>
                <a:lnTo>
                  <a:pt x="6845" y="12192"/>
                </a:lnTo>
                <a:lnTo>
                  <a:pt x="12941" y="12192"/>
                </a:lnTo>
                <a:close/>
              </a:path>
              <a:path w="2278379" h="262889">
                <a:moveTo>
                  <a:pt x="12941" y="262889"/>
                </a:moveTo>
                <a:lnTo>
                  <a:pt x="12941" y="12192"/>
                </a:lnTo>
                <a:lnTo>
                  <a:pt x="6845" y="12192"/>
                </a:lnTo>
                <a:lnTo>
                  <a:pt x="6845" y="262889"/>
                </a:lnTo>
                <a:lnTo>
                  <a:pt x="12941" y="262889"/>
                </a:lnTo>
                <a:close/>
              </a:path>
              <a:path w="2278379" h="262889">
                <a:moveTo>
                  <a:pt x="2272271" y="12192"/>
                </a:moveTo>
                <a:lnTo>
                  <a:pt x="2265425" y="6095"/>
                </a:lnTo>
                <a:lnTo>
                  <a:pt x="2265425" y="12192"/>
                </a:lnTo>
                <a:lnTo>
                  <a:pt x="2272271" y="12192"/>
                </a:lnTo>
                <a:close/>
              </a:path>
              <a:path w="2278379" h="262889">
                <a:moveTo>
                  <a:pt x="2272271" y="262889"/>
                </a:moveTo>
                <a:lnTo>
                  <a:pt x="2272271" y="12192"/>
                </a:lnTo>
                <a:lnTo>
                  <a:pt x="2265425" y="12192"/>
                </a:lnTo>
                <a:lnTo>
                  <a:pt x="2265425" y="262889"/>
                </a:lnTo>
                <a:lnTo>
                  <a:pt x="2272271" y="262889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206349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67610" y="2097785"/>
            <a:ext cx="221234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//start at</a:t>
            </a:r>
            <a:r>
              <a:rPr sz="1800" b="1" spc="-12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(1,1)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42552" y="2372105"/>
            <a:ext cx="1663700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1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stack(m*p)</a:t>
            </a:r>
            <a:r>
              <a:rPr sz="1800" b="1" spc="-9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98386" y="2063495"/>
            <a:ext cx="1946275" cy="650240"/>
          </a:xfrm>
          <a:custGeom>
            <a:avLst/>
            <a:gdLst/>
            <a:ahLst/>
            <a:cxnLst/>
            <a:rect l="l" t="t" r="r" b="b"/>
            <a:pathLst>
              <a:path w="1946275" h="650239">
                <a:moveTo>
                  <a:pt x="12204" y="637032"/>
                </a:moveTo>
                <a:lnTo>
                  <a:pt x="12204" y="0"/>
                </a:lnTo>
                <a:lnTo>
                  <a:pt x="0" y="0"/>
                </a:lnTo>
                <a:lnTo>
                  <a:pt x="0" y="649986"/>
                </a:lnTo>
                <a:lnTo>
                  <a:pt x="6096" y="649986"/>
                </a:lnTo>
                <a:lnTo>
                  <a:pt x="6096" y="637032"/>
                </a:lnTo>
                <a:lnTo>
                  <a:pt x="12204" y="637032"/>
                </a:lnTo>
                <a:close/>
              </a:path>
              <a:path w="1946275" h="650239">
                <a:moveTo>
                  <a:pt x="1939289" y="637032"/>
                </a:moveTo>
                <a:lnTo>
                  <a:pt x="6096" y="637032"/>
                </a:lnTo>
                <a:lnTo>
                  <a:pt x="12204" y="643128"/>
                </a:lnTo>
                <a:lnTo>
                  <a:pt x="12204" y="649986"/>
                </a:lnTo>
                <a:lnTo>
                  <a:pt x="1933206" y="649986"/>
                </a:lnTo>
                <a:lnTo>
                  <a:pt x="1933206" y="643128"/>
                </a:lnTo>
                <a:lnTo>
                  <a:pt x="1939289" y="637032"/>
                </a:lnTo>
                <a:close/>
              </a:path>
              <a:path w="1946275" h="650239">
                <a:moveTo>
                  <a:pt x="12204" y="649986"/>
                </a:moveTo>
                <a:lnTo>
                  <a:pt x="12204" y="643128"/>
                </a:lnTo>
                <a:lnTo>
                  <a:pt x="6096" y="637032"/>
                </a:lnTo>
                <a:lnTo>
                  <a:pt x="6096" y="649986"/>
                </a:lnTo>
                <a:lnTo>
                  <a:pt x="12204" y="649986"/>
                </a:lnTo>
                <a:close/>
              </a:path>
              <a:path w="1946275" h="650239">
                <a:moveTo>
                  <a:pt x="1946147" y="649986"/>
                </a:moveTo>
                <a:lnTo>
                  <a:pt x="1946147" y="0"/>
                </a:lnTo>
                <a:lnTo>
                  <a:pt x="1933206" y="0"/>
                </a:lnTo>
                <a:lnTo>
                  <a:pt x="1933206" y="637032"/>
                </a:lnTo>
                <a:lnTo>
                  <a:pt x="1939289" y="637032"/>
                </a:lnTo>
                <a:lnTo>
                  <a:pt x="1939289" y="649986"/>
                </a:lnTo>
                <a:lnTo>
                  <a:pt x="1946147" y="649986"/>
                </a:lnTo>
                <a:close/>
              </a:path>
              <a:path w="1946275" h="650239">
                <a:moveTo>
                  <a:pt x="1939289" y="649986"/>
                </a:moveTo>
                <a:lnTo>
                  <a:pt x="1939289" y="637032"/>
                </a:lnTo>
                <a:lnTo>
                  <a:pt x="1933206" y="643128"/>
                </a:lnTo>
                <a:lnTo>
                  <a:pt x="1933206" y="649986"/>
                </a:lnTo>
                <a:lnTo>
                  <a:pt x="1939289" y="64998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39141" y="2063495"/>
            <a:ext cx="2278380" cy="855980"/>
          </a:xfrm>
          <a:custGeom>
            <a:avLst/>
            <a:gdLst/>
            <a:ahLst/>
            <a:cxnLst/>
            <a:rect l="l" t="t" r="r" b="b"/>
            <a:pathLst>
              <a:path w="2278379" h="855980">
                <a:moveTo>
                  <a:pt x="12941" y="843534"/>
                </a:moveTo>
                <a:lnTo>
                  <a:pt x="12941" y="0"/>
                </a:lnTo>
                <a:lnTo>
                  <a:pt x="0" y="0"/>
                </a:lnTo>
                <a:lnTo>
                  <a:pt x="0" y="855726"/>
                </a:lnTo>
                <a:lnTo>
                  <a:pt x="6845" y="855726"/>
                </a:lnTo>
                <a:lnTo>
                  <a:pt x="6845" y="843534"/>
                </a:lnTo>
                <a:lnTo>
                  <a:pt x="12941" y="843534"/>
                </a:lnTo>
                <a:close/>
              </a:path>
              <a:path w="2278379" h="855980">
                <a:moveTo>
                  <a:pt x="2272271" y="843534"/>
                </a:moveTo>
                <a:lnTo>
                  <a:pt x="6845" y="843534"/>
                </a:lnTo>
                <a:lnTo>
                  <a:pt x="12941" y="849630"/>
                </a:lnTo>
                <a:lnTo>
                  <a:pt x="12941" y="855726"/>
                </a:lnTo>
                <a:lnTo>
                  <a:pt x="2265425" y="855726"/>
                </a:lnTo>
                <a:lnTo>
                  <a:pt x="2265425" y="849630"/>
                </a:lnTo>
                <a:lnTo>
                  <a:pt x="2272271" y="843534"/>
                </a:lnTo>
                <a:close/>
              </a:path>
              <a:path w="2278379" h="855980">
                <a:moveTo>
                  <a:pt x="12941" y="855726"/>
                </a:moveTo>
                <a:lnTo>
                  <a:pt x="12941" y="849630"/>
                </a:lnTo>
                <a:lnTo>
                  <a:pt x="6845" y="843534"/>
                </a:lnTo>
                <a:lnTo>
                  <a:pt x="6845" y="855726"/>
                </a:lnTo>
                <a:lnTo>
                  <a:pt x="12941" y="855726"/>
                </a:lnTo>
                <a:close/>
              </a:path>
              <a:path w="2278379" h="855980">
                <a:moveTo>
                  <a:pt x="2278380" y="855726"/>
                </a:moveTo>
                <a:lnTo>
                  <a:pt x="2278380" y="0"/>
                </a:lnTo>
                <a:lnTo>
                  <a:pt x="2265425" y="0"/>
                </a:lnTo>
                <a:lnTo>
                  <a:pt x="2265425" y="843534"/>
                </a:lnTo>
                <a:lnTo>
                  <a:pt x="2272271" y="843534"/>
                </a:lnTo>
                <a:lnTo>
                  <a:pt x="2272271" y="855726"/>
                </a:lnTo>
                <a:lnTo>
                  <a:pt x="2278380" y="855726"/>
                </a:lnTo>
                <a:close/>
              </a:path>
              <a:path w="2278379" h="855980">
                <a:moveTo>
                  <a:pt x="2272271" y="855726"/>
                </a:moveTo>
                <a:lnTo>
                  <a:pt x="2272271" y="843534"/>
                </a:lnTo>
                <a:lnTo>
                  <a:pt x="2265425" y="849630"/>
                </a:lnTo>
                <a:lnTo>
                  <a:pt x="2265425" y="855726"/>
                </a:lnTo>
                <a:lnTo>
                  <a:pt x="2272271" y="855726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679325" y="1876805"/>
            <a:ext cx="65087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3365"/>
                </a:solidFill>
                <a:latin typeface="Arial"/>
                <a:cs typeface="Arial"/>
              </a:rPr>
              <a:t>(1</a:t>
            </a: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,</a:t>
            </a:r>
            <a:r>
              <a:rPr sz="2400" spc="-10" dirty="0">
                <a:solidFill>
                  <a:srgbClr val="003365"/>
                </a:solidFill>
                <a:latin typeface="Arial"/>
                <a:cs typeface="Arial"/>
              </a:rPr>
              <a:t>1)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98891" y="2483358"/>
            <a:ext cx="7359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(m,p)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967610" y="2372105"/>
            <a:ext cx="1666875" cy="1125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mark[1][1]</a:t>
            </a:r>
            <a:r>
              <a:rPr sz="1800" b="1" spc="-1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=  S</a:t>
            </a:r>
            <a:r>
              <a:rPr sz="1800" b="1" spc="-10" dirty="0">
                <a:latin typeface="Courier New"/>
                <a:cs typeface="Courier New"/>
              </a:rPr>
              <a:t>tack&lt;items&gt;  </a:t>
            </a:r>
            <a:r>
              <a:rPr sz="1800" b="1" spc="-5" dirty="0">
                <a:latin typeface="Courier New"/>
                <a:cs typeface="Courier New"/>
              </a:rPr>
              <a:t>items temp</a:t>
            </a:r>
            <a:r>
              <a:rPr sz="1800" b="1" spc="-14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  temp.x = 1</a:t>
            </a:r>
            <a:r>
              <a:rPr sz="1800" b="1" spc="-13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42209" y="3195065"/>
            <a:ext cx="139065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temp.y =</a:t>
            </a:r>
            <a:r>
              <a:rPr sz="1800" b="1" spc="-13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43152" y="3195065"/>
            <a:ext cx="221043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; temp.dir = E</a:t>
            </a:r>
            <a:r>
              <a:rPr sz="1800" b="1" spc="-14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67610" y="3469385"/>
            <a:ext cx="234632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stack.Add(temp)</a:t>
            </a:r>
            <a:r>
              <a:rPr sz="1800" b="1" spc="-13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60691" y="2975609"/>
            <a:ext cx="2191385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CC3300"/>
                </a:solidFill>
                <a:latin typeface="Arial"/>
                <a:cs typeface="Arial"/>
              </a:rPr>
              <a:t>(m+2)*(p+2)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35" dirty="0">
                <a:solidFill>
                  <a:srgbClr val="CC3300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build</a:t>
            </a:r>
            <a:r>
              <a:rPr sz="2400" spc="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CC3300"/>
                </a:solidFill>
                <a:latin typeface="Arial"/>
                <a:cs typeface="Arial"/>
              </a:rPr>
              <a:t>borders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48249" y="3743705"/>
            <a:ext cx="248221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// stack not</a:t>
            </a:r>
            <a:r>
              <a:rPr sz="1800" b="1" spc="-1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empty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67610" y="3743705"/>
            <a:ext cx="3173095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while(!stack.IsEmpty())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41181" y="4292345"/>
            <a:ext cx="426085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temp = *stack.Delete(temp) ;</a:t>
            </a:r>
            <a:r>
              <a:rPr sz="1800" b="1" spc="-1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//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867791" y="5356097"/>
            <a:ext cx="1831975" cy="136525"/>
          </a:xfrm>
          <a:custGeom>
            <a:avLst/>
            <a:gdLst/>
            <a:ahLst/>
            <a:cxnLst/>
            <a:rect l="l" t="t" r="r" b="b"/>
            <a:pathLst>
              <a:path w="1831975" h="136525">
                <a:moveTo>
                  <a:pt x="1831848" y="136398"/>
                </a:moveTo>
                <a:lnTo>
                  <a:pt x="1831848" y="0"/>
                </a:lnTo>
                <a:lnTo>
                  <a:pt x="0" y="0"/>
                </a:lnTo>
                <a:lnTo>
                  <a:pt x="0" y="136398"/>
                </a:lnTo>
                <a:lnTo>
                  <a:pt x="6845" y="136398"/>
                </a:lnTo>
                <a:lnTo>
                  <a:pt x="6845" y="12953"/>
                </a:lnTo>
                <a:lnTo>
                  <a:pt x="12954" y="6857"/>
                </a:lnTo>
                <a:lnTo>
                  <a:pt x="12954" y="12953"/>
                </a:lnTo>
                <a:lnTo>
                  <a:pt x="1819656" y="12953"/>
                </a:lnTo>
                <a:lnTo>
                  <a:pt x="1819656" y="6857"/>
                </a:lnTo>
                <a:lnTo>
                  <a:pt x="1825752" y="12953"/>
                </a:lnTo>
                <a:lnTo>
                  <a:pt x="1825752" y="136398"/>
                </a:lnTo>
                <a:lnTo>
                  <a:pt x="1831848" y="136398"/>
                </a:lnTo>
                <a:close/>
              </a:path>
              <a:path w="1831975" h="136525">
                <a:moveTo>
                  <a:pt x="12954" y="12953"/>
                </a:moveTo>
                <a:lnTo>
                  <a:pt x="12954" y="6857"/>
                </a:lnTo>
                <a:lnTo>
                  <a:pt x="6845" y="12953"/>
                </a:lnTo>
                <a:lnTo>
                  <a:pt x="12954" y="12953"/>
                </a:lnTo>
                <a:close/>
              </a:path>
              <a:path w="1831975" h="136525">
                <a:moveTo>
                  <a:pt x="12954" y="136398"/>
                </a:moveTo>
                <a:lnTo>
                  <a:pt x="12954" y="12953"/>
                </a:lnTo>
                <a:lnTo>
                  <a:pt x="6845" y="12953"/>
                </a:lnTo>
                <a:lnTo>
                  <a:pt x="6845" y="136398"/>
                </a:lnTo>
                <a:lnTo>
                  <a:pt x="12954" y="136398"/>
                </a:lnTo>
                <a:close/>
              </a:path>
              <a:path w="1831975" h="136525">
                <a:moveTo>
                  <a:pt x="1825752" y="12953"/>
                </a:moveTo>
                <a:lnTo>
                  <a:pt x="1819656" y="6857"/>
                </a:lnTo>
                <a:lnTo>
                  <a:pt x="1819656" y="12953"/>
                </a:lnTo>
                <a:lnTo>
                  <a:pt x="1825752" y="12953"/>
                </a:lnTo>
                <a:close/>
              </a:path>
              <a:path w="1831975" h="136525">
                <a:moveTo>
                  <a:pt x="1825752" y="136398"/>
                </a:moveTo>
                <a:lnTo>
                  <a:pt x="1825752" y="12953"/>
                </a:lnTo>
                <a:lnTo>
                  <a:pt x="1819656" y="12953"/>
                </a:lnTo>
                <a:lnTo>
                  <a:pt x="1819656" y="136398"/>
                </a:lnTo>
                <a:lnTo>
                  <a:pt x="1825752" y="13639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606675" y="4292345"/>
            <a:ext cx="986790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unstack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; int</a:t>
            </a:r>
            <a:r>
              <a:rPr sz="1800" b="1" spc="-114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99543" y="4566666"/>
            <a:ext cx="166560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= temp.dir</a:t>
            </a:r>
            <a:r>
              <a:rPr sz="1800" b="1" spc="-13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31476" y="4566666"/>
            <a:ext cx="3167380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temp.x ; int j =</a:t>
            </a:r>
            <a:r>
              <a:rPr sz="1800" b="1" spc="-1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temp.y</a:t>
            </a:r>
            <a:endParaRPr sz="1800">
              <a:latin typeface="Courier New"/>
              <a:cs typeface="Courier New"/>
            </a:endParaRPr>
          </a:p>
          <a:p>
            <a:pPr marL="14604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&lt; 8) // move</a:t>
            </a:r>
            <a:r>
              <a:rPr sz="1800" b="1" spc="-12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forward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874268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693543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1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241169" y="4566666"/>
            <a:ext cx="984885" cy="1399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int i</a:t>
            </a:r>
            <a:r>
              <a:rPr sz="1800" b="1" spc="-13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=  </a:t>
            </a:r>
            <a:r>
              <a:rPr sz="1800" b="1" spc="-10" dirty="0">
                <a:latin typeface="Courier New"/>
                <a:cs typeface="Courier New"/>
              </a:rPr>
              <a:t>while(d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5115" marR="8255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int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g  int</a:t>
            </a:r>
            <a:r>
              <a:rPr sz="1800" b="1" spc="-1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h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31977" y="5389626"/>
            <a:ext cx="2621915" cy="850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=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i+move[d].a;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= j + move[d].b</a:t>
            </a:r>
            <a:r>
              <a:rPr sz="1800" b="1" spc="-14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==</a:t>
            </a:r>
            <a:r>
              <a:rPr sz="1800" b="1" spc="-10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p))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74839" y="2920745"/>
            <a:ext cx="824484" cy="4286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992264" y="5426709"/>
            <a:ext cx="1556385" cy="153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" algn="ctr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R="9525" algn="ctr">
              <a:lnSpc>
                <a:spcPct val="100000"/>
              </a:lnSpc>
              <a:tabLst>
                <a:tab pos="490855" algn="l"/>
                <a:tab pos="954405" algn="l"/>
              </a:tabLst>
            </a:pPr>
            <a:r>
              <a:rPr sz="2000" b="1" spc="-5" dirty="0">
                <a:latin typeface="Arial"/>
                <a:cs typeface="Arial"/>
              </a:rPr>
              <a:t>7	N	1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1150620" algn="l"/>
              </a:tabLst>
            </a:pPr>
            <a:r>
              <a:rPr sz="2000" b="1" spc="-5" dirty="0">
                <a:latin typeface="Arial"/>
                <a:cs typeface="Arial"/>
              </a:rPr>
              <a:t>6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W	E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09220" algn="ctr">
              <a:lnSpc>
                <a:spcPct val="100000"/>
              </a:lnSpc>
              <a:tabLst>
                <a:tab pos="530225" algn="l"/>
                <a:tab pos="1048385" algn="l"/>
              </a:tabLst>
            </a:pPr>
            <a:r>
              <a:rPr sz="2000" b="1" spc="-5" dirty="0">
                <a:latin typeface="Arial"/>
                <a:cs typeface="Arial"/>
              </a:rPr>
              <a:t>5	S	3</a:t>
            </a:r>
            <a:endParaRPr sz="2000">
              <a:latin typeface="Arial"/>
              <a:cs typeface="Arial"/>
            </a:endParaRPr>
          </a:p>
          <a:p>
            <a:pPr marL="7620" algn="ctr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67791" y="6349746"/>
            <a:ext cx="1831975" cy="708660"/>
          </a:xfrm>
          <a:custGeom>
            <a:avLst/>
            <a:gdLst/>
            <a:ahLst/>
            <a:cxnLst/>
            <a:rect l="l" t="t" r="r" b="b"/>
            <a:pathLst>
              <a:path w="1831975" h="708659">
                <a:moveTo>
                  <a:pt x="12954" y="695706"/>
                </a:moveTo>
                <a:lnTo>
                  <a:pt x="12954" y="0"/>
                </a:lnTo>
                <a:lnTo>
                  <a:pt x="0" y="0"/>
                </a:lnTo>
                <a:lnTo>
                  <a:pt x="0" y="708660"/>
                </a:lnTo>
                <a:lnTo>
                  <a:pt x="6845" y="708660"/>
                </a:lnTo>
                <a:lnTo>
                  <a:pt x="6845" y="695706"/>
                </a:lnTo>
                <a:lnTo>
                  <a:pt x="12954" y="695706"/>
                </a:lnTo>
                <a:close/>
              </a:path>
              <a:path w="1831975" h="708659">
                <a:moveTo>
                  <a:pt x="1825752" y="695706"/>
                </a:moveTo>
                <a:lnTo>
                  <a:pt x="6845" y="695706"/>
                </a:lnTo>
                <a:lnTo>
                  <a:pt x="12954" y="701802"/>
                </a:lnTo>
                <a:lnTo>
                  <a:pt x="12954" y="708660"/>
                </a:lnTo>
                <a:lnTo>
                  <a:pt x="1819656" y="708660"/>
                </a:lnTo>
                <a:lnTo>
                  <a:pt x="1819656" y="701802"/>
                </a:lnTo>
                <a:lnTo>
                  <a:pt x="1825752" y="695706"/>
                </a:lnTo>
                <a:close/>
              </a:path>
              <a:path w="1831975" h="708659">
                <a:moveTo>
                  <a:pt x="12954" y="708660"/>
                </a:moveTo>
                <a:lnTo>
                  <a:pt x="12954" y="701802"/>
                </a:lnTo>
                <a:lnTo>
                  <a:pt x="6845" y="695706"/>
                </a:lnTo>
                <a:lnTo>
                  <a:pt x="6845" y="708660"/>
                </a:lnTo>
                <a:lnTo>
                  <a:pt x="12954" y="708660"/>
                </a:lnTo>
                <a:close/>
              </a:path>
              <a:path w="1831975" h="708659">
                <a:moveTo>
                  <a:pt x="1831848" y="708660"/>
                </a:moveTo>
                <a:lnTo>
                  <a:pt x="1831848" y="0"/>
                </a:lnTo>
                <a:lnTo>
                  <a:pt x="1819656" y="0"/>
                </a:lnTo>
                <a:lnTo>
                  <a:pt x="1819656" y="695706"/>
                </a:lnTo>
                <a:lnTo>
                  <a:pt x="1825752" y="695706"/>
                </a:lnTo>
                <a:lnTo>
                  <a:pt x="1825752" y="708660"/>
                </a:lnTo>
                <a:lnTo>
                  <a:pt x="1831848" y="708660"/>
                </a:lnTo>
                <a:close/>
              </a:path>
              <a:path w="1831975" h="708659">
                <a:moveTo>
                  <a:pt x="1825752" y="708660"/>
                </a:moveTo>
                <a:lnTo>
                  <a:pt x="1825752" y="695706"/>
                </a:lnTo>
                <a:lnTo>
                  <a:pt x="1819656" y="701802"/>
                </a:lnTo>
                <a:lnTo>
                  <a:pt x="1819656" y="708660"/>
                </a:lnTo>
                <a:lnTo>
                  <a:pt x="1825752" y="70866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513977" y="5938266"/>
            <a:ext cx="2484120" cy="1125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if ((g == m) &amp;&amp;</a:t>
            </a:r>
            <a:r>
              <a:rPr sz="1800" b="1" spc="-15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(h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{ // reached</a:t>
            </a:r>
            <a:r>
              <a:rPr sz="1800" b="1" spc="-1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exit</a:t>
            </a:r>
            <a:endParaRPr sz="1800">
              <a:latin typeface="Courier New"/>
              <a:cs typeface="Courier New"/>
            </a:endParaRPr>
          </a:p>
          <a:p>
            <a:pPr marL="285115" marR="14224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//output </a:t>
            </a:r>
            <a:r>
              <a:rPr sz="1800" b="1" spc="-10" dirty="0">
                <a:latin typeface="Courier New"/>
                <a:cs typeface="Courier New"/>
              </a:rPr>
              <a:t>path  </a:t>
            </a:r>
            <a:r>
              <a:rPr sz="1800" b="1" spc="-5" dirty="0">
                <a:latin typeface="Courier New"/>
                <a:cs typeface="Courier New"/>
              </a:rPr>
              <a:t>cout &lt;&lt; stack</a:t>
            </a:r>
            <a:r>
              <a:rPr sz="1800" b="1" spc="-16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7043" y="620268"/>
            <a:ext cx="139128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squares</a:t>
            </a:r>
            <a:r>
              <a:rPr sz="1800" b="1" spc="-12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on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1057" y="620268"/>
            <a:ext cx="5487035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81915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cout&lt;&lt;i&lt;&lt;“ “&lt;&lt;j&lt;&lt;endl; /* last</a:t>
            </a:r>
            <a:r>
              <a:rPr sz="1800" b="1" spc="-1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two  </a:t>
            </a:r>
            <a:r>
              <a:rPr sz="1800" b="1" spc="-5" dirty="0">
                <a:latin typeface="Courier New"/>
                <a:cs typeface="Courier New"/>
              </a:rPr>
              <a:t>the path</a:t>
            </a:r>
            <a:r>
              <a:rPr sz="1800" b="1" spc="-1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*/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20239" y="1168907"/>
            <a:ext cx="5076825" cy="167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2275" marR="414655">
              <a:lnSpc>
                <a:spcPct val="120000"/>
              </a:lnSpc>
            </a:pPr>
            <a:r>
              <a:rPr sz="1800" b="1" spc="-5" dirty="0">
                <a:latin typeface="Courier New"/>
                <a:cs typeface="Courier New"/>
              </a:rPr>
              <a:t>cout &lt;&lt; m &lt;&lt; “ “ &lt;&lt; p &lt;&lt; endl</a:t>
            </a:r>
            <a:r>
              <a:rPr sz="1800" b="1" spc="-19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  return</a:t>
            </a:r>
            <a:r>
              <a:rPr sz="1800" b="1" spc="-13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5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5" dirty="0">
                <a:latin typeface="Courier New"/>
                <a:cs typeface="Courier New"/>
              </a:rPr>
              <a:t>if ((!maze[g][h]) &amp;&amp; (!mark[g][h]))</a:t>
            </a:r>
            <a:r>
              <a:rPr sz="1800" b="1" spc="-17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352425">
              <a:lnSpc>
                <a:spcPct val="100000"/>
              </a:lnSpc>
              <a:spcBef>
                <a:spcPts val="430"/>
              </a:spcBef>
            </a:pPr>
            <a:r>
              <a:rPr sz="1800" b="1" spc="-5" dirty="0">
                <a:latin typeface="Courier New"/>
                <a:cs typeface="Courier New"/>
              </a:rPr>
              <a:t>// new</a:t>
            </a:r>
            <a:r>
              <a:rPr sz="1800" b="1" spc="-9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position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063495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71095" y="3198876"/>
            <a:ext cx="982344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= d+1</a:t>
            </a:r>
            <a:r>
              <a:rPr sz="1800" b="1" spc="-114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93035" y="2869691"/>
            <a:ext cx="4670425" cy="1289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mark[g][h] = 1</a:t>
            </a:r>
            <a:r>
              <a:rPr sz="1800" b="1" spc="-14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</a:pPr>
            <a:r>
              <a:rPr sz="1800" b="1" spc="-5" dirty="0">
                <a:latin typeface="Courier New"/>
                <a:cs typeface="Courier New"/>
              </a:rPr>
              <a:t>temp.x = i ; temp.y = j ;</a:t>
            </a:r>
            <a:r>
              <a:rPr sz="1800" b="1" spc="-15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temp.dir  stack.Add(temp) </a:t>
            </a:r>
            <a:r>
              <a:rPr sz="1800" b="1" spc="-5" dirty="0">
                <a:latin typeface="Courier New"/>
                <a:cs typeface="Courier New"/>
              </a:rPr>
              <a:t>; // stack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it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5" dirty="0">
                <a:latin typeface="Courier New"/>
                <a:cs typeface="Courier New"/>
              </a:rPr>
              <a:t>i = g ; j = h ; d = N ; // move</a:t>
            </a:r>
            <a:r>
              <a:rPr sz="1800" b="1" spc="-18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to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70912" y="3857244"/>
            <a:ext cx="84518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(g,</a:t>
            </a:r>
            <a:r>
              <a:rPr sz="1800" b="1" spc="-114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h)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20239" y="4186428"/>
            <a:ext cx="1800860" cy="631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5" dirty="0">
                <a:latin typeface="Courier New"/>
                <a:cs typeface="Courier New"/>
              </a:rPr>
              <a:t>else d++ ;</a:t>
            </a:r>
            <a:r>
              <a:rPr sz="1800" b="1" spc="-12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//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31334" y="4515611"/>
            <a:ext cx="248602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try next</a:t>
            </a:r>
            <a:r>
              <a:rPr sz="1800" b="1" spc="-9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direction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3841" y="4844795"/>
            <a:ext cx="16256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40941" y="5173979"/>
            <a:ext cx="2212340" cy="631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5" dirty="0">
                <a:latin typeface="Courier New"/>
                <a:cs typeface="Courier New"/>
              </a:rPr>
              <a:t>cout &lt;&lt; “no</a:t>
            </a:r>
            <a:r>
              <a:rPr sz="1800" b="1" spc="-12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path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61632" y="5503164"/>
            <a:ext cx="261937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in maze “ &lt;&lt; endl</a:t>
            </a:r>
            <a:r>
              <a:rPr sz="1800" b="1" spc="-16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68157" y="5832347"/>
            <a:ext cx="16256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408" y="473202"/>
            <a:ext cx="8934704" cy="615553"/>
          </a:xfrm>
        </p:spPr>
        <p:txBody>
          <a:bodyPr/>
          <a:lstStyle/>
          <a:p>
            <a:r>
              <a:rPr lang="en-US" dirty="0" smtClean="0"/>
              <a:t>Alternative maze algorithm - Initialization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3408" y="1800225"/>
            <a:ext cx="8305292" cy="4308872"/>
          </a:xfrm>
        </p:spPr>
        <p:txBody>
          <a:bodyPr/>
          <a:lstStyle/>
          <a:p>
            <a:r>
              <a:rPr lang="en-US" dirty="0" err="1"/>
              <a:t>struct</a:t>
            </a:r>
            <a:r>
              <a:rPr lang="en-US" dirty="0"/>
              <a:t> move{</a:t>
            </a:r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x;</a:t>
            </a:r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y;</a:t>
            </a:r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dir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directions[8</a:t>
            </a:r>
            <a:r>
              <a:rPr lang="en-US" dirty="0" smtClean="0"/>
              <a:t>][2] </a:t>
            </a:r>
            <a:r>
              <a:rPr lang="en-US" dirty="0"/>
              <a:t>= ...</a:t>
            </a:r>
          </a:p>
          <a:p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maze[m][n];</a:t>
            </a:r>
          </a:p>
          <a:p>
            <a:r>
              <a:rPr lang="en-US" dirty="0" err="1"/>
              <a:t>int</a:t>
            </a:r>
            <a:r>
              <a:rPr lang="en-US" dirty="0"/>
              <a:t> mark[m][n];</a:t>
            </a:r>
          </a:p>
          <a:p>
            <a:r>
              <a:rPr lang="en-US" dirty="0"/>
              <a:t>stack&lt;move&gt; </a:t>
            </a:r>
            <a:r>
              <a:rPr lang="en-US" dirty="0" smtClean="0"/>
              <a:t>path(m*n);</a:t>
            </a:r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curX</a:t>
            </a:r>
            <a:r>
              <a:rPr lang="en-US" dirty="0"/>
              <a:t> = 0;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curY</a:t>
            </a:r>
            <a:r>
              <a:rPr lang="en-US" dirty="0"/>
              <a:t> = 0;</a:t>
            </a:r>
          </a:p>
          <a:p>
            <a:r>
              <a:rPr lang="en-US" dirty="0"/>
              <a:t>mark[0][0] = true;</a:t>
            </a:r>
          </a:p>
        </p:txBody>
      </p:sp>
    </p:spTree>
    <p:extLst>
      <p:ext uri="{BB962C8B-B14F-4D97-AF65-F5344CB8AC3E}">
        <p14:creationId xmlns:p14="http://schemas.microsoft.com/office/powerpoint/2010/main" val="39602883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9796" y="428625"/>
            <a:ext cx="8934704" cy="615553"/>
          </a:xfrm>
        </p:spPr>
        <p:txBody>
          <a:bodyPr/>
          <a:lstStyle/>
          <a:p>
            <a:r>
              <a:rPr lang="en-US" dirty="0" smtClean="0"/>
              <a:t>Alternative maze algorithm - Search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3408" y="1114425"/>
            <a:ext cx="8210321" cy="646330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while(true</a:t>
            </a:r>
            <a:r>
              <a:rPr lang="en-US" dirty="0" smtClean="0"/>
              <a:t>){</a:t>
            </a:r>
          </a:p>
          <a:p>
            <a:r>
              <a:rPr lang="en-US" dirty="0" smtClean="0"/>
              <a:t>    if(</a:t>
            </a:r>
            <a:r>
              <a:rPr lang="en-US" dirty="0" err="1" smtClean="0"/>
              <a:t>curX</a:t>
            </a:r>
            <a:r>
              <a:rPr lang="en-US" dirty="0" smtClean="0"/>
              <a:t> == </a:t>
            </a:r>
            <a:r>
              <a:rPr lang="en-US" dirty="0" err="1"/>
              <a:t>finX</a:t>
            </a:r>
            <a:r>
              <a:rPr lang="en-US" dirty="0"/>
              <a:t> &amp;&amp; </a:t>
            </a:r>
            <a:r>
              <a:rPr lang="en-US" dirty="0" err="1"/>
              <a:t>curY</a:t>
            </a:r>
            <a:r>
              <a:rPr lang="en-US" dirty="0"/>
              <a:t> </a:t>
            </a:r>
            <a:r>
              <a:rPr lang="en-US" dirty="0" smtClean="0"/>
              <a:t>== </a:t>
            </a:r>
            <a:r>
              <a:rPr lang="en-US" dirty="0" err="1"/>
              <a:t>finY</a:t>
            </a:r>
            <a:r>
              <a:rPr lang="en-US" dirty="0"/>
              <a:t>)</a:t>
            </a:r>
          </a:p>
          <a:p>
            <a:r>
              <a:rPr lang="en-US" dirty="0"/>
              <a:t>        return SUCCESS;</a:t>
            </a:r>
          </a:p>
          <a:p>
            <a:r>
              <a:rPr lang="en-US" dirty="0"/>
              <a:t>    bool </a:t>
            </a:r>
            <a:r>
              <a:rPr lang="en-US" dirty="0" err="1"/>
              <a:t>foundNewWay</a:t>
            </a:r>
            <a:r>
              <a:rPr lang="en-US" dirty="0"/>
              <a:t> = false;</a:t>
            </a:r>
          </a:p>
          <a:p>
            <a:r>
              <a:rPr lang="en-US" dirty="0"/>
              <a:t>    </a:t>
            </a:r>
            <a:r>
              <a:rPr lang="en-US" dirty="0" err="1"/>
              <a:t>foreach</a:t>
            </a:r>
            <a:r>
              <a:rPr lang="en-US" dirty="0"/>
              <a:t>(directions as d){</a:t>
            </a:r>
          </a:p>
          <a:p>
            <a:r>
              <a:rPr lang="en-US" dirty="0"/>
              <a:t>        </a:t>
            </a:r>
            <a:r>
              <a:rPr lang="en-US" dirty="0" err="1"/>
              <a:t>newX</a:t>
            </a:r>
            <a:r>
              <a:rPr lang="en-US" dirty="0"/>
              <a:t>, </a:t>
            </a:r>
            <a:r>
              <a:rPr lang="en-US" dirty="0" err="1"/>
              <a:t>newY</a:t>
            </a:r>
            <a:r>
              <a:rPr lang="en-US" dirty="0"/>
              <a:t>, </a:t>
            </a:r>
            <a:r>
              <a:rPr lang="en-US" dirty="0" err="1"/>
              <a:t>dir</a:t>
            </a:r>
            <a:r>
              <a:rPr lang="en-US" dirty="0"/>
              <a:t> = calculate new step </a:t>
            </a:r>
            <a:r>
              <a:rPr lang="en-US" dirty="0" err="1"/>
              <a:t>coords</a:t>
            </a:r>
            <a:r>
              <a:rPr lang="en-US" dirty="0"/>
              <a:t>.</a:t>
            </a:r>
          </a:p>
          <a:p>
            <a:r>
              <a:rPr lang="en-US" dirty="0"/>
              <a:t>        if(mark[</a:t>
            </a:r>
            <a:r>
              <a:rPr lang="en-US" dirty="0" err="1"/>
              <a:t>newX</a:t>
            </a:r>
            <a:r>
              <a:rPr lang="en-US" dirty="0"/>
              <a:t>][</a:t>
            </a:r>
            <a:r>
              <a:rPr lang="en-US" dirty="0" err="1"/>
              <a:t>newY</a:t>
            </a:r>
            <a:r>
              <a:rPr lang="en-US" dirty="0"/>
              <a:t>] || maze[</a:t>
            </a:r>
            <a:r>
              <a:rPr lang="en-US" dirty="0" err="1"/>
              <a:t>newX</a:t>
            </a:r>
            <a:r>
              <a:rPr lang="en-US" dirty="0"/>
              <a:t>][</a:t>
            </a:r>
            <a:r>
              <a:rPr lang="en-US" dirty="0" err="1"/>
              <a:t>newY</a:t>
            </a:r>
            <a:r>
              <a:rPr lang="en-US" dirty="0"/>
              <a:t>])</a:t>
            </a:r>
          </a:p>
          <a:p>
            <a:r>
              <a:rPr lang="en-US" dirty="0"/>
              <a:t>            continue;</a:t>
            </a:r>
          </a:p>
          <a:p>
            <a:r>
              <a:rPr lang="en-US" dirty="0"/>
              <a:t>        </a:t>
            </a:r>
            <a:r>
              <a:rPr lang="en-US" dirty="0" err="1"/>
              <a:t>foundNewWay</a:t>
            </a:r>
            <a:r>
              <a:rPr lang="en-US" dirty="0"/>
              <a:t> = true;</a:t>
            </a:r>
          </a:p>
          <a:p>
            <a:r>
              <a:rPr lang="en-US" dirty="0"/>
              <a:t>        </a:t>
            </a:r>
            <a:r>
              <a:rPr lang="en-US" dirty="0" err="1"/>
              <a:t>path.push</a:t>
            </a:r>
            <a:r>
              <a:rPr lang="en-US" dirty="0" smtClean="0"/>
              <a:t>({</a:t>
            </a:r>
            <a:r>
              <a:rPr lang="en-US" dirty="0" err="1" smtClean="0"/>
              <a:t>curX</a:t>
            </a:r>
            <a:r>
              <a:rPr lang="en-US" dirty="0"/>
              <a:t>, </a:t>
            </a:r>
            <a:r>
              <a:rPr lang="en-US" dirty="0" err="1"/>
              <a:t>curY</a:t>
            </a:r>
            <a:r>
              <a:rPr lang="en-US" dirty="0"/>
              <a:t>, </a:t>
            </a:r>
            <a:r>
              <a:rPr lang="en-US" dirty="0" err="1" smtClean="0"/>
              <a:t>dir</a:t>
            </a:r>
            <a:r>
              <a:rPr lang="en-US" dirty="0" smtClean="0"/>
              <a:t>});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curX</a:t>
            </a:r>
            <a:r>
              <a:rPr lang="en-US" dirty="0"/>
              <a:t>, </a:t>
            </a:r>
            <a:r>
              <a:rPr lang="en-US" dirty="0" err="1"/>
              <a:t>curY</a:t>
            </a:r>
            <a:r>
              <a:rPr lang="en-US" dirty="0"/>
              <a:t> = </a:t>
            </a:r>
            <a:r>
              <a:rPr lang="en-US" dirty="0" err="1"/>
              <a:t>newX</a:t>
            </a:r>
            <a:r>
              <a:rPr lang="en-US" dirty="0"/>
              <a:t>, </a:t>
            </a:r>
            <a:r>
              <a:rPr lang="en-US" dirty="0" err="1" smtClean="0"/>
              <a:t>newY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smtClean="0"/>
              <a:t>    mark[</a:t>
            </a:r>
            <a:r>
              <a:rPr lang="en-US" dirty="0" err="1" smtClean="0"/>
              <a:t>newX</a:t>
            </a:r>
            <a:r>
              <a:rPr lang="en-US" dirty="0" smtClean="0"/>
              <a:t>][</a:t>
            </a:r>
            <a:r>
              <a:rPr lang="en-US" dirty="0" err="1" smtClean="0"/>
              <a:t>newY</a:t>
            </a:r>
            <a:r>
              <a:rPr lang="en-US" dirty="0"/>
              <a:t>] = true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/>
              <a:t>        break;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if(!</a:t>
            </a:r>
            <a:r>
              <a:rPr lang="en-US" dirty="0" err="1"/>
              <a:t>foundNewWay</a:t>
            </a:r>
            <a:r>
              <a:rPr lang="en-US" dirty="0"/>
              <a:t>){</a:t>
            </a:r>
          </a:p>
          <a:p>
            <a:r>
              <a:rPr lang="en-US" dirty="0"/>
              <a:t>        if(</a:t>
            </a:r>
            <a:r>
              <a:rPr lang="en-US" dirty="0" err="1"/>
              <a:t>stack.isEmpty</a:t>
            </a:r>
            <a:r>
              <a:rPr lang="en-US" dirty="0"/>
              <a:t>())</a:t>
            </a:r>
          </a:p>
          <a:p>
            <a:r>
              <a:rPr lang="en-US" dirty="0"/>
              <a:t>            return FAILURE;</a:t>
            </a:r>
          </a:p>
          <a:p>
            <a:r>
              <a:rPr lang="en-US" dirty="0"/>
              <a:t>        </a:t>
            </a:r>
            <a:r>
              <a:rPr lang="en-US" dirty="0" smtClean="0"/>
              <a:t>{</a:t>
            </a:r>
            <a:r>
              <a:rPr lang="en-US" dirty="0" err="1" smtClean="0"/>
              <a:t>curX</a:t>
            </a:r>
            <a:r>
              <a:rPr lang="en-US" dirty="0"/>
              <a:t>, </a:t>
            </a:r>
            <a:r>
              <a:rPr lang="en-US" dirty="0" err="1"/>
              <a:t>curY</a:t>
            </a:r>
            <a:r>
              <a:rPr lang="en-US" dirty="0"/>
              <a:t>, </a:t>
            </a:r>
            <a:r>
              <a:rPr lang="en-US" dirty="0" err="1" smtClean="0"/>
              <a:t>dir</a:t>
            </a:r>
            <a:r>
              <a:rPr lang="en-US" dirty="0" smtClean="0"/>
              <a:t>} </a:t>
            </a:r>
            <a:r>
              <a:rPr lang="en-US" dirty="0"/>
              <a:t>= </a:t>
            </a:r>
            <a:r>
              <a:rPr lang="en-US" dirty="0" err="1"/>
              <a:t>stack.pop</a:t>
            </a:r>
            <a:r>
              <a:rPr lang="en-US" dirty="0"/>
              <a:t>()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12369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2196" y="504825"/>
            <a:ext cx="8934704" cy="615553"/>
          </a:xfrm>
        </p:spPr>
        <p:txBody>
          <a:bodyPr/>
          <a:lstStyle/>
          <a:p>
            <a:r>
              <a:rPr lang="en-US" dirty="0" smtClean="0"/>
              <a:t>Alternative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" y="1636014"/>
            <a:ext cx="2743200" cy="5232202"/>
          </a:xfrm>
        </p:spPr>
        <p:txBody>
          <a:bodyPr/>
          <a:lstStyle/>
          <a:p>
            <a:r>
              <a:rPr lang="en-US" dirty="0" smtClean="0"/>
              <a:t>Stack	</a:t>
            </a:r>
            <a:r>
              <a:rPr lang="en-US" dirty="0" err="1" smtClean="0"/>
              <a:t>CurX</a:t>
            </a:r>
            <a:r>
              <a:rPr lang="en-US" dirty="0" smtClean="0"/>
              <a:t>	</a:t>
            </a:r>
            <a:r>
              <a:rPr lang="en-US" dirty="0" err="1" smtClean="0"/>
              <a:t>CurY</a:t>
            </a:r>
            <a:endParaRPr lang="en-US" dirty="0" smtClean="0"/>
          </a:p>
          <a:p>
            <a:r>
              <a:rPr lang="en-US" dirty="0" smtClean="0"/>
              <a:t>-----------------</a:t>
            </a:r>
          </a:p>
          <a:p>
            <a:r>
              <a:rPr lang="en-US" dirty="0" smtClean="0"/>
              <a:t>--	0	0</a:t>
            </a:r>
          </a:p>
          <a:p>
            <a:r>
              <a:rPr lang="en-US" dirty="0" smtClean="0"/>
              <a:t>=================</a:t>
            </a:r>
          </a:p>
          <a:p>
            <a:r>
              <a:rPr lang="en-US" dirty="0" smtClean="0"/>
              <a:t>0,0,E	0	1</a:t>
            </a:r>
          </a:p>
          <a:p>
            <a:r>
              <a:rPr lang="en-US" dirty="0" smtClean="0"/>
              <a:t>=================</a:t>
            </a:r>
          </a:p>
          <a:p>
            <a:r>
              <a:rPr lang="en-US" dirty="0" smtClean="0"/>
              <a:t>0,1,E	0	2</a:t>
            </a:r>
          </a:p>
          <a:p>
            <a:r>
              <a:rPr lang="en-US" dirty="0" smtClean="0"/>
              <a:t>0,0,E</a:t>
            </a:r>
          </a:p>
          <a:p>
            <a:r>
              <a:rPr lang="en-US" dirty="0" smtClean="0"/>
              <a:t>=================</a:t>
            </a:r>
            <a:endParaRPr lang="en-US" dirty="0"/>
          </a:p>
          <a:p>
            <a:r>
              <a:rPr lang="en-US" dirty="0" smtClean="0"/>
              <a:t>0,2,E	0	3</a:t>
            </a:r>
          </a:p>
          <a:p>
            <a:r>
              <a:rPr lang="en-US" dirty="0" smtClean="0"/>
              <a:t>0,1,E</a:t>
            </a:r>
          </a:p>
          <a:p>
            <a:r>
              <a:rPr lang="en-US" dirty="0" smtClean="0"/>
              <a:t>0,0,E</a:t>
            </a:r>
          </a:p>
          <a:p>
            <a:r>
              <a:rPr lang="en-US" dirty="0" smtClean="0"/>
              <a:t>=================</a:t>
            </a:r>
          </a:p>
          <a:p>
            <a:r>
              <a:rPr lang="en-US" dirty="0" smtClean="0"/>
              <a:t>0,3,S	1	3</a:t>
            </a:r>
          </a:p>
          <a:p>
            <a:r>
              <a:rPr lang="en-US" dirty="0" smtClean="0"/>
              <a:t>0,2,E</a:t>
            </a:r>
          </a:p>
          <a:p>
            <a:r>
              <a:rPr lang="en-US" dirty="0" smtClean="0"/>
              <a:t>0,1,E</a:t>
            </a:r>
          </a:p>
          <a:p>
            <a:r>
              <a:rPr lang="en-US" dirty="0" smtClean="0"/>
              <a:t>0,0,E	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100" y="26289"/>
            <a:ext cx="2647950" cy="1609725"/>
          </a:xfrm>
          <a:prstGeom prst="rect">
            <a:avLst/>
          </a:prstGeom>
        </p:spPr>
      </p:pic>
      <p:sp>
        <p:nvSpPr>
          <p:cNvPr id="5" name="Text Placeholder 2"/>
          <p:cNvSpPr txBox="1">
            <a:spLocks/>
          </p:cNvSpPr>
          <p:nvPr/>
        </p:nvSpPr>
        <p:spPr>
          <a:xfrm>
            <a:off x="3517900" y="1647825"/>
            <a:ext cx="2743200" cy="55399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000" b="1" i="0">
                <a:solidFill>
                  <a:schemeClr val="tx1"/>
                </a:solidFill>
                <a:latin typeface="Courier New"/>
                <a:ea typeface="+mn-ea"/>
                <a:cs typeface="Courier New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 dirty="0" smtClean="0"/>
              <a:t>Stack	</a:t>
            </a:r>
            <a:r>
              <a:rPr lang="en-US" kern="0" dirty="0" err="1" smtClean="0"/>
              <a:t>CurX</a:t>
            </a:r>
            <a:r>
              <a:rPr lang="en-US" kern="0" dirty="0" smtClean="0"/>
              <a:t>	</a:t>
            </a:r>
            <a:r>
              <a:rPr lang="en-US" kern="0" dirty="0" err="1" smtClean="0"/>
              <a:t>CurY</a:t>
            </a:r>
            <a:endParaRPr lang="en-US" kern="0" dirty="0" smtClean="0"/>
          </a:p>
          <a:p>
            <a:r>
              <a:rPr lang="en-US" kern="0" dirty="0" smtClean="0"/>
              <a:t>-----------------</a:t>
            </a:r>
          </a:p>
          <a:p>
            <a:r>
              <a:rPr lang="en-US" dirty="0" smtClean="0"/>
              <a:t>1,3,W	1	2</a:t>
            </a:r>
          </a:p>
          <a:p>
            <a:r>
              <a:rPr lang="en-US" dirty="0" smtClean="0"/>
              <a:t>0,3,S</a:t>
            </a:r>
            <a:r>
              <a:rPr lang="en-US" dirty="0"/>
              <a:t>		</a:t>
            </a:r>
          </a:p>
          <a:p>
            <a:r>
              <a:rPr lang="en-US" dirty="0"/>
              <a:t>0,2,E</a:t>
            </a:r>
          </a:p>
          <a:p>
            <a:r>
              <a:rPr lang="en-US" dirty="0"/>
              <a:t>0,1,E</a:t>
            </a:r>
          </a:p>
          <a:p>
            <a:r>
              <a:rPr lang="en-US" dirty="0" smtClean="0"/>
              <a:t>0,0,E</a:t>
            </a:r>
          </a:p>
          <a:p>
            <a:endParaRPr lang="en-US" kern="0" dirty="0" smtClean="0"/>
          </a:p>
          <a:p>
            <a:r>
              <a:rPr lang="en-US" kern="0" dirty="0" smtClean="0">
                <a:solidFill>
                  <a:srgbClr val="FF0000"/>
                </a:solidFill>
              </a:rPr>
              <a:t>Now there is no way from 1,2 (all marked). We will pop the stack until we reach 0,0</a:t>
            </a:r>
          </a:p>
          <a:p>
            <a:r>
              <a:rPr lang="en-US" kern="0" dirty="0" smtClean="0"/>
              <a:t>=================</a:t>
            </a:r>
          </a:p>
          <a:p>
            <a:r>
              <a:rPr lang="en-US" kern="0" dirty="0" smtClean="0"/>
              <a:t>--	0	0</a:t>
            </a:r>
          </a:p>
          <a:p>
            <a:r>
              <a:rPr lang="en-US" kern="0" dirty="0" smtClean="0"/>
              <a:t>Note that east way is now marked.</a:t>
            </a:r>
          </a:p>
          <a:p>
            <a:endParaRPr lang="en-US" kern="0" dirty="0" smtClean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6946900" y="1647825"/>
            <a:ext cx="2743200" cy="5232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000" b="1" i="0">
                <a:solidFill>
                  <a:schemeClr val="tx1"/>
                </a:solidFill>
                <a:latin typeface="Courier New"/>
                <a:ea typeface="+mn-ea"/>
                <a:cs typeface="Courier New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 dirty="0" smtClean="0"/>
              <a:t>Stack	</a:t>
            </a:r>
            <a:r>
              <a:rPr lang="en-US" kern="0" dirty="0" err="1" smtClean="0"/>
              <a:t>CurX</a:t>
            </a:r>
            <a:r>
              <a:rPr lang="en-US" kern="0" dirty="0" smtClean="0"/>
              <a:t>	</a:t>
            </a:r>
            <a:r>
              <a:rPr lang="en-US" kern="0" dirty="0" err="1" smtClean="0"/>
              <a:t>CurY</a:t>
            </a:r>
            <a:endParaRPr lang="en-US" kern="0" dirty="0" smtClean="0"/>
          </a:p>
          <a:p>
            <a:r>
              <a:rPr lang="en-US" kern="0" dirty="0" smtClean="0"/>
              <a:t>-----------------</a:t>
            </a:r>
          </a:p>
          <a:p>
            <a:r>
              <a:rPr lang="en-US" kern="0" dirty="0" smtClean="0"/>
              <a:t>0,0,S	1	0</a:t>
            </a:r>
          </a:p>
          <a:p>
            <a:r>
              <a:rPr lang="en-US" kern="0" dirty="0" smtClean="0"/>
              <a:t>=================</a:t>
            </a:r>
          </a:p>
          <a:p>
            <a:r>
              <a:rPr lang="en-US" kern="0" dirty="0" smtClean="0"/>
              <a:t>1,0,S	2	0</a:t>
            </a:r>
          </a:p>
          <a:p>
            <a:r>
              <a:rPr lang="en-US" kern="0" dirty="0" smtClean="0"/>
              <a:t>0,0,S</a:t>
            </a:r>
          </a:p>
          <a:p>
            <a:r>
              <a:rPr lang="en-US" kern="0" dirty="0" smtClean="0"/>
              <a:t>=================</a:t>
            </a:r>
          </a:p>
          <a:p>
            <a:r>
              <a:rPr lang="en-US" kern="0" dirty="0" smtClean="0"/>
              <a:t>2,0,S	3	0</a:t>
            </a:r>
          </a:p>
          <a:p>
            <a:r>
              <a:rPr lang="en-US" kern="0" dirty="0" smtClean="0"/>
              <a:t>1,0,S</a:t>
            </a:r>
          </a:p>
          <a:p>
            <a:r>
              <a:rPr lang="en-US" kern="0" dirty="0" smtClean="0"/>
              <a:t>0,0,S</a:t>
            </a:r>
          </a:p>
          <a:p>
            <a:r>
              <a:rPr lang="en-US" kern="0" dirty="0" smtClean="0"/>
              <a:t>=================</a:t>
            </a:r>
          </a:p>
          <a:p>
            <a:r>
              <a:rPr lang="en-US" kern="0" dirty="0" smtClean="0"/>
              <a:t>3,0,E	3	1</a:t>
            </a:r>
          </a:p>
          <a:p>
            <a:r>
              <a:rPr lang="en-US" kern="0" dirty="0" smtClean="0"/>
              <a:t>2,0,S</a:t>
            </a:r>
            <a:r>
              <a:rPr lang="en-US" kern="0" dirty="0"/>
              <a:t>	</a:t>
            </a:r>
          </a:p>
          <a:p>
            <a:r>
              <a:rPr lang="en-US" kern="0" dirty="0"/>
              <a:t>1,0,S</a:t>
            </a:r>
          </a:p>
          <a:p>
            <a:r>
              <a:rPr lang="en-US" kern="0" dirty="0"/>
              <a:t>0,0,S</a:t>
            </a:r>
          </a:p>
          <a:p>
            <a:r>
              <a:rPr lang="en-US" kern="0" dirty="0" smtClean="0"/>
              <a:t>. . . .</a:t>
            </a:r>
          </a:p>
          <a:p>
            <a:r>
              <a:rPr lang="en-US" kern="0" dirty="0" smtClean="0"/>
              <a:t>Until 3,3</a:t>
            </a:r>
          </a:p>
        </p:txBody>
      </p:sp>
    </p:spTree>
    <p:extLst>
      <p:ext uri="{BB962C8B-B14F-4D97-AF65-F5344CB8AC3E}">
        <p14:creationId xmlns:p14="http://schemas.microsoft.com/office/powerpoint/2010/main" val="29150914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996" y="428625"/>
            <a:ext cx="8934704" cy="615553"/>
          </a:xfrm>
        </p:spPr>
        <p:txBody>
          <a:bodyPr/>
          <a:lstStyle/>
          <a:p>
            <a:r>
              <a:rPr lang="en-US" dirty="0" smtClean="0"/>
              <a:t>Alternative path output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3408" y="1114425"/>
            <a:ext cx="8210321" cy="4585871"/>
          </a:xfrm>
        </p:spPr>
        <p:txBody>
          <a:bodyPr/>
          <a:lstStyle/>
          <a:p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0" dirty="0" smtClean="0">
                <a:latin typeface="Arial" panose="020B0604020202020204" pitchFamily="34" charset="0"/>
                <a:cs typeface="Arial" panose="020B0604020202020204" pitchFamily="34" charset="0"/>
              </a:rPr>
              <a:t>We have the path on the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0" dirty="0" smtClean="0">
                <a:latin typeface="Arial" panose="020B0604020202020204" pitchFamily="34" charset="0"/>
                <a:cs typeface="Arial" panose="020B0604020202020204" pitchFamily="34" charset="0"/>
              </a:rPr>
              <a:t>However, moves are in reversed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0" dirty="0" smtClean="0">
                <a:latin typeface="Arial" panose="020B0604020202020204" pitchFamily="34" charset="0"/>
                <a:cs typeface="Arial" panose="020B0604020202020204" pitchFamily="34" charset="0"/>
              </a:rPr>
              <a:t>Few options: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Use a secondary stack to reverse order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Inverse “target” and “source”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Tweak stack implementation to output reverse order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3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9484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Evaluation of</a:t>
            </a:r>
            <a:r>
              <a:rPr sz="4400" spc="-20" dirty="0"/>
              <a:t> </a:t>
            </a:r>
            <a:r>
              <a:rPr sz="4400" spc="-5" dirty="0"/>
              <a:t>Expressions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2027047" y="2323591"/>
            <a:ext cx="6923405" cy="3906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X = a / b - c + d * e - a *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950" spc="285" dirty="0">
                <a:solidFill>
                  <a:srgbClr val="009ACC"/>
                </a:solidFill>
                <a:latin typeface="Arial"/>
                <a:cs typeface="Arial"/>
              </a:rPr>
              <a:t>■ </a:t>
            </a:r>
            <a:r>
              <a:rPr sz="2800" dirty="0">
                <a:latin typeface="Arial"/>
                <a:cs typeface="Arial"/>
              </a:rPr>
              <a:t>a = 4, b = c = 2, d = e =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3</a:t>
            </a: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Interpretation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1:</a:t>
            </a:r>
          </a:p>
          <a:p>
            <a:pPr marL="469900">
              <a:lnSpc>
                <a:spcPct val="100000"/>
              </a:lnSpc>
              <a:spcBef>
                <a:spcPts val="295"/>
              </a:spcBef>
            </a:pPr>
            <a:r>
              <a:rPr sz="2400" spc="-5" dirty="0" smtClean="0">
                <a:latin typeface="Arial"/>
                <a:cs typeface="Arial"/>
              </a:rPr>
              <a:t>((</a:t>
            </a:r>
            <a:r>
              <a:rPr sz="2400" spc="-5" dirty="0">
                <a:latin typeface="Arial"/>
                <a:cs typeface="Arial"/>
              </a:rPr>
              <a:t>4/2)-2)+(3*3)-(4*2)=0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3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8+9=1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Interpretation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2:</a:t>
            </a:r>
          </a:p>
          <a:p>
            <a:pPr marL="469900">
              <a:lnSpc>
                <a:spcPct val="100000"/>
              </a:lnSpc>
              <a:spcBef>
                <a:spcPts val="295"/>
              </a:spcBef>
            </a:pPr>
            <a:r>
              <a:rPr sz="2400" spc="-5" dirty="0" smtClean="0">
                <a:latin typeface="Arial"/>
                <a:cs typeface="Arial"/>
              </a:rPr>
              <a:t>(</a:t>
            </a:r>
            <a:r>
              <a:rPr sz="2400" spc="-5" dirty="0">
                <a:latin typeface="Arial"/>
                <a:cs typeface="Arial"/>
              </a:rPr>
              <a:t>4/(2-2+3))*(3-4)*2=(4/3)*(-1)*2=</a:t>
            </a:r>
            <a:r>
              <a:rPr sz="2400" spc="3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-2.66666…</a:t>
            </a:r>
            <a:endParaRPr sz="2400" dirty="0">
              <a:latin typeface="Arial"/>
              <a:cs typeface="Arial"/>
            </a:endParaRPr>
          </a:p>
          <a:p>
            <a:pPr marL="355600" marR="5080" indent="-342900">
              <a:lnSpc>
                <a:spcPts val="3020"/>
              </a:lnSpc>
              <a:spcBef>
                <a:spcPts val="710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How to generate the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machine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instructions  </a:t>
            </a:r>
            <a:r>
              <a:rPr sz="2800" dirty="0">
                <a:latin typeface="Arial"/>
                <a:cs typeface="Arial"/>
              </a:rPr>
              <a:t>corresponding to a given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expression?</a:t>
            </a:r>
          </a:p>
          <a:p>
            <a:pPr marL="469900">
              <a:lnSpc>
                <a:spcPct val="100000"/>
              </a:lnSpc>
              <a:spcBef>
                <a:spcPts val="254"/>
              </a:spcBef>
            </a:pPr>
            <a:r>
              <a:rPr sz="2400" spc="-5" dirty="0">
                <a:latin typeface="Arial"/>
                <a:cs typeface="Arial"/>
              </a:rPr>
              <a:t>– Precedence rule </a:t>
            </a:r>
            <a:r>
              <a:rPr sz="2400" dirty="0">
                <a:latin typeface="Arial"/>
                <a:cs typeface="Arial"/>
              </a:rPr>
              <a:t>+ </a:t>
            </a:r>
            <a:r>
              <a:rPr sz="2400" spc="-5" dirty="0">
                <a:latin typeface="Arial"/>
                <a:cs typeface="Arial"/>
              </a:rPr>
              <a:t>associative</a:t>
            </a:r>
            <a:r>
              <a:rPr sz="2400" spc="229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rule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32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Evaluation of Expressions</a:t>
            </a:r>
            <a:r>
              <a:rPr sz="4400" spc="10" dirty="0"/>
              <a:t> </a:t>
            </a:r>
            <a:r>
              <a:rPr sz="4400" spc="-5" dirty="0"/>
              <a:t>(contd.)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2027047" y="2323591"/>
            <a:ext cx="7106920" cy="3816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Infix:</a:t>
            </a:r>
          </a:p>
          <a:p>
            <a:pPr marL="469900" lvl="1">
              <a:lnSpc>
                <a:spcPct val="100000"/>
              </a:lnSpc>
              <a:spcBef>
                <a:spcPts val="295"/>
              </a:spcBef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Each operator comes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in-between </a:t>
            </a:r>
            <a:r>
              <a:rPr sz="2400" spc="-5" dirty="0">
                <a:latin typeface="Arial"/>
                <a:cs typeface="Arial"/>
              </a:rPr>
              <a:t>the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operands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</a:pPr>
            <a:r>
              <a:rPr sz="2400" spc="-5" dirty="0" smtClean="0">
                <a:latin typeface="Arial"/>
                <a:cs typeface="Arial"/>
              </a:rPr>
              <a:t>2+3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Postfix</a:t>
            </a:r>
          </a:p>
          <a:p>
            <a:pPr marL="469900" lvl="1">
              <a:lnSpc>
                <a:spcPct val="100000"/>
              </a:lnSpc>
              <a:spcBef>
                <a:spcPts val="295"/>
              </a:spcBef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Each operator appears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after </a:t>
            </a:r>
            <a:r>
              <a:rPr sz="2400" spc="-5" dirty="0">
                <a:latin typeface="Arial"/>
                <a:cs typeface="Arial"/>
              </a:rPr>
              <a:t>its </a:t>
            </a:r>
            <a:r>
              <a:rPr sz="2400" spc="-10" dirty="0">
                <a:latin typeface="Arial"/>
                <a:cs typeface="Arial"/>
              </a:rPr>
              <a:t>operands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</a:pPr>
            <a:r>
              <a:rPr sz="2400" spc="-10" dirty="0" smtClean="0">
                <a:latin typeface="Arial"/>
                <a:cs typeface="Arial"/>
              </a:rPr>
              <a:t>23</a:t>
            </a:r>
            <a:r>
              <a:rPr sz="2400" spc="-10" dirty="0">
                <a:latin typeface="Arial"/>
                <a:cs typeface="Arial"/>
              </a:rPr>
              <a:t>+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Prefix</a:t>
            </a:r>
          </a:p>
          <a:p>
            <a:pPr marL="469900" lvl="1">
              <a:lnSpc>
                <a:spcPct val="100000"/>
              </a:lnSpc>
              <a:spcBef>
                <a:spcPts val="295"/>
              </a:spcBef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Each operator appears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before </a:t>
            </a:r>
            <a:r>
              <a:rPr sz="2400" dirty="0">
                <a:latin typeface="Arial"/>
                <a:cs typeface="Arial"/>
              </a:rPr>
              <a:t>its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operands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</a:pPr>
            <a:r>
              <a:rPr sz="2400" spc="-5" dirty="0" smtClean="0">
                <a:latin typeface="Arial"/>
                <a:cs typeface="Arial"/>
              </a:rPr>
              <a:t>+</a:t>
            </a:r>
            <a:r>
              <a:rPr sz="2400" spc="-5" dirty="0">
                <a:latin typeface="Arial"/>
                <a:cs typeface="Arial"/>
              </a:rPr>
              <a:t>23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33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Evaluation of Expressions</a:t>
            </a:r>
            <a:r>
              <a:rPr sz="4400" spc="10" dirty="0"/>
              <a:t> </a:t>
            </a:r>
            <a:r>
              <a:rPr sz="4400" spc="-5" dirty="0"/>
              <a:t>(contd.)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41447" y="1915159"/>
            <a:ext cx="77787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dirty="0">
                <a:solidFill>
                  <a:srgbClr val="003365"/>
                </a:solidFill>
                <a:latin typeface="Arial"/>
                <a:cs typeface="Arial"/>
              </a:rPr>
              <a:t>user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6142" y="1941067"/>
            <a:ext cx="1647189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003365"/>
                </a:solidFill>
                <a:latin typeface="Arial"/>
                <a:cs typeface="Arial"/>
              </a:rPr>
              <a:t>computer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2920745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830971" y="2624327"/>
          <a:ext cx="7772400" cy="36705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9026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Infix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Postfix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6892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2+3*4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234*+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2063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a*b+5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ab*5+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(1+2)*7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12+7*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2063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a*b/c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ab*c/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(a/(b-c+d))*(e-a)*c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abc-d+/ea-*c*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9637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a/b-c+d*e-a*c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ab/c-de*ac*-+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16913" y="6444488"/>
            <a:ext cx="789305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003365"/>
                </a:solidFill>
                <a:latin typeface="Arial"/>
                <a:cs typeface="Arial"/>
              </a:rPr>
              <a:t>Postfix &amp; prefix: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no parentheses, no precedence</a:t>
            </a:r>
            <a:r>
              <a:rPr sz="2800" spc="-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spc="-7" baseline="-5952" dirty="0">
                <a:latin typeface="Arial"/>
                <a:cs typeface="Arial"/>
              </a:rPr>
              <a:t>34</a:t>
            </a:r>
            <a:endParaRPr sz="2100" baseline="-5952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Evaluation of Expressions</a:t>
            </a:r>
            <a:r>
              <a:rPr sz="4400" spc="10" dirty="0"/>
              <a:t> </a:t>
            </a:r>
            <a:r>
              <a:rPr sz="4400" spc="-5" dirty="0"/>
              <a:t>(contd.)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27047" y="2364994"/>
            <a:ext cx="7337425" cy="2128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Phase </a:t>
            </a:r>
            <a:r>
              <a:rPr sz="3200" spc="-5" dirty="0">
                <a:latin typeface="Arial"/>
                <a:cs typeface="Arial"/>
              </a:rPr>
              <a:t>1: Infix to </a:t>
            </a:r>
            <a:r>
              <a:rPr sz="3200" spc="-10" dirty="0">
                <a:latin typeface="Arial"/>
                <a:cs typeface="Arial"/>
              </a:rPr>
              <a:t>postfix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conversion</a:t>
            </a:r>
            <a:endParaRPr sz="32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0"/>
              </a:spcBef>
            </a:pPr>
            <a:r>
              <a:rPr sz="2800" dirty="0" smtClean="0">
                <a:latin typeface="Arial"/>
                <a:cs typeface="Arial"/>
              </a:rPr>
              <a:t>6/2-3+4*2 </a:t>
            </a:r>
            <a:r>
              <a:rPr lang="zh-TW" altLang="en-US" sz="2800" spc="1185" dirty="0" smtClean="0">
                <a:latin typeface="Arial"/>
                <a:cs typeface="Arial"/>
              </a:rPr>
              <a:t>→</a:t>
            </a:r>
            <a:r>
              <a:rPr sz="2800" dirty="0" smtClean="0">
                <a:latin typeface="Arial"/>
                <a:cs typeface="Arial"/>
              </a:rPr>
              <a:t>6 </a:t>
            </a:r>
            <a:r>
              <a:rPr sz="2800" dirty="0">
                <a:latin typeface="Arial"/>
                <a:cs typeface="Arial"/>
              </a:rPr>
              <a:t>2 / 3 – 4 2 * +</a:t>
            </a: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Phase </a:t>
            </a:r>
            <a:r>
              <a:rPr sz="3200" spc="-5" dirty="0">
                <a:latin typeface="Arial"/>
                <a:cs typeface="Arial"/>
              </a:rPr>
              <a:t>2: Postfix </a:t>
            </a:r>
            <a:r>
              <a:rPr sz="3200" spc="-10" dirty="0">
                <a:latin typeface="Arial"/>
                <a:cs typeface="Arial"/>
              </a:rPr>
              <a:t>expression evaluation</a:t>
            </a:r>
            <a:endParaRPr sz="32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0"/>
              </a:spcBef>
            </a:pPr>
            <a:r>
              <a:rPr sz="2800" dirty="0" smtClean="0">
                <a:latin typeface="Arial"/>
                <a:cs typeface="Arial"/>
              </a:rPr>
              <a:t>6 </a:t>
            </a:r>
            <a:r>
              <a:rPr sz="2800" dirty="0">
                <a:latin typeface="Arial"/>
                <a:cs typeface="Arial"/>
              </a:rPr>
              <a:t>2 / 3 – 4 2 * + </a:t>
            </a:r>
            <a:r>
              <a:rPr lang="zh-TW" altLang="en-US" sz="2800" spc="1185" dirty="0" smtClean="0">
                <a:latin typeface="Arial"/>
                <a:cs typeface="Arial"/>
              </a:rPr>
              <a:t>→</a:t>
            </a:r>
            <a:r>
              <a:rPr sz="2800" dirty="0" smtClean="0">
                <a:latin typeface="Arial"/>
                <a:cs typeface="Arial"/>
              </a:rPr>
              <a:t>8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35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574357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Phase 2: Postfix</a:t>
            </a:r>
            <a:r>
              <a:rPr spc="-110" dirty="0"/>
              <a:t> </a:t>
            </a:r>
            <a:r>
              <a:rPr dirty="0"/>
              <a:t>Expression</a:t>
            </a: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97344" y="1595373"/>
            <a:ext cx="2788285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" dirty="0">
                <a:latin typeface="Arial"/>
                <a:cs typeface="Arial"/>
              </a:rPr>
              <a:t>6 2 </a:t>
            </a:r>
            <a:r>
              <a:rPr sz="3200" dirty="0">
                <a:latin typeface="Arial"/>
                <a:cs typeface="Arial"/>
              </a:rPr>
              <a:t>/ </a:t>
            </a:r>
            <a:r>
              <a:rPr sz="3200" spc="-5" dirty="0">
                <a:latin typeface="Arial"/>
                <a:cs typeface="Arial"/>
              </a:rPr>
              <a:t>3 – 4 2 *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+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7047" y="1360423"/>
            <a:ext cx="225679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Evaluation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206349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38351" y="3626358"/>
            <a:ext cx="468630" cy="151765"/>
          </a:xfrm>
          <a:custGeom>
            <a:avLst/>
            <a:gdLst/>
            <a:ahLst/>
            <a:cxnLst/>
            <a:rect l="l" t="t" r="r" b="b"/>
            <a:pathLst>
              <a:path w="468629" h="151764">
                <a:moveTo>
                  <a:pt x="468622" y="151637"/>
                </a:moveTo>
                <a:lnTo>
                  <a:pt x="449380" y="115832"/>
                </a:lnTo>
                <a:lnTo>
                  <a:pt x="422243" y="81283"/>
                </a:lnTo>
                <a:lnTo>
                  <a:pt x="389723" y="51925"/>
                </a:lnTo>
                <a:lnTo>
                  <a:pt x="352587" y="28439"/>
                </a:lnTo>
                <a:lnTo>
                  <a:pt x="311597" y="11503"/>
                </a:lnTo>
                <a:lnTo>
                  <a:pt x="267517" y="1797"/>
                </a:lnTo>
                <a:lnTo>
                  <a:pt x="221113" y="0"/>
                </a:lnTo>
                <a:lnTo>
                  <a:pt x="171531" y="7221"/>
                </a:lnTo>
                <a:lnTo>
                  <a:pt x="125428" y="23579"/>
                </a:lnTo>
                <a:lnTo>
                  <a:pt x="83793" y="48059"/>
                </a:lnTo>
                <a:lnTo>
                  <a:pt x="47616" y="79648"/>
                </a:lnTo>
                <a:lnTo>
                  <a:pt x="17886" y="117330"/>
                </a:lnTo>
                <a:lnTo>
                  <a:pt x="0" y="151637"/>
                </a:lnTo>
                <a:lnTo>
                  <a:pt x="13468" y="151637"/>
                </a:lnTo>
                <a:lnTo>
                  <a:pt x="19183" y="140207"/>
                </a:lnTo>
                <a:lnTo>
                  <a:pt x="25279" y="129539"/>
                </a:lnTo>
                <a:lnTo>
                  <a:pt x="25279" y="130301"/>
                </a:lnTo>
                <a:lnTo>
                  <a:pt x="31375" y="119633"/>
                </a:lnTo>
                <a:lnTo>
                  <a:pt x="31375" y="120395"/>
                </a:lnTo>
                <a:lnTo>
                  <a:pt x="38233" y="110489"/>
                </a:lnTo>
                <a:lnTo>
                  <a:pt x="45091" y="102260"/>
                </a:lnTo>
                <a:lnTo>
                  <a:pt x="45091" y="101345"/>
                </a:lnTo>
                <a:lnTo>
                  <a:pt x="52711" y="93033"/>
                </a:lnTo>
                <a:lnTo>
                  <a:pt x="52711" y="92201"/>
                </a:lnTo>
                <a:lnTo>
                  <a:pt x="69475" y="75437"/>
                </a:lnTo>
                <a:lnTo>
                  <a:pt x="69475" y="76200"/>
                </a:lnTo>
                <a:lnTo>
                  <a:pt x="78619" y="67817"/>
                </a:lnTo>
                <a:lnTo>
                  <a:pt x="78619" y="68579"/>
                </a:lnTo>
                <a:lnTo>
                  <a:pt x="87763" y="60959"/>
                </a:lnTo>
                <a:lnTo>
                  <a:pt x="107575" y="47243"/>
                </a:lnTo>
                <a:lnTo>
                  <a:pt x="107575" y="48005"/>
                </a:lnTo>
                <a:lnTo>
                  <a:pt x="125181" y="37874"/>
                </a:lnTo>
                <a:lnTo>
                  <a:pt x="145009" y="29136"/>
                </a:lnTo>
                <a:lnTo>
                  <a:pt x="165551" y="22213"/>
                </a:lnTo>
                <a:lnTo>
                  <a:pt x="184537" y="17706"/>
                </a:lnTo>
                <a:lnTo>
                  <a:pt x="184537" y="17525"/>
                </a:lnTo>
                <a:lnTo>
                  <a:pt x="196729" y="15239"/>
                </a:lnTo>
                <a:lnTo>
                  <a:pt x="208921" y="13715"/>
                </a:lnTo>
                <a:lnTo>
                  <a:pt x="221113" y="12998"/>
                </a:lnTo>
                <a:lnTo>
                  <a:pt x="234067" y="12191"/>
                </a:lnTo>
                <a:lnTo>
                  <a:pt x="246259" y="12909"/>
                </a:lnTo>
                <a:lnTo>
                  <a:pt x="247021" y="13005"/>
                </a:lnTo>
                <a:lnTo>
                  <a:pt x="261108" y="13963"/>
                </a:lnTo>
                <a:lnTo>
                  <a:pt x="277125" y="16173"/>
                </a:lnTo>
                <a:lnTo>
                  <a:pt x="292949" y="19440"/>
                </a:lnTo>
                <a:lnTo>
                  <a:pt x="307219" y="23621"/>
                </a:lnTo>
                <a:lnTo>
                  <a:pt x="307219" y="23860"/>
                </a:lnTo>
                <a:lnTo>
                  <a:pt x="318649" y="27431"/>
                </a:lnTo>
                <a:lnTo>
                  <a:pt x="318649" y="27685"/>
                </a:lnTo>
                <a:lnTo>
                  <a:pt x="329317" y="31241"/>
                </a:lnTo>
                <a:lnTo>
                  <a:pt x="350653" y="41909"/>
                </a:lnTo>
                <a:lnTo>
                  <a:pt x="360559" y="47570"/>
                </a:lnTo>
                <a:lnTo>
                  <a:pt x="360559" y="47243"/>
                </a:lnTo>
                <a:lnTo>
                  <a:pt x="371227" y="54101"/>
                </a:lnTo>
                <a:lnTo>
                  <a:pt x="371227" y="54629"/>
                </a:lnTo>
                <a:lnTo>
                  <a:pt x="380371" y="60959"/>
                </a:lnTo>
                <a:lnTo>
                  <a:pt x="389515" y="68579"/>
                </a:lnTo>
                <a:lnTo>
                  <a:pt x="389515" y="67817"/>
                </a:lnTo>
                <a:lnTo>
                  <a:pt x="398659" y="76200"/>
                </a:lnTo>
                <a:lnTo>
                  <a:pt x="398659" y="75437"/>
                </a:lnTo>
                <a:lnTo>
                  <a:pt x="415423" y="92201"/>
                </a:lnTo>
                <a:lnTo>
                  <a:pt x="415423" y="93033"/>
                </a:lnTo>
                <a:lnTo>
                  <a:pt x="423043" y="101345"/>
                </a:lnTo>
                <a:lnTo>
                  <a:pt x="429901" y="110489"/>
                </a:lnTo>
                <a:lnTo>
                  <a:pt x="436759" y="120395"/>
                </a:lnTo>
                <a:lnTo>
                  <a:pt x="436759" y="119633"/>
                </a:lnTo>
                <a:lnTo>
                  <a:pt x="443617" y="130301"/>
                </a:lnTo>
                <a:lnTo>
                  <a:pt x="443617" y="130873"/>
                </a:lnTo>
                <a:lnTo>
                  <a:pt x="448951" y="140207"/>
                </a:lnTo>
                <a:lnTo>
                  <a:pt x="454666" y="151637"/>
                </a:lnTo>
                <a:lnTo>
                  <a:pt x="468622" y="151637"/>
                </a:lnTo>
                <a:close/>
              </a:path>
              <a:path w="468629" h="151764">
                <a:moveTo>
                  <a:pt x="45853" y="101345"/>
                </a:moveTo>
                <a:lnTo>
                  <a:pt x="45091" y="101345"/>
                </a:lnTo>
                <a:lnTo>
                  <a:pt x="45091" y="102260"/>
                </a:lnTo>
                <a:lnTo>
                  <a:pt x="45853" y="101345"/>
                </a:lnTo>
                <a:close/>
              </a:path>
              <a:path w="468629" h="151764">
                <a:moveTo>
                  <a:pt x="53473" y="92201"/>
                </a:moveTo>
                <a:lnTo>
                  <a:pt x="52711" y="92201"/>
                </a:lnTo>
                <a:lnTo>
                  <a:pt x="52711" y="93033"/>
                </a:lnTo>
                <a:lnTo>
                  <a:pt x="53473" y="92201"/>
                </a:lnTo>
                <a:close/>
              </a:path>
              <a:path w="468629" h="151764">
                <a:moveTo>
                  <a:pt x="185299" y="17525"/>
                </a:moveTo>
                <a:lnTo>
                  <a:pt x="184537" y="17525"/>
                </a:lnTo>
                <a:lnTo>
                  <a:pt x="184537" y="17706"/>
                </a:lnTo>
                <a:lnTo>
                  <a:pt x="185299" y="17525"/>
                </a:lnTo>
                <a:close/>
              </a:path>
              <a:path w="468629" h="151764">
                <a:moveTo>
                  <a:pt x="221875" y="12953"/>
                </a:moveTo>
                <a:lnTo>
                  <a:pt x="221113" y="12953"/>
                </a:lnTo>
                <a:lnTo>
                  <a:pt x="221875" y="12953"/>
                </a:lnTo>
                <a:close/>
              </a:path>
              <a:path w="468629" h="151764">
                <a:moveTo>
                  <a:pt x="247021" y="13005"/>
                </a:moveTo>
                <a:lnTo>
                  <a:pt x="246259" y="12953"/>
                </a:lnTo>
                <a:lnTo>
                  <a:pt x="247021" y="13005"/>
                </a:lnTo>
                <a:close/>
              </a:path>
              <a:path w="468629" h="151764">
                <a:moveTo>
                  <a:pt x="307219" y="23860"/>
                </a:moveTo>
                <a:lnTo>
                  <a:pt x="307219" y="23621"/>
                </a:lnTo>
                <a:lnTo>
                  <a:pt x="306457" y="23621"/>
                </a:lnTo>
                <a:lnTo>
                  <a:pt x="307219" y="23860"/>
                </a:lnTo>
                <a:close/>
              </a:path>
              <a:path w="468629" h="151764">
                <a:moveTo>
                  <a:pt x="318649" y="27685"/>
                </a:moveTo>
                <a:lnTo>
                  <a:pt x="318649" y="27431"/>
                </a:lnTo>
                <a:lnTo>
                  <a:pt x="317887" y="27431"/>
                </a:lnTo>
                <a:lnTo>
                  <a:pt x="318649" y="27685"/>
                </a:lnTo>
                <a:close/>
              </a:path>
              <a:path w="468629" h="151764">
                <a:moveTo>
                  <a:pt x="361321" y="48005"/>
                </a:moveTo>
                <a:lnTo>
                  <a:pt x="360559" y="47243"/>
                </a:lnTo>
                <a:lnTo>
                  <a:pt x="360559" y="47570"/>
                </a:lnTo>
                <a:lnTo>
                  <a:pt x="361321" y="48005"/>
                </a:lnTo>
                <a:close/>
              </a:path>
              <a:path w="468629" h="151764">
                <a:moveTo>
                  <a:pt x="371227" y="54629"/>
                </a:moveTo>
                <a:lnTo>
                  <a:pt x="371227" y="54101"/>
                </a:lnTo>
                <a:lnTo>
                  <a:pt x="370465" y="54101"/>
                </a:lnTo>
                <a:lnTo>
                  <a:pt x="371227" y="54629"/>
                </a:lnTo>
                <a:close/>
              </a:path>
              <a:path w="468629" h="151764">
                <a:moveTo>
                  <a:pt x="415423" y="93033"/>
                </a:moveTo>
                <a:lnTo>
                  <a:pt x="415423" y="92201"/>
                </a:lnTo>
                <a:lnTo>
                  <a:pt x="414661" y="92201"/>
                </a:lnTo>
                <a:lnTo>
                  <a:pt x="415423" y="93033"/>
                </a:lnTo>
                <a:close/>
              </a:path>
              <a:path w="468629" h="151764">
                <a:moveTo>
                  <a:pt x="443617" y="130873"/>
                </a:moveTo>
                <a:lnTo>
                  <a:pt x="443617" y="130301"/>
                </a:lnTo>
                <a:lnTo>
                  <a:pt x="442855" y="129539"/>
                </a:lnTo>
                <a:lnTo>
                  <a:pt x="443617" y="13087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42700" y="3599688"/>
            <a:ext cx="522605" cy="178435"/>
          </a:xfrm>
          <a:custGeom>
            <a:avLst/>
            <a:gdLst/>
            <a:ahLst/>
            <a:cxnLst/>
            <a:rect l="l" t="t" r="r" b="b"/>
            <a:pathLst>
              <a:path w="522604" h="178435">
                <a:moveTo>
                  <a:pt x="522270" y="178308"/>
                </a:moveTo>
                <a:lnTo>
                  <a:pt x="503062" y="138397"/>
                </a:lnTo>
                <a:lnTo>
                  <a:pt x="478299" y="102778"/>
                </a:lnTo>
                <a:lnTo>
                  <a:pt x="448466" y="71461"/>
                </a:lnTo>
                <a:lnTo>
                  <a:pt x="414219" y="45034"/>
                </a:lnTo>
                <a:lnTo>
                  <a:pt x="376214" y="24085"/>
                </a:lnTo>
                <a:lnTo>
                  <a:pt x="335110" y="9204"/>
                </a:lnTo>
                <a:lnTo>
                  <a:pt x="291561" y="980"/>
                </a:lnTo>
                <a:lnTo>
                  <a:pt x="246226" y="0"/>
                </a:lnTo>
                <a:lnTo>
                  <a:pt x="198257" y="6296"/>
                </a:lnTo>
                <a:lnTo>
                  <a:pt x="153096" y="20690"/>
                </a:lnTo>
                <a:lnTo>
                  <a:pt x="111525" y="42364"/>
                </a:lnTo>
                <a:lnTo>
                  <a:pt x="74320" y="70504"/>
                </a:lnTo>
                <a:lnTo>
                  <a:pt x="42260" y="104294"/>
                </a:lnTo>
                <a:lnTo>
                  <a:pt x="16125" y="142920"/>
                </a:lnTo>
                <a:lnTo>
                  <a:pt x="0" y="178308"/>
                </a:lnTo>
                <a:lnTo>
                  <a:pt x="13245" y="178308"/>
                </a:lnTo>
                <a:lnTo>
                  <a:pt x="19912" y="163067"/>
                </a:lnTo>
                <a:lnTo>
                  <a:pt x="19912" y="163829"/>
                </a:lnTo>
                <a:lnTo>
                  <a:pt x="25246" y="153162"/>
                </a:lnTo>
                <a:lnTo>
                  <a:pt x="25246" y="152400"/>
                </a:lnTo>
                <a:lnTo>
                  <a:pt x="38962" y="129539"/>
                </a:lnTo>
                <a:lnTo>
                  <a:pt x="38962" y="130301"/>
                </a:lnTo>
                <a:lnTo>
                  <a:pt x="54202" y="108965"/>
                </a:lnTo>
                <a:lnTo>
                  <a:pt x="54202" y="109727"/>
                </a:lnTo>
                <a:lnTo>
                  <a:pt x="62584" y="100647"/>
                </a:lnTo>
                <a:lnTo>
                  <a:pt x="62584" y="99822"/>
                </a:lnTo>
                <a:lnTo>
                  <a:pt x="71728" y="89915"/>
                </a:lnTo>
                <a:lnTo>
                  <a:pt x="71728" y="90677"/>
                </a:lnTo>
                <a:lnTo>
                  <a:pt x="80872" y="81534"/>
                </a:lnTo>
                <a:lnTo>
                  <a:pt x="100684" y="64770"/>
                </a:lnTo>
                <a:lnTo>
                  <a:pt x="100684" y="65532"/>
                </a:lnTo>
                <a:lnTo>
                  <a:pt x="122020" y="50291"/>
                </a:lnTo>
                <a:lnTo>
                  <a:pt x="122020" y="51053"/>
                </a:lnTo>
                <a:lnTo>
                  <a:pt x="133450" y="44196"/>
                </a:lnTo>
                <a:lnTo>
                  <a:pt x="144880" y="38100"/>
                </a:lnTo>
                <a:lnTo>
                  <a:pt x="156310" y="33099"/>
                </a:lnTo>
                <a:lnTo>
                  <a:pt x="156310" y="32765"/>
                </a:lnTo>
                <a:lnTo>
                  <a:pt x="168502" y="28462"/>
                </a:lnTo>
                <a:lnTo>
                  <a:pt x="168502" y="28194"/>
                </a:lnTo>
                <a:lnTo>
                  <a:pt x="181456" y="23622"/>
                </a:lnTo>
                <a:lnTo>
                  <a:pt x="181456" y="24384"/>
                </a:lnTo>
                <a:lnTo>
                  <a:pt x="193648" y="20798"/>
                </a:lnTo>
                <a:lnTo>
                  <a:pt x="193648" y="20574"/>
                </a:lnTo>
                <a:lnTo>
                  <a:pt x="206602" y="17695"/>
                </a:lnTo>
                <a:lnTo>
                  <a:pt x="206602" y="17525"/>
                </a:lnTo>
                <a:lnTo>
                  <a:pt x="234034" y="12953"/>
                </a:lnTo>
                <a:lnTo>
                  <a:pt x="234034" y="13631"/>
                </a:lnTo>
                <a:lnTo>
                  <a:pt x="246226" y="12276"/>
                </a:lnTo>
                <a:lnTo>
                  <a:pt x="275182" y="12276"/>
                </a:lnTo>
                <a:lnTo>
                  <a:pt x="301852" y="15239"/>
                </a:lnTo>
                <a:lnTo>
                  <a:pt x="314806" y="17525"/>
                </a:lnTo>
                <a:lnTo>
                  <a:pt x="327760" y="20574"/>
                </a:lnTo>
                <a:lnTo>
                  <a:pt x="339952" y="24159"/>
                </a:lnTo>
                <a:lnTo>
                  <a:pt x="339952" y="23622"/>
                </a:lnTo>
                <a:lnTo>
                  <a:pt x="352906" y="28194"/>
                </a:lnTo>
                <a:lnTo>
                  <a:pt x="365098" y="32765"/>
                </a:lnTo>
                <a:lnTo>
                  <a:pt x="377290" y="38100"/>
                </a:lnTo>
                <a:lnTo>
                  <a:pt x="377290" y="38481"/>
                </a:lnTo>
                <a:lnTo>
                  <a:pt x="388720" y="44196"/>
                </a:lnTo>
                <a:lnTo>
                  <a:pt x="388720" y="44653"/>
                </a:lnTo>
                <a:lnTo>
                  <a:pt x="399388" y="51053"/>
                </a:lnTo>
                <a:lnTo>
                  <a:pt x="399388" y="50291"/>
                </a:lnTo>
                <a:lnTo>
                  <a:pt x="410818" y="57912"/>
                </a:lnTo>
                <a:lnTo>
                  <a:pt x="410818" y="58456"/>
                </a:lnTo>
                <a:lnTo>
                  <a:pt x="420724" y="65532"/>
                </a:lnTo>
                <a:lnTo>
                  <a:pt x="420724" y="64770"/>
                </a:lnTo>
                <a:lnTo>
                  <a:pt x="431392" y="73151"/>
                </a:lnTo>
                <a:lnTo>
                  <a:pt x="431392" y="73796"/>
                </a:lnTo>
                <a:lnTo>
                  <a:pt x="440536" y="81534"/>
                </a:lnTo>
                <a:lnTo>
                  <a:pt x="449680" y="89974"/>
                </a:lnTo>
                <a:lnTo>
                  <a:pt x="450442" y="90677"/>
                </a:lnTo>
                <a:lnTo>
                  <a:pt x="458824" y="99822"/>
                </a:lnTo>
                <a:lnTo>
                  <a:pt x="467206" y="109727"/>
                </a:lnTo>
                <a:lnTo>
                  <a:pt x="467206" y="108965"/>
                </a:lnTo>
                <a:lnTo>
                  <a:pt x="475588" y="119634"/>
                </a:lnTo>
                <a:lnTo>
                  <a:pt x="475588" y="120700"/>
                </a:lnTo>
                <a:lnTo>
                  <a:pt x="482446" y="130301"/>
                </a:lnTo>
                <a:lnTo>
                  <a:pt x="482446" y="129539"/>
                </a:lnTo>
                <a:lnTo>
                  <a:pt x="490066" y="140970"/>
                </a:lnTo>
                <a:lnTo>
                  <a:pt x="490066" y="142240"/>
                </a:lnTo>
                <a:lnTo>
                  <a:pt x="496162" y="152400"/>
                </a:lnTo>
                <a:lnTo>
                  <a:pt x="496162" y="151637"/>
                </a:lnTo>
                <a:lnTo>
                  <a:pt x="502258" y="163829"/>
                </a:lnTo>
                <a:lnTo>
                  <a:pt x="502258" y="163067"/>
                </a:lnTo>
                <a:lnTo>
                  <a:pt x="507592" y="175260"/>
                </a:lnTo>
                <a:lnTo>
                  <a:pt x="508735" y="178308"/>
                </a:lnTo>
                <a:lnTo>
                  <a:pt x="522270" y="178308"/>
                </a:lnTo>
                <a:close/>
              </a:path>
              <a:path w="522604" h="178435">
                <a:moveTo>
                  <a:pt x="26008" y="151637"/>
                </a:moveTo>
                <a:lnTo>
                  <a:pt x="25246" y="152400"/>
                </a:lnTo>
                <a:lnTo>
                  <a:pt x="25246" y="153162"/>
                </a:lnTo>
                <a:lnTo>
                  <a:pt x="26008" y="151637"/>
                </a:lnTo>
                <a:close/>
              </a:path>
              <a:path w="522604" h="178435">
                <a:moveTo>
                  <a:pt x="63346" y="99822"/>
                </a:moveTo>
                <a:lnTo>
                  <a:pt x="62584" y="99822"/>
                </a:lnTo>
                <a:lnTo>
                  <a:pt x="62584" y="100647"/>
                </a:lnTo>
                <a:lnTo>
                  <a:pt x="63346" y="99822"/>
                </a:lnTo>
                <a:close/>
              </a:path>
              <a:path w="522604" h="178435">
                <a:moveTo>
                  <a:pt x="157072" y="32765"/>
                </a:moveTo>
                <a:lnTo>
                  <a:pt x="156310" y="32765"/>
                </a:lnTo>
                <a:lnTo>
                  <a:pt x="156310" y="33099"/>
                </a:lnTo>
                <a:lnTo>
                  <a:pt x="157072" y="32765"/>
                </a:lnTo>
                <a:close/>
              </a:path>
              <a:path w="522604" h="178435">
                <a:moveTo>
                  <a:pt x="169264" y="28194"/>
                </a:moveTo>
                <a:lnTo>
                  <a:pt x="168502" y="28194"/>
                </a:lnTo>
                <a:lnTo>
                  <a:pt x="168502" y="28462"/>
                </a:lnTo>
                <a:lnTo>
                  <a:pt x="169264" y="28194"/>
                </a:lnTo>
                <a:close/>
              </a:path>
              <a:path w="522604" h="178435">
                <a:moveTo>
                  <a:pt x="194410" y="20574"/>
                </a:moveTo>
                <a:lnTo>
                  <a:pt x="193648" y="20574"/>
                </a:lnTo>
                <a:lnTo>
                  <a:pt x="193648" y="20798"/>
                </a:lnTo>
                <a:lnTo>
                  <a:pt x="194410" y="20574"/>
                </a:lnTo>
                <a:close/>
              </a:path>
              <a:path w="522604" h="178435">
                <a:moveTo>
                  <a:pt x="207364" y="17525"/>
                </a:moveTo>
                <a:lnTo>
                  <a:pt x="206602" y="17525"/>
                </a:lnTo>
                <a:lnTo>
                  <a:pt x="206602" y="17695"/>
                </a:lnTo>
                <a:lnTo>
                  <a:pt x="207364" y="17525"/>
                </a:lnTo>
                <a:close/>
              </a:path>
              <a:path w="522604" h="178435">
                <a:moveTo>
                  <a:pt x="234034" y="13631"/>
                </a:moveTo>
                <a:lnTo>
                  <a:pt x="234034" y="12953"/>
                </a:lnTo>
                <a:lnTo>
                  <a:pt x="233272" y="13715"/>
                </a:lnTo>
                <a:lnTo>
                  <a:pt x="234034" y="13631"/>
                </a:lnTo>
                <a:close/>
              </a:path>
              <a:path w="522604" h="178435">
                <a:moveTo>
                  <a:pt x="275182" y="12276"/>
                </a:moveTo>
                <a:lnTo>
                  <a:pt x="274420" y="12191"/>
                </a:lnTo>
                <a:lnTo>
                  <a:pt x="275182" y="12276"/>
                </a:lnTo>
                <a:close/>
              </a:path>
              <a:path w="522604" h="178435">
                <a:moveTo>
                  <a:pt x="301852" y="15366"/>
                </a:moveTo>
                <a:lnTo>
                  <a:pt x="301090" y="15239"/>
                </a:lnTo>
                <a:lnTo>
                  <a:pt x="301852" y="15366"/>
                </a:lnTo>
                <a:close/>
              </a:path>
              <a:path w="522604" h="178435">
                <a:moveTo>
                  <a:pt x="340714" y="24384"/>
                </a:moveTo>
                <a:lnTo>
                  <a:pt x="339952" y="23622"/>
                </a:lnTo>
                <a:lnTo>
                  <a:pt x="339952" y="24159"/>
                </a:lnTo>
                <a:lnTo>
                  <a:pt x="340714" y="24384"/>
                </a:lnTo>
                <a:close/>
              </a:path>
              <a:path w="522604" h="178435">
                <a:moveTo>
                  <a:pt x="377290" y="38481"/>
                </a:moveTo>
                <a:lnTo>
                  <a:pt x="377290" y="38100"/>
                </a:lnTo>
                <a:lnTo>
                  <a:pt x="376528" y="38100"/>
                </a:lnTo>
                <a:lnTo>
                  <a:pt x="377290" y="38481"/>
                </a:lnTo>
                <a:close/>
              </a:path>
              <a:path w="522604" h="178435">
                <a:moveTo>
                  <a:pt x="388720" y="44653"/>
                </a:moveTo>
                <a:lnTo>
                  <a:pt x="388720" y="44196"/>
                </a:lnTo>
                <a:lnTo>
                  <a:pt x="387958" y="44196"/>
                </a:lnTo>
                <a:lnTo>
                  <a:pt x="388720" y="44653"/>
                </a:lnTo>
                <a:close/>
              </a:path>
              <a:path w="522604" h="178435">
                <a:moveTo>
                  <a:pt x="410818" y="58456"/>
                </a:moveTo>
                <a:lnTo>
                  <a:pt x="410818" y="57912"/>
                </a:lnTo>
                <a:lnTo>
                  <a:pt x="410056" y="57912"/>
                </a:lnTo>
                <a:lnTo>
                  <a:pt x="410818" y="58456"/>
                </a:lnTo>
                <a:close/>
              </a:path>
              <a:path w="522604" h="178435">
                <a:moveTo>
                  <a:pt x="431392" y="73796"/>
                </a:moveTo>
                <a:lnTo>
                  <a:pt x="431392" y="73151"/>
                </a:lnTo>
                <a:lnTo>
                  <a:pt x="430630" y="73151"/>
                </a:lnTo>
                <a:lnTo>
                  <a:pt x="431392" y="73796"/>
                </a:lnTo>
                <a:close/>
              </a:path>
              <a:path w="522604" h="178435">
                <a:moveTo>
                  <a:pt x="450442" y="90677"/>
                </a:moveTo>
                <a:lnTo>
                  <a:pt x="449680" y="89915"/>
                </a:lnTo>
                <a:lnTo>
                  <a:pt x="450046" y="90312"/>
                </a:lnTo>
                <a:lnTo>
                  <a:pt x="450442" y="90677"/>
                </a:lnTo>
                <a:close/>
              </a:path>
              <a:path w="522604" h="178435">
                <a:moveTo>
                  <a:pt x="450046" y="90312"/>
                </a:moveTo>
                <a:lnTo>
                  <a:pt x="449680" y="89915"/>
                </a:lnTo>
                <a:lnTo>
                  <a:pt x="450046" y="90312"/>
                </a:lnTo>
                <a:close/>
              </a:path>
              <a:path w="522604" h="178435">
                <a:moveTo>
                  <a:pt x="450442" y="90741"/>
                </a:moveTo>
                <a:lnTo>
                  <a:pt x="450046" y="90312"/>
                </a:lnTo>
                <a:lnTo>
                  <a:pt x="450442" y="90741"/>
                </a:lnTo>
                <a:close/>
              </a:path>
              <a:path w="522604" h="178435">
                <a:moveTo>
                  <a:pt x="475588" y="120700"/>
                </a:moveTo>
                <a:lnTo>
                  <a:pt x="475588" y="119634"/>
                </a:lnTo>
                <a:lnTo>
                  <a:pt x="474826" y="119634"/>
                </a:lnTo>
                <a:lnTo>
                  <a:pt x="475588" y="120700"/>
                </a:lnTo>
                <a:close/>
              </a:path>
              <a:path w="522604" h="178435">
                <a:moveTo>
                  <a:pt x="490066" y="142240"/>
                </a:moveTo>
                <a:lnTo>
                  <a:pt x="490066" y="140970"/>
                </a:lnTo>
                <a:lnTo>
                  <a:pt x="489304" y="140970"/>
                </a:lnTo>
                <a:lnTo>
                  <a:pt x="490066" y="14224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15625" y="3771519"/>
            <a:ext cx="1567434" cy="8702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78788" y="4481647"/>
            <a:ext cx="500380" cy="153670"/>
          </a:xfrm>
          <a:custGeom>
            <a:avLst/>
            <a:gdLst/>
            <a:ahLst/>
            <a:cxnLst/>
            <a:rect l="l" t="t" r="r" b="b"/>
            <a:pathLst>
              <a:path w="500379" h="153670">
                <a:moveTo>
                  <a:pt x="500134" y="153598"/>
                </a:moveTo>
                <a:lnTo>
                  <a:pt x="477913" y="117027"/>
                </a:lnTo>
                <a:lnTo>
                  <a:pt x="448645" y="81970"/>
                </a:lnTo>
                <a:lnTo>
                  <a:pt x="413571" y="52629"/>
                </a:lnTo>
                <a:lnTo>
                  <a:pt x="376400" y="30009"/>
                </a:lnTo>
                <a:lnTo>
                  <a:pt x="337731" y="13863"/>
                </a:lnTo>
                <a:lnTo>
                  <a:pt x="298159" y="3943"/>
                </a:lnTo>
                <a:lnTo>
                  <a:pt x="258282" y="0"/>
                </a:lnTo>
                <a:lnTo>
                  <a:pt x="218696" y="1785"/>
                </a:lnTo>
                <a:lnTo>
                  <a:pt x="179997" y="9050"/>
                </a:lnTo>
                <a:lnTo>
                  <a:pt x="142783" y="21548"/>
                </a:lnTo>
                <a:lnTo>
                  <a:pt x="107650" y="39030"/>
                </a:lnTo>
                <a:lnTo>
                  <a:pt x="75195" y="61247"/>
                </a:lnTo>
                <a:lnTo>
                  <a:pt x="46014" y="87951"/>
                </a:lnTo>
                <a:lnTo>
                  <a:pt x="20704" y="118894"/>
                </a:lnTo>
                <a:lnTo>
                  <a:pt x="0" y="153598"/>
                </a:lnTo>
                <a:lnTo>
                  <a:pt x="14661" y="153598"/>
                </a:lnTo>
                <a:lnTo>
                  <a:pt x="21163" y="141406"/>
                </a:lnTo>
                <a:lnTo>
                  <a:pt x="28021" y="131805"/>
                </a:lnTo>
                <a:lnTo>
                  <a:pt x="28021" y="130738"/>
                </a:lnTo>
                <a:lnTo>
                  <a:pt x="37264" y="118275"/>
                </a:lnTo>
                <a:lnTo>
                  <a:pt x="48043" y="105144"/>
                </a:lnTo>
                <a:lnTo>
                  <a:pt x="59479" y="92619"/>
                </a:lnTo>
                <a:lnTo>
                  <a:pt x="69931" y="82694"/>
                </a:lnTo>
                <a:lnTo>
                  <a:pt x="69931" y="81970"/>
                </a:lnTo>
                <a:lnTo>
                  <a:pt x="79837" y="73588"/>
                </a:lnTo>
                <a:lnTo>
                  <a:pt x="89743" y="66512"/>
                </a:lnTo>
                <a:lnTo>
                  <a:pt x="89743" y="65968"/>
                </a:lnTo>
                <a:lnTo>
                  <a:pt x="100411" y="58348"/>
                </a:lnTo>
                <a:lnTo>
                  <a:pt x="111079" y="51947"/>
                </a:lnTo>
                <a:lnTo>
                  <a:pt x="111079" y="51490"/>
                </a:lnTo>
                <a:lnTo>
                  <a:pt x="122509" y="44632"/>
                </a:lnTo>
                <a:lnTo>
                  <a:pt x="122509" y="45394"/>
                </a:lnTo>
                <a:lnTo>
                  <a:pt x="133939" y="39679"/>
                </a:lnTo>
                <a:lnTo>
                  <a:pt x="133939" y="39298"/>
                </a:lnTo>
                <a:lnTo>
                  <a:pt x="155294" y="30050"/>
                </a:lnTo>
                <a:lnTo>
                  <a:pt x="177369" y="22639"/>
                </a:lnTo>
                <a:lnTo>
                  <a:pt x="200017" y="17270"/>
                </a:lnTo>
                <a:lnTo>
                  <a:pt x="222331" y="14255"/>
                </a:lnTo>
                <a:lnTo>
                  <a:pt x="236047" y="12708"/>
                </a:lnTo>
                <a:lnTo>
                  <a:pt x="264241" y="12708"/>
                </a:lnTo>
                <a:lnTo>
                  <a:pt x="277957" y="14152"/>
                </a:lnTo>
                <a:lnTo>
                  <a:pt x="303436" y="17901"/>
                </a:lnTo>
                <a:lnTo>
                  <a:pt x="329121" y="24477"/>
                </a:lnTo>
                <a:lnTo>
                  <a:pt x="353989" y="33701"/>
                </a:lnTo>
                <a:lnTo>
                  <a:pt x="377779" y="45394"/>
                </a:lnTo>
                <a:lnTo>
                  <a:pt x="377779" y="44632"/>
                </a:lnTo>
                <a:lnTo>
                  <a:pt x="389209" y="51490"/>
                </a:lnTo>
                <a:lnTo>
                  <a:pt x="389209" y="51947"/>
                </a:lnTo>
                <a:lnTo>
                  <a:pt x="399877" y="58348"/>
                </a:lnTo>
                <a:lnTo>
                  <a:pt x="410545" y="65968"/>
                </a:lnTo>
                <a:lnTo>
                  <a:pt x="410545" y="66512"/>
                </a:lnTo>
                <a:lnTo>
                  <a:pt x="420451" y="73588"/>
                </a:lnTo>
                <a:lnTo>
                  <a:pt x="430357" y="81970"/>
                </a:lnTo>
                <a:lnTo>
                  <a:pt x="430357" y="82673"/>
                </a:lnTo>
                <a:lnTo>
                  <a:pt x="439501" y="91114"/>
                </a:lnTo>
                <a:lnTo>
                  <a:pt x="457027" y="110164"/>
                </a:lnTo>
                <a:lnTo>
                  <a:pt x="457027" y="111103"/>
                </a:lnTo>
                <a:lnTo>
                  <a:pt x="468332" y="125041"/>
                </a:lnTo>
                <a:lnTo>
                  <a:pt x="479140" y="141616"/>
                </a:lnTo>
                <a:lnTo>
                  <a:pt x="485651" y="153598"/>
                </a:lnTo>
                <a:lnTo>
                  <a:pt x="500134" y="153598"/>
                </a:lnTo>
                <a:close/>
              </a:path>
              <a:path w="500379" h="153670">
                <a:moveTo>
                  <a:pt x="28783" y="130738"/>
                </a:moveTo>
                <a:lnTo>
                  <a:pt x="28021" y="130738"/>
                </a:lnTo>
                <a:lnTo>
                  <a:pt x="28021" y="131805"/>
                </a:lnTo>
                <a:lnTo>
                  <a:pt x="28783" y="130738"/>
                </a:lnTo>
                <a:close/>
              </a:path>
              <a:path w="500379" h="153670">
                <a:moveTo>
                  <a:pt x="70693" y="81970"/>
                </a:moveTo>
                <a:lnTo>
                  <a:pt x="69931" y="81970"/>
                </a:lnTo>
                <a:lnTo>
                  <a:pt x="69931" y="82694"/>
                </a:lnTo>
                <a:lnTo>
                  <a:pt x="70693" y="81970"/>
                </a:lnTo>
                <a:close/>
              </a:path>
              <a:path w="500379" h="153670">
                <a:moveTo>
                  <a:pt x="90505" y="65968"/>
                </a:moveTo>
                <a:lnTo>
                  <a:pt x="89743" y="65968"/>
                </a:lnTo>
                <a:lnTo>
                  <a:pt x="89743" y="66512"/>
                </a:lnTo>
                <a:lnTo>
                  <a:pt x="90505" y="65968"/>
                </a:lnTo>
                <a:close/>
              </a:path>
              <a:path w="500379" h="153670">
                <a:moveTo>
                  <a:pt x="111841" y="51490"/>
                </a:moveTo>
                <a:lnTo>
                  <a:pt x="111079" y="51490"/>
                </a:lnTo>
                <a:lnTo>
                  <a:pt x="111079" y="51947"/>
                </a:lnTo>
                <a:lnTo>
                  <a:pt x="111841" y="51490"/>
                </a:lnTo>
                <a:close/>
              </a:path>
              <a:path w="500379" h="153670">
                <a:moveTo>
                  <a:pt x="134701" y="39298"/>
                </a:moveTo>
                <a:lnTo>
                  <a:pt x="133939" y="39298"/>
                </a:lnTo>
                <a:lnTo>
                  <a:pt x="133939" y="39679"/>
                </a:lnTo>
                <a:lnTo>
                  <a:pt x="134701" y="39298"/>
                </a:lnTo>
                <a:close/>
              </a:path>
              <a:path w="500379" h="153670">
                <a:moveTo>
                  <a:pt x="223093" y="14152"/>
                </a:moveTo>
                <a:lnTo>
                  <a:pt x="222331" y="14152"/>
                </a:lnTo>
                <a:lnTo>
                  <a:pt x="223093" y="14152"/>
                </a:lnTo>
                <a:close/>
              </a:path>
              <a:path w="500379" h="153670">
                <a:moveTo>
                  <a:pt x="236809" y="12628"/>
                </a:moveTo>
                <a:lnTo>
                  <a:pt x="236047" y="12628"/>
                </a:lnTo>
                <a:lnTo>
                  <a:pt x="236809" y="12628"/>
                </a:lnTo>
                <a:close/>
              </a:path>
              <a:path w="500379" h="153670">
                <a:moveTo>
                  <a:pt x="264241" y="12708"/>
                </a:moveTo>
                <a:lnTo>
                  <a:pt x="263479" y="12628"/>
                </a:lnTo>
                <a:lnTo>
                  <a:pt x="264241" y="12708"/>
                </a:lnTo>
                <a:close/>
              </a:path>
              <a:path w="500379" h="153670">
                <a:moveTo>
                  <a:pt x="277957" y="14261"/>
                </a:moveTo>
                <a:lnTo>
                  <a:pt x="277195" y="14152"/>
                </a:lnTo>
                <a:lnTo>
                  <a:pt x="277957" y="14261"/>
                </a:lnTo>
                <a:close/>
              </a:path>
              <a:path w="500379" h="153670">
                <a:moveTo>
                  <a:pt x="389209" y="51947"/>
                </a:moveTo>
                <a:lnTo>
                  <a:pt x="389209" y="51490"/>
                </a:lnTo>
                <a:lnTo>
                  <a:pt x="388447" y="51490"/>
                </a:lnTo>
                <a:lnTo>
                  <a:pt x="389209" y="51947"/>
                </a:lnTo>
                <a:close/>
              </a:path>
              <a:path w="500379" h="153670">
                <a:moveTo>
                  <a:pt x="410545" y="66512"/>
                </a:moveTo>
                <a:lnTo>
                  <a:pt x="410545" y="65968"/>
                </a:lnTo>
                <a:lnTo>
                  <a:pt x="409783" y="65968"/>
                </a:lnTo>
                <a:lnTo>
                  <a:pt x="410545" y="66512"/>
                </a:lnTo>
                <a:close/>
              </a:path>
              <a:path w="500379" h="153670">
                <a:moveTo>
                  <a:pt x="430357" y="82673"/>
                </a:moveTo>
                <a:lnTo>
                  <a:pt x="430357" y="81970"/>
                </a:lnTo>
                <a:lnTo>
                  <a:pt x="429595" y="81970"/>
                </a:lnTo>
                <a:lnTo>
                  <a:pt x="430357" y="82673"/>
                </a:lnTo>
                <a:close/>
              </a:path>
              <a:path w="500379" h="153670">
                <a:moveTo>
                  <a:pt x="457027" y="111103"/>
                </a:moveTo>
                <a:lnTo>
                  <a:pt x="457027" y="110164"/>
                </a:lnTo>
                <a:lnTo>
                  <a:pt x="456265" y="110164"/>
                </a:lnTo>
                <a:lnTo>
                  <a:pt x="457027" y="1111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50143" y="4964429"/>
            <a:ext cx="796290" cy="296545"/>
          </a:xfrm>
          <a:custGeom>
            <a:avLst/>
            <a:gdLst/>
            <a:ahLst/>
            <a:cxnLst/>
            <a:rect l="l" t="t" r="r" b="b"/>
            <a:pathLst>
              <a:path w="796289" h="296545">
                <a:moveTo>
                  <a:pt x="69883" y="254103"/>
                </a:moveTo>
                <a:lnTo>
                  <a:pt x="59436" y="224028"/>
                </a:lnTo>
                <a:lnTo>
                  <a:pt x="0" y="285750"/>
                </a:lnTo>
                <a:lnTo>
                  <a:pt x="57912" y="293054"/>
                </a:lnTo>
                <a:lnTo>
                  <a:pt x="57912" y="258318"/>
                </a:lnTo>
                <a:lnTo>
                  <a:pt x="69883" y="254103"/>
                </a:lnTo>
                <a:close/>
              </a:path>
              <a:path w="796289" h="296545">
                <a:moveTo>
                  <a:pt x="74155" y="266401"/>
                </a:moveTo>
                <a:lnTo>
                  <a:pt x="69883" y="254103"/>
                </a:lnTo>
                <a:lnTo>
                  <a:pt x="57912" y="258318"/>
                </a:lnTo>
                <a:lnTo>
                  <a:pt x="62484" y="270510"/>
                </a:lnTo>
                <a:lnTo>
                  <a:pt x="74155" y="266401"/>
                </a:lnTo>
                <a:close/>
              </a:path>
              <a:path w="796289" h="296545">
                <a:moveTo>
                  <a:pt x="84581" y="296418"/>
                </a:moveTo>
                <a:lnTo>
                  <a:pt x="74155" y="266401"/>
                </a:lnTo>
                <a:lnTo>
                  <a:pt x="62484" y="270510"/>
                </a:lnTo>
                <a:lnTo>
                  <a:pt x="57912" y="258318"/>
                </a:lnTo>
                <a:lnTo>
                  <a:pt x="57912" y="293054"/>
                </a:lnTo>
                <a:lnTo>
                  <a:pt x="84581" y="296418"/>
                </a:lnTo>
                <a:close/>
              </a:path>
              <a:path w="796289" h="296545">
                <a:moveTo>
                  <a:pt x="796289" y="12192"/>
                </a:moveTo>
                <a:lnTo>
                  <a:pt x="791717" y="0"/>
                </a:lnTo>
                <a:lnTo>
                  <a:pt x="69883" y="254103"/>
                </a:lnTo>
                <a:lnTo>
                  <a:pt x="74155" y="266401"/>
                </a:lnTo>
                <a:lnTo>
                  <a:pt x="796289" y="121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48897" y="4635246"/>
            <a:ext cx="560705" cy="407034"/>
          </a:xfrm>
          <a:custGeom>
            <a:avLst/>
            <a:gdLst/>
            <a:ahLst/>
            <a:cxnLst/>
            <a:rect l="l" t="t" r="r" b="b"/>
            <a:pathLst>
              <a:path w="560704" h="407035">
                <a:moveTo>
                  <a:pt x="44551" y="0"/>
                </a:moveTo>
                <a:lnTo>
                  <a:pt x="29890" y="0"/>
                </a:lnTo>
                <a:lnTo>
                  <a:pt x="29752" y="230"/>
                </a:lnTo>
                <a:lnTo>
                  <a:pt x="13975" y="38906"/>
                </a:lnTo>
                <a:lnTo>
                  <a:pt x="3858" y="81076"/>
                </a:lnTo>
                <a:lnTo>
                  <a:pt x="0" y="126491"/>
                </a:lnTo>
                <a:lnTo>
                  <a:pt x="3551" y="172503"/>
                </a:lnTo>
                <a:lnTo>
                  <a:pt x="12192" y="207373"/>
                </a:lnTo>
                <a:lnTo>
                  <a:pt x="12192" y="126491"/>
                </a:lnTo>
                <a:lnTo>
                  <a:pt x="13715" y="99059"/>
                </a:lnTo>
                <a:lnTo>
                  <a:pt x="15239" y="89915"/>
                </a:lnTo>
                <a:lnTo>
                  <a:pt x="15239" y="86105"/>
                </a:lnTo>
                <a:lnTo>
                  <a:pt x="18287" y="72389"/>
                </a:lnTo>
                <a:lnTo>
                  <a:pt x="18287" y="73151"/>
                </a:lnTo>
                <a:lnTo>
                  <a:pt x="20574" y="62864"/>
                </a:lnTo>
                <a:lnTo>
                  <a:pt x="20574" y="60198"/>
                </a:lnTo>
                <a:lnTo>
                  <a:pt x="24384" y="46481"/>
                </a:lnTo>
                <a:lnTo>
                  <a:pt x="24384" y="47243"/>
                </a:lnTo>
                <a:lnTo>
                  <a:pt x="28956" y="34289"/>
                </a:lnTo>
                <a:lnTo>
                  <a:pt x="28956" y="35051"/>
                </a:lnTo>
                <a:lnTo>
                  <a:pt x="33527" y="22098"/>
                </a:lnTo>
                <a:lnTo>
                  <a:pt x="33527" y="22859"/>
                </a:lnTo>
                <a:lnTo>
                  <a:pt x="38862" y="10667"/>
                </a:lnTo>
                <a:lnTo>
                  <a:pt x="44551" y="0"/>
                </a:lnTo>
                <a:close/>
              </a:path>
              <a:path w="560704" h="407035">
                <a:moveTo>
                  <a:pt x="16001" y="167639"/>
                </a:moveTo>
                <a:lnTo>
                  <a:pt x="13715" y="153924"/>
                </a:lnTo>
                <a:lnTo>
                  <a:pt x="12192" y="126491"/>
                </a:lnTo>
                <a:lnTo>
                  <a:pt x="12192" y="207373"/>
                </a:lnTo>
                <a:lnTo>
                  <a:pt x="14364" y="216140"/>
                </a:lnTo>
                <a:lnTo>
                  <a:pt x="15239" y="218181"/>
                </a:lnTo>
                <a:lnTo>
                  <a:pt x="15239" y="166877"/>
                </a:lnTo>
                <a:lnTo>
                  <a:pt x="16001" y="167639"/>
                </a:lnTo>
                <a:close/>
              </a:path>
              <a:path w="560704" h="407035">
                <a:moveTo>
                  <a:pt x="16001" y="85343"/>
                </a:moveTo>
                <a:lnTo>
                  <a:pt x="15239" y="86105"/>
                </a:lnTo>
                <a:lnTo>
                  <a:pt x="15239" y="89915"/>
                </a:lnTo>
                <a:lnTo>
                  <a:pt x="16001" y="85343"/>
                </a:lnTo>
                <a:close/>
              </a:path>
              <a:path w="560704" h="407035">
                <a:moveTo>
                  <a:pt x="21336" y="193548"/>
                </a:moveTo>
                <a:lnTo>
                  <a:pt x="18287" y="180593"/>
                </a:lnTo>
                <a:lnTo>
                  <a:pt x="15239" y="166877"/>
                </a:lnTo>
                <a:lnTo>
                  <a:pt x="15239" y="218181"/>
                </a:lnTo>
                <a:lnTo>
                  <a:pt x="20574" y="230613"/>
                </a:lnTo>
                <a:lnTo>
                  <a:pt x="20574" y="193548"/>
                </a:lnTo>
                <a:lnTo>
                  <a:pt x="21336" y="193548"/>
                </a:lnTo>
                <a:close/>
              </a:path>
              <a:path w="560704" h="407035">
                <a:moveTo>
                  <a:pt x="21336" y="59436"/>
                </a:moveTo>
                <a:lnTo>
                  <a:pt x="20574" y="60198"/>
                </a:lnTo>
                <a:lnTo>
                  <a:pt x="20574" y="62864"/>
                </a:lnTo>
                <a:lnTo>
                  <a:pt x="21336" y="59436"/>
                </a:lnTo>
                <a:close/>
              </a:path>
              <a:path w="560704" h="407035">
                <a:moveTo>
                  <a:pt x="58674" y="276605"/>
                </a:moveTo>
                <a:lnTo>
                  <a:pt x="51054" y="265175"/>
                </a:lnTo>
                <a:lnTo>
                  <a:pt x="44958" y="253745"/>
                </a:lnTo>
                <a:lnTo>
                  <a:pt x="44958" y="254507"/>
                </a:lnTo>
                <a:lnTo>
                  <a:pt x="38862" y="242315"/>
                </a:lnTo>
                <a:lnTo>
                  <a:pt x="33527" y="230886"/>
                </a:lnTo>
                <a:lnTo>
                  <a:pt x="28956" y="218693"/>
                </a:lnTo>
                <a:lnTo>
                  <a:pt x="24384" y="205739"/>
                </a:lnTo>
                <a:lnTo>
                  <a:pt x="24384" y="206501"/>
                </a:lnTo>
                <a:lnTo>
                  <a:pt x="20574" y="193548"/>
                </a:lnTo>
                <a:lnTo>
                  <a:pt x="20574" y="230613"/>
                </a:lnTo>
                <a:lnTo>
                  <a:pt x="31807" y="256796"/>
                </a:lnTo>
                <a:lnTo>
                  <a:pt x="55249" y="293864"/>
                </a:lnTo>
                <a:lnTo>
                  <a:pt x="57912" y="296902"/>
                </a:lnTo>
                <a:lnTo>
                  <a:pt x="57912" y="275843"/>
                </a:lnTo>
                <a:lnTo>
                  <a:pt x="58674" y="276605"/>
                </a:lnTo>
                <a:close/>
              </a:path>
              <a:path w="560704" h="407035">
                <a:moveTo>
                  <a:pt x="100584" y="324612"/>
                </a:moveTo>
                <a:lnTo>
                  <a:pt x="90677" y="315467"/>
                </a:lnTo>
                <a:lnTo>
                  <a:pt x="82296" y="306324"/>
                </a:lnTo>
                <a:lnTo>
                  <a:pt x="73913" y="296417"/>
                </a:lnTo>
                <a:lnTo>
                  <a:pt x="73913" y="297179"/>
                </a:lnTo>
                <a:lnTo>
                  <a:pt x="65532" y="286512"/>
                </a:lnTo>
                <a:lnTo>
                  <a:pt x="57912" y="275843"/>
                </a:lnTo>
                <a:lnTo>
                  <a:pt x="57912" y="296902"/>
                </a:lnTo>
                <a:lnTo>
                  <a:pt x="84058" y="326736"/>
                </a:lnTo>
                <a:lnTo>
                  <a:pt x="99822" y="339926"/>
                </a:lnTo>
                <a:lnTo>
                  <a:pt x="99822" y="324612"/>
                </a:lnTo>
                <a:lnTo>
                  <a:pt x="100584" y="324612"/>
                </a:lnTo>
                <a:close/>
              </a:path>
              <a:path w="560704" h="407035">
                <a:moveTo>
                  <a:pt x="120396" y="356485"/>
                </a:moveTo>
                <a:lnTo>
                  <a:pt x="120396" y="341375"/>
                </a:lnTo>
                <a:lnTo>
                  <a:pt x="109727" y="332993"/>
                </a:lnTo>
                <a:lnTo>
                  <a:pt x="99822" y="324612"/>
                </a:lnTo>
                <a:lnTo>
                  <a:pt x="99822" y="339926"/>
                </a:lnTo>
                <a:lnTo>
                  <a:pt x="117602" y="354804"/>
                </a:lnTo>
                <a:lnTo>
                  <a:pt x="120396" y="356485"/>
                </a:lnTo>
                <a:close/>
              </a:path>
              <a:path w="560704" h="407035">
                <a:moveTo>
                  <a:pt x="141732" y="355091"/>
                </a:moveTo>
                <a:lnTo>
                  <a:pt x="130301" y="348233"/>
                </a:lnTo>
                <a:lnTo>
                  <a:pt x="119634" y="340613"/>
                </a:lnTo>
                <a:lnTo>
                  <a:pt x="120396" y="341375"/>
                </a:lnTo>
                <a:lnTo>
                  <a:pt x="120396" y="356485"/>
                </a:lnTo>
                <a:lnTo>
                  <a:pt x="140970" y="368868"/>
                </a:lnTo>
                <a:lnTo>
                  <a:pt x="140970" y="355091"/>
                </a:lnTo>
                <a:lnTo>
                  <a:pt x="141732" y="355091"/>
                </a:lnTo>
                <a:close/>
              </a:path>
              <a:path w="560704" h="407035">
                <a:moveTo>
                  <a:pt x="164592" y="381243"/>
                </a:moveTo>
                <a:lnTo>
                  <a:pt x="164592" y="368045"/>
                </a:lnTo>
                <a:lnTo>
                  <a:pt x="152400" y="361950"/>
                </a:lnTo>
                <a:lnTo>
                  <a:pt x="140970" y="355091"/>
                </a:lnTo>
                <a:lnTo>
                  <a:pt x="140970" y="368868"/>
                </a:lnTo>
                <a:lnTo>
                  <a:pt x="155251" y="377463"/>
                </a:lnTo>
                <a:lnTo>
                  <a:pt x="164592" y="381243"/>
                </a:lnTo>
                <a:close/>
              </a:path>
              <a:path w="560704" h="407035">
                <a:moveTo>
                  <a:pt x="280415" y="393953"/>
                </a:moveTo>
                <a:lnTo>
                  <a:pt x="265938" y="393953"/>
                </a:lnTo>
                <a:lnTo>
                  <a:pt x="252222" y="392429"/>
                </a:lnTo>
                <a:lnTo>
                  <a:pt x="231102" y="389479"/>
                </a:lnTo>
                <a:lnTo>
                  <a:pt x="207187" y="383933"/>
                </a:lnTo>
                <a:lnTo>
                  <a:pt x="183882" y="376349"/>
                </a:lnTo>
                <a:lnTo>
                  <a:pt x="163830" y="367283"/>
                </a:lnTo>
                <a:lnTo>
                  <a:pt x="164592" y="368045"/>
                </a:lnTo>
                <a:lnTo>
                  <a:pt x="164592" y="381243"/>
                </a:lnTo>
                <a:lnTo>
                  <a:pt x="196374" y="394105"/>
                </a:lnTo>
                <a:lnTo>
                  <a:pt x="240337" y="404122"/>
                </a:lnTo>
                <a:lnTo>
                  <a:pt x="273558" y="406126"/>
                </a:lnTo>
                <a:lnTo>
                  <a:pt x="273558" y="400812"/>
                </a:lnTo>
                <a:lnTo>
                  <a:pt x="280415" y="393953"/>
                </a:lnTo>
                <a:close/>
              </a:path>
              <a:path w="560704" h="407035">
                <a:moveTo>
                  <a:pt x="252984" y="392429"/>
                </a:moveTo>
                <a:lnTo>
                  <a:pt x="252222" y="392327"/>
                </a:lnTo>
                <a:lnTo>
                  <a:pt x="252984" y="392429"/>
                </a:lnTo>
                <a:close/>
              </a:path>
              <a:path w="560704" h="407035">
                <a:moveTo>
                  <a:pt x="266700" y="393953"/>
                </a:moveTo>
                <a:lnTo>
                  <a:pt x="265938" y="393873"/>
                </a:lnTo>
                <a:lnTo>
                  <a:pt x="266700" y="393953"/>
                </a:lnTo>
                <a:close/>
              </a:path>
              <a:path w="560704" h="407035">
                <a:moveTo>
                  <a:pt x="294132" y="405689"/>
                </a:moveTo>
                <a:lnTo>
                  <a:pt x="294132" y="393953"/>
                </a:lnTo>
                <a:lnTo>
                  <a:pt x="280415" y="393953"/>
                </a:lnTo>
                <a:lnTo>
                  <a:pt x="273558" y="400812"/>
                </a:lnTo>
                <a:lnTo>
                  <a:pt x="273558" y="406126"/>
                </a:lnTo>
                <a:lnTo>
                  <a:pt x="280726" y="406558"/>
                </a:lnTo>
                <a:lnTo>
                  <a:pt x="286512" y="400050"/>
                </a:lnTo>
                <a:lnTo>
                  <a:pt x="286512" y="406366"/>
                </a:lnTo>
                <a:lnTo>
                  <a:pt x="294132" y="405689"/>
                </a:lnTo>
                <a:close/>
              </a:path>
              <a:path w="560704" h="407035">
                <a:moveTo>
                  <a:pt x="282881" y="406688"/>
                </a:moveTo>
                <a:lnTo>
                  <a:pt x="280726" y="406558"/>
                </a:lnTo>
                <a:lnTo>
                  <a:pt x="280415" y="406907"/>
                </a:lnTo>
                <a:lnTo>
                  <a:pt x="282881" y="406688"/>
                </a:lnTo>
                <a:close/>
              </a:path>
              <a:path w="560704" h="407035">
                <a:moveTo>
                  <a:pt x="286512" y="406366"/>
                </a:moveTo>
                <a:lnTo>
                  <a:pt x="286512" y="400050"/>
                </a:lnTo>
                <a:lnTo>
                  <a:pt x="280726" y="406558"/>
                </a:lnTo>
                <a:lnTo>
                  <a:pt x="282881" y="406688"/>
                </a:lnTo>
                <a:lnTo>
                  <a:pt x="286512" y="406366"/>
                </a:lnTo>
                <a:close/>
              </a:path>
              <a:path w="560704" h="407035">
                <a:moveTo>
                  <a:pt x="286512" y="406907"/>
                </a:moveTo>
                <a:lnTo>
                  <a:pt x="286512" y="406366"/>
                </a:lnTo>
                <a:lnTo>
                  <a:pt x="282881" y="406688"/>
                </a:lnTo>
                <a:lnTo>
                  <a:pt x="286512" y="406907"/>
                </a:lnTo>
                <a:close/>
              </a:path>
              <a:path w="560704" h="407035">
                <a:moveTo>
                  <a:pt x="307848" y="404471"/>
                </a:moveTo>
                <a:lnTo>
                  <a:pt x="307848" y="392429"/>
                </a:lnTo>
                <a:lnTo>
                  <a:pt x="293370" y="393953"/>
                </a:lnTo>
                <a:lnTo>
                  <a:pt x="294132" y="393953"/>
                </a:lnTo>
                <a:lnTo>
                  <a:pt x="294132" y="405689"/>
                </a:lnTo>
                <a:lnTo>
                  <a:pt x="307848" y="404471"/>
                </a:lnTo>
                <a:close/>
              </a:path>
              <a:path w="560704" h="407035">
                <a:moveTo>
                  <a:pt x="419100" y="369289"/>
                </a:moveTo>
                <a:lnTo>
                  <a:pt x="419100" y="355091"/>
                </a:lnTo>
                <a:lnTo>
                  <a:pt x="407670" y="361950"/>
                </a:lnTo>
                <a:lnTo>
                  <a:pt x="396239" y="368045"/>
                </a:lnTo>
                <a:lnTo>
                  <a:pt x="396239" y="367283"/>
                </a:lnTo>
                <a:lnTo>
                  <a:pt x="376180" y="376349"/>
                </a:lnTo>
                <a:lnTo>
                  <a:pt x="352872" y="383933"/>
                </a:lnTo>
                <a:lnTo>
                  <a:pt x="328960" y="389479"/>
                </a:lnTo>
                <a:lnTo>
                  <a:pt x="307086" y="392429"/>
                </a:lnTo>
                <a:lnTo>
                  <a:pt x="307848" y="392429"/>
                </a:lnTo>
                <a:lnTo>
                  <a:pt x="307848" y="404471"/>
                </a:lnTo>
                <a:lnTo>
                  <a:pt x="325818" y="402875"/>
                </a:lnTo>
                <a:lnTo>
                  <a:pt x="367969" y="392628"/>
                </a:lnTo>
                <a:lnTo>
                  <a:pt x="406621" y="376760"/>
                </a:lnTo>
                <a:lnTo>
                  <a:pt x="419100" y="369289"/>
                </a:lnTo>
                <a:close/>
              </a:path>
              <a:path w="560704" h="407035">
                <a:moveTo>
                  <a:pt x="440436" y="340613"/>
                </a:moveTo>
                <a:lnTo>
                  <a:pt x="429768" y="348233"/>
                </a:lnTo>
                <a:lnTo>
                  <a:pt x="418338" y="355091"/>
                </a:lnTo>
                <a:lnTo>
                  <a:pt x="419100" y="355091"/>
                </a:lnTo>
                <a:lnTo>
                  <a:pt x="419100" y="369289"/>
                </a:lnTo>
                <a:lnTo>
                  <a:pt x="439674" y="356972"/>
                </a:lnTo>
                <a:lnTo>
                  <a:pt x="439674" y="341375"/>
                </a:lnTo>
                <a:lnTo>
                  <a:pt x="440436" y="340613"/>
                </a:lnTo>
                <a:close/>
              </a:path>
              <a:path w="560704" h="407035">
                <a:moveTo>
                  <a:pt x="460248" y="340521"/>
                </a:moveTo>
                <a:lnTo>
                  <a:pt x="460248" y="324612"/>
                </a:lnTo>
                <a:lnTo>
                  <a:pt x="450342" y="332993"/>
                </a:lnTo>
                <a:lnTo>
                  <a:pt x="439674" y="341375"/>
                </a:lnTo>
                <a:lnTo>
                  <a:pt x="439674" y="356972"/>
                </a:lnTo>
                <a:lnTo>
                  <a:pt x="441527" y="355862"/>
                </a:lnTo>
                <a:lnTo>
                  <a:pt x="460248" y="340521"/>
                </a:lnTo>
                <a:close/>
              </a:path>
              <a:path w="560704" h="407035">
                <a:moveTo>
                  <a:pt x="478536" y="323863"/>
                </a:moveTo>
                <a:lnTo>
                  <a:pt x="478536" y="306324"/>
                </a:lnTo>
                <a:lnTo>
                  <a:pt x="469392" y="315467"/>
                </a:lnTo>
                <a:lnTo>
                  <a:pt x="459486" y="324612"/>
                </a:lnTo>
                <a:lnTo>
                  <a:pt x="460248" y="324612"/>
                </a:lnTo>
                <a:lnTo>
                  <a:pt x="460248" y="340521"/>
                </a:lnTo>
                <a:lnTo>
                  <a:pt x="472442" y="330528"/>
                </a:lnTo>
                <a:lnTo>
                  <a:pt x="478536" y="323863"/>
                </a:lnTo>
                <a:close/>
              </a:path>
              <a:path w="560704" h="407035">
                <a:moveTo>
                  <a:pt x="486918" y="314695"/>
                </a:moveTo>
                <a:lnTo>
                  <a:pt x="486918" y="296417"/>
                </a:lnTo>
                <a:lnTo>
                  <a:pt x="477774" y="306324"/>
                </a:lnTo>
                <a:lnTo>
                  <a:pt x="478536" y="306324"/>
                </a:lnTo>
                <a:lnTo>
                  <a:pt x="478536" y="323863"/>
                </a:lnTo>
                <a:lnTo>
                  <a:pt x="486918" y="314695"/>
                </a:lnTo>
                <a:close/>
              </a:path>
              <a:path w="560704" h="407035">
                <a:moveTo>
                  <a:pt x="539496" y="231669"/>
                </a:moveTo>
                <a:lnTo>
                  <a:pt x="539496" y="193548"/>
                </a:lnTo>
                <a:lnTo>
                  <a:pt x="535686" y="206501"/>
                </a:lnTo>
                <a:lnTo>
                  <a:pt x="535686" y="205739"/>
                </a:lnTo>
                <a:lnTo>
                  <a:pt x="531113" y="218693"/>
                </a:lnTo>
                <a:lnTo>
                  <a:pt x="526542" y="230886"/>
                </a:lnTo>
                <a:lnTo>
                  <a:pt x="521208" y="243077"/>
                </a:lnTo>
                <a:lnTo>
                  <a:pt x="521208" y="242315"/>
                </a:lnTo>
                <a:lnTo>
                  <a:pt x="515112" y="254507"/>
                </a:lnTo>
                <a:lnTo>
                  <a:pt x="515112" y="253745"/>
                </a:lnTo>
                <a:lnTo>
                  <a:pt x="509015" y="265175"/>
                </a:lnTo>
                <a:lnTo>
                  <a:pt x="502158" y="276605"/>
                </a:lnTo>
                <a:lnTo>
                  <a:pt x="502158" y="275843"/>
                </a:lnTo>
                <a:lnTo>
                  <a:pt x="494538" y="286512"/>
                </a:lnTo>
                <a:lnTo>
                  <a:pt x="486156" y="297179"/>
                </a:lnTo>
                <a:lnTo>
                  <a:pt x="486918" y="296417"/>
                </a:lnTo>
                <a:lnTo>
                  <a:pt x="486918" y="314695"/>
                </a:lnTo>
                <a:lnTo>
                  <a:pt x="499119" y="301349"/>
                </a:lnTo>
                <a:lnTo>
                  <a:pt x="521311" y="268916"/>
                </a:lnTo>
                <a:lnTo>
                  <a:pt x="538772" y="233824"/>
                </a:lnTo>
                <a:lnTo>
                  <a:pt x="539496" y="231669"/>
                </a:lnTo>
                <a:close/>
              </a:path>
              <a:path w="560704" h="407035">
                <a:moveTo>
                  <a:pt x="560299" y="118506"/>
                </a:moveTo>
                <a:lnTo>
                  <a:pt x="556368" y="78693"/>
                </a:lnTo>
                <a:lnTo>
                  <a:pt x="546473" y="39181"/>
                </a:lnTo>
                <a:lnTo>
                  <a:pt x="530367" y="562"/>
                </a:lnTo>
                <a:lnTo>
                  <a:pt x="530024" y="0"/>
                </a:lnTo>
                <a:lnTo>
                  <a:pt x="515541" y="0"/>
                </a:lnTo>
                <a:lnTo>
                  <a:pt x="518497" y="5439"/>
                </a:lnTo>
                <a:lnTo>
                  <a:pt x="526542" y="22859"/>
                </a:lnTo>
                <a:lnTo>
                  <a:pt x="526542" y="22098"/>
                </a:lnTo>
                <a:lnTo>
                  <a:pt x="531113" y="35051"/>
                </a:lnTo>
                <a:lnTo>
                  <a:pt x="531113" y="34289"/>
                </a:lnTo>
                <a:lnTo>
                  <a:pt x="535686" y="47243"/>
                </a:lnTo>
                <a:lnTo>
                  <a:pt x="535686" y="46481"/>
                </a:lnTo>
                <a:lnTo>
                  <a:pt x="539496" y="60198"/>
                </a:lnTo>
                <a:lnTo>
                  <a:pt x="539496" y="62864"/>
                </a:lnTo>
                <a:lnTo>
                  <a:pt x="541782" y="73151"/>
                </a:lnTo>
                <a:lnTo>
                  <a:pt x="541782" y="72389"/>
                </a:lnTo>
                <a:lnTo>
                  <a:pt x="544830" y="86105"/>
                </a:lnTo>
                <a:lnTo>
                  <a:pt x="544830" y="85343"/>
                </a:lnTo>
                <a:lnTo>
                  <a:pt x="546901" y="106232"/>
                </a:lnTo>
                <a:lnTo>
                  <a:pt x="547592" y="126491"/>
                </a:lnTo>
                <a:lnTo>
                  <a:pt x="547592" y="207566"/>
                </a:lnTo>
                <a:lnTo>
                  <a:pt x="551254" y="196663"/>
                </a:lnTo>
                <a:lnTo>
                  <a:pt x="558512" y="158026"/>
                </a:lnTo>
                <a:lnTo>
                  <a:pt x="560299" y="118506"/>
                </a:lnTo>
                <a:close/>
              </a:path>
              <a:path w="560704" h="407035">
                <a:moveTo>
                  <a:pt x="539496" y="62864"/>
                </a:moveTo>
                <a:lnTo>
                  <a:pt x="539496" y="60198"/>
                </a:lnTo>
                <a:lnTo>
                  <a:pt x="538734" y="59436"/>
                </a:lnTo>
                <a:lnTo>
                  <a:pt x="539496" y="62864"/>
                </a:lnTo>
                <a:close/>
              </a:path>
              <a:path w="560704" h="407035">
                <a:moveTo>
                  <a:pt x="547592" y="207566"/>
                </a:moveTo>
                <a:lnTo>
                  <a:pt x="547592" y="126491"/>
                </a:lnTo>
                <a:lnTo>
                  <a:pt x="546901" y="146751"/>
                </a:lnTo>
                <a:lnTo>
                  <a:pt x="544830" y="167639"/>
                </a:lnTo>
                <a:lnTo>
                  <a:pt x="544830" y="166877"/>
                </a:lnTo>
                <a:lnTo>
                  <a:pt x="541782" y="180593"/>
                </a:lnTo>
                <a:lnTo>
                  <a:pt x="538734" y="193548"/>
                </a:lnTo>
                <a:lnTo>
                  <a:pt x="539496" y="193548"/>
                </a:lnTo>
                <a:lnTo>
                  <a:pt x="539496" y="231669"/>
                </a:lnTo>
                <a:lnTo>
                  <a:pt x="547592" y="20756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14101" y="4635246"/>
            <a:ext cx="496570" cy="353695"/>
          </a:xfrm>
          <a:custGeom>
            <a:avLst/>
            <a:gdLst/>
            <a:ahLst/>
            <a:cxnLst/>
            <a:rect l="l" t="t" r="r" b="b"/>
            <a:pathLst>
              <a:path w="496570" h="353695">
                <a:moveTo>
                  <a:pt x="31546" y="0"/>
                </a:moveTo>
                <a:lnTo>
                  <a:pt x="19167" y="0"/>
                </a:lnTo>
                <a:lnTo>
                  <a:pt x="13455" y="14718"/>
                </a:lnTo>
                <a:lnTo>
                  <a:pt x="4222" y="54139"/>
                </a:lnTo>
                <a:lnTo>
                  <a:pt x="0" y="97536"/>
                </a:lnTo>
                <a:lnTo>
                  <a:pt x="0" y="110489"/>
                </a:lnTo>
                <a:lnTo>
                  <a:pt x="6666" y="152897"/>
                </a:lnTo>
                <a:lnTo>
                  <a:pt x="12191" y="171897"/>
                </a:lnTo>
                <a:lnTo>
                  <a:pt x="12191" y="96774"/>
                </a:lnTo>
                <a:lnTo>
                  <a:pt x="12214" y="97154"/>
                </a:lnTo>
                <a:lnTo>
                  <a:pt x="13715" y="71627"/>
                </a:lnTo>
                <a:lnTo>
                  <a:pt x="13715" y="72389"/>
                </a:lnTo>
                <a:lnTo>
                  <a:pt x="16763" y="48005"/>
                </a:lnTo>
                <a:lnTo>
                  <a:pt x="19811" y="35813"/>
                </a:lnTo>
                <a:lnTo>
                  <a:pt x="19811" y="36575"/>
                </a:lnTo>
                <a:lnTo>
                  <a:pt x="22859" y="24383"/>
                </a:lnTo>
                <a:lnTo>
                  <a:pt x="26669" y="12953"/>
                </a:lnTo>
                <a:lnTo>
                  <a:pt x="30479" y="3428"/>
                </a:lnTo>
                <a:lnTo>
                  <a:pt x="30479" y="2286"/>
                </a:lnTo>
                <a:lnTo>
                  <a:pt x="31546" y="0"/>
                </a:lnTo>
                <a:close/>
              </a:path>
              <a:path w="496570" h="353695">
                <a:moveTo>
                  <a:pt x="12214" y="97154"/>
                </a:moveTo>
                <a:lnTo>
                  <a:pt x="12191" y="96774"/>
                </a:lnTo>
                <a:lnTo>
                  <a:pt x="12191" y="97536"/>
                </a:lnTo>
                <a:lnTo>
                  <a:pt x="12214" y="97154"/>
                </a:lnTo>
                <a:close/>
              </a:path>
              <a:path w="496570" h="353695">
                <a:moveTo>
                  <a:pt x="31241" y="192786"/>
                </a:moveTo>
                <a:lnTo>
                  <a:pt x="25969" y="179235"/>
                </a:lnTo>
                <a:lnTo>
                  <a:pt x="21107" y="163934"/>
                </a:lnTo>
                <a:lnTo>
                  <a:pt x="17311" y="148391"/>
                </a:lnTo>
                <a:lnTo>
                  <a:pt x="15239" y="134112"/>
                </a:lnTo>
                <a:lnTo>
                  <a:pt x="15239" y="134874"/>
                </a:lnTo>
                <a:lnTo>
                  <a:pt x="13715" y="121919"/>
                </a:lnTo>
                <a:lnTo>
                  <a:pt x="13715" y="122681"/>
                </a:lnTo>
                <a:lnTo>
                  <a:pt x="12214" y="97154"/>
                </a:lnTo>
                <a:lnTo>
                  <a:pt x="12191" y="97536"/>
                </a:lnTo>
                <a:lnTo>
                  <a:pt x="12191" y="171897"/>
                </a:lnTo>
                <a:lnTo>
                  <a:pt x="17794" y="191162"/>
                </a:lnTo>
                <a:lnTo>
                  <a:pt x="30479" y="219767"/>
                </a:lnTo>
                <a:lnTo>
                  <a:pt x="30479" y="192024"/>
                </a:lnTo>
                <a:lnTo>
                  <a:pt x="31241" y="192786"/>
                </a:lnTo>
                <a:close/>
              </a:path>
              <a:path w="496570" h="353695">
                <a:moveTo>
                  <a:pt x="31241" y="1524"/>
                </a:moveTo>
                <a:lnTo>
                  <a:pt x="30479" y="2286"/>
                </a:lnTo>
                <a:lnTo>
                  <a:pt x="30479" y="3428"/>
                </a:lnTo>
                <a:lnTo>
                  <a:pt x="31241" y="1524"/>
                </a:lnTo>
                <a:close/>
              </a:path>
              <a:path w="496570" h="353695">
                <a:moveTo>
                  <a:pt x="41147" y="214121"/>
                </a:moveTo>
                <a:lnTo>
                  <a:pt x="35813" y="203453"/>
                </a:lnTo>
                <a:lnTo>
                  <a:pt x="30479" y="192024"/>
                </a:lnTo>
                <a:lnTo>
                  <a:pt x="30479" y="219767"/>
                </a:lnTo>
                <a:lnTo>
                  <a:pt x="32938" y="225311"/>
                </a:lnTo>
                <a:lnTo>
                  <a:pt x="40385" y="237270"/>
                </a:lnTo>
                <a:lnTo>
                  <a:pt x="40385" y="213359"/>
                </a:lnTo>
                <a:lnTo>
                  <a:pt x="41147" y="214121"/>
                </a:lnTo>
                <a:close/>
              </a:path>
              <a:path w="496570" h="353695">
                <a:moveTo>
                  <a:pt x="89915" y="278129"/>
                </a:moveTo>
                <a:lnTo>
                  <a:pt x="81533" y="269748"/>
                </a:lnTo>
                <a:lnTo>
                  <a:pt x="81533" y="270509"/>
                </a:lnTo>
                <a:lnTo>
                  <a:pt x="73913" y="261365"/>
                </a:lnTo>
                <a:lnTo>
                  <a:pt x="73913" y="262127"/>
                </a:lnTo>
                <a:lnTo>
                  <a:pt x="66293" y="252983"/>
                </a:lnTo>
                <a:lnTo>
                  <a:pt x="59435" y="243077"/>
                </a:lnTo>
                <a:lnTo>
                  <a:pt x="59435" y="243839"/>
                </a:lnTo>
                <a:lnTo>
                  <a:pt x="52577" y="233933"/>
                </a:lnTo>
                <a:lnTo>
                  <a:pt x="46481" y="224027"/>
                </a:lnTo>
                <a:lnTo>
                  <a:pt x="40385" y="213359"/>
                </a:lnTo>
                <a:lnTo>
                  <a:pt x="40385" y="237270"/>
                </a:lnTo>
                <a:lnTo>
                  <a:pt x="51656" y="255370"/>
                </a:lnTo>
                <a:lnTo>
                  <a:pt x="73503" y="281363"/>
                </a:lnTo>
                <a:lnTo>
                  <a:pt x="89153" y="295369"/>
                </a:lnTo>
                <a:lnTo>
                  <a:pt x="89153" y="278129"/>
                </a:lnTo>
                <a:lnTo>
                  <a:pt x="89915" y="278129"/>
                </a:lnTo>
                <a:close/>
              </a:path>
              <a:path w="496570" h="353695">
                <a:moveTo>
                  <a:pt x="107441" y="293369"/>
                </a:moveTo>
                <a:lnTo>
                  <a:pt x="89153" y="278129"/>
                </a:lnTo>
                <a:lnTo>
                  <a:pt x="89153" y="295369"/>
                </a:lnTo>
                <a:lnTo>
                  <a:pt x="98036" y="303319"/>
                </a:lnTo>
                <a:lnTo>
                  <a:pt x="106679" y="309111"/>
                </a:lnTo>
                <a:lnTo>
                  <a:pt x="106679" y="293369"/>
                </a:lnTo>
                <a:lnTo>
                  <a:pt x="107441" y="293369"/>
                </a:lnTo>
                <a:close/>
              </a:path>
              <a:path w="496570" h="353695">
                <a:moveTo>
                  <a:pt x="146303" y="317753"/>
                </a:moveTo>
                <a:lnTo>
                  <a:pt x="135635" y="312419"/>
                </a:lnTo>
                <a:lnTo>
                  <a:pt x="125729" y="306324"/>
                </a:lnTo>
                <a:lnTo>
                  <a:pt x="116585" y="300227"/>
                </a:lnTo>
                <a:lnTo>
                  <a:pt x="106679" y="293369"/>
                </a:lnTo>
                <a:lnTo>
                  <a:pt x="106679" y="309111"/>
                </a:lnTo>
                <a:lnTo>
                  <a:pt x="124811" y="321261"/>
                </a:lnTo>
                <a:lnTo>
                  <a:pt x="145541" y="331387"/>
                </a:lnTo>
                <a:lnTo>
                  <a:pt x="145541" y="317753"/>
                </a:lnTo>
                <a:lnTo>
                  <a:pt x="146303" y="317753"/>
                </a:lnTo>
                <a:close/>
              </a:path>
              <a:path w="496570" h="353695">
                <a:moveTo>
                  <a:pt x="178307" y="330707"/>
                </a:moveTo>
                <a:lnTo>
                  <a:pt x="166877" y="326898"/>
                </a:lnTo>
                <a:lnTo>
                  <a:pt x="145541" y="317753"/>
                </a:lnTo>
                <a:lnTo>
                  <a:pt x="145541" y="331387"/>
                </a:lnTo>
                <a:lnTo>
                  <a:pt x="153384" y="335217"/>
                </a:lnTo>
                <a:lnTo>
                  <a:pt x="177545" y="343287"/>
                </a:lnTo>
                <a:lnTo>
                  <a:pt x="177545" y="330707"/>
                </a:lnTo>
                <a:lnTo>
                  <a:pt x="178307" y="330707"/>
                </a:lnTo>
                <a:close/>
              </a:path>
              <a:path w="496570" h="353695">
                <a:moveTo>
                  <a:pt x="189737" y="333755"/>
                </a:moveTo>
                <a:lnTo>
                  <a:pt x="177545" y="330707"/>
                </a:lnTo>
                <a:lnTo>
                  <a:pt x="177545" y="343287"/>
                </a:lnTo>
                <a:lnTo>
                  <a:pt x="183312" y="345213"/>
                </a:lnTo>
                <a:lnTo>
                  <a:pt x="188975" y="346326"/>
                </a:lnTo>
                <a:lnTo>
                  <a:pt x="188975" y="333755"/>
                </a:lnTo>
                <a:lnTo>
                  <a:pt x="189737" y="333755"/>
                </a:lnTo>
                <a:close/>
              </a:path>
              <a:path w="496570" h="353695">
                <a:moveTo>
                  <a:pt x="212597" y="339089"/>
                </a:moveTo>
                <a:lnTo>
                  <a:pt x="200405" y="336803"/>
                </a:lnTo>
                <a:lnTo>
                  <a:pt x="188975" y="333755"/>
                </a:lnTo>
                <a:lnTo>
                  <a:pt x="188975" y="346326"/>
                </a:lnTo>
                <a:lnTo>
                  <a:pt x="211835" y="350818"/>
                </a:lnTo>
                <a:lnTo>
                  <a:pt x="211835" y="339089"/>
                </a:lnTo>
                <a:lnTo>
                  <a:pt x="212597" y="339089"/>
                </a:lnTo>
                <a:close/>
              </a:path>
              <a:path w="496570" h="353695">
                <a:moveTo>
                  <a:pt x="260603" y="352589"/>
                </a:moveTo>
                <a:lnTo>
                  <a:pt x="260603" y="341375"/>
                </a:lnTo>
                <a:lnTo>
                  <a:pt x="235457" y="341375"/>
                </a:lnTo>
                <a:lnTo>
                  <a:pt x="224027" y="340613"/>
                </a:lnTo>
                <a:lnTo>
                  <a:pt x="211835" y="339089"/>
                </a:lnTo>
                <a:lnTo>
                  <a:pt x="211835" y="350818"/>
                </a:lnTo>
                <a:lnTo>
                  <a:pt x="214151" y="351273"/>
                </a:lnTo>
                <a:lnTo>
                  <a:pt x="245457" y="353425"/>
                </a:lnTo>
                <a:lnTo>
                  <a:pt x="260603" y="352589"/>
                </a:lnTo>
                <a:close/>
              </a:path>
              <a:path w="496570" h="353695">
                <a:moveTo>
                  <a:pt x="236219" y="341375"/>
                </a:moveTo>
                <a:lnTo>
                  <a:pt x="235457" y="341328"/>
                </a:lnTo>
                <a:lnTo>
                  <a:pt x="236219" y="341375"/>
                </a:lnTo>
                <a:close/>
              </a:path>
              <a:path w="496570" h="353695">
                <a:moveTo>
                  <a:pt x="284225" y="350350"/>
                </a:moveTo>
                <a:lnTo>
                  <a:pt x="284225" y="339089"/>
                </a:lnTo>
                <a:lnTo>
                  <a:pt x="272033" y="340613"/>
                </a:lnTo>
                <a:lnTo>
                  <a:pt x="259841" y="341375"/>
                </a:lnTo>
                <a:lnTo>
                  <a:pt x="260603" y="341375"/>
                </a:lnTo>
                <a:lnTo>
                  <a:pt x="260603" y="352589"/>
                </a:lnTo>
                <a:lnTo>
                  <a:pt x="276786" y="351694"/>
                </a:lnTo>
                <a:lnTo>
                  <a:pt x="284225" y="350350"/>
                </a:lnTo>
                <a:close/>
              </a:path>
              <a:path w="496570" h="353695">
                <a:moveTo>
                  <a:pt x="318515" y="342715"/>
                </a:moveTo>
                <a:lnTo>
                  <a:pt x="318515" y="330707"/>
                </a:lnTo>
                <a:lnTo>
                  <a:pt x="295655" y="336803"/>
                </a:lnTo>
                <a:lnTo>
                  <a:pt x="283463" y="339089"/>
                </a:lnTo>
                <a:lnTo>
                  <a:pt x="284225" y="339089"/>
                </a:lnTo>
                <a:lnTo>
                  <a:pt x="284225" y="350350"/>
                </a:lnTo>
                <a:lnTo>
                  <a:pt x="307696" y="346107"/>
                </a:lnTo>
                <a:lnTo>
                  <a:pt x="318515" y="342715"/>
                </a:lnTo>
                <a:close/>
              </a:path>
              <a:path w="496570" h="353695">
                <a:moveTo>
                  <a:pt x="350519" y="330809"/>
                </a:moveTo>
                <a:lnTo>
                  <a:pt x="350519" y="317753"/>
                </a:lnTo>
                <a:lnTo>
                  <a:pt x="329183" y="326898"/>
                </a:lnTo>
                <a:lnTo>
                  <a:pt x="317753" y="330707"/>
                </a:lnTo>
                <a:lnTo>
                  <a:pt x="318515" y="330707"/>
                </a:lnTo>
                <a:lnTo>
                  <a:pt x="318515" y="342715"/>
                </a:lnTo>
                <a:lnTo>
                  <a:pt x="337741" y="336688"/>
                </a:lnTo>
                <a:lnTo>
                  <a:pt x="350519" y="330809"/>
                </a:lnTo>
                <a:close/>
              </a:path>
              <a:path w="496570" h="353695">
                <a:moveTo>
                  <a:pt x="380238" y="314797"/>
                </a:moveTo>
                <a:lnTo>
                  <a:pt x="380238" y="300227"/>
                </a:lnTo>
                <a:lnTo>
                  <a:pt x="360425" y="312419"/>
                </a:lnTo>
                <a:lnTo>
                  <a:pt x="349757" y="317753"/>
                </a:lnTo>
                <a:lnTo>
                  <a:pt x="350519" y="317753"/>
                </a:lnTo>
                <a:lnTo>
                  <a:pt x="350519" y="330809"/>
                </a:lnTo>
                <a:lnTo>
                  <a:pt x="366479" y="323465"/>
                </a:lnTo>
                <a:lnTo>
                  <a:pt x="380238" y="314797"/>
                </a:lnTo>
                <a:close/>
              </a:path>
              <a:path w="496570" h="353695">
                <a:moveTo>
                  <a:pt x="389381" y="309036"/>
                </a:moveTo>
                <a:lnTo>
                  <a:pt x="389381" y="293369"/>
                </a:lnTo>
                <a:lnTo>
                  <a:pt x="379475" y="300227"/>
                </a:lnTo>
                <a:lnTo>
                  <a:pt x="380238" y="300227"/>
                </a:lnTo>
                <a:lnTo>
                  <a:pt x="380238" y="314797"/>
                </a:lnTo>
                <a:lnTo>
                  <a:pt x="389381" y="309036"/>
                </a:lnTo>
                <a:close/>
              </a:path>
              <a:path w="496570" h="353695">
                <a:moveTo>
                  <a:pt x="406907" y="295209"/>
                </a:moveTo>
                <a:lnTo>
                  <a:pt x="406907" y="278129"/>
                </a:lnTo>
                <a:lnTo>
                  <a:pt x="388619" y="293369"/>
                </a:lnTo>
                <a:lnTo>
                  <a:pt x="389381" y="293369"/>
                </a:lnTo>
                <a:lnTo>
                  <a:pt x="389381" y="309036"/>
                </a:lnTo>
                <a:lnTo>
                  <a:pt x="393465" y="306463"/>
                </a:lnTo>
                <a:lnTo>
                  <a:pt x="406907" y="295209"/>
                </a:lnTo>
                <a:close/>
              </a:path>
              <a:path w="496570" h="353695">
                <a:moveTo>
                  <a:pt x="422909" y="280566"/>
                </a:moveTo>
                <a:lnTo>
                  <a:pt x="422909" y="261365"/>
                </a:lnTo>
                <a:lnTo>
                  <a:pt x="414527" y="270509"/>
                </a:lnTo>
                <a:lnTo>
                  <a:pt x="414527" y="269748"/>
                </a:lnTo>
                <a:lnTo>
                  <a:pt x="406145" y="278129"/>
                </a:lnTo>
                <a:lnTo>
                  <a:pt x="406907" y="278129"/>
                </a:lnTo>
                <a:lnTo>
                  <a:pt x="406907" y="295209"/>
                </a:lnTo>
                <a:lnTo>
                  <a:pt x="418257" y="285708"/>
                </a:lnTo>
                <a:lnTo>
                  <a:pt x="422909" y="280566"/>
                </a:lnTo>
                <a:close/>
              </a:path>
              <a:path w="496570" h="353695">
                <a:moveTo>
                  <a:pt x="455675" y="238665"/>
                </a:moveTo>
                <a:lnTo>
                  <a:pt x="455675" y="213359"/>
                </a:lnTo>
                <a:lnTo>
                  <a:pt x="448290" y="226218"/>
                </a:lnTo>
                <a:lnTo>
                  <a:pt x="440264" y="238682"/>
                </a:lnTo>
                <a:lnTo>
                  <a:pt x="431562" y="250677"/>
                </a:lnTo>
                <a:lnTo>
                  <a:pt x="422147" y="262127"/>
                </a:lnTo>
                <a:lnTo>
                  <a:pt x="422909" y="261365"/>
                </a:lnTo>
                <a:lnTo>
                  <a:pt x="422909" y="280566"/>
                </a:lnTo>
                <a:lnTo>
                  <a:pt x="440409" y="261226"/>
                </a:lnTo>
                <a:lnTo>
                  <a:pt x="455675" y="238665"/>
                </a:lnTo>
                <a:close/>
              </a:path>
              <a:path w="496570" h="353695">
                <a:moveTo>
                  <a:pt x="465581" y="220536"/>
                </a:moveTo>
                <a:lnTo>
                  <a:pt x="465581" y="192024"/>
                </a:lnTo>
                <a:lnTo>
                  <a:pt x="460247" y="203453"/>
                </a:lnTo>
                <a:lnTo>
                  <a:pt x="454913" y="214121"/>
                </a:lnTo>
                <a:lnTo>
                  <a:pt x="455675" y="213359"/>
                </a:lnTo>
                <a:lnTo>
                  <a:pt x="455675" y="238665"/>
                </a:lnTo>
                <a:lnTo>
                  <a:pt x="459480" y="233043"/>
                </a:lnTo>
                <a:lnTo>
                  <a:pt x="465581" y="220536"/>
                </a:lnTo>
                <a:close/>
              </a:path>
              <a:path w="496570" h="353695">
                <a:moveTo>
                  <a:pt x="496061" y="83819"/>
                </a:moveTo>
                <a:lnTo>
                  <a:pt x="489460" y="40635"/>
                </a:lnTo>
                <a:lnTo>
                  <a:pt x="478075" y="1721"/>
                </a:lnTo>
                <a:lnTo>
                  <a:pt x="477297" y="0"/>
                </a:lnTo>
                <a:lnTo>
                  <a:pt x="464515" y="0"/>
                </a:lnTo>
                <a:lnTo>
                  <a:pt x="465581" y="2286"/>
                </a:lnTo>
                <a:lnTo>
                  <a:pt x="465581" y="3516"/>
                </a:lnTo>
                <a:lnTo>
                  <a:pt x="471369" y="18651"/>
                </a:lnTo>
                <a:lnTo>
                  <a:pt x="476469" y="36242"/>
                </a:lnTo>
                <a:lnTo>
                  <a:pt x="480125" y="54191"/>
                </a:lnTo>
                <a:lnTo>
                  <a:pt x="482345" y="72389"/>
                </a:lnTo>
                <a:lnTo>
                  <a:pt x="482345" y="71627"/>
                </a:lnTo>
                <a:lnTo>
                  <a:pt x="483847" y="97154"/>
                </a:lnTo>
                <a:lnTo>
                  <a:pt x="483869" y="96774"/>
                </a:lnTo>
                <a:lnTo>
                  <a:pt x="483869" y="174047"/>
                </a:lnTo>
                <a:lnTo>
                  <a:pt x="486598" y="165677"/>
                </a:lnTo>
                <a:lnTo>
                  <a:pt x="493758" y="126547"/>
                </a:lnTo>
                <a:lnTo>
                  <a:pt x="496061" y="83819"/>
                </a:lnTo>
                <a:close/>
              </a:path>
              <a:path w="496570" h="353695">
                <a:moveTo>
                  <a:pt x="465581" y="3516"/>
                </a:moveTo>
                <a:lnTo>
                  <a:pt x="465581" y="2286"/>
                </a:lnTo>
                <a:lnTo>
                  <a:pt x="464819" y="1524"/>
                </a:lnTo>
                <a:lnTo>
                  <a:pt x="465581" y="3516"/>
                </a:lnTo>
                <a:close/>
              </a:path>
              <a:path w="496570" h="353695">
                <a:moveTo>
                  <a:pt x="483869" y="174047"/>
                </a:moveTo>
                <a:lnTo>
                  <a:pt x="483869" y="97536"/>
                </a:lnTo>
                <a:lnTo>
                  <a:pt x="483847" y="97154"/>
                </a:lnTo>
                <a:lnTo>
                  <a:pt x="482345" y="122681"/>
                </a:lnTo>
                <a:lnTo>
                  <a:pt x="482345" y="121919"/>
                </a:lnTo>
                <a:lnTo>
                  <a:pt x="480821" y="134874"/>
                </a:lnTo>
                <a:lnTo>
                  <a:pt x="480821" y="134112"/>
                </a:lnTo>
                <a:lnTo>
                  <a:pt x="479297" y="147065"/>
                </a:lnTo>
                <a:lnTo>
                  <a:pt x="479297" y="146303"/>
                </a:lnTo>
                <a:lnTo>
                  <a:pt x="476250" y="158495"/>
                </a:lnTo>
                <a:lnTo>
                  <a:pt x="473201" y="169925"/>
                </a:lnTo>
                <a:lnTo>
                  <a:pt x="469391" y="181355"/>
                </a:lnTo>
                <a:lnTo>
                  <a:pt x="464819" y="192786"/>
                </a:lnTo>
                <a:lnTo>
                  <a:pt x="465581" y="192024"/>
                </a:lnTo>
                <a:lnTo>
                  <a:pt x="465581" y="220536"/>
                </a:lnTo>
                <a:lnTo>
                  <a:pt x="475024" y="201184"/>
                </a:lnTo>
                <a:lnTo>
                  <a:pt x="483869" y="174047"/>
                </a:lnTo>
                <a:close/>
              </a:path>
              <a:path w="496570" h="353695">
                <a:moveTo>
                  <a:pt x="483869" y="97536"/>
                </a:moveTo>
                <a:lnTo>
                  <a:pt x="483869" y="96774"/>
                </a:lnTo>
                <a:lnTo>
                  <a:pt x="483847" y="97154"/>
                </a:lnTo>
                <a:lnTo>
                  <a:pt x="483869" y="975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56823" y="4776978"/>
            <a:ext cx="311150" cy="295275"/>
          </a:xfrm>
          <a:custGeom>
            <a:avLst/>
            <a:gdLst/>
            <a:ahLst/>
            <a:cxnLst/>
            <a:rect l="l" t="t" r="r" b="b"/>
            <a:pathLst>
              <a:path w="311150" h="295275">
                <a:moveTo>
                  <a:pt x="60971" y="249407"/>
                </a:moveTo>
                <a:lnTo>
                  <a:pt x="44196" y="222504"/>
                </a:lnTo>
                <a:lnTo>
                  <a:pt x="0" y="294894"/>
                </a:lnTo>
                <a:lnTo>
                  <a:pt x="50292" y="290363"/>
                </a:lnTo>
                <a:lnTo>
                  <a:pt x="50292" y="256032"/>
                </a:lnTo>
                <a:lnTo>
                  <a:pt x="60971" y="249407"/>
                </a:lnTo>
                <a:close/>
              </a:path>
              <a:path w="311150" h="295275">
                <a:moveTo>
                  <a:pt x="67884" y="260494"/>
                </a:moveTo>
                <a:lnTo>
                  <a:pt x="60971" y="249407"/>
                </a:lnTo>
                <a:lnTo>
                  <a:pt x="50292" y="256032"/>
                </a:lnTo>
                <a:lnTo>
                  <a:pt x="57150" y="267462"/>
                </a:lnTo>
                <a:lnTo>
                  <a:pt x="67884" y="260494"/>
                </a:lnTo>
                <a:close/>
              </a:path>
              <a:path w="311150" h="295275">
                <a:moveTo>
                  <a:pt x="84582" y="287274"/>
                </a:moveTo>
                <a:lnTo>
                  <a:pt x="67884" y="260494"/>
                </a:lnTo>
                <a:lnTo>
                  <a:pt x="57150" y="267462"/>
                </a:lnTo>
                <a:lnTo>
                  <a:pt x="50292" y="256032"/>
                </a:lnTo>
                <a:lnTo>
                  <a:pt x="50292" y="290363"/>
                </a:lnTo>
                <a:lnTo>
                  <a:pt x="84582" y="287274"/>
                </a:lnTo>
                <a:close/>
              </a:path>
              <a:path w="311150" h="295275">
                <a:moveTo>
                  <a:pt x="262128" y="127720"/>
                </a:moveTo>
                <a:lnTo>
                  <a:pt x="262128" y="111251"/>
                </a:lnTo>
                <a:lnTo>
                  <a:pt x="221926" y="142969"/>
                </a:lnTo>
                <a:lnTo>
                  <a:pt x="180122" y="172913"/>
                </a:lnTo>
                <a:lnTo>
                  <a:pt x="137235" y="201475"/>
                </a:lnTo>
                <a:lnTo>
                  <a:pt x="93785" y="229051"/>
                </a:lnTo>
                <a:lnTo>
                  <a:pt x="60971" y="249407"/>
                </a:lnTo>
                <a:lnTo>
                  <a:pt x="67884" y="260494"/>
                </a:lnTo>
                <a:lnTo>
                  <a:pt x="130799" y="219785"/>
                </a:lnTo>
                <a:lnTo>
                  <a:pt x="165590" y="197106"/>
                </a:lnTo>
                <a:lnTo>
                  <a:pt x="198168" y="175293"/>
                </a:lnTo>
                <a:lnTo>
                  <a:pt x="254112" y="134543"/>
                </a:lnTo>
                <a:lnTo>
                  <a:pt x="262128" y="127720"/>
                </a:lnTo>
                <a:close/>
              </a:path>
              <a:path w="311150" h="295275">
                <a:moveTo>
                  <a:pt x="311145" y="66513"/>
                </a:moveTo>
                <a:lnTo>
                  <a:pt x="285662" y="29479"/>
                </a:lnTo>
                <a:lnTo>
                  <a:pt x="226522" y="12501"/>
                </a:lnTo>
                <a:lnTo>
                  <a:pt x="182377" y="6535"/>
                </a:lnTo>
                <a:lnTo>
                  <a:pt x="127658" y="2345"/>
                </a:lnTo>
                <a:lnTo>
                  <a:pt x="61722" y="0"/>
                </a:lnTo>
                <a:lnTo>
                  <a:pt x="61722" y="12954"/>
                </a:lnTo>
                <a:lnTo>
                  <a:pt x="85344" y="13716"/>
                </a:lnTo>
                <a:lnTo>
                  <a:pt x="108966" y="15239"/>
                </a:lnTo>
                <a:lnTo>
                  <a:pt x="153924" y="18237"/>
                </a:lnTo>
                <a:lnTo>
                  <a:pt x="154686" y="18347"/>
                </a:lnTo>
                <a:lnTo>
                  <a:pt x="183462" y="20584"/>
                </a:lnTo>
                <a:lnTo>
                  <a:pt x="216160" y="24326"/>
                </a:lnTo>
                <a:lnTo>
                  <a:pt x="248410" y="30193"/>
                </a:lnTo>
                <a:lnTo>
                  <a:pt x="276606" y="38862"/>
                </a:lnTo>
                <a:lnTo>
                  <a:pt x="276606" y="39147"/>
                </a:lnTo>
                <a:lnTo>
                  <a:pt x="281939" y="41148"/>
                </a:lnTo>
                <a:lnTo>
                  <a:pt x="281939" y="41474"/>
                </a:lnTo>
                <a:lnTo>
                  <a:pt x="286512" y="43434"/>
                </a:lnTo>
                <a:lnTo>
                  <a:pt x="286512" y="43942"/>
                </a:lnTo>
                <a:lnTo>
                  <a:pt x="289560" y="45974"/>
                </a:lnTo>
                <a:lnTo>
                  <a:pt x="289560" y="45720"/>
                </a:lnTo>
                <a:lnTo>
                  <a:pt x="292608" y="48158"/>
                </a:lnTo>
                <a:lnTo>
                  <a:pt x="292608" y="48006"/>
                </a:lnTo>
                <a:lnTo>
                  <a:pt x="293370" y="48768"/>
                </a:lnTo>
                <a:lnTo>
                  <a:pt x="293370" y="48958"/>
                </a:lnTo>
                <a:lnTo>
                  <a:pt x="294894" y="50863"/>
                </a:lnTo>
                <a:lnTo>
                  <a:pt x="294894" y="50292"/>
                </a:lnTo>
                <a:lnTo>
                  <a:pt x="297180" y="54101"/>
                </a:lnTo>
                <a:lnTo>
                  <a:pt x="297180" y="54610"/>
                </a:lnTo>
                <a:lnTo>
                  <a:pt x="297942" y="55880"/>
                </a:lnTo>
                <a:lnTo>
                  <a:pt x="297942" y="55625"/>
                </a:lnTo>
                <a:lnTo>
                  <a:pt x="298704" y="57150"/>
                </a:lnTo>
                <a:lnTo>
                  <a:pt x="298704" y="90871"/>
                </a:lnTo>
                <a:lnTo>
                  <a:pt x="305352" y="81662"/>
                </a:lnTo>
                <a:lnTo>
                  <a:pt x="311145" y="66513"/>
                </a:lnTo>
                <a:close/>
              </a:path>
              <a:path w="311150" h="295275">
                <a:moveTo>
                  <a:pt x="154686" y="18347"/>
                </a:moveTo>
                <a:lnTo>
                  <a:pt x="153924" y="18287"/>
                </a:lnTo>
                <a:lnTo>
                  <a:pt x="154686" y="18347"/>
                </a:lnTo>
                <a:close/>
              </a:path>
              <a:path w="311150" h="295275">
                <a:moveTo>
                  <a:pt x="275082" y="116693"/>
                </a:moveTo>
                <a:lnTo>
                  <a:pt x="275082" y="99060"/>
                </a:lnTo>
                <a:lnTo>
                  <a:pt x="261366" y="111251"/>
                </a:lnTo>
                <a:lnTo>
                  <a:pt x="262128" y="111251"/>
                </a:lnTo>
                <a:lnTo>
                  <a:pt x="262128" y="127720"/>
                </a:lnTo>
                <a:lnTo>
                  <a:pt x="275082" y="116693"/>
                </a:lnTo>
                <a:close/>
              </a:path>
              <a:path w="311150" h="295275">
                <a:moveTo>
                  <a:pt x="289560" y="102105"/>
                </a:moveTo>
                <a:lnTo>
                  <a:pt x="289560" y="82296"/>
                </a:lnTo>
                <a:lnTo>
                  <a:pt x="284988" y="87630"/>
                </a:lnTo>
                <a:lnTo>
                  <a:pt x="280416" y="93725"/>
                </a:lnTo>
                <a:lnTo>
                  <a:pt x="280416" y="92963"/>
                </a:lnTo>
                <a:lnTo>
                  <a:pt x="274320" y="99060"/>
                </a:lnTo>
                <a:lnTo>
                  <a:pt x="275082" y="99060"/>
                </a:lnTo>
                <a:lnTo>
                  <a:pt x="275082" y="116693"/>
                </a:lnTo>
                <a:lnTo>
                  <a:pt x="276192" y="115747"/>
                </a:lnTo>
                <a:lnTo>
                  <a:pt x="289560" y="102105"/>
                </a:lnTo>
                <a:close/>
              </a:path>
              <a:path w="311150" h="295275">
                <a:moveTo>
                  <a:pt x="276606" y="39147"/>
                </a:moveTo>
                <a:lnTo>
                  <a:pt x="276606" y="38862"/>
                </a:lnTo>
                <a:lnTo>
                  <a:pt x="275844" y="38862"/>
                </a:lnTo>
                <a:lnTo>
                  <a:pt x="276606" y="39147"/>
                </a:lnTo>
                <a:close/>
              </a:path>
              <a:path w="311150" h="295275">
                <a:moveTo>
                  <a:pt x="281939" y="41474"/>
                </a:moveTo>
                <a:lnTo>
                  <a:pt x="281939" y="41148"/>
                </a:lnTo>
                <a:lnTo>
                  <a:pt x="281178" y="41148"/>
                </a:lnTo>
                <a:lnTo>
                  <a:pt x="281939" y="41474"/>
                </a:lnTo>
                <a:close/>
              </a:path>
              <a:path w="311150" h="295275">
                <a:moveTo>
                  <a:pt x="286512" y="43942"/>
                </a:moveTo>
                <a:lnTo>
                  <a:pt x="286512" y="43434"/>
                </a:lnTo>
                <a:lnTo>
                  <a:pt x="285750" y="43434"/>
                </a:lnTo>
                <a:lnTo>
                  <a:pt x="286512" y="43942"/>
                </a:lnTo>
                <a:close/>
              </a:path>
              <a:path w="311150" h="295275">
                <a:moveTo>
                  <a:pt x="295656" y="95093"/>
                </a:moveTo>
                <a:lnTo>
                  <a:pt x="295656" y="73151"/>
                </a:lnTo>
                <a:lnTo>
                  <a:pt x="292608" y="77724"/>
                </a:lnTo>
                <a:lnTo>
                  <a:pt x="288798" y="83058"/>
                </a:lnTo>
                <a:lnTo>
                  <a:pt x="289560" y="82296"/>
                </a:lnTo>
                <a:lnTo>
                  <a:pt x="289560" y="102105"/>
                </a:lnTo>
                <a:lnTo>
                  <a:pt x="293487" y="98097"/>
                </a:lnTo>
                <a:lnTo>
                  <a:pt x="295656" y="95093"/>
                </a:lnTo>
                <a:close/>
              </a:path>
              <a:path w="311150" h="295275">
                <a:moveTo>
                  <a:pt x="290322" y="46482"/>
                </a:moveTo>
                <a:lnTo>
                  <a:pt x="289560" y="45720"/>
                </a:lnTo>
                <a:lnTo>
                  <a:pt x="289560" y="45974"/>
                </a:lnTo>
                <a:lnTo>
                  <a:pt x="290322" y="46482"/>
                </a:lnTo>
                <a:close/>
              </a:path>
              <a:path w="311150" h="295275">
                <a:moveTo>
                  <a:pt x="293370" y="48768"/>
                </a:moveTo>
                <a:lnTo>
                  <a:pt x="292608" y="48006"/>
                </a:lnTo>
                <a:lnTo>
                  <a:pt x="292946" y="48429"/>
                </a:lnTo>
                <a:lnTo>
                  <a:pt x="293370" y="48768"/>
                </a:lnTo>
                <a:close/>
              </a:path>
              <a:path w="311150" h="295275">
                <a:moveTo>
                  <a:pt x="292946" y="48429"/>
                </a:moveTo>
                <a:lnTo>
                  <a:pt x="292608" y="48006"/>
                </a:lnTo>
                <a:lnTo>
                  <a:pt x="292608" y="48158"/>
                </a:lnTo>
                <a:lnTo>
                  <a:pt x="292946" y="48429"/>
                </a:lnTo>
                <a:close/>
              </a:path>
              <a:path w="311150" h="295275">
                <a:moveTo>
                  <a:pt x="293370" y="48958"/>
                </a:moveTo>
                <a:lnTo>
                  <a:pt x="293370" y="48768"/>
                </a:lnTo>
                <a:lnTo>
                  <a:pt x="292946" y="48429"/>
                </a:lnTo>
                <a:lnTo>
                  <a:pt x="293370" y="48958"/>
                </a:lnTo>
                <a:close/>
              </a:path>
              <a:path w="311150" h="295275">
                <a:moveTo>
                  <a:pt x="295656" y="51816"/>
                </a:moveTo>
                <a:lnTo>
                  <a:pt x="294894" y="50292"/>
                </a:lnTo>
                <a:lnTo>
                  <a:pt x="294894" y="50863"/>
                </a:lnTo>
                <a:lnTo>
                  <a:pt x="295656" y="51816"/>
                </a:lnTo>
                <a:close/>
              </a:path>
              <a:path w="311150" h="295275">
                <a:moveTo>
                  <a:pt x="298704" y="90871"/>
                </a:moveTo>
                <a:lnTo>
                  <a:pt x="298704" y="64770"/>
                </a:lnTo>
                <a:lnTo>
                  <a:pt x="297180" y="69342"/>
                </a:lnTo>
                <a:lnTo>
                  <a:pt x="297180" y="68580"/>
                </a:lnTo>
                <a:lnTo>
                  <a:pt x="294894" y="73151"/>
                </a:lnTo>
                <a:lnTo>
                  <a:pt x="295656" y="73151"/>
                </a:lnTo>
                <a:lnTo>
                  <a:pt x="295656" y="95093"/>
                </a:lnTo>
                <a:lnTo>
                  <a:pt x="298704" y="90871"/>
                </a:lnTo>
                <a:close/>
              </a:path>
              <a:path w="311150" h="295275">
                <a:moveTo>
                  <a:pt x="297180" y="54610"/>
                </a:moveTo>
                <a:lnTo>
                  <a:pt x="297180" y="54101"/>
                </a:lnTo>
                <a:lnTo>
                  <a:pt x="296418" y="53339"/>
                </a:lnTo>
                <a:lnTo>
                  <a:pt x="297180" y="54610"/>
                </a:lnTo>
                <a:close/>
              </a:path>
              <a:path w="311150" h="295275">
                <a:moveTo>
                  <a:pt x="298704" y="57150"/>
                </a:moveTo>
                <a:lnTo>
                  <a:pt x="297942" y="55625"/>
                </a:lnTo>
                <a:lnTo>
                  <a:pt x="298018" y="56006"/>
                </a:lnTo>
                <a:lnTo>
                  <a:pt x="298704" y="57150"/>
                </a:lnTo>
                <a:close/>
              </a:path>
              <a:path w="311150" h="295275">
                <a:moveTo>
                  <a:pt x="298018" y="56006"/>
                </a:moveTo>
                <a:lnTo>
                  <a:pt x="297942" y="55625"/>
                </a:lnTo>
                <a:lnTo>
                  <a:pt x="297942" y="55880"/>
                </a:lnTo>
                <a:close/>
              </a:path>
              <a:path w="311150" h="295275">
                <a:moveTo>
                  <a:pt x="298704" y="64770"/>
                </a:moveTo>
                <a:lnTo>
                  <a:pt x="298704" y="61722"/>
                </a:lnTo>
                <a:lnTo>
                  <a:pt x="297942" y="65532"/>
                </a:lnTo>
                <a:lnTo>
                  <a:pt x="298704" y="64770"/>
                </a:lnTo>
                <a:close/>
              </a:path>
              <a:path w="311150" h="295275">
                <a:moveTo>
                  <a:pt x="298704" y="59436"/>
                </a:moveTo>
                <a:lnTo>
                  <a:pt x="298704" y="57150"/>
                </a:lnTo>
                <a:lnTo>
                  <a:pt x="298018" y="56006"/>
                </a:lnTo>
                <a:lnTo>
                  <a:pt x="298704" y="594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36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2610497" y="2205227"/>
          <a:ext cx="5119864" cy="4884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722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62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5031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505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2106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24099">
                <a:tc>
                  <a:txBody>
                    <a:bodyPr/>
                    <a:lstStyle/>
                    <a:p>
                      <a:pPr marL="76835">
                        <a:lnSpc>
                          <a:spcPts val="327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Token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327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Stack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327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Top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2895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0780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B w="121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62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B w="121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21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1285" algn="ctr">
                        <a:lnSpc>
                          <a:spcPts val="262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  <a:lnB w="121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B w="1219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8666">
                <a:tc>
                  <a:txBody>
                    <a:bodyPr/>
                    <a:lstStyle/>
                    <a:p>
                      <a:pPr algn="ctr">
                        <a:lnSpc>
                          <a:spcPts val="334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2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334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T w="12192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12192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  <a:lnT w="12192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334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192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R="6985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/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-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0650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*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8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58118"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+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8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953">
                      <a:solidFill>
                        <a:srgbClr val="000000"/>
                      </a:solidFill>
                      <a:prstDash val="solid"/>
                    </a:lnR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774839" y="2920745"/>
            <a:ext cx="824484" cy="4286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67967" y="512571"/>
            <a:ext cx="1853564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0" u="sng" spc="-5" dirty="0">
                <a:solidFill>
                  <a:srgbClr val="000000"/>
                </a:solidFill>
                <a:latin typeface="Courier New"/>
                <a:cs typeface="Courier New"/>
              </a:rPr>
              <a:t>Program</a:t>
            </a:r>
            <a:r>
              <a:rPr sz="2000" b="1" i="0" u="sng" spc="-7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000" b="1" i="0" u="sng" spc="-5" dirty="0">
                <a:solidFill>
                  <a:srgbClr val="000000"/>
                </a:solidFill>
                <a:latin typeface="Courier New"/>
                <a:cs typeface="Courier New"/>
              </a:rPr>
              <a:t>3.18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7967" y="817371"/>
            <a:ext cx="7795895" cy="638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void eval(expression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e)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/* Evaluate the postfix expression e. It is</a:t>
            </a:r>
            <a:r>
              <a:rPr sz="2000" b="1" spc="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assumed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38491" y="1426971"/>
            <a:ext cx="3378835" cy="943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35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is either an operator,  A function NextToken  from e. The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function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7967" y="1426971"/>
            <a:ext cx="4444365" cy="155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that the last token ( a token  operand, or ‘#’) in e is ‘#’.  is used to get the next token  uses the stack stack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*/</a:t>
            </a:r>
            <a:endParaRPr sz="2000">
              <a:latin typeface="Courier New"/>
              <a:cs typeface="Courier New"/>
            </a:endParaRPr>
          </a:p>
          <a:p>
            <a:pPr marL="12700" algn="just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14095" rIns="0" bIns="0" rtlCol="0">
            <a:spAutoFit/>
          </a:bodyPr>
          <a:lstStyle/>
          <a:p>
            <a:pPr marL="995044" marR="5080">
              <a:lnSpc>
                <a:spcPct val="100000"/>
              </a:lnSpc>
            </a:pPr>
            <a:r>
              <a:rPr spc="-5" dirty="0"/>
              <a:t>Stack&lt;token&gt; stack ; //initialize stack  for(token</a:t>
            </a:r>
            <a:r>
              <a:rPr spc="65" dirty="0"/>
              <a:t> </a:t>
            </a:r>
            <a:r>
              <a:rPr spc="-5" dirty="0"/>
              <a:t>x=NextToken(e);x!='#';x=NextToken(e))</a:t>
            </a:r>
          </a:p>
          <a:p>
            <a:pPr marL="1452880">
              <a:lnSpc>
                <a:spcPct val="100000"/>
              </a:lnSpc>
            </a:pPr>
            <a:r>
              <a:rPr spc="-5" dirty="0"/>
              <a:t>if(x is an operand) stack.Add(x) // add</a:t>
            </a:r>
            <a:r>
              <a:rPr spc="45" dirty="0"/>
              <a:t> </a:t>
            </a:r>
            <a:r>
              <a:rPr spc="-5" dirty="0"/>
              <a:t>to</a:t>
            </a:r>
          </a:p>
          <a:p>
            <a:pPr marL="539115">
              <a:lnSpc>
                <a:spcPct val="100000"/>
              </a:lnSpc>
            </a:pPr>
            <a:r>
              <a:rPr spc="-5" dirty="0"/>
              <a:t>stack</a:t>
            </a:r>
          </a:p>
          <a:p>
            <a:pPr marL="1453515">
              <a:lnSpc>
                <a:spcPct val="100000"/>
              </a:lnSpc>
            </a:pPr>
            <a:r>
              <a:rPr spc="-5" dirty="0"/>
              <a:t>else</a:t>
            </a:r>
          </a:p>
          <a:p>
            <a:pPr marL="1452245">
              <a:lnSpc>
                <a:spcPct val="100000"/>
              </a:lnSpc>
            </a:pPr>
            <a:r>
              <a:rPr spc="-5" dirty="0"/>
              <a:t>{</a:t>
            </a:r>
            <a:r>
              <a:rPr spc="-65" dirty="0"/>
              <a:t> </a:t>
            </a:r>
            <a:r>
              <a:rPr spc="-5" dirty="0"/>
              <a:t>//operator</a:t>
            </a:r>
          </a:p>
          <a:p>
            <a:pPr marL="1757045">
              <a:lnSpc>
                <a:spcPct val="100000"/>
              </a:lnSpc>
            </a:pPr>
            <a:r>
              <a:rPr spc="-5" dirty="0"/>
              <a:t>remove the correct number of operands</a:t>
            </a:r>
            <a:r>
              <a:rPr spc="50" dirty="0"/>
              <a:t> </a:t>
            </a:r>
            <a:r>
              <a:rPr spc="-5" dirty="0"/>
              <a:t>for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205438" y="5084571"/>
            <a:ext cx="4445635" cy="943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stack</a:t>
            </a:r>
            <a:r>
              <a:rPr sz="2000" b="1" spc="-8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the operation x and store the  onto the stack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37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67967" y="5084571"/>
            <a:ext cx="2462530" cy="155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operator x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from</a:t>
            </a:r>
            <a:endParaRPr sz="2000">
              <a:latin typeface="Courier New"/>
              <a:cs typeface="Courier New"/>
            </a:endParaRPr>
          </a:p>
          <a:p>
            <a:pPr marL="12700" marR="156210" indent="121793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perform  result (if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any)</a:t>
            </a:r>
            <a:endParaRPr sz="2000">
              <a:latin typeface="Courier New"/>
              <a:cs typeface="Courier New"/>
            </a:endParaRPr>
          </a:p>
          <a:p>
            <a:pPr marR="447675" algn="ctr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 // end of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eval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dirty="0"/>
              <a:t>Phase 1: Infix to Postfix</a:t>
            </a:r>
            <a:r>
              <a:rPr spc="-100" dirty="0"/>
              <a:t> </a:t>
            </a:r>
            <a:r>
              <a:rPr dirty="0"/>
              <a:t>Conversion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5323205" cy="1522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Assumptions: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0"/>
              </a:spcBef>
            </a:pPr>
            <a:r>
              <a:rPr sz="2800" dirty="0">
                <a:latin typeface="Arial"/>
                <a:cs typeface="Arial"/>
              </a:rPr>
              <a:t>– operators: +, -, *, /,</a:t>
            </a:r>
            <a:r>
              <a:rPr sz="2800" spc="-2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%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Arial"/>
                <a:cs typeface="Arial"/>
              </a:rPr>
              <a:t>– operands: single digit</a:t>
            </a:r>
            <a:r>
              <a:rPr sz="2800" spc="-1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integer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ts val="4760"/>
              </a:lnSpc>
            </a:pPr>
            <a:r>
              <a:rPr dirty="0"/>
              <a:t>Phase 1: Infix to Postfix</a:t>
            </a:r>
            <a:r>
              <a:rPr spc="-100" dirty="0"/>
              <a:t> </a:t>
            </a:r>
            <a:r>
              <a:rPr dirty="0"/>
              <a:t>Conversion</a:t>
            </a:r>
          </a:p>
        </p:txBody>
      </p:sp>
      <p:sp>
        <p:nvSpPr>
          <p:cNvPr id="7" name="object 7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2063495"/>
            <a:ext cx="824484" cy="257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35085" y="1660270"/>
            <a:ext cx="6637655" cy="2844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7955">
              <a:lnSpc>
                <a:spcPts val="3320"/>
              </a:lnSpc>
            </a:pPr>
            <a:r>
              <a:rPr sz="2800" dirty="0">
                <a:latin typeface="Arial"/>
                <a:cs typeface="Arial"/>
              </a:rPr>
              <a:t>Intuitive</a:t>
            </a:r>
            <a:r>
              <a:rPr sz="2800" spc="-2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Algorithm</a:t>
            </a:r>
          </a:p>
          <a:p>
            <a:pPr marL="442913" marR="2125980" indent="-442913">
              <a:lnSpc>
                <a:spcPct val="100000"/>
              </a:lnSpc>
              <a:spcBef>
                <a:spcPts val="760"/>
              </a:spcBef>
              <a:buAutoNum type="arabicParenBoth"/>
              <a:tabLst>
                <a:tab pos="470534" algn="l"/>
              </a:tabLst>
            </a:pPr>
            <a:r>
              <a:rPr sz="2400" spc="-5" dirty="0">
                <a:latin typeface="Arial"/>
                <a:cs typeface="Arial"/>
              </a:rPr>
              <a:t>Fully parenthesize </a:t>
            </a:r>
            <a:r>
              <a:rPr sz="2400" spc="-10" dirty="0" smtClean="0">
                <a:latin typeface="Arial"/>
                <a:cs typeface="Arial"/>
              </a:rPr>
              <a:t>expression  </a:t>
            </a:r>
            <a:endParaRPr lang="en-US" sz="2400" spc="-10" dirty="0" smtClean="0">
              <a:latin typeface="Arial"/>
              <a:cs typeface="Arial"/>
            </a:endParaRPr>
          </a:p>
          <a:p>
            <a:pPr marL="12700" marR="2125980">
              <a:lnSpc>
                <a:spcPct val="100000"/>
              </a:lnSpc>
              <a:spcBef>
                <a:spcPts val="760"/>
              </a:spcBef>
              <a:tabLst>
                <a:tab pos="470534" algn="l"/>
              </a:tabLst>
            </a:pPr>
            <a:r>
              <a:rPr lang="en-US" sz="2400" spc="-10" dirty="0">
                <a:solidFill>
                  <a:srgbClr val="CC3300"/>
                </a:solidFill>
                <a:latin typeface="Arial"/>
                <a:cs typeface="Arial"/>
              </a:rPr>
              <a:t>	</a:t>
            </a:r>
            <a:r>
              <a:rPr lang="en-US" sz="2400" spc="-10" dirty="0" smtClean="0">
                <a:solidFill>
                  <a:srgbClr val="CC3300"/>
                </a:solidFill>
                <a:latin typeface="Arial"/>
                <a:cs typeface="Arial"/>
              </a:rPr>
              <a:t>	</a:t>
            </a:r>
            <a:r>
              <a:rPr sz="2400" spc="-5" dirty="0" smtClean="0">
                <a:solidFill>
                  <a:srgbClr val="CC3300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CC3300"/>
                </a:solidFill>
                <a:latin typeface="Arial"/>
                <a:cs typeface="Arial"/>
              </a:rPr>
              <a:t>/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b </a:t>
            </a:r>
            <a:r>
              <a:rPr sz="2400" dirty="0">
                <a:solidFill>
                  <a:srgbClr val="CC3300"/>
                </a:solidFill>
                <a:latin typeface="Arial"/>
                <a:cs typeface="Arial"/>
              </a:rPr>
              <a:t>- c +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d * e </a:t>
            </a:r>
            <a:r>
              <a:rPr sz="2400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a * </a:t>
            </a:r>
            <a:r>
              <a:rPr sz="2400" dirty="0">
                <a:solidFill>
                  <a:srgbClr val="CC3300"/>
                </a:solidFill>
                <a:latin typeface="Arial"/>
                <a:cs typeface="Arial"/>
              </a:rPr>
              <a:t>c</a:t>
            </a:r>
            <a:r>
              <a:rPr sz="2400" spc="-10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--&gt;</a:t>
            </a:r>
            <a:endParaRPr sz="2400" dirty="0">
              <a:latin typeface="Arial"/>
              <a:cs typeface="Arial"/>
            </a:endParaRPr>
          </a:p>
          <a:p>
            <a:pPr marR="620395" algn="ctr">
              <a:lnSpc>
                <a:spcPct val="100000"/>
              </a:lnSpc>
            </a:pP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((((a </a:t>
            </a:r>
            <a:r>
              <a:rPr sz="2400" dirty="0">
                <a:solidFill>
                  <a:srgbClr val="CC3300"/>
                </a:solidFill>
                <a:latin typeface="Arial"/>
                <a:cs typeface="Arial"/>
              </a:rPr>
              <a:t>/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b) </a:t>
            </a:r>
            <a:r>
              <a:rPr sz="2400" dirty="0">
                <a:solidFill>
                  <a:srgbClr val="CC3300"/>
                </a:solidFill>
                <a:latin typeface="Arial"/>
                <a:cs typeface="Arial"/>
              </a:rPr>
              <a:t>- c) +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(d * e)) – (a *</a:t>
            </a:r>
            <a:r>
              <a:rPr sz="2400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c))</a:t>
            </a:r>
            <a:endParaRPr sz="2400" dirty="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buAutoNum type="arabicParenBoth" startAt="2"/>
              <a:tabLst>
                <a:tab pos="452755" algn="l"/>
              </a:tabLst>
            </a:pPr>
            <a:r>
              <a:rPr sz="2400" spc="-5" dirty="0" smtClean="0">
                <a:latin typeface="Arial"/>
                <a:cs typeface="Arial"/>
              </a:rPr>
              <a:t>All </a:t>
            </a:r>
            <a:r>
              <a:rPr sz="2400" spc="-5" dirty="0">
                <a:latin typeface="Arial"/>
                <a:cs typeface="Arial"/>
              </a:rPr>
              <a:t>operators replace their corresponding right  </a:t>
            </a:r>
            <a:r>
              <a:rPr sz="2400" spc="-10" dirty="0">
                <a:latin typeface="Arial"/>
                <a:cs typeface="Arial"/>
              </a:rPr>
              <a:t>parentheses.</a:t>
            </a:r>
            <a:endParaRPr sz="2400" dirty="0">
              <a:latin typeface="Arial"/>
              <a:cs typeface="Arial"/>
            </a:endParaRPr>
          </a:p>
          <a:p>
            <a:pPr marR="624205" algn="ctr">
              <a:lnSpc>
                <a:spcPct val="100000"/>
              </a:lnSpc>
            </a:pP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((((a </a:t>
            </a:r>
            <a:r>
              <a:rPr sz="2400" dirty="0">
                <a:solidFill>
                  <a:srgbClr val="CC3300"/>
                </a:solidFill>
                <a:latin typeface="Arial"/>
                <a:cs typeface="Arial"/>
              </a:rPr>
              <a:t>/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b) </a:t>
            </a:r>
            <a:r>
              <a:rPr sz="2400" dirty="0">
                <a:solidFill>
                  <a:srgbClr val="CC3300"/>
                </a:solidFill>
                <a:latin typeface="Arial"/>
                <a:cs typeface="Arial"/>
              </a:rPr>
              <a:t>- c) +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(d * e)) </a:t>
            </a:r>
            <a:r>
              <a:rPr sz="2400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a *</a:t>
            </a:r>
            <a:r>
              <a:rPr sz="2400" spc="-8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c))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98900" y="4531996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98900" y="4840224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>
                <a:moveTo>
                  <a:pt x="0" y="0"/>
                </a:moveTo>
                <a:lnTo>
                  <a:pt x="329946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84650" y="4535043"/>
            <a:ext cx="76200" cy="292735"/>
          </a:xfrm>
          <a:custGeom>
            <a:avLst/>
            <a:gdLst/>
            <a:ahLst/>
            <a:cxnLst/>
            <a:rect l="l" t="t" r="r" b="b"/>
            <a:pathLst>
              <a:path w="76200" h="292735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03" y="76200"/>
                </a:lnTo>
                <a:lnTo>
                  <a:pt x="32003" y="64008"/>
                </a:lnTo>
                <a:lnTo>
                  <a:pt x="44195" y="64008"/>
                </a:lnTo>
                <a:lnTo>
                  <a:pt x="44195" y="76200"/>
                </a:lnTo>
                <a:lnTo>
                  <a:pt x="76200" y="76200"/>
                </a:lnTo>
                <a:close/>
              </a:path>
              <a:path w="76200" h="292735">
                <a:moveTo>
                  <a:pt x="44195" y="76200"/>
                </a:moveTo>
                <a:lnTo>
                  <a:pt x="44195" y="64008"/>
                </a:lnTo>
                <a:lnTo>
                  <a:pt x="32003" y="64008"/>
                </a:lnTo>
                <a:lnTo>
                  <a:pt x="32003" y="76200"/>
                </a:lnTo>
                <a:lnTo>
                  <a:pt x="44195" y="76200"/>
                </a:lnTo>
                <a:close/>
              </a:path>
              <a:path w="76200" h="292735">
                <a:moveTo>
                  <a:pt x="44195" y="292608"/>
                </a:moveTo>
                <a:lnTo>
                  <a:pt x="44195" y="76200"/>
                </a:lnTo>
                <a:lnTo>
                  <a:pt x="32003" y="76200"/>
                </a:lnTo>
                <a:lnTo>
                  <a:pt x="32003" y="292608"/>
                </a:lnTo>
                <a:lnTo>
                  <a:pt x="44195" y="2926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54779" y="4570096"/>
            <a:ext cx="0" cy="280035"/>
          </a:xfrm>
          <a:custGeom>
            <a:avLst/>
            <a:gdLst/>
            <a:ahLst/>
            <a:cxnLst/>
            <a:rect l="l" t="t" r="r" b="b"/>
            <a:pathLst>
              <a:path h="280035">
                <a:moveTo>
                  <a:pt x="0" y="0"/>
                </a:moveTo>
                <a:lnTo>
                  <a:pt x="0" y="2796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57446" y="4855846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608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15002" y="4554093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03" y="76200"/>
                </a:lnTo>
                <a:lnTo>
                  <a:pt x="32003" y="64008"/>
                </a:lnTo>
                <a:lnTo>
                  <a:pt x="44195" y="64008"/>
                </a:lnTo>
                <a:lnTo>
                  <a:pt x="44195" y="76200"/>
                </a:lnTo>
                <a:lnTo>
                  <a:pt x="76200" y="76200"/>
                </a:lnTo>
                <a:close/>
              </a:path>
              <a:path w="76200" h="304800">
                <a:moveTo>
                  <a:pt x="44195" y="76200"/>
                </a:moveTo>
                <a:lnTo>
                  <a:pt x="44195" y="64008"/>
                </a:lnTo>
                <a:lnTo>
                  <a:pt x="32003" y="64008"/>
                </a:lnTo>
                <a:lnTo>
                  <a:pt x="32003" y="76200"/>
                </a:lnTo>
                <a:lnTo>
                  <a:pt x="44195" y="76200"/>
                </a:lnTo>
                <a:close/>
              </a:path>
              <a:path w="76200" h="304800">
                <a:moveTo>
                  <a:pt x="44195" y="304800"/>
                </a:moveTo>
                <a:lnTo>
                  <a:pt x="44195" y="76200"/>
                </a:lnTo>
                <a:lnTo>
                  <a:pt x="32003" y="76200"/>
                </a:lnTo>
                <a:lnTo>
                  <a:pt x="32003" y="304800"/>
                </a:lnTo>
                <a:lnTo>
                  <a:pt x="44195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75300" y="4527423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75300" y="4869942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>
                <a:moveTo>
                  <a:pt x="0" y="0"/>
                </a:moveTo>
                <a:lnTo>
                  <a:pt x="329946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70956" y="4539616"/>
            <a:ext cx="76200" cy="330835"/>
          </a:xfrm>
          <a:custGeom>
            <a:avLst/>
            <a:gdLst/>
            <a:ahLst/>
            <a:cxnLst/>
            <a:rect l="l" t="t" r="r" b="b"/>
            <a:pathLst>
              <a:path w="76200" h="330835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1242" y="76200"/>
                </a:lnTo>
                <a:lnTo>
                  <a:pt x="31242" y="64007"/>
                </a:lnTo>
                <a:lnTo>
                  <a:pt x="44196" y="64007"/>
                </a:lnTo>
                <a:lnTo>
                  <a:pt x="44196" y="76200"/>
                </a:lnTo>
                <a:lnTo>
                  <a:pt x="76200" y="76200"/>
                </a:lnTo>
                <a:close/>
              </a:path>
              <a:path w="76200" h="330835">
                <a:moveTo>
                  <a:pt x="44196" y="76200"/>
                </a:moveTo>
                <a:lnTo>
                  <a:pt x="44196" y="64007"/>
                </a:lnTo>
                <a:lnTo>
                  <a:pt x="31242" y="64007"/>
                </a:lnTo>
                <a:lnTo>
                  <a:pt x="31242" y="76200"/>
                </a:lnTo>
                <a:lnTo>
                  <a:pt x="44196" y="76200"/>
                </a:lnTo>
                <a:close/>
              </a:path>
              <a:path w="76200" h="330835">
                <a:moveTo>
                  <a:pt x="44196" y="330707"/>
                </a:moveTo>
                <a:lnTo>
                  <a:pt x="44196" y="76200"/>
                </a:lnTo>
                <a:lnTo>
                  <a:pt x="31242" y="76200"/>
                </a:lnTo>
                <a:lnTo>
                  <a:pt x="31242" y="330707"/>
                </a:lnTo>
                <a:lnTo>
                  <a:pt x="44196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11801" y="4794123"/>
            <a:ext cx="0" cy="444500"/>
          </a:xfrm>
          <a:custGeom>
            <a:avLst/>
            <a:gdLst/>
            <a:ahLst/>
            <a:cxnLst/>
            <a:rect l="l" t="t" r="r" b="b"/>
            <a:pathLst>
              <a:path h="444500">
                <a:moveTo>
                  <a:pt x="0" y="0"/>
                </a:moveTo>
                <a:lnTo>
                  <a:pt x="0" y="444246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11420" y="5238370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08878" y="4743070"/>
            <a:ext cx="76200" cy="495300"/>
          </a:xfrm>
          <a:custGeom>
            <a:avLst/>
            <a:gdLst/>
            <a:ahLst/>
            <a:cxnLst/>
            <a:rect l="l" t="t" r="r" b="b"/>
            <a:pathLst>
              <a:path w="76200" h="4953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1242" y="76200"/>
                </a:lnTo>
                <a:lnTo>
                  <a:pt x="31242" y="63246"/>
                </a:lnTo>
                <a:lnTo>
                  <a:pt x="44196" y="63246"/>
                </a:lnTo>
                <a:lnTo>
                  <a:pt x="44196" y="76200"/>
                </a:lnTo>
                <a:lnTo>
                  <a:pt x="76200" y="76200"/>
                </a:lnTo>
                <a:close/>
              </a:path>
              <a:path w="76200" h="495300">
                <a:moveTo>
                  <a:pt x="44196" y="76200"/>
                </a:moveTo>
                <a:lnTo>
                  <a:pt x="44196" y="63246"/>
                </a:lnTo>
                <a:lnTo>
                  <a:pt x="31242" y="63246"/>
                </a:lnTo>
                <a:lnTo>
                  <a:pt x="31242" y="76200"/>
                </a:lnTo>
                <a:lnTo>
                  <a:pt x="44196" y="76200"/>
                </a:lnTo>
                <a:close/>
              </a:path>
              <a:path w="76200" h="495300">
                <a:moveTo>
                  <a:pt x="44196" y="495300"/>
                </a:moveTo>
                <a:lnTo>
                  <a:pt x="44196" y="76200"/>
                </a:lnTo>
                <a:lnTo>
                  <a:pt x="31242" y="76200"/>
                </a:lnTo>
                <a:lnTo>
                  <a:pt x="31242" y="495300"/>
                </a:lnTo>
                <a:lnTo>
                  <a:pt x="44196" y="495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666104" y="4476370"/>
            <a:ext cx="0" cy="330200"/>
          </a:xfrm>
          <a:custGeom>
            <a:avLst/>
            <a:gdLst/>
            <a:ahLst/>
            <a:cxnLst/>
            <a:rect l="l" t="t" r="r" b="b"/>
            <a:pathLst>
              <a:path h="330200">
                <a:moveTo>
                  <a:pt x="0" y="0"/>
                </a:moveTo>
                <a:lnTo>
                  <a:pt x="0" y="329946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68758" y="4809745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4">
                <a:moveTo>
                  <a:pt x="0" y="0"/>
                </a:moveTo>
                <a:lnTo>
                  <a:pt x="29260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10324" y="4467225"/>
            <a:ext cx="76200" cy="330200"/>
          </a:xfrm>
          <a:custGeom>
            <a:avLst/>
            <a:gdLst/>
            <a:ahLst/>
            <a:cxnLst/>
            <a:rect l="l" t="t" r="r" b="b"/>
            <a:pathLst>
              <a:path w="76200" h="3302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04" y="76200"/>
                </a:lnTo>
                <a:lnTo>
                  <a:pt x="32004" y="63246"/>
                </a:lnTo>
                <a:lnTo>
                  <a:pt x="44195" y="63246"/>
                </a:lnTo>
                <a:lnTo>
                  <a:pt x="44195" y="76200"/>
                </a:lnTo>
                <a:lnTo>
                  <a:pt x="76200" y="76200"/>
                </a:lnTo>
                <a:close/>
              </a:path>
              <a:path w="76200" h="330200">
                <a:moveTo>
                  <a:pt x="44195" y="76200"/>
                </a:moveTo>
                <a:lnTo>
                  <a:pt x="44195" y="63246"/>
                </a:lnTo>
                <a:lnTo>
                  <a:pt x="32004" y="63246"/>
                </a:lnTo>
                <a:lnTo>
                  <a:pt x="32004" y="76200"/>
                </a:lnTo>
                <a:lnTo>
                  <a:pt x="44195" y="76200"/>
                </a:lnTo>
                <a:close/>
              </a:path>
              <a:path w="76200" h="330200">
                <a:moveTo>
                  <a:pt x="44195" y="329946"/>
                </a:moveTo>
                <a:lnTo>
                  <a:pt x="44195" y="76200"/>
                </a:lnTo>
                <a:lnTo>
                  <a:pt x="32004" y="76200"/>
                </a:lnTo>
                <a:lnTo>
                  <a:pt x="32004" y="329946"/>
                </a:lnTo>
                <a:lnTo>
                  <a:pt x="44195" y="32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251575" y="4709541"/>
            <a:ext cx="0" cy="394335"/>
          </a:xfrm>
          <a:custGeom>
            <a:avLst/>
            <a:gdLst/>
            <a:ahLst/>
            <a:cxnLst/>
            <a:rect l="l" t="t" r="r" b="b"/>
            <a:pathLst>
              <a:path h="394335">
                <a:moveTo>
                  <a:pt x="0" y="0"/>
                </a:moveTo>
                <a:lnTo>
                  <a:pt x="0" y="3939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251944" y="5103496"/>
            <a:ext cx="850900" cy="0"/>
          </a:xfrm>
          <a:custGeom>
            <a:avLst/>
            <a:gdLst/>
            <a:ahLst/>
            <a:cxnLst/>
            <a:rect l="l" t="t" r="r" b="b"/>
            <a:pathLst>
              <a:path w="850900">
                <a:moveTo>
                  <a:pt x="0" y="0"/>
                </a:moveTo>
                <a:lnTo>
                  <a:pt x="850391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68808" y="4643248"/>
            <a:ext cx="76200" cy="444500"/>
          </a:xfrm>
          <a:custGeom>
            <a:avLst/>
            <a:gdLst/>
            <a:ahLst/>
            <a:cxnLst/>
            <a:rect l="l" t="t" r="r" b="b"/>
            <a:pathLst>
              <a:path w="76200" h="4445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16" y="76200"/>
                </a:lnTo>
                <a:lnTo>
                  <a:pt x="32016" y="63246"/>
                </a:lnTo>
                <a:lnTo>
                  <a:pt x="44970" y="63246"/>
                </a:lnTo>
                <a:lnTo>
                  <a:pt x="44970" y="76200"/>
                </a:lnTo>
                <a:lnTo>
                  <a:pt x="76200" y="76200"/>
                </a:lnTo>
                <a:close/>
              </a:path>
              <a:path w="76200" h="444500">
                <a:moveTo>
                  <a:pt x="44970" y="76200"/>
                </a:moveTo>
                <a:lnTo>
                  <a:pt x="44970" y="63246"/>
                </a:lnTo>
                <a:lnTo>
                  <a:pt x="32016" y="63246"/>
                </a:lnTo>
                <a:lnTo>
                  <a:pt x="32016" y="76200"/>
                </a:lnTo>
                <a:lnTo>
                  <a:pt x="44970" y="76200"/>
                </a:lnTo>
                <a:close/>
              </a:path>
              <a:path w="76200" h="444500">
                <a:moveTo>
                  <a:pt x="44970" y="444246"/>
                </a:moveTo>
                <a:lnTo>
                  <a:pt x="44970" y="76200"/>
                </a:lnTo>
                <a:lnTo>
                  <a:pt x="32016" y="76200"/>
                </a:lnTo>
                <a:lnTo>
                  <a:pt x="32016" y="444246"/>
                </a:lnTo>
                <a:lnTo>
                  <a:pt x="44970" y="444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004297" y="4852798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3365"/>
                </a:solidFill>
                <a:latin typeface="Times New Roman"/>
                <a:cs typeface="Times New Roman"/>
              </a:rPr>
              <a:t>/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49127" y="4832224"/>
            <a:ext cx="1270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3365"/>
                </a:solidFill>
                <a:latin typeface="Times New Roman"/>
                <a:cs typeface="Times New Roman"/>
              </a:rPr>
              <a:t>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23560" y="4885564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3365"/>
                </a:solidFill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28460" y="4759072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3365"/>
                </a:solidFill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63727" y="5043298"/>
            <a:ext cx="1270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solidFill>
                  <a:srgbClr val="003365"/>
                </a:solidFill>
                <a:latin typeface="Times New Roman"/>
                <a:cs typeface="Times New Roman"/>
              </a:rPr>
              <a:t>-</a:t>
            </a:r>
            <a:r>
              <a:rPr lang="zh-TW" altLang="en-US" sz="2400" baseline="-16203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39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35085" y="5470397"/>
            <a:ext cx="3916679" cy="110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31895" algn="l"/>
              </a:tabLst>
            </a:pPr>
            <a:r>
              <a:rPr sz="2400" spc="-10" dirty="0">
                <a:latin typeface="Arial"/>
                <a:cs typeface="Arial"/>
              </a:rPr>
              <a:t>(3</a:t>
            </a:r>
            <a:r>
              <a:rPr sz="2400" spc="-5" dirty="0">
                <a:latin typeface="Arial"/>
                <a:cs typeface="Arial"/>
              </a:rPr>
              <a:t>)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</a:t>
            </a:r>
            <a:r>
              <a:rPr sz="2400" spc="-10" dirty="0">
                <a:latin typeface="Arial"/>
                <a:cs typeface="Arial"/>
              </a:rPr>
              <a:t>elet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al</a:t>
            </a:r>
            <a:r>
              <a:rPr sz="2400" spc="-5" dirty="0">
                <a:latin typeface="Arial"/>
                <a:cs typeface="Arial"/>
              </a:rPr>
              <a:t>l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parentheses</a:t>
            </a:r>
            <a:r>
              <a:rPr sz="2400" dirty="0">
                <a:latin typeface="Arial"/>
                <a:cs typeface="Arial"/>
              </a:rPr>
              <a:t>.	</a:t>
            </a:r>
            <a:endParaRPr sz="3600" baseline="-16203" dirty="0">
              <a:latin typeface="Times New Roman"/>
              <a:cs typeface="Times New Roman"/>
            </a:endParaRPr>
          </a:p>
          <a:p>
            <a:pPr marL="12700" marR="1128395" indent="914400">
              <a:lnSpc>
                <a:spcPct val="100000"/>
              </a:lnSpc>
            </a:pPr>
            <a:r>
              <a:rPr sz="2400" spc="-10" dirty="0">
                <a:solidFill>
                  <a:srgbClr val="CC3300"/>
                </a:solidFill>
                <a:latin typeface="Arial"/>
                <a:cs typeface="Arial"/>
              </a:rPr>
              <a:t>ab/c-de*+ac*-  </a:t>
            </a:r>
            <a:r>
              <a:rPr sz="2400" spc="-50" dirty="0">
                <a:solidFill>
                  <a:srgbClr val="003365"/>
                </a:solidFill>
                <a:latin typeface="Arial"/>
                <a:cs typeface="Arial"/>
              </a:rPr>
              <a:t>Two</a:t>
            </a:r>
            <a:r>
              <a:rPr sz="2400" spc="-6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3365"/>
                </a:solidFill>
                <a:latin typeface="Arial"/>
                <a:cs typeface="Arial"/>
              </a:rPr>
              <a:t>passes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3"/>
          <p:cNvSpPr txBox="1"/>
          <p:nvPr/>
        </p:nvSpPr>
        <p:spPr>
          <a:xfrm>
            <a:off x="5881878" y="5129197"/>
            <a:ext cx="1270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TW" sz="2400" baseline="-16203" dirty="0" smtClean="0">
                <a:solidFill>
                  <a:srgbClr val="003365"/>
                </a:solidFill>
                <a:latin typeface="Times New Roman"/>
                <a:cs typeface="Times New Roman"/>
              </a:rPr>
              <a:t>+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12238" y="774681"/>
            <a:ext cx="6292215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i="0" spc="-5" dirty="0">
                <a:latin typeface="Arial"/>
                <a:cs typeface="Arial"/>
              </a:rPr>
              <a:t>The </a:t>
            </a:r>
            <a:r>
              <a:rPr sz="3200" i="0" spc="-10" dirty="0">
                <a:latin typeface="Arial"/>
                <a:cs typeface="Arial"/>
              </a:rPr>
              <a:t>orders </a:t>
            </a:r>
            <a:r>
              <a:rPr sz="3200" i="0" spc="-5" dirty="0">
                <a:latin typeface="Arial"/>
                <a:cs typeface="Arial"/>
              </a:rPr>
              <a:t>of </a:t>
            </a:r>
            <a:r>
              <a:rPr sz="3200" i="0" spc="-10" dirty="0">
                <a:latin typeface="Arial"/>
                <a:cs typeface="Arial"/>
              </a:rPr>
              <a:t>operands </a:t>
            </a:r>
            <a:r>
              <a:rPr sz="3200" i="0" spc="-5" dirty="0">
                <a:latin typeface="Arial"/>
                <a:cs typeface="Arial"/>
              </a:rPr>
              <a:t>in infix</a:t>
            </a:r>
            <a:r>
              <a:rPr sz="3200" i="0" spc="-35" dirty="0">
                <a:latin typeface="Arial"/>
                <a:cs typeface="Arial"/>
              </a:rPr>
              <a:t> </a:t>
            </a:r>
            <a:r>
              <a:rPr sz="3200" i="0" spc="-10" dirty="0">
                <a:latin typeface="Arial"/>
                <a:cs typeface="Arial"/>
              </a:rPr>
              <a:t>and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12213" y="1262379"/>
            <a:ext cx="5053965" cy="1333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003365"/>
                </a:solidFill>
                <a:latin typeface="Arial"/>
                <a:cs typeface="Arial"/>
              </a:rPr>
              <a:t>postfix </a:t>
            </a:r>
            <a:r>
              <a:rPr sz="3200" spc="-5" dirty="0">
                <a:solidFill>
                  <a:srgbClr val="003365"/>
                </a:solidFill>
                <a:latin typeface="Arial"/>
                <a:cs typeface="Arial"/>
              </a:rPr>
              <a:t>are the</a:t>
            </a:r>
            <a:r>
              <a:rPr sz="3200" spc="-6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03365"/>
                </a:solidFill>
                <a:latin typeface="Arial"/>
                <a:cs typeface="Arial"/>
              </a:rPr>
              <a:t>same.</a:t>
            </a:r>
            <a:endParaRPr sz="3200">
              <a:latin typeface="Arial"/>
              <a:cs typeface="Arial"/>
            </a:endParaRPr>
          </a:p>
          <a:p>
            <a:pPr marL="2132330">
              <a:lnSpc>
                <a:spcPct val="100000"/>
              </a:lnSpc>
              <a:spcBef>
                <a:spcPts val="2275"/>
              </a:spcBef>
            </a:pP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+ </a:t>
            </a: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b * c, * </a:t>
            </a: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&gt;</a:t>
            </a:r>
            <a:r>
              <a:rPr sz="36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+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97618" y="28194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345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96622" y="28194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345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11023" y="28194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345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48319" y="28194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34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20719" y="28194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345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33841" y="2833877"/>
            <a:ext cx="7801609" cy="0"/>
          </a:xfrm>
          <a:custGeom>
            <a:avLst/>
            <a:gdLst/>
            <a:ahLst/>
            <a:cxnLst/>
            <a:rect l="l" t="t" r="r" b="b"/>
            <a:pathLst>
              <a:path w="7801609">
                <a:moveTo>
                  <a:pt x="0" y="0"/>
                </a:moveTo>
                <a:lnTo>
                  <a:pt x="780135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97618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896622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11023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33841" y="3775329"/>
            <a:ext cx="7801609" cy="0"/>
          </a:xfrm>
          <a:custGeom>
            <a:avLst/>
            <a:gdLst/>
            <a:ahLst/>
            <a:cxnLst/>
            <a:rect l="l" t="t" r="r" b="b"/>
            <a:pathLst>
              <a:path w="7801609">
                <a:moveTo>
                  <a:pt x="0" y="0"/>
                </a:moveTo>
                <a:lnTo>
                  <a:pt x="7801356" y="0"/>
                </a:lnTo>
              </a:path>
            </a:pathLst>
          </a:custGeom>
          <a:ln w="53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48319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720719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027047" y="2837179"/>
            <a:ext cx="234124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Token</a:t>
            </a:r>
            <a:r>
              <a:rPr sz="2800" b="1" spc="-33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Stack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75965" y="3263887"/>
            <a:ext cx="194183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[0][1][2]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74969" y="2837179"/>
            <a:ext cx="221932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Top</a:t>
            </a:r>
            <a:r>
              <a:rPr sz="2800" b="1" spc="38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Output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97618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96622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11023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33841" y="3781425"/>
            <a:ext cx="7801609" cy="0"/>
          </a:xfrm>
          <a:custGeom>
            <a:avLst/>
            <a:gdLst/>
            <a:ahLst/>
            <a:cxnLst/>
            <a:rect l="l" t="t" r="r" b="b"/>
            <a:pathLst>
              <a:path w="7801609">
                <a:moveTo>
                  <a:pt x="0" y="0"/>
                </a:moveTo>
                <a:lnTo>
                  <a:pt x="7801356" y="0"/>
                </a:lnTo>
              </a:path>
            </a:pathLst>
          </a:custGeom>
          <a:ln w="68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48319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720719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453017" y="3782059"/>
            <a:ext cx="239395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a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+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87801" y="4208779"/>
            <a:ext cx="23939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+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27369" y="3782059"/>
            <a:ext cx="1001394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74065" algn="l"/>
              </a:tabLst>
            </a:pPr>
            <a:r>
              <a:rPr sz="2800" b="1" spc="-5" dirty="0">
                <a:latin typeface="Courier New"/>
                <a:cs typeface="Courier New"/>
              </a:rPr>
              <a:t>-</a:t>
            </a:r>
            <a:r>
              <a:rPr sz="2800" b="1" dirty="0">
                <a:latin typeface="Courier New"/>
                <a:cs typeface="Courier New"/>
              </a:rPr>
              <a:t>1	a</a:t>
            </a:r>
            <a:endParaRPr sz="28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tabLst>
                <a:tab pos="774065" algn="l"/>
              </a:tabLst>
            </a:pPr>
            <a:r>
              <a:rPr sz="2800" b="1" dirty="0">
                <a:latin typeface="Courier New"/>
                <a:cs typeface="Courier New"/>
              </a:rPr>
              <a:t>0	a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197618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96622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811023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48319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720719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197618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896622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811023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483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7207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027059" y="4635500"/>
            <a:ext cx="1092200" cy="174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b</a:t>
            </a:r>
            <a:endParaRPr sz="2800">
              <a:latin typeface="Courier New"/>
              <a:cs typeface="Courier New"/>
            </a:endParaRPr>
          </a:p>
          <a:p>
            <a:pPr marL="438150" marR="431165" algn="ctr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*  c</a:t>
            </a:r>
            <a:endParaRPr sz="2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&lt;eo</a:t>
            </a:r>
            <a:r>
              <a:rPr sz="2800" b="1" spc="-10" dirty="0">
                <a:latin typeface="Courier New"/>
                <a:cs typeface="Courier New"/>
              </a:rPr>
              <a:t>s</a:t>
            </a:r>
            <a:r>
              <a:rPr sz="2800" b="1" dirty="0">
                <a:latin typeface="Courier New"/>
                <a:cs typeface="Courier New"/>
              </a:rPr>
              <a:t>&gt;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487801" y="4635500"/>
            <a:ext cx="878205" cy="1316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+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651510" algn="l"/>
              </a:tabLst>
            </a:pPr>
            <a:r>
              <a:rPr sz="2800" b="1" dirty="0">
                <a:latin typeface="Courier New"/>
                <a:cs typeface="Courier New"/>
              </a:rPr>
              <a:t>+	*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651510" algn="l"/>
              </a:tabLst>
            </a:pPr>
            <a:r>
              <a:rPr sz="2800" b="1" dirty="0">
                <a:latin typeface="Courier New"/>
                <a:cs typeface="Courier New"/>
              </a:rPr>
              <a:t>+	*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127394" y="4635512"/>
            <a:ext cx="1854200" cy="174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065" indent="-655320">
              <a:lnSpc>
                <a:spcPct val="100000"/>
              </a:lnSpc>
              <a:buAutoNum type="arabicPlain"/>
              <a:tabLst>
                <a:tab pos="774065" algn="l"/>
                <a:tab pos="774700" algn="l"/>
              </a:tabLst>
            </a:pPr>
            <a:r>
              <a:rPr sz="2800" b="1" spc="-5" dirty="0">
                <a:latin typeface="Courier New"/>
                <a:cs typeface="Courier New"/>
              </a:rPr>
              <a:t>ab</a:t>
            </a:r>
            <a:endParaRPr sz="2800">
              <a:latin typeface="Courier New"/>
              <a:cs typeface="Courier New"/>
            </a:endParaRPr>
          </a:p>
          <a:p>
            <a:pPr marL="774065" indent="-655320">
              <a:lnSpc>
                <a:spcPct val="100000"/>
              </a:lnSpc>
              <a:buAutoNum type="arabicPlain"/>
              <a:tabLst>
                <a:tab pos="774065" algn="l"/>
                <a:tab pos="774700" algn="l"/>
              </a:tabLst>
            </a:pPr>
            <a:r>
              <a:rPr sz="2800" b="1" spc="-5" dirty="0">
                <a:latin typeface="Courier New"/>
                <a:cs typeface="Courier New"/>
              </a:rPr>
              <a:t>ab</a:t>
            </a:r>
            <a:endParaRPr sz="28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tabLst>
                <a:tab pos="774065" algn="l"/>
              </a:tabLst>
            </a:pPr>
            <a:r>
              <a:rPr sz="2800" b="1" dirty="0">
                <a:latin typeface="Courier New"/>
                <a:cs typeface="Courier New"/>
              </a:rPr>
              <a:t>1	</a:t>
            </a:r>
            <a:r>
              <a:rPr sz="2800" b="1" spc="-5" dirty="0">
                <a:latin typeface="Courier New"/>
                <a:cs typeface="Courier New"/>
              </a:rPr>
              <a:t>abc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774065" algn="l"/>
              </a:tabLst>
            </a:pPr>
            <a:r>
              <a:rPr sz="2800" b="1" spc="-5" dirty="0">
                <a:latin typeface="Courier New"/>
                <a:cs typeface="Courier New"/>
              </a:rPr>
              <a:t>-</a:t>
            </a:r>
            <a:r>
              <a:rPr sz="2800" b="1" dirty="0">
                <a:latin typeface="Courier New"/>
                <a:cs typeface="Courier New"/>
              </a:rPr>
              <a:t>1	</a:t>
            </a:r>
            <a:r>
              <a:rPr sz="2800" b="1" spc="-5" dirty="0">
                <a:latin typeface="Courier New"/>
                <a:cs typeface="Courier New"/>
              </a:rPr>
              <a:t>abc*+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197618" y="6349746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0"/>
                </a:moveTo>
                <a:lnTo>
                  <a:pt x="0" y="147065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896622" y="6349746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0"/>
                </a:moveTo>
                <a:lnTo>
                  <a:pt x="0" y="147066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811023" y="6349746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0"/>
                </a:moveTo>
                <a:lnTo>
                  <a:pt x="0" y="147065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48319" y="6349746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0"/>
                </a:moveTo>
                <a:lnTo>
                  <a:pt x="0" y="147065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720719" y="6349746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0"/>
                </a:moveTo>
                <a:lnTo>
                  <a:pt x="0" y="147065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33841" y="6482334"/>
            <a:ext cx="7801609" cy="0"/>
          </a:xfrm>
          <a:custGeom>
            <a:avLst/>
            <a:gdLst/>
            <a:ahLst/>
            <a:cxnLst/>
            <a:rect l="l" t="t" r="r" b="b"/>
            <a:pathLst>
              <a:path w="7801609">
                <a:moveTo>
                  <a:pt x="0" y="0"/>
                </a:moveTo>
                <a:lnTo>
                  <a:pt x="780135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71242" y="943864"/>
            <a:ext cx="6292850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i="0" spc="-5" dirty="0">
                <a:latin typeface="Arial"/>
                <a:cs typeface="Arial"/>
              </a:rPr>
              <a:t>The </a:t>
            </a:r>
            <a:r>
              <a:rPr sz="3200" i="0" spc="-10" dirty="0">
                <a:latin typeface="Arial"/>
                <a:cs typeface="Arial"/>
              </a:rPr>
              <a:t>orders </a:t>
            </a:r>
            <a:r>
              <a:rPr sz="3200" i="0" spc="-5" dirty="0">
                <a:latin typeface="Arial"/>
                <a:cs typeface="Arial"/>
              </a:rPr>
              <a:t>of </a:t>
            </a:r>
            <a:r>
              <a:rPr sz="3200" i="0" spc="-10" dirty="0">
                <a:latin typeface="Arial"/>
                <a:cs typeface="Arial"/>
              </a:rPr>
              <a:t>operands </a:t>
            </a:r>
            <a:r>
              <a:rPr sz="3200" i="0" spc="-5" dirty="0">
                <a:latin typeface="Arial"/>
                <a:cs typeface="Arial"/>
              </a:rPr>
              <a:t>in infix</a:t>
            </a:r>
            <a:r>
              <a:rPr sz="3200" i="0" spc="-15" dirty="0">
                <a:latin typeface="Arial"/>
                <a:cs typeface="Arial"/>
              </a:rPr>
              <a:t> </a:t>
            </a:r>
            <a:r>
              <a:rPr sz="3200" i="0" spc="-10" dirty="0">
                <a:latin typeface="Arial"/>
                <a:cs typeface="Arial"/>
              </a:rPr>
              <a:t>and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97618" y="2843022"/>
            <a:ext cx="0" cy="78105"/>
          </a:xfrm>
          <a:custGeom>
            <a:avLst/>
            <a:gdLst/>
            <a:ahLst/>
            <a:cxnLst/>
            <a:rect l="l" t="t" r="r" b="b"/>
            <a:pathLst>
              <a:path h="78105">
                <a:moveTo>
                  <a:pt x="0" y="0"/>
                </a:moveTo>
                <a:lnTo>
                  <a:pt x="0" y="77724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96622" y="2843022"/>
            <a:ext cx="0" cy="78105"/>
          </a:xfrm>
          <a:custGeom>
            <a:avLst/>
            <a:gdLst/>
            <a:ahLst/>
            <a:cxnLst/>
            <a:rect l="l" t="t" r="r" b="b"/>
            <a:pathLst>
              <a:path h="78105">
                <a:moveTo>
                  <a:pt x="0" y="0"/>
                </a:moveTo>
                <a:lnTo>
                  <a:pt x="0" y="77724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11023" y="2843022"/>
            <a:ext cx="0" cy="78105"/>
          </a:xfrm>
          <a:custGeom>
            <a:avLst/>
            <a:gdLst/>
            <a:ahLst/>
            <a:cxnLst/>
            <a:rect l="l" t="t" r="r" b="b"/>
            <a:pathLst>
              <a:path h="78105">
                <a:moveTo>
                  <a:pt x="0" y="0"/>
                </a:moveTo>
                <a:lnTo>
                  <a:pt x="0" y="77724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48319" y="2843022"/>
            <a:ext cx="0" cy="78105"/>
          </a:xfrm>
          <a:custGeom>
            <a:avLst/>
            <a:gdLst/>
            <a:ahLst/>
            <a:cxnLst/>
            <a:rect l="l" t="t" r="r" b="b"/>
            <a:pathLst>
              <a:path h="78105">
                <a:moveTo>
                  <a:pt x="0" y="0"/>
                </a:moveTo>
                <a:lnTo>
                  <a:pt x="0" y="7772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719" y="2843022"/>
            <a:ext cx="0" cy="78105"/>
          </a:xfrm>
          <a:custGeom>
            <a:avLst/>
            <a:gdLst/>
            <a:ahLst/>
            <a:cxnLst/>
            <a:rect l="l" t="t" r="r" b="b"/>
            <a:pathLst>
              <a:path h="78105">
                <a:moveTo>
                  <a:pt x="0" y="0"/>
                </a:moveTo>
                <a:lnTo>
                  <a:pt x="0" y="77724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33841" y="2857500"/>
            <a:ext cx="7801609" cy="0"/>
          </a:xfrm>
          <a:custGeom>
            <a:avLst/>
            <a:gdLst/>
            <a:ahLst/>
            <a:cxnLst/>
            <a:rect l="l" t="t" r="r" b="b"/>
            <a:pathLst>
              <a:path w="7801609">
                <a:moveTo>
                  <a:pt x="0" y="0"/>
                </a:moveTo>
                <a:lnTo>
                  <a:pt x="780135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97618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96622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11023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48319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20719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275952" y="3288271"/>
            <a:ext cx="194183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[0][1][2]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27047" y="1431569"/>
            <a:ext cx="4810125" cy="1892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515">
              <a:lnSpc>
                <a:spcPct val="100000"/>
              </a:lnSpc>
            </a:pPr>
            <a:r>
              <a:rPr sz="3200" spc="-10" dirty="0">
                <a:solidFill>
                  <a:srgbClr val="003365"/>
                </a:solidFill>
                <a:latin typeface="Arial"/>
                <a:cs typeface="Arial"/>
              </a:rPr>
              <a:t>postfix </a:t>
            </a:r>
            <a:r>
              <a:rPr sz="3200" spc="-5" dirty="0">
                <a:solidFill>
                  <a:srgbClr val="003365"/>
                </a:solidFill>
                <a:latin typeface="Arial"/>
                <a:cs typeface="Arial"/>
              </a:rPr>
              <a:t>are the</a:t>
            </a:r>
            <a:r>
              <a:rPr sz="3200" spc="-6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03365"/>
                </a:solidFill>
                <a:latin typeface="Arial"/>
                <a:cs typeface="Arial"/>
              </a:rPr>
              <a:t>same.</a:t>
            </a:r>
            <a:endParaRPr sz="3200">
              <a:latin typeface="Arial"/>
              <a:cs typeface="Arial"/>
            </a:endParaRPr>
          </a:p>
          <a:p>
            <a:pPr marL="1888489">
              <a:lnSpc>
                <a:spcPct val="100000"/>
              </a:lnSpc>
              <a:spcBef>
                <a:spcPts val="1180"/>
              </a:spcBef>
            </a:pP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a * b </a:t>
            </a: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+ </a:t>
            </a: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c, * </a:t>
            </a: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&gt;</a:t>
            </a:r>
            <a:r>
              <a:rPr sz="36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+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14"/>
              </a:spcBef>
              <a:tabLst>
                <a:tab pos="3960495" algn="l"/>
              </a:tabLst>
            </a:pPr>
            <a:r>
              <a:rPr sz="2800" b="1" spc="-5" dirty="0">
                <a:latin typeface="Courier New"/>
                <a:cs typeface="Courier New"/>
              </a:rPr>
              <a:t>Token</a:t>
            </a:r>
            <a:r>
              <a:rPr sz="2800" b="1" spc="-240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Stack	Top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89086" y="2861564"/>
            <a:ext cx="130492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Output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97618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96622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811023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33841" y="3802379"/>
            <a:ext cx="7801609" cy="0"/>
          </a:xfrm>
          <a:custGeom>
            <a:avLst/>
            <a:gdLst/>
            <a:ahLst/>
            <a:cxnLst/>
            <a:rect l="l" t="t" r="r" b="b"/>
            <a:pathLst>
              <a:path w="7801609">
                <a:moveTo>
                  <a:pt x="0" y="0"/>
                </a:moveTo>
                <a:lnTo>
                  <a:pt x="7801356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48319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720719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453017" y="3806444"/>
            <a:ext cx="239395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a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*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87801" y="4233164"/>
            <a:ext cx="23939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*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27369" y="3806444"/>
            <a:ext cx="1001394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74065" algn="l"/>
              </a:tabLst>
            </a:pPr>
            <a:r>
              <a:rPr sz="2800" b="1" spc="-5" dirty="0">
                <a:latin typeface="Courier New"/>
                <a:cs typeface="Courier New"/>
              </a:rPr>
              <a:t>-</a:t>
            </a:r>
            <a:r>
              <a:rPr sz="2800" b="1" dirty="0">
                <a:latin typeface="Courier New"/>
                <a:cs typeface="Courier New"/>
              </a:rPr>
              <a:t>1	a</a:t>
            </a:r>
            <a:endParaRPr sz="28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tabLst>
                <a:tab pos="774065" algn="l"/>
              </a:tabLst>
            </a:pPr>
            <a:r>
              <a:rPr sz="2800" b="1" dirty="0">
                <a:latin typeface="Courier New"/>
                <a:cs typeface="Courier New"/>
              </a:rPr>
              <a:t>0	a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197618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896622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11023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48319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720719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197618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896622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811023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483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7207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027059" y="4659883"/>
            <a:ext cx="1092200" cy="174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b</a:t>
            </a:r>
            <a:endParaRPr sz="2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+</a:t>
            </a:r>
            <a:endParaRPr sz="2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c</a:t>
            </a:r>
            <a:endParaRPr sz="2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&lt;eo</a:t>
            </a:r>
            <a:r>
              <a:rPr sz="2800" b="1" spc="-10" dirty="0">
                <a:latin typeface="Courier New"/>
                <a:cs typeface="Courier New"/>
              </a:rPr>
              <a:t>s</a:t>
            </a:r>
            <a:r>
              <a:rPr sz="2800" b="1" dirty="0">
                <a:latin typeface="Courier New"/>
                <a:cs typeface="Courier New"/>
              </a:rPr>
              <a:t>&gt;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487801" y="4659883"/>
            <a:ext cx="239395" cy="1316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*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+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+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127394" y="4659883"/>
            <a:ext cx="1854200" cy="174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065" indent="-655320">
              <a:lnSpc>
                <a:spcPct val="100000"/>
              </a:lnSpc>
              <a:buAutoNum type="arabicPlain"/>
              <a:tabLst>
                <a:tab pos="774065" algn="l"/>
                <a:tab pos="774700" algn="l"/>
              </a:tabLst>
            </a:pPr>
            <a:r>
              <a:rPr sz="2800" b="1" spc="-5" dirty="0">
                <a:latin typeface="Courier New"/>
                <a:cs typeface="Courier New"/>
              </a:rPr>
              <a:t>ab</a:t>
            </a:r>
            <a:endParaRPr sz="2800">
              <a:latin typeface="Courier New"/>
              <a:cs typeface="Courier New"/>
            </a:endParaRPr>
          </a:p>
          <a:p>
            <a:pPr marL="774065" indent="-655320">
              <a:lnSpc>
                <a:spcPct val="100000"/>
              </a:lnSpc>
              <a:buAutoNum type="arabicPlain"/>
              <a:tabLst>
                <a:tab pos="774065" algn="l"/>
                <a:tab pos="774700" algn="l"/>
              </a:tabLst>
            </a:pPr>
            <a:r>
              <a:rPr sz="2800" b="1" spc="-5" dirty="0">
                <a:latin typeface="Courier New"/>
                <a:cs typeface="Courier New"/>
              </a:rPr>
              <a:t>ab*</a:t>
            </a:r>
            <a:endParaRPr sz="28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tabLst>
                <a:tab pos="774065" algn="l"/>
              </a:tabLst>
            </a:pPr>
            <a:r>
              <a:rPr sz="2800" b="1" dirty="0">
                <a:latin typeface="Courier New"/>
                <a:cs typeface="Courier New"/>
              </a:rPr>
              <a:t>1	</a:t>
            </a:r>
            <a:r>
              <a:rPr sz="2800" b="1" spc="-5" dirty="0">
                <a:latin typeface="Courier New"/>
                <a:cs typeface="Courier New"/>
              </a:rPr>
              <a:t>ab*c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774065" algn="l"/>
              </a:tabLst>
            </a:pPr>
            <a:r>
              <a:rPr sz="2800" b="1" spc="-5" dirty="0">
                <a:latin typeface="Courier New"/>
                <a:cs typeface="Courier New"/>
              </a:rPr>
              <a:t>-</a:t>
            </a:r>
            <a:r>
              <a:rPr sz="2800" b="1" dirty="0">
                <a:latin typeface="Courier New"/>
                <a:cs typeface="Courier New"/>
              </a:rPr>
              <a:t>1	</a:t>
            </a:r>
            <a:r>
              <a:rPr sz="2800" b="1" spc="-5" dirty="0">
                <a:latin typeface="Courier New"/>
                <a:cs typeface="Courier New"/>
              </a:rPr>
              <a:t>ab*c+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41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197618" y="6349746"/>
            <a:ext cx="0" cy="276860"/>
          </a:xfrm>
          <a:custGeom>
            <a:avLst/>
            <a:gdLst/>
            <a:ahLst/>
            <a:cxnLst/>
            <a:rect l="l" t="t" r="r" b="b"/>
            <a:pathLst>
              <a:path h="276859">
                <a:moveTo>
                  <a:pt x="0" y="0"/>
                </a:moveTo>
                <a:lnTo>
                  <a:pt x="0" y="276605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896622" y="6349746"/>
            <a:ext cx="0" cy="276860"/>
          </a:xfrm>
          <a:custGeom>
            <a:avLst/>
            <a:gdLst/>
            <a:ahLst/>
            <a:cxnLst/>
            <a:rect l="l" t="t" r="r" b="b"/>
            <a:pathLst>
              <a:path h="276859">
                <a:moveTo>
                  <a:pt x="0" y="0"/>
                </a:moveTo>
                <a:lnTo>
                  <a:pt x="0" y="276606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811023" y="6349746"/>
            <a:ext cx="0" cy="276860"/>
          </a:xfrm>
          <a:custGeom>
            <a:avLst/>
            <a:gdLst/>
            <a:ahLst/>
            <a:cxnLst/>
            <a:rect l="l" t="t" r="r" b="b"/>
            <a:pathLst>
              <a:path h="276859">
                <a:moveTo>
                  <a:pt x="0" y="0"/>
                </a:moveTo>
                <a:lnTo>
                  <a:pt x="0" y="276606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48319" y="6349746"/>
            <a:ext cx="0" cy="276860"/>
          </a:xfrm>
          <a:custGeom>
            <a:avLst/>
            <a:gdLst/>
            <a:ahLst/>
            <a:cxnLst/>
            <a:rect l="l" t="t" r="r" b="b"/>
            <a:pathLst>
              <a:path h="276859">
                <a:moveTo>
                  <a:pt x="0" y="0"/>
                </a:moveTo>
                <a:lnTo>
                  <a:pt x="0" y="276605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720719" y="6349746"/>
            <a:ext cx="0" cy="276860"/>
          </a:xfrm>
          <a:custGeom>
            <a:avLst/>
            <a:gdLst/>
            <a:ahLst/>
            <a:cxnLst/>
            <a:rect l="l" t="t" r="r" b="b"/>
            <a:pathLst>
              <a:path h="276859">
                <a:moveTo>
                  <a:pt x="0" y="0"/>
                </a:moveTo>
                <a:lnTo>
                  <a:pt x="0" y="276606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33841" y="6612255"/>
            <a:ext cx="7801609" cy="0"/>
          </a:xfrm>
          <a:custGeom>
            <a:avLst/>
            <a:gdLst/>
            <a:ahLst/>
            <a:cxnLst/>
            <a:rect l="l" t="t" r="r" b="b"/>
            <a:pathLst>
              <a:path w="7801609">
                <a:moveTo>
                  <a:pt x="0" y="0"/>
                </a:moveTo>
                <a:lnTo>
                  <a:pt x="7801356" y="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41419" y="539238"/>
            <a:ext cx="2595245" cy="571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i="0" spc="-5" dirty="0">
                <a:solidFill>
                  <a:srgbClr val="000000"/>
                </a:solidFill>
                <a:latin typeface="Arial"/>
                <a:cs typeface="Arial"/>
              </a:rPr>
              <a:t>a </a:t>
            </a:r>
            <a:r>
              <a:rPr sz="3200" i="0" spc="5" dirty="0">
                <a:solidFill>
                  <a:srgbClr val="000000"/>
                </a:solidFill>
                <a:latin typeface="Arial"/>
                <a:cs typeface="Arial"/>
              </a:rPr>
              <a:t>*</a:t>
            </a:r>
            <a:r>
              <a:rPr sz="3150" i="0" spc="7" baseline="-21164" dirty="0">
                <a:solidFill>
                  <a:srgbClr val="000000"/>
                </a:solidFill>
                <a:latin typeface="Arial"/>
                <a:cs typeface="Arial"/>
              </a:rPr>
              <a:t>1 </a:t>
            </a:r>
            <a:r>
              <a:rPr sz="3200" i="0" spc="-5" dirty="0">
                <a:solidFill>
                  <a:srgbClr val="000000"/>
                </a:solidFill>
                <a:latin typeface="Arial"/>
                <a:cs typeface="Arial"/>
              </a:rPr>
              <a:t>(b +c) </a:t>
            </a:r>
            <a:r>
              <a:rPr sz="3200" i="0" spc="5" dirty="0">
                <a:solidFill>
                  <a:srgbClr val="000000"/>
                </a:solidFill>
                <a:latin typeface="Arial"/>
                <a:cs typeface="Arial"/>
              </a:rPr>
              <a:t>*</a:t>
            </a:r>
            <a:r>
              <a:rPr sz="3150" i="0" spc="7" baseline="-21164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sz="3150" i="0" spc="-97" baseline="-2116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i="0" spc="-5" dirty="0">
                <a:solidFill>
                  <a:srgbClr val="000000"/>
                </a:solidFill>
                <a:latin typeface="Arial"/>
                <a:cs typeface="Arial"/>
              </a:rPr>
              <a:t>d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45218" y="1249680"/>
            <a:ext cx="0" cy="814069"/>
          </a:xfrm>
          <a:custGeom>
            <a:avLst/>
            <a:gdLst/>
            <a:ahLst/>
            <a:cxnLst/>
            <a:rect l="l" t="t" r="r" b="b"/>
            <a:pathLst>
              <a:path h="814069">
                <a:moveTo>
                  <a:pt x="0" y="0"/>
                </a:moveTo>
                <a:lnTo>
                  <a:pt x="0" y="813816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4222" y="1249680"/>
            <a:ext cx="0" cy="814069"/>
          </a:xfrm>
          <a:custGeom>
            <a:avLst/>
            <a:gdLst/>
            <a:ahLst/>
            <a:cxnLst/>
            <a:rect l="l" t="t" r="r" b="b"/>
            <a:pathLst>
              <a:path h="814069">
                <a:moveTo>
                  <a:pt x="0" y="0"/>
                </a:moveTo>
                <a:lnTo>
                  <a:pt x="0" y="813816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58623" y="1249680"/>
            <a:ext cx="0" cy="814069"/>
          </a:xfrm>
          <a:custGeom>
            <a:avLst/>
            <a:gdLst/>
            <a:ahLst/>
            <a:cxnLst/>
            <a:rect l="l" t="t" r="r" b="b"/>
            <a:pathLst>
              <a:path h="814069">
                <a:moveTo>
                  <a:pt x="0" y="0"/>
                </a:moveTo>
                <a:lnTo>
                  <a:pt x="0" y="813816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919" y="1249680"/>
            <a:ext cx="0" cy="814069"/>
          </a:xfrm>
          <a:custGeom>
            <a:avLst/>
            <a:gdLst/>
            <a:ahLst/>
            <a:cxnLst/>
            <a:rect l="l" t="t" r="r" b="b"/>
            <a:pathLst>
              <a:path h="814069">
                <a:moveTo>
                  <a:pt x="0" y="0"/>
                </a:moveTo>
                <a:lnTo>
                  <a:pt x="0" y="81381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68319" y="1249680"/>
            <a:ext cx="0" cy="814069"/>
          </a:xfrm>
          <a:custGeom>
            <a:avLst/>
            <a:gdLst/>
            <a:ahLst/>
            <a:cxnLst/>
            <a:rect l="l" t="t" r="r" b="b"/>
            <a:pathLst>
              <a:path h="814069">
                <a:moveTo>
                  <a:pt x="0" y="0"/>
                </a:moveTo>
                <a:lnTo>
                  <a:pt x="0" y="813815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81441" y="1263777"/>
            <a:ext cx="7801609" cy="0"/>
          </a:xfrm>
          <a:custGeom>
            <a:avLst/>
            <a:gdLst/>
            <a:ahLst/>
            <a:cxnLst/>
            <a:rect l="l" t="t" r="r" b="b"/>
            <a:pathLst>
              <a:path w="7801609">
                <a:moveTo>
                  <a:pt x="0" y="0"/>
                </a:moveTo>
                <a:lnTo>
                  <a:pt x="7801356" y="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4839" y="206349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45218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44222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58623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81441" y="2208657"/>
            <a:ext cx="7801609" cy="0"/>
          </a:xfrm>
          <a:custGeom>
            <a:avLst/>
            <a:gdLst/>
            <a:ahLst/>
            <a:cxnLst/>
            <a:rect l="l" t="t" r="r" b="b"/>
            <a:pathLst>
              <a:path w="7801609">
                <a:moveTo>
                  <a:pt x="0" y="0"/>
                </a:moveTo>
                <a:lnTo>
                  <a:pt x="7801356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95919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568319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45218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44222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658623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5919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568319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45218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44222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58623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95919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568319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45218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744222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658623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795919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568319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045218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744222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658623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959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568319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Token</a:t>
            </a:r>
            <a:r>
              <a:rPr spc="-335" dirty="0"/>
              <a:t> </a:t>
            </a:r>
            <a:r>
              <a:rPr spc="-5" dirty="0"/>
              <a:t>Stack</a:t>
            </a:r>
          </a:p>
          <a:p>
            <a:pPr marL="1261110">
              <a:lnSpc>
                <a:spcPct val="100000"/>
              </a:lnSpc>
            </a:pPr>
            <a:r>
              <a:rPr spc="-10" dirty="0"/>
              <a:t>[0][1][2]</a:t>
            </a:r>
          </a:p>
          <a:p>
            <a:pPr marL="438150">
              <a:lnSpc>
                <a:spcPct val="100000"/>
              </a:lnSpc>
              <a:spcBef>
                <a:spcPts val="720"/>
              </a:spcBef>
            </a:pPr>
            <a:r>
              <a:rPr dirty="0"/>
              <a:t>a</a:t>
            </a:r>
          </a:p>
          <a:p>
            <a:pPr marL="367030">
              <a:lnSpc>
                <a:spcPct val="100000"/>
              </a:lnSpc>
              <a:tabLst>
                <a:tab pos="1261110" algn="l"/>
              </a:tabLst>
            </a:pPr>
            <a:r>
              <a:rPr dirty="0"/>
              <a:t>*</a:t>
            </a:r>
            <a:r>
              <a:rPr sz="2775" baseline="-21021" dirty="0"/>
              <a:t>1	</a:t>
            </a:r>
            <a:r>
              <a:rPr sz="2800" dirty="0"/>
              <a:t>*</a:t>
            </a:r>
            <a:r>
              <a:rPr sz="2775" baseline="-21021" dirty="0"/>
              <a:t>1</a:t>
            </a:r>
            <a:endParaRPr sz="2775" baseline="-21021"/>
          </a:p>
          <a:p>
            <a:pPr marL="438150">
              <a:lnSpc>
                <a:spcPct val="100000"/>
              </a:lnSpc>
              <a:tabLst>
                <a:tab pos="1261110" algn="l"/>
                <a:tab pos="2042160" algn="l"/>
              </a:tabLst>
            </a:pPr>
            <a:r>
              <a:rPr dirty="0"/>
              <a:t>(	*</a:t>
            </a:r>
            <a:r>
              <a:rPr sz="2775" baseline="-21021" dirty="0"/>
              <a:t>1	</a:t>
            </a:r>
            <a:r>
              <a:rPr sz="2800" dirty="0"/>
              <a:t>(</a:t>
            </a:r>
            <a:endParaRPr sz="2800"/>
          </a:p>
          <a:p>
            <a:pPr marL="438150">
              <a:lnSpc>
                <a:spcPct val="100000"/>
              </a:lnSpc>
              <a:tabLst>
                <a:tab pos="1261110" algn="l"/>
                <a:tab pos="2042160" algn="l"/>
              </a:tabLst>
            </a:pPr>
            <a:r>
              <a:rPr dirty="0"/>
              <a:t>b	*</a:t>
            </a:r>
            <a:r>
              <a:rPr sz="2775" baseline="-21021" dirty="0"/>
              <a:t>1	</a:t>
            </a:r>
            <a:r>
              <a:rPr sz="2800" dirty="0"/>
              <a:t>(</a:t>
            </a:r>
            <a:endParaRPr sz="2800"/>
          </a:p>
          <a:p>
            <a:pPr marL="438150">
              <a:lnSpc>
                <a:spcPct val="100000"/>
              </a:lnSpc>
              <a:tabLst>
                <a:tab pos="1261110" algn="l"/>
                <a:tab pos="2042160" algn="l"/>
                <a:tab pos="2679700" algn="l"/>
              </a:tabLst>
            </a:pPr>
            <a:r>
              <a:rPr dirty="0"/>
              <a:t>+	*</a:t>
            </a:r>
            <a:r>
              <a:rPr sz="2775" baseline="-21021" dirty="0"/>
              <a:t>1	</a:t>
            </a:r>
            <a:r>
              <a:rPr sz="2800" dirty="0"/>
              <a:t>(	+</a:t>
            </a:r>
            <a:endParaRPr sz="2800"/>
          </a:p>
          <a:p>
            <a:pPr marL="438150">
              <a:lnSpc>
                <a:spcPct val="100000"/>
              </a:lnSpc>
              <a:tabLst>
                <a:tab pos="1261110" algn="l"/>
                <a:tab pos="2042160" algn="l"/>
                <a:tab pos="2680335" algn="l"/>
              </a:tabLst>
            </a:pPr>
            <a:r>
              <a:rPr dirty="0"/>
              <a:t>c	*</a:t>
            </a:r>
            <a:r>
              <a:rPr sz="2775" baseline="-21021" dirty="0"/>
              <a:t>1	</a:t>
            </a:r>
            <a:r>
              <a:rPr sz="2800" dirty="0"/>
              <a:t>(	+</a:t>
            </a:r>
            <a:endParaRPr sz="2800"/>
          </a:p>
          <a:p>
            <a:pPr marL="438150">
              <a:lnSpc>
                <a:spcPct val="100000"/>
              </a:lnSpc>
              <a:spcBef>
                <a:spcPts val="70"/>
              </a:spcBef>
              <a:tabLst>
                <a:tab pos="1261110" algn="l"/>
                <a:tab pos="2512695" algn="l"/>
              </a:tabLst>
            </a:pPr>
            <a:r>
              <a:rPr sz="2800" dirty="0"/>
              <a:t>)	*</a:t>
            </a:r>
            <a:r>
              <a:rPr sz="2775" baseline="-18018" dirty="0"/>
              <a:t>1	</a:t>
            </a:r>
            <a:r>
              <a:rPr sz="2400" b="0" spc="-5" dirty="0">
                <a:solidFill>
                  <a:srgbClr val="FF0000"/>
                </a:solidFill>
                <a:latin typeface="Arial"/>
                <a:cs typeface="Arial"/>
              </a:rPr>
              <a:t>match</a:t>
            </a:r>
            <a:r>
              <a:rPr sz="2400" b="0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endParaRPr sz="2400">
              <a:latin typeface="Arial"/>
              <a:cs typeface="Arial"/>
            </a:endParaRPr>
          </a:p>
          <a:p>
            <a:pPr marL="367030">
              <a:lnSpc>
                <a:spcPts val="3005"/>
              </a:lnSpc>
              <a:spcBef>
                <a:spcPts val="635"/>
              </a:spcBef>
              <a:tabLst>
                <a:tab pos="1261110" algn="l"/>
                <a:tab pos="2490470" algn="l"/>
              </a:tabLst>
            </a:pPr>
            <a:r>
              <a:rPr sz="4200" baseline="13888" dirty="0"/>
              <a:t>*</a:t>
            </a:r>
            <a:r>
              <a:rPr sz="1850" dirty="0"/>
              <a:t>2	</a:t>
            </a:r>
            <a:r>
              <a:rPr sz="4200" baseline="13888" dirty="0"/>
              <a:t>*</a:t>
            </a:r>
            <a:r>
              <a:rPr sz="1850" dirty="0"/>
              <a:t>2	</a:t>
            </a:r>
            <a:r>
              <a:rPr sz="3600" b="0" baseline="13888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1 </a:t>
            </a:r>
            <a:r>
              <a:rPr sz="3600" b="0" baseline="13888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3600" b="0" spc="-187" baseline="1388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b="0" baseline="13888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1600" b="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438150">
              <a:lnSpc>
                <a:spcPts val="3005"/>
              </a:lnSpc>
              <a:tabLst>
                <a:tab pos="1261110" algn="l"/>
              </a:tabLst>
            </a:pPr>
            <a:r>
              <a:rPr dirty="0"/>
              <a:t>d	*</a:t>
            </a:r>
            <a:r>
              <a:rPr sz="2775" baseline="-21021" dirty="0"/>
              <a:t>2</a:t>
            </a:r>
            <a:endParaRPr sz="2775" baseline="-21021"/>
          </a:p>
          <a:p>
            <a:pPr marL="12700">
              <a:lnSpc>
                <a:spcPct val="100000"/>
              </a:lnSpc>
            </a:pPr>
            <a:r>
              <a:rPr spc="-5" dirty="0"/>
              <a:t>&lt;eos&gt;</a:t>
            </a:r>
          </a:p>
        </p:txBody>
      </p:sp>
      <p:sp>
        <p:nvSpPr>
          <p:cNvPr id="50" name="object 50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42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045218" y="6349746"/>
            <a:ext cx="0" cy="231775"/>
          </a:xfrm>
          <a:custGeom>
            <a:avLst/>
            <a:gdLst/>
            <a:ahLst/>
            <a:cxnLst/>
            <a:rect l="l" t="t" r="r" b="b"/>
            <a:pathLst>
              <a:path h="231775">
                <a:moveTo>
                  <a:pt x="0" y="0"/>
                </a:moveTo>
                <a:lnTo>
                  <a:pt x="0" y="231648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744222" y="6349746"/>
            <a:ext cx="0" cy="231775"/>
          </a:xfrm>
          <a:custGeom>
            <a:avLst/>
            <a:gdLst/>
            <a:ahLst/>
            <a:cxnLst/>
            <a:rect l="l" t="t" r="r" b="b"/>
            <a:pathLst>
              <a:path h="231775">
                <a:moveTo>
                  <a:pt x="0" y="0"/>
                </a:moveTo>
                <a:lnTo>
                  <a:pt x="0" y="231648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58623" y="6349746"/>
            <a:ext cx="0" cy="231775"/>
          </a:xfrm>
          <a:custGeom>
            <a:avLst/>
            <a:gdLst/>
            <a:ahLst/>
            <a:cxnLst/>
            <a:rect l="l" t="t" r="r" b="b"/>
            <a:pathLst>
              <a:path h="231775">
                <a:moveTo>
                  <a:pt x="0" y="0"/>
                </a:moveTo>
                <a:lnTo>
                  <a:pt x="0" y="231648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795919" y="6349746"/>
            <a:ext cx="0" cy="231775"/>
          </a:xfrm>
          <a:custGeom>
            <a:avLst/>
            <a:gdLst/>
            <a:ahLst/>
            <a:cxnLst/>
            <a:rect l="l" t="t" r="r" b="b"/>
            <a:pathLst>
              <a:path h="231775">
                <a:moveTo>
                  <a:pt x="0" y="0"/>
                </a:moveTo>
                <a:lnTo>
                  <a:pt x="0" y="23164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568319" y="6349746"/>
            <a:ext cx="0" cy="231775"/>
          </a:xfrm>
          <a:custGeom>
            <a:avLst/>
            <a:gdLst/>
            <a:ahLst/>
            <a:cxnLst/>
            <a:rect l="l" t="t" r="r" b="b"/>
            <a:pathLst>
              <a:path h="231775">
                <a:moveTo>
                  <a:pt x="0" y="0"/>
                </a:moveTo>
                <a:lnTo>
                  <a:pt x="0" y="231648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81441" y="6567296"/>
            <a:ext cx="7801609" cy="0"/>
          </a:xfrm>
          <a:custGeom>
            <a:avLst/>
            <a:gdLst/>
            <a:ahLst/>
            <a:cxnLst/>
            <a:rect l="l" t="t" r="r" b="b"/>
            <a:pathLst>
              <a:path w="7801609">
                <a:moveTo>
                  <a:pt x="0" y="0"/>
                </a:moveTo>
                <a:lnTo>
                  <a:pt x="7801356" y="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822569" y="1267459"/>
            <a:ext cx="2716530" cy="530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Top</a:t>
            </a:r>
            <a:r>
              <a:rPr sz="2800" b="1" spc="38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Output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5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tabLst>
                <a:tab pos="926465" algn="l"/>
              </a:tabLst>
            </a:pPr>
            <a:r>
              <a:rPr sz="2800" b="1" spc="-5" dirty="0">
                <a:latin typeface="Courier New"/>
                <a:cs typeface="Courier New"/>
              </a:rPr>
              <a:t>-1	</a:t>
            </a:r>
            <a:r>
              <a:rPr sz="2800" b="1" dirty="0">
                <a:latin typeface="Courier New"/>
                <a:cs typeface="Courier New"/>
              </a:rPr>
              <a:t>a</a:t>
            </a:r>
            <a:endParaRPr sz="2800">
              <a:latin typeface="Courier New"/>
              <a:cs typeface="Courier New"/>
            </a:endParaRPr>
          </a:p>
          <a:p>
            <a:pPr marL="927100" indent="-655320">
              <a:lnSpc>
                <a:spcPct val="100000"/>
              </a:lnSpc>
              <a:buAutoNum type="arabicPlain"/>
              <a:tabLst>
                <a:tab pos="926465" algn="l"/>
                <a:tab pos="927100" algn="l"/>
              </a:tabLst>
            </a:pPr>
            <a:r>
              <a:rPr sz="2800" b="1" dirty="0">
                <a:latin typeface="Courier New"/>
                <a:cs typeface="Courier New"/>
              </a:rPr>
              <a:t>a</a:t>
            </a:r>
            <a:endParaRPr sz="2800">
              <a:latin typeface="Courier New"/>
              <a:cs typeface="Courier New"/>
            </a:endParaRPr>
          </a:p>
          <a:p>
            <a:pPr marL="927100" indent="-655320">
              <a:lnSpc>
                <a:spcPct val="100000"/>
              </a:lnSpc>
              <a:buAutoNum type="arabicPlain"/>
              <a:tabLst>
                <a:tab pos="926465" algn="l"/>
                <a:tab pos="927100" algn="l"/>
              </a:tabLst>
            </a:pPr>
            <a:r>
              <a:rPr sz="2800" b="1" dirty="0">
                <a:latin typeface="Courier New"/>
                <a:cs typeface="Courier New"/>
              </a:rPr>
              <a:t>a</a:t>
            </a:r>
            <a:endParaRPr sz="2800">
              <a:latin typeface="Courier New"/>
              <a:cs typeface="Courier New"/>
            </a:endParaRPr>
          </a:p>
          <a:p>
            <a:pPr marL="927100" indent="-655320">
              <a:lnSpc>
                <a:spcPct val="100000"/>
              </a:lnSpc>
              <a:buAutoNum type="arabicPlain"/>
              <a:tabLst>
                <a:tab pos="926465" algn="l"/>
                <a:tab pos="927100" algn="l"/>
              </a:tabLst>
            </a:pPr>
            <a:r>
              <a:rPr sz="2800" b="1" spc="-5" dirty="0">
                <a:latin typeface="Courier New"/>
                <a:cs typeface="Courier New"/>
              </a:rPr>
              <a:t>ab</a:t>
            </a:r>
            <a:endParaRPr sz="2800">
              <a:latin typeface="Courier New"/>
              <a:cs typeface="Courier New"/>
            </a:endParaRPr>
          </a:p>
          <a:p>
            <a:pPr marL="927100" indent="-655320">
              <a:lnSpc>
                <a:spcPct val="100000"/>
              </a:lnSpc>
              <a:buAutoNum type="arabicPlain"/>
              <a:tabLst>
                <a:tab pos="926465" algn="l"/>
                <a:tab pos="927100" algn="l"/>
              </a:tabLst>
            </a:pPr>
            <a:r>
              <a:rPr sz="2800" b="1" spc="-5" dirty="0">
                <a:latin typeface="Courier New"/>
                <a:cs typeface="Courier New"/>
              </a:rPr>
              <a:t>ab</a:t>
            </a:r>
            <a:endParaRPr sz="2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tabLst>
                <a:tab pos="926465" algn="l"/>
              </a:tabLst>
            </a:pPr>
            <a:r>
              <a:rPr sz="2800" b="1" dirty="0">
                <a:latin typeface="Courier New"/>
                <a:cs typeface="Courier New"/>
              </a:rPr>
              <a:t>2	</a:t>
            </a:r>
            <a:r>
              <a:rPr sz="2800" b="1" spc="-5" dirty="0">
                <a:latin typeface="Courier New"/>
                <a:cs typeface="Courier New"/>
              </a:rPr>
              <a:t>abc</a:t>
            </a:r>
            <a:endParaRPr sz="2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tabLst>
                <a:tab pos="926465" algn="l"/>
              </a:tabLst>
            </a:pPr>
            <a:r>
              <a:rPr sz="2800" b="1" dirty="0">
                <a:latin typeface="Courier New"/>
                <a:cs typeface="Courier New"/>
              </a:rPr>
              <a:t>0	</a:t>
            </a:r>
            <a:r>
              <a:rPr sz="2800" b="1" spc="-5" dirty="0">
                <a:latin typeface="Courier New"/>
                <a:cs typeface="Courier New"/>
              </a:rPr>
              <a:t>abc+</a:t>
            </a:r>
            <a:endParaRPr sz="2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tabLst>
                <a:tab pos="926465" algn="l"/>
              </a:tabLst>
            </a:pPr>
            <a:r>
              <a:rPr sz="2800" b="1" dirty="0">
                <a:latin typeface="Courier New"/>
                <a:cs typeface="Courier New"/>
              </a:rPr>
              <a:t>0	</a:t>
            </a:r>
            <a:r>
              <a:rPr sz="2800" b="1" spc="-5" dirty="0">
                <a:latin typeface="Courier New"/>
                <a:cs typeface="Courier New"/>
              </a:rPr>
              <a:t>abc+*</a:t>
            </a:r>
            <a:r>
              <a:rPr sz="2775" b="1" spc="-7" baseline="-21021" dirty="0">
                <a:latin typeface="Courier New"/>
                <a:cs typeface="Courier New"/>
              </a:rPr>
              <a:t>1</a:t>
            </a:r>
            <a:endParaRPr sz="2775" baseline="-21021">
              <a:latin typeface="Courier New"/>
              <a:cs typeface="Courier New"/>
            </a:endParaRPr>
          </a:p>
          <a:p>
            <a:pPr marL="271780">
              <a:lnSpc>
                <a:spcPct val="100000"/>
              </a:lnSpc>
              <a:tabLst>
                <a:tab pos="926465" algn="l"/>
              </a:tabLst>
            </a:pPr>
            <a:r>
              <a:rPr sz="2800" b="1" dirty="0">
                <a:latin typeface="Courier New"/>
                <a:cs typeface="Courier New"/>
              </a:rPr>
              <a:t>0	</a:t>
            </a:r>
            <a:r>
              <a:rPr sz="2800" b="1" spc="-5" dirty="0">
                <a:latin typeface="Courier New"/>
                <a:cs typeface="Courier New"/>
              </a:rPr>
              <a:t>abc+*</a:t>
            </a:r>
            <a:r>
              <a:rPr sz="2775" b="1" spc="-7" baseline="-21021" dirty="0">
                <a:latin typeface="Courier New"/>
                <a:cs typeface="Courier New"/>
              </a:rPr>
              <a:t>1</a:t>
            </a:r>
            <a:r>
              <a:rPr sz="2800" b="1" spc="-5" dirty="0">
                <a:latin typeface="Courier New"/>
                <a:cs typeface="Courier New"/>
              </a:rPr>
              <a:t>d</a:t>
            </a:r>
            <a:endParaRPr sz="280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tabLst>
                <a:tab pos="926465" algn="l"/>
              </a:tabLst>
            </a:pPr>
            <a:r>
              <a:rPr sz="2800" b="1" spc="-5" dirty="0">
                <a:latin typeface="Courier New"/>
                <a:cs typeface="Courier New"/>
              </a:rPr>
              <a:t>-1	abc+*</a:t>
            </a:r>
            <a:r>
              <a:rPr sz="2775" b="1" spc="-7" baseline="-21021" dirty="0">
                <a:latin typeface="Courier New"/>
                <a:cs typeface="Courier New"/>
              </a:rPr>
              <a:t>1</a:t>
            </a:r>
            <a:r>
              <a:rPr sz="2800" b="1" spc="-5" dirty="0">
                <a:latin typeface="Courier New"/>
                <a:cs typeface="Courier New"/>
              </a:rPr>
              <a:t>d*</a:t>
            </a:r>
            <a:r>
              <a:rPr sz="2775" b="1" spc="-7" baseline="-21021" dirty="0">
                <a:latin typeface="Courier New"/>
                <a:cs typeface="Courier New"/>
              </a:rPr>
              <a:t>2</a:t>
            </a:r>
            <a:endParaRPr sz="2775" baseline="-21021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Rul</a:t>
            </a:r>
            <a:r>
              <a:rPr sz="4400" spc="-10" dirty="0"/>
              <a:t>es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2027047" y="2366264"/>
            <a:ext cx="7292340" cy="3888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Operators are taken out of the stack as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long  as their in-stack precedence is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numerically  less than or equal to </a:t>
            </a:r>
            <a:r>
              <a:rPr sz="2800" dirty="0">
                <a:latin typeface="Arial"/>
                <a:cs typeface="Arial"/>
              </a:rPr>
              <a:t>the incoming  precedence of the new operator, i.e.,  isp(y)&lt;=icp(x)</a:t>
            </a:r>
            <a:endParaRPr sz="2800">
              <a:latin typeface="Arial"/>
              <a:cs typeface="Arial"/>
            </a:endParaRPr>
          </a:p>
          <a:p>
            <a:pPr marL="355600" marR="99060" indent="-342900">
              <a:lnSpc>
                <a:spcPct val="100000"/>
              </a:lnSpc>
              <a:spcBef>
                <a:spcPts val="670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  <a:tab pos="909319" algn="l"/>
              </a:tabLst>
            </a:pPr>
            <a:r>
              <a:rPr sz="2800" dirty="0">
                <a:latin typeface="Arial"/>
                <a:cs typeface="Arial"/>
              </a:rPr>
              <a:t>“(“	has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lowest in-stack precedence</a:t>
            </a:r>
            <a:r>
              <a:rPr sz="28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(i.e.,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8),  and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highest incoming precedence</a:t>
            </a:r>
            <a:r>
              <a:rPr sz="28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(i.e.,0).</a:t>
            </a:r>
            <a:endParaRPr sz="2800">
              <a:latin typeface="Arial"/>
              <a:cs typeface="Arial"/>
            </a:endParaRPr>
          </a:p>
          <a:p>
            <a:pPr marL="755650" marR="126364" indent="-285750">
              <a:lnSpc>
                <a:spcPct val="100000"/>
              </a:lnSpc>
              <a:spcBef>
                <a:spcPts val="585"/>
              </a:spcBef>
            </a:pPr>
            <a:r>
              <a:rPr sz="2400" spc="-5" dirty="0">
                <a:latin typeface="Arial"/>
                <a:cs typeface="Arial"/>
              </a:rPr>
              <a:t>– No operator other than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the matching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right 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parenthesis </a:t>
            </a:r>
            <a:r>
              <a:rPr sz="2400" spc="-5" dirty="0">
                <a:latin typeface="Arial"/>
                <a:cs typeface="Arial"/>
              </a:rPr>
              <a:t>“)” should cause it to get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unstacked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43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44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Rules</a:t>
            </a:r>
            <a:r>
              <a:rPr sz="4400" spc="-75" dirty="0"/>
              <a:t> </a:t>
            </a:r>
            <a:r>
              <a:rPr sz="4400" spc="-5" dirty="0"/>
              <a:t>(contd.)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3777996"/>
            <a:ext cx="824484" cy="257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44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229241" y="2316479"/>
          <a:ext cx="4618100" cy="41452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62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018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Priority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955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Operator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955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Unary minus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8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!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955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*,/,%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955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+,</a:t>
                      </a:r>
                      <a:r>
                        <a:rPr sz="28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955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&lt;,&lt;=,&gt;=,&gt;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5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955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==,!=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956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&amp;&amp;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956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||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sz="4400" spc="-5" dirty="0"/>
              <a:t>Multiple Stacks and</a:t>
            </a:r>
            <a:r>
              <a:rPr sz="4400" spc="-35" dirty="0"/>
              <a:t> </a:t>
            </a:r>
            <a:r>
              <a:rPr sz="4400" spc="-5" dirty="0"/>
              <a:t>Queues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2027047" y="2364994"/>
            <a:ext cx="2546350" cy="1030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Two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stacks</a:t>
            </a:r>
            <a:endParaRPr sz="32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  <a:spcBef>
                <a:spcPts val="1315"/>
              </a:spcBef>
              <a:tabLst>
                <a:tab pos="1856739" algn="l"/>
              </a:tabLst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m[0]</a:t>
            </a: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,	</a:t>
            </a: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m[1],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85639" y="3019805"/>
            <a:ext cx="18872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…,	</a:t>
            </a: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m[n-2],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29052" y="3019805"/>
            <a:ext cx="8883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m[n-1]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48725" y="3454146"/>
            <a:ext cx="76200" cy="323850"/>
          </a:xfrm>
          <a:custGeom>
            <a:avLst/>
            <a:gdLst/>
            <a:ahLst/>
            <a:cxnLst/>
            <a:rect l="l" t="t" r="r" b="b"/>
            <a:pathLst>
              <a:path w="76200" h="32385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1241" y="76200"/>
                </a:lnTo>
                <a:lnTo>
                  <a:pt x="31241" y="64007"/>
                </a:lnTo>
                <a:lnTo>
                  <a:pt x="44195" y="64007"/>
                </a:lnTo>
                <a:lnTo>
                  <a:pt x="44195" y="76200"/>
                </a:lnTo>
                <a:lnTo>
                  <a:pt x="76200" y="76200"/>
                </a:lnTo>
                <a:close/>
              </a:path>
              <a:path w="76200" h="323850">
                <a:moveTo>
                  <a:pt x="44195" y="76200"/>
                </a:moveTo>
                <a:lnTo>
                  <a:pt x="44195" y="64007"/>
                </a:lnTo>
                <a:lnTo>
                  <a:pt x="31241" y="64007"/>
                </a:lnTo>
                <a:lnTo>
                  <a:pt x="31241" y="76200"/>
                </a:lnTo>
                <a:lnTo>
                  <a:pt x="44195" y="76200"/>
                </a:lnTo>
                <a:close/>
              </a:path>
              <a:path w="76200" h="323850">
                <a:moveTo>
                  <a:pt x="44195" y="323850"/>
                </a:moveTo>
                <a:lnTo>
                  <a:pt x="44195" y="76200"/>
                </a:lnTo>
                <a:lnTo>
                  <a:pt x="31241" y="76200"/>
                </a:lnTo>
                <a:lnTo>
                  <a:pt x="31241" y="323850"/>
                </a:lnTo>
                <a:lnTo>
                  <a:pt x="44195" y="323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41271" y="3441953"/>
            <a:ext cx="76200" cy="336550"/>
          </a:xfrm>
          <a:custGeom>
            <a:avLst/>
            <a:gdLst/>
            <a:ahLst/>
            <a:cxnLst/>
            <a:rect l="l" t="t" r="r" b="b"/>
            <a:pathLst>
              <a:path w="76200" h="33655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1991" y="76200"/>
                </a:lnTo>
                <a:lnTo>
                  <a:pt x="31991" y="63246"/>
                </a:lnTo>
                <a:lnTo>
                  <a:pt x="44183" y="63246"/>
                </a:lnTo>
                <a:lnTo>
                  <a:pt x="44183" y="76200"/>
                </a:lnTo>
                <a:lnTo>
                  <a:pt x="76200" y="76200"/>
                </a:lnTo>
                <a:close/>
              </a:path>
              <a:path w="76200" h="336550">
                <a:moveTo>
                  <a:pt x="44183" y="76200"/>
                </a:moveTo>
                <a:lnTo>
                  <a:pt x="44183" y="63246"/>
                </a:lnTo>
                <a:lnTo>
                  <a:pt x="31991" y="63246"/>
                </a:lnTo>
                <a:lnTo>
                  <a:pt x="31991" y="76200"/>
                </a:lnTo>
                <a:lnTo>
                  <a:pt x="44183" y="76200"/>
                </a:lnTo>
                <a:close/>
              </a:path>
              <a:path w="76200" h="336550">
                <a:moveTo>
                  <a:pt x="44183" y="336042"/>
                </a:moveTo>
                <a:lnTo>
                  <a:pt x="44183" y="76200"/>
                </a:lnTo>
                <a:lnTo>
                  <a:pt x="31991" y="76200"/>
                </a:lnTo>
                <a:lnTo>
                  <a:pt x="31991" y="336042"/>
                </a:lnTo>
                <a:lnTo>
                  <a:pt x="44183" y="3360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99217" y="4292346"/>
            <a:ext cx="1054735" cy="76200"/>
          </a:xfrm>
          <a:custGeom>
            <a:avLst/>
            <a:gdLst/>
            <a:ahLst/>
            <a:cxnLst/>
            <a:rect l="l" t="t" r="r" b="b"/>
            <a:pathLst>
              <a:path w="1054735" h="76200">
                <a:moveTo>
                  <a:pt x="990600" y="44957"/>
                </a:moveTo>
                <a:lnTo>
                  <a:pt x="990600" y="32003"/>
                </a:lnTo>
                <a:lnTo>
                  <a:pt x="0" y="32003"/>
                </a:lnTo>
                <a:lnTo>
                  <a:pt x="0" y="44957"/>
                </a:lnTo>
                <a:lnTo>
                  <a:pt x="990600" y="44957"/>
                </a:lnTo>
                <a:close/>
              </a:path>
              <a:path w="1054735" h="76200">
                <a:moveTo>
                  <a:pt x="1054607" y="38100"/>
                </a:moveTo>
                <a:lnTo>
                  <a:pt x="978407" y="0"/>
                </a:lnTo>
                <a:lnTo>
                  <a:pt x="978407" y="32003"/>
                </a:lnTo>
                <a:lnTo>
                  <a:pt x="990600" y="32003"/>
                </a:lnTo>
                <a:lnTo>
                  <a:pt x="990600" y="70103"/>
                </a:lnTo>
                <a:lnTo>
                  <a:pt x="1054607" y="38100"/>
                </a:lnTo>
                <a:close/>
              </a:path>
              <a:path w="1054735" h="76200">
                <a:moveTo>
                  <a:pt x="990600" y="70103"/>
                </a:moveTo>
                <a:lnTo>
                  <a:pt x="990600" y="44957"/>
                </a:lnTo>
                <a:lnTo>
                  <a:pt x="978407" y="44957"/>
                </a:lnTo>
                <a:lnTo>
                  <a:pt x="978407" y="76200"/>
                </a:lnTo>
                <a:lnTo>
                  <a:pt x="990600" y="70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01613" y="4292346"/>
            <a:ext cx="1155700" cy="76200"/>
          </a:xfrm>
          <a:custGeom>
            <a:avLst/>
            <a:gdLst/>
            <a:ahLst/>
            <a:cxnLst/>
            <a:rect l="l" t="t" r="r" b="b"/>
            <a:pathLst>
              <a:path w="1155700" h="76200">
                <a:moveTo>
                  <a:pt x="76200" y="32003"/>
                </a:moveTo>
                <a:lnTo>
                  <a:pt x="76200" y="0"/>
                </a:lnTo>
                <a:lnTo>
                  <a:pt x="0" y="38100"/>
                </a:lnTo>
                <a:lnTo>
                  <a:pt x="63258" y="69729"/>
                </a:lnTo>
                <a:lnTo>
                  <a:pt x="63258" y="32003"/>
                </a:lnTo>
                <a:lnTo>
                  <a:pt x="76200" y="32003"/>
                </a:lnTo>
                <a:close/>
              </a:path>
              <a:path w="1155700" h="76200">
                <a:moveTo>
                  <a:pt x="1155204" y="44957"/>
                </a:moveTo>
                <a:lnTo>
                  <a:pt x="1155204" y="32003"/>
                </a:lnTo>
                <a:lnTo>
                  <a:pt x="63258" y="32003"/>
                </a:lnTo>
                <a:lnTo>
                  <a:pt x="63258" y="44957"/>
                </a:lnTo>
                <a:lnTo>
                  <a:pt x="1155204" y="44957"/>
                </a:lnTo>
                <a:close/>
              </a:path>
              <a:path w="1155700" h="76200">
                <a:moveTo>
                  <a:pt x="76200" y="76200"/>
                </a:moveTo>
                <a:lnTo>
                  <a:pt x="76200" y="44957"/>
                </a:lnTo>
                <a:lnTo>
                  <a:pt x="63258" y="44957"/>
                </a:lnTo>
                <a:lnTo>
                  <a:pt x="63258" y="69729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86444" y="3777996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657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79358" y="3777996"/>
            <a:ext cx="0" cy="375285"/>
          </a:xfrm>
          <a:custGeom>
            <a:avLst/>
            <a:gdLst/>
            <a:ahLst/>
            <a:cxnLst/>
            <a:rect l="l" t="t" r="r" b="b"/>
            <a:pathLst>
              <a:path h="375285">
                <a:moveTo>
                  <a:pt x="0" y="0"/>
                </a:moveTo>
                <a:lnTo>
                  <a:pt x="0" y="374903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042286" y="4117085"/>
            <a:ext cx="1616075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bottommost  stack</a:t>
            </a:r>
            <a:r>
              <a:rPr sz="2400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28931" y="4117085"/>
            <a:ext cx="1616075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bottommost</a:t>
            </a:r>
            <a:endParaRPr sz="2400">
              <a:latin typeface="Arial"/>
              <a:cs typeface="Arial"/>
            </a:endParaRPr>
          </a:p>
          <a:p>
            <a:pPr marL="60071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stack</a:t>
            </a:r>
            <a:r>
              <a:rPr sz="2400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68539" y="5337047"/>
            <a:ext cx="4197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3365"/>
                </a:solidFill>
                <a:latin typeface="Arial"/>
                <a:cs typeface="Arial"/>
              </a:rPr>
              <a:t>m-</a:t>
            </a:r>
            <a:r>
              <a:rPr sz="1800" spc="-5" dirty="0">
                <a:solidFill>
                  <a:srgbClr val="003365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03896" y="5354573"/>
            <a:ext cx="4197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3365"/>
                </a:solidFill>
                <a:latin typeface="Arial"/>
                <a:cs typeface="Arial"/>
              </a:rPr>
              <a:t>m-</a:t>
            </a:r>
            <a:r>
              <a:rPr sz="1800" spc="-5" dirty="0">
                <a:solidFill>
                  <a:srgbClr val="003365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81343" y="5370576"/>
            <a:ext cx="4197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3365"/>
                </a:solidFill>
                <a:latin typeface="Arial"/>
                <a:cs typeface="Arial"/>
              </a:rPr>
              <a:t>m-</a:t>
            </a:r>
            <a:r>
              <a:rPr sz="1800" spc="-5" dirty="0">
                <a:solidFill>
                  <a:srgbClr val="003365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38036" y="5354573"/>
            <a:ext cx="4197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3365"/>
                </a:solidFill>
                <a:latin typeface="Arial"/>
                <a:cs typeface="Arial"/>
              </a:rPr>
              <a:t>m-</a:t>
            </a:r>
            <a:r>
              <a:rPr sz="1800" spc="-5" dirty="0">
                <a:solidFill>
                  <a:srgbClr val="003365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537345" y="5802629"/>
            <a:ext cx="589280" cy="547370"/>
          </a:xfrm>
          <a:custGeom>
            <a:avLst/>
            <a:gdLst/>
            <a:ahLst/>
            <a:cxnLst/>
            <a:rect l="l" t="t" r="r" b="b"/>
            <a:pathLst>
              <a:path w="589280" h="547370">
                <a:moveTo>
                  <a:pt x="0" y="0"/>
                </a:moveTo>
                <a:lnTo>
                  <a:pt x="0" y="547115"/>
                </a:lnTo>
                <a:lnTo>
                  <a:pt x="589026" y="547115"/>
                </a:lnTo>
                <a:lnTo>
                  <a:pt x="5890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31249" y="5795771"/>
            <a:ext cx="601345" cy="554355"/>
          </a:xfrm>
          <a:custGeom>
            <a:avLst/>
            <a:gdLst/>
            <a:ahLst/>
            <a:cxnLst/>
            <a:rect l="l" t="t" r="r" b="b"/>
            <a:pathLst>
              <a:path w="601344" h="554354">
                <a:moveTo>
                  <a:pt x="601218" y="553974"/>
                </a:moveTo>
                <a:lnTo>
                  <a:pt x="601218" y="0"/>
                </a:lnTo>
                <a:lnTo>
                  <a:pt x="0" y="0"/>
                </a:lnTo>
                <a:lnTo>
                  <a:pt x="0" y="553974"/>
                </a:lnTo>
                <a:lnTo>
                  <a:pt x="6095" y="553974"/>
                </a:lnTo>
                <a:lnTo>
                  <a:pt x="6095" y="12953"/>
                </a:lnTo>
                <a:lnTo>
                  <a:pt x="12191" y="6857"/>
                </a:lnTo>
                <a:lnTo>
                  <a:pt x="12191" y="12953"/>
                </a:lnTo>
                <a:lnTo>
                  <a:pt x="589026" y="12953"/>
                </a:lnTo>
                <a:lnTo>
                  <a:pt x="589026" y="6857"/>
                </a:lnTo>
                <a:lnTo>
                  <a:pt x="595121" y="12953"/>
                </a:lnTo>
                <a:lnTo>
                  <a:pt x="595121" y="553974"/>
                </a:lnTo>
                <a:lnTo>
                  <a:pt x="601218" y="553974"/>
                </a:lnTo>
                <a:close/>
              </a:path>
              <a:path w="601344" h="554354">
                <a:moveTo>
                  <a:pt x="12191" y="12953"/>
                </a:moveTo>
                <a:lnTo>
                  <a:pt x="12191" y="6857"/>
                </a:lnTo>
                <a:lnTo>
                  <a:pt x="6095" y="12953"/>
                </a:lnTo>
                <a:lnTo>
                  <a:pt x="12191" y="12953"/>
                </a:lnTo>
                <a:close/>
              </a:path>
              <a:path w="601344" h="554354">
                <a:moveTo>
                  <a:pt x="12191" y="553974"/>
                </a:moveTo>
                <a:lnTo>
                  <a:pt x="12191" y="12953"/>
                </a:lnTo>
                <a:lnTo>
                  <a:pt x="6095" y="12953"/>
                </a:lnTo>
                <a:lnTo>
                  <a:pt x="6095" y="553974"/>
                </a:lnTo>
                <a:lnTo>
                  <a:pt x="12191" y="553974"/>
                </a:lnTo>
                <a:close/>
              </a:path>
              <a:path w="601344" h="554354">
                <a:moveTo>
                  <a:pt x="595121" y="12953"/>
                </a:moveTo>
                <a:lnTo>
                  <a:pt x="589026" y="6857"/>
                </a:lnTo>
                <a:lnTo>
                  <a:pt x="589026" y="12953"/>
                </a:lnTo>
                <a:lnTo>
                  <a:pt x="595121" y="12953"/>
                </a:lnTo>
                <a:close/>
              </a:path>
              <a:path w="601344" h="554354">
                <a:moveTo>
                  <a:pt x="595121" y="553974"/>
                </a:moveTo>
                <a:lnTo>
                  <a:pt x="595121" y="12953"/>
                </a:lnTo>
                <a:lnTo>
                  <a:pt x="589026" y="12953"/>
                </a:lnTo>
                <a:lnTo>
                  <a:pt x="589026" y="553974"/>
                </a:lnTo>
                <a:lnTo>
                  <a:pt x="595121" y="553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20275" y="5797296"/>
            <a:ext cx="588645" cy="552450"/>
          </a:xfrm>
          <a:custGeom>
            <a:avLst/>
            <a:gdLst/>
            <a:ahLst/>
            <a:cxnLst/>
            <a:rect l="l" t="t" r="r" b="b"/>
            <a:pathLst>
              <a:path w="588645" h="552450">
                <a:moveTo>
                  <a:pt x="0" y="0"/>
                </a:moveTo>
                <a:lnTo>
                  <a:pt x="0" y="552450"/>
                </a:lnTo>
                <a:lnTo>
                  <a:pt x="588264" y="552450"/>
                </a:lnTo>
                <a:lnTo>
                  <a:pt x="58826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13417" y="5791200"/>
            <a:ext cx="601980" cy="558800"/>
          </a:xfrm>
          <a:custGeom>
            <a:avLst/>
            <a:gdLst/>
            <a:ahLst/>
            <a:cxnLst/>
            <a:rect l="l" t="t" r="r" b="b"/>
            <a:pathLst>
              <a:path w="601979" h="558800">
                <a:moveTo>
                  <a:pt x="601980" y="558546"/>
                </a:moveTo>
                <a:lnTo>
                  <a:pt x="601979" y="0"/>
                </a:lnTo>
                <a:lnTo>
                  <a:pt x="0" y="0"/>
                </a:lnTo>
                <a:lnTo>
                  <a:pt x="0" y="558546"/>
                </a:lnTo>
                <a:lnTo>
                  <a:pt x="6857" y="558546"/>
                </a:lnTo>
                <a:lnTo>
                  <a:pt x="6857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589025" y="12953"/>
                </a:lnTo>
                <a:lnTo>
                  <a:pt x="589025" y="6096"/>
                </a:lnTo>
                <a:lnTo>
                  <a:pt x="595121" y="12953"/>
                </a:lnTo>
                <a:lnTo>
                  <a:pt x="595122" y="558546"/>
                </a:lnTo>
                <a:lnTo>
                  <a:pt x="601980" y="558546"/>
                </a:lnTo>
                <a:close/>
              </a:path>
              <a:path w="601979" h="558800">
                <a:moveTo>
                  <a:pt x="12953" y="12953"/>
                </a:moveTo>
                <a:lnTo>
                  <a:pt x="12953" y="6096"/>
                </a:lnTo>
                <a:lnTo>
                  <a:pt x="6857" y="12953"/>
                </a:lnTo>
                <a:lnTo>
                  <a:pt x="12953" y="12953"/>
                </a:lnTo>
                <a:close/>
              </a:path>
              <a:path w="601979" h="558800">
                <a:moveTo>
                  <a:pt x="12953" y="558546"/>
                </a:moveTo>
                <a:lnTo>
                  <a:pt x="12953" y="12953"/>
                </a:lnTo>
                <a:lnTo>
                  <a:pt x="6857" y="12953"/>
                </a:lnTo>
                <a:lnTo>
                  <a:pt x="6857" y="558546"/>
                </a:lnTo>
                <a:lnTo>
                  <a:pt x="12953" y="558546"/>
                </a:lnTo>
                <a:close/>
              </a:path>
              <a:path w="601979" h="558800">
                <a:moveTo>
                  <a:pt x="595121" y="12953"/>
                </a:moveTo>
                <a:lnTo>
                  <a:pt x="589025" y="6096"/>
                </a:lnTo>
                <a:lnTo>
                  <a:pt x="589025" y="12953"/>
                </a:lnTo>
                <a:lnTo>
                  <a:pt x="595121" y="12953"/>
                </a:lnTo>
                <a:close/>
              </a:path>
              <a:path w="601979" h="558800">
                <a:moveTo>
                  <a:pt x="595122" y="558546"/>
                </a:moveTo>
                <a:lnTo>
                  <a:pt x="595121" y="12953"/>
                </a:lnTo>
                <a:lnTo>
                  <a:pt x="589025" y="12953"/>
                </a:lnTo>
                <a:lnTo>
                  <a:pt x="589026" y="558546"/>
                </a:lnTo>
                <a:lnTo>
                  <a:pt x="595122" y="5585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00919" y="5801105"/>
            <a:ext cx="589280" cy="548640"/>
          </a:xfrm>
          <a:custGeom>
            <a:avLst/>
            <a:gdLst/>
            <a:ahLst/>
            <a:cxnLst/>
            <a:rect l="l" t="t" r="r" b="b"/>
            <a:pathLst>
              <a:path w="589279" h="548639">
                <a:moveTo>
                  <a:pt x="0" y="0"/>
                </a:moveTo>
                <a:lnTo>
                  <a:pt x="0" y="548639"/>
                </a:lnTo>
                <a:lnTo>
                  <a:pt x="589026" y="548639"/>
                </a:lnTo>
                <a:lnTo>
                  <a:pt x="5890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94823" y="5794247"/>
            <a:ext cx="601345" cy="555625"/>
          </a:xfrm>
          <a:custGeom>
            <a:avLst/>
            <a:gdLst/>
            <a:ahLst/>
            <a:cxnLst/>
            <a:rect l="l" t="t" r="r" b="b"/>
            <a:pathLst>
              <a:path w="601345" h="555625">
                <a:moveTo>
                  <a:pt x="601218" y="555498"/>
                </a:moveTo>
                <a:lnTo>
                  <a:pt x="601217" y="0"/>
                </a:lnTo>
                <a:lnTo>
                  <a:pt x="0" y="0"/>
                </a:lnTo>
                <a:lnTo>
                  <a:pt x="0" y="555498"/>
                </a:lnTo>
                <a:lnTo>
                  <a:pt x="6096" y="555498"/>
                </a:lnTo>
                <a:lnTo>
                  <a:pt x="6096" y="12953"/>
                </a:lnTo>
                <a:lnTo>
                  <a:pt x="12192" y="6857"/>
                </a:lnTo>
                <a:lnTo>
                  <a:pt x="12192" y="12953"/>
                </a:lnTo>
                <a:lnTo>
                  <a:pt x="589026" y="12953"/>
                </a:lnTo>
                <a:lnTo>
                  <a:pt x="589026" y="6857"/>
                </a:lnTo>
                <a:lnTo>
                  <a:pt x="595122" y="12953"/>
                </a:lnTo>
                <a:lnTo>
                  <a:pt x="595122" y="555498"/>
                </a:lnTo>
                <a:lnTo>
                  <a:pt x="601218" y="555498"/>
                </a:lnTo>
                <a:close/>
              </a:path>
              <a:path w="601345" h="555625">
                <a:moveTo>
                  <a:pt x="12192" y="12953"/>
                </a:moveTo>
                <a:lnTo>
                  <a:pt x="12192" y="6857"/>
                </a:lnTo>
                <a:lnTo>
                  <a:pt x="6096" y="12953"/>
                </a:lnTo>
                <a:lnTo>
                  <a:pt x="12192" y="12953"/>
                </a:lnTo>
                <a:close/>
              </a:path>
              <a:path w="601345" h="555625">
                <a:moveTo>
                  <a:pt x="12192" y="555498"/>
                </a:moveTo>
                <a:lnTo>
                  <a:pt x="12192" y="12953"/>
                </a:lnTo>
                <a:lnTo>
                  <a:pt x="6096" y="12953"/>
                </a:lnTo>
                <a:lnTo>
                  <a:pt x="6096" y="555498"/>
                </a:lnTo>
                <a:lnTo>
                  <a:pt x="12192" y="555498"/>
                </a:lnTo>
                <a:close/>
              </a:path>
              <a:path w="601345" h="555625">
                <a:moveTo>
                  <a:pt x="595122" y="12953"/>
                </a:moveTo>
                <a:lnTo>
                  <a:pt x="589026" y="6857"/>
                </a:lnTo>
                <a:lnTo>
                  <a:pt x="589026" y="12953"/>
                </a:lnTo>
                <a:lnTo>
                  <a:pt x="595122" y="12953"/>
                </a:lnTo>
                <a:close/>
              </a:path>
              <a:path w="601345" h="555625">
                <a:moveTo>
                  <a:pt x="595122" y="555498"/>
                </a:moveTo>
                <a:lnTo>
                  <a:pt x="595122" y="12953"/>
                </a:lnTo>
                <a:lnTo>
                  <a:pt x="589026" y="12953"/>
                </a:lnTo>
                <a:lnTo>
                  <a:pt x="589026" y="555498"/>
                </a:lnTo>
                <a:lnTo>
                  <a:pt x="595122" y="5554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83849" y="5797296"/>
            <a:ext cx="601345" cy="552450"/>
          </a:xfrm>
          <a:custGeom>
            <a:avLst/>
            <a:gdLst/>
            <a:ahLst/>
            <a:cxnLst/>
            <a:rect l="l" t="t" r="r" b="b"/>
            <a:pathLst>
              <a:path w="601345" h="552450">
                <a:moveTo>
                  <a:pt x="601218" y="552450"/>
                </a:moveTo>
                <a:lnTo>
                  <a:pt x="601217" y="0"/>
                </a:lnTo>
                <a:lnTo>
                  <a:pt x="0" y="0"/>
                </a:lnTo>
                <a:lnTo>
                  <a:pt x="0" y="552450"/>
                </a:lnTo>
                <a:lnTo>
                  <a:pt x="6096" y="552450"/>
                </a:lnTo>
                <a:lnTo>
                  <a:pt x="6096" y="12953"/>
                </a:lnTo>
                <a:lnTo>
                  <a:pt x="12192" y="6857"/>
                </a:lnTo>
                <a:lnTo>
                  <a:pt x="12192" y="12953"/>
                </a:lnTo>
                <a:lnTo>
                  <a:pt x="589026" y="12953"/>
                </a:lnTo>
                <a:lnTo>
                  <a:pt x="589026" y="6857"/>
                </a:lnTo>
                <a:lnTo>
                  <a:pt x="595122" y="12953"/>
                </a:lnTo>
                <a:lnTo>
                  <a:pt x="595122" y="552450"/>
                </a:lnTo>
                <a:lnTo>
                  <a:pt x="601218" y="552450"/>
                </a:lnTo>
                <a:close/>
              </a:path>
              <a:path w="601345" h="552450">
                <a:moveTo>
                  <a:pt x="12192" y="12953"/>
                </a:moveTo>
                <a:lnTo>
                  <a:pt x="12192" y="6857"/>
                </a:lnTo>
                <a:lnTo>
                  <a:pt x="6096" y="12953"/>
                </a:lnTo>
                <a:lnTo>
                  <a:pt x="12192" y="12953"/>
                </a:lnTo>
                <a:close/>
              </a:path>
              <a:path w="601345" h="552450">
                <a:moveTo>
                  <a:pt x="12192" y="552450"/>
                </a:moveTo>
                <a:lnTo>
                  <a:pt x="12192" y="12953"/>
                </a:lnTo>
                <a:lnTo>
                  <a:pt x="6096" y="12953"/>
                </a:lnTo>
                <a:lnTo>
                  <a:pt x="6096" y="552450"/>
                </a:lnTo>
                <a:lnTo>
                  <a:pt x="12192" y="552450"/>
                </a:lnTo>
                <a:close/>
              </a:path>
              <a:path w="601345" h="552450">
                <a:moveTo>
                  <a:pt x="595122" y="12953"/>
                </a:moveTo>
                <a:lnTo>
                  <a:pt x="589026" y="6857"/>
                </a:lnTo>
                <a:lnTo>
                  <a:pt x="589026" y="12953"/>
                </a:lnTo>
                <a:lnTo>
                  <a:pt x="595122" y="12953"/>
                </a:lnTo>
                <a:close/>
              </a:path>
              <a:path w="601345" h="552450">
                <a:moveTo>
                  <a:pt x="595122" y="552450"/>
                </a:moveTo>
                <a:lnTo>
                  <a:pt x="595122" y="12953"/>
                </a:lnTo>
                <a:lnTo>
                  <a:pt x="589026" y="12953"/>
                </a:lnTo>
                <a:lnTo>
                  <a:pt x="589026" y="552450"/>
                </a:lnTo>
                <a:lnTo>
                  <a:pt x="595122" y="552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72875" y="5797296"/>
            <a:ext cx="588645" cy="552450"/>
          </a:xfrm>
          <a:custGeom>
            <a:avLst/>
            <a:gdLst/>
            <a:ahLst/>
            <a:cxnLst/>
            <a:rect l="l" t="t" r="r" b="b"/>
            <a:pathLst>
              <a:path w="588645" h="552450">
                <a:moveTo>
                  <a:pt x="0" y="0"/>
                </a:moveTo>
                <a:lnTo>
                  <a:pt x="0" y="552450"/>
                </a:lnTo>
                <a:lnTo>
                  <a:pt x="588264" y="552450"/>
                </a:lnTo>
                <a:lnTo>
                  <a:pt x="5882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66017" y="5791200"/>
            <a:ext cx="601980" cy="558800"/>
          </a:xfrm>
          <a:custGeom>
            <a:avLst/>
            <a:gdLst/>
            <a:ahLst/>
            <a:cxnLst/>
            <a:rect l="l" t="t" r="r" b="b"/>
            <a:pathLst>
              <a:path w="601979" h="558800">
                <a:moveTo>
                  <a:pt x="601980" y="558546"/>
                </a:moveTo>
                <a:lnTo>
                  <a:pt x="601979" y="0"/>
                </a:lnTo>
                <a:lnTo>
                  <a:pt x="0" y="0"/>
                </a:lnTo>
                <a:lnTo>
                  <a:pt x="0" y="558546"/>
                </a:lnTo>
                <a:lnTo>
                  <a:pt x="6858" y="558546"/>
                </a:lnTo>
                <a:lnTo>
                  <a:pt x="6857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589026" y="12953"/>
                </a:lnTo>
                <a:lnTo>
                  <a:pt x="589026" y="6096"/>
                </a:lnTo>
                <a:lnTo>
                  <a:pt x="595122" y="12953"/>
                </a:lnTo>
                <a:lnTo>
                  <a:pt x="595122" y="558546"/>
                </a:lnTo>
                <a:lnTo>
                  <a:pt x="601980" y="558546"/>
                </a:lnTo>
                <a:close/>
              </a:path>
              <a:path w="601979" h="558800">
                <a:moveTo>
                  <a:pt x="12953" y="12953"/>
                </a:moveTo>
                <a:lnTo>
                  <a:pt x="12953" y="6096"/>
                </a:lnTo>
                <a:lnTo>
                  <a:pt x="6857" y="12953"/>
                </a:lnTo>
                <a:lnTo>
                  <a:pt x="12953" y="12953"/>
                </a:lnTo>
                <a:close/>
              </a:path>
              <a:path w="601979" h="558800">
                <a:moveTo>
                  <a:pt x="12954" y="558546"/>
                </a:moveTo>
                <a:lnTo>
                  <a:pt x="12953" y="12953"/>
                </a:lnTo>
                <a:lnTo>
                  <a:pt x="6857" y="12953"/>
                </a:lnTo>
                <a:lnTo>
                  <a:pt x="6858" y="558546"/>
                </a:lnTo>
                <a:lnTo>
                  <a:pt x="12954" y="558546"/>
                </a:lnTo>
                <a:close/>
              </a:path>
              <a:path w="601979" h="558800">
                <a:moveTo>
                  <a:pt x="595122" y="12953"/>
                </a:moveTo>
                <a:lnTo>
                  <a:pt x="589026" y="6096"/>
                </a:lnTo>
                <a:lnTo>
                  <a:pt x="589026" y="12953"/>
                </a:lnTo>
                <a:lnTo>
                  <a:pt x="595122" y="12953"/>
                </a:lnTo>
                <a:close/>
              </a:path>
              <a:path w="601979" h="558800">
                <a:moveTo>
                  <a:pt x="595122" y="558546"/>
                </a:moveTo>
                <a:lnTo>
                  <a:pt x="595122" y="12953"/>
                </a:lnTo>
                <a:lnTo>
                  <a:pt x="589026" y="12953"/>
                </a:lnTo>
                <a:lnTo>
                  <a:pt x="589026" y="558546"/>
                </a:lnTo>
                <a:lnTo>
                  <a:pt x="595122" y="5585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51995" y="5797296"/>
            <a:ext cx="589280" cy="552450"/>
          </a:xfrm>
          <a:custGeom>
            <a:avLst/>
            <a:gdLst/>
            <a:ahLst/>
            <a:cxnLst/>
            <a:rect l="l" t="t" r="r" b="b"/>
            <a:pathLst>
              <a:path w="589279" h="552450">
                <a:moveTo>
                  <a:pt x="0" y="0"/>
                </a:moveTo>
                <a:lnTo>
                  <a:pt x="0" y="552450"/>
                </a:lnTo>
                <a:lnTo>
                  <a:pt x="589026" y="552450"/>
                </a:lnTo>
                <a:lnTo>
                  <a:pt x="5890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45899" y="5791200"/>
            <a:ext cx="601345" cy="558800"/>
          </a:xfrm>
          <a:custGeom>
            <a:avLst/>
            <a:gdLst/>
            <a:ahLst/>
            <a:cxnLst/>
            <a:rect l="l" t="t" r="r" b="b"/>
            <a:pathLst>
              <a:path w="601345" h="558800">
                <a:moveTo>
                  <a:pt x="601218" y="558546"/>
                </a:moveTo>
                <a:lnTo>
                  <a:pt x="601217" y="0"/>
                </a:lnTo>
                <a:lnTo>
                  <a:pt x="0" y="0"/>
                </a:lnTo>
                <a:lnTo>
                  <a:pt x="0" y="558546"/>
                </a:lnTo>
                <a:lnTo>
                  <a:pt x="6096" y="558546"/>
                </a:lnTo>
                <a:lnTo>
                  <a:pt x="6096" y="12954"/>
                </a:lnTo>
                <a:lnTo>
                  <a:pt x="12192" y="6096"/>
                </a:lnTo>
                <a:lnTo>
                  <a:pt x="12192" y="12954"/>
                </a:lnTo>
                <a:lnTo>
                  <a:pt x="589026" y="12953"/>
                </a:lnTo>
                <a:lnTo>
                  <a:pt x="589026" y="6096"/>
                </a:lnTo>
                <a:lnTo>
                  <a:pt x="595122" y="12953"/>
                </a:lnTo>
                <a:lnTo>
                  <a:pt x="595122" y="558546"/>
                </a:lnTo>
                <a:lnTo>
                  <a:pt x="601218" y="558546"/>
                </a:lnTo>
                <a:close/>
              </a:path>
              <a:path w="601345" h="558800">
                <a:moveTo>
                  <a:pt x="12192" y="12954"/>
                </a:moveTo>
                <a:lnTo>
                  <a:pt x="12192" y="6096"/>
                </a:lnTo>
                <a:lnTo>
                  <a:pt x="6096" y="12954"/>
                </a:lnTo>
                <a:lnTo>
                  <a:pt x="12192" y="12954"/>
                </a:lnTo>
                <a:close/>
              </a:path>
              <a:path w="601345" h="558800">
                <a:moveTo>
                  <a:pt x="12192" y="558546"/>
                </a:moveTo>
                <a:lnTo>
                  <a:pt x="12192" y="12954"/>
                </a:lnTo>
                <a:lnTo>
                  <a:pt x="6096" y="12954"/>
                </a:lnTo>
                <a:lnTo>
                  <a:pt x="6096" y="558546"/>
                </a:lnTo>
                <a:lnTo>
                  <a:pt x="12192" y="558546"/>
                </a:lnTo>
                <a:close/>
              </a:path>
              <a:path w="601345" h="558800">
                <a:moveTo>
                  <a:pt x="595122" y="12953"/>
                </a:moveTo>
                <a:lnTo>
                  <a:pt x="589026" y="6096"/>
                </a:lnTo>
                <a:lnTo>
                  <a:pt x="589026" y="12953"/>
                </a:lnTo>
                <a:lnTo>
                  <a:pt x="595122" y="12953"/>
                </a:lnTo>
                <a:close/>
              </a:path>
              <a:path w="601345" h="558800">
                <a:moveTo>
                  <a:pt x="595122" y="558546"/>
                </a:moveTo>
                <a:lnTo>
                  <a:pt x="595122" y="12953"/>
                </a:lnTo>
                <a:lnTo>
                  <a:pt x="589026" y="12953"/>
                </a:lnTo>
                <a:lnTo>
                  <a:pt x="589026" y="558546"/>
                </a:lnTo>
                <a:lnTo>
                  <a:pt x="595122" y="5585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034925" y="5799582"/>
            <a:ext cx="588645" cy="550545"/>
          </a:xfrm>
          <a:custGeom>
            <a:avLst/>
            <a:gdLst/>
            <a:ahLst/>
            <a:cxnLst/>
            <a:rect l="l" t="t" r="r" b="b"/>
            <a:pathLst>
              <a:path w="588645" h="550545">
                <a:moveTo>
                  <a:pt x="0" y="0"/>
                </a:moveTo>
                <a:lnTo>
                  <a:pt x="0" y="550163"/>
                </a:lnTo>
                <a:lnTo>
                  <a:pt x="588263" y="550163"/>
                </a:lnTo>
                <a:lnTo>
                  <a:pt x="5882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28067" y="5792723"/>
            <a:ext cx="601980" cy="557530"/>
          </a:xfrm>
          <a:custGeom>
            <a:avLst/>
            <a:gdLst/>
            <a:ahLst/>
            <a:cxnLst/>
            <a:rect l="l" t="t" r="r" b="b"/>
            <a:pathLst>
              <a:path w="601979" h="557529">
                <a:moveTo>
                  <a:pt x="601980" y="557022"/>
                </a:moveTo>
                <a:lnTo>
                  <a:pt x="601980" y="0"/>
                </a:lnTo>
                <a:lnTo>
                  <a:pt x="0" y="0"/>
                </a:lnTo>
                <a:lnTo>
                  <a:pt x="0" y="557022"/>
                </a:lnTo>
                <a:lnTo>
                  <a:pt x="6858" y="557022"/>
                </a:lnTo>
                <a:lnTo>
                  <a:pt x="6857" y="12953"/>
                </a:lnTo>
                <a:lnTo>
                  <a:pt x="12953" y="6858"/>
                </a:lnTo>
                <a:lnTo>
                  <a:pt x="12953" y="12953"/>
                </a:lnTo>
                <a:lnTo>
                  <a:pt x="589025" y="12953"/>
                </a:lnTo>
                <a:lnTo>
                  <a:pt x="589025" y="6858"/>
                </a:lnTo>
                <a:lnTo>
                  <a:pt x="595109" y="12953"/>
                </a:lnTo>
                <a:lnTo>
                  <a:pt x="595109" y="557022"/>
                </a:lnTo>
                <a:lnTo>
                  <a:pt x="601980" y="557022"/>
                </a:lnTo>
                <a:close/>
              </a:path>
              <a:path w="601979" h="557529">
                <a:moveTo>
                  <a:pt x="12953" y="12953"/>
                </a:moveTo>
                <a:lnTo>
                  <a:pt x="12953" y="6858"/>
                </a:lnTo>
                <a:lnTo>
                  <a:pt x="6857" y="12953"/>
                </a:lnTo>
                <a:lnTo>
                  <a:pt x="12953" y="12953"/>
                </a:lnTo>
                <a:close/>
              </a:path>
              <a:path w="601979" h="557529">
                <a:moveTo>
                  <a:pt x="12954" y="557022"/>
                </a:moveTo>
                <a:lnTo>
                  <a:pt x="12953" y="12953"/>
                </a:lnTo>
                <a:lnTo>
                  <a:pt x="6857" y="12953"/>
                </a:lnTo>
                <a:lnTo>
                  <a:pt x="6858" y="557022"/>
                </a:lnTo>
                <a:lnTo>
                  <a:pt x="12954" y="557022"/>
                </a:lnTo>
                <a:close/>
              </a:path>
              <a:path w="601979" h="557529">
                <a:moveTo>
                  <a:pt x="595109" y="12953"/>
                </a:moveTo>
                <a:lnTo>
                  <a:pt x="589025" y="6858"/>
                </a:lnTo>
                <a:lnTo>
                  <a:pt x="589025" y="12953"/>
                </a:lnTo>
                <a:lnTo>
                  <a:pt x="595109" y="12953"/>
                </a:lnTo>
                <a:close/>
              </a:path>
              <a:path w="601979" h="557529">
                <a:moveTo>
                  <a:pt x="595109" y="557022"/>
                </a:moveTo>
                <a:lnTo>
                  <a:pt x="595109" y="12953"/>
                </a:lnTo>
                <a:lnTo>
                  <a:pt x="589025" y="12953"/>
                </a:lnTo>
                <a:lnTo>
                  <a:pt x="589025" y="557022"/>
                </a:lnTo>
                <a:lnTo>
                  <a:pt x="595109" y="557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820289" y="5376671"/>
            <a:ext cx="66548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25145" algn="l"/>
              </a:tabLst>
            </a:pPr>
            <a:r>
              <a:rPr sz="1800" spc="-5" dirty="0">
                <a:solidFill>
                  <a:srgbClr val="003365"/>
                </a:solidFill>
                <a:latin typeface="Arial"/>
                <a:cs typeface="Arial"/>
              </a:rPr>
              <a:t>0	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13009" y="5376671"/>
            <a:ext cx="1530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3365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14215" y="5376671"/>
            <a:ext cx="1530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3365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04765" y="5376671"/>
            <a:ext cx="1530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3365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623177" y="5804153"/>
            <a:ext cx="589280" cy="546100"/>
          </a:xfrm>
          <a:custGeom>
            <a:avLst/>
            <a:gdLst/>
            <a:ahLst/>
            <a:cxnLst/>
            <a:rect l="l" t="t" r="r" b="b"/>
            <a:pathLst>
              <a:path w="589279" h="546100">
                <a:moveTo>
                  <a:pt x="0" y="0"/>
                </a:moveTo>
                <a:lnTo>
                  <a:pt x="0" y="545591"/>
                </a:lnTo>
                <a:lnTo>
                  <a:pt x="589026" y="545591"/>
                </a:lnTo>
                <a:lnTo>
                  <a:pt x="589026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617093" y="5797296"/>
            <a:ext cx="601980" cy="552450"/>
          </a:xfrm>
          <a:custGeom>
            <a:avLst/>
            <a:gdLst/>
            <a:ahLst/>
            <a:cxnLst/>
            <a:rect l="l" t="t" r="r" b="b"/>
            <a:pathLst>
              <a:path w="601979" h="552450">
                <a:moveTo>
                  <a:pt x="601979" y="552450"/>
                </a:moveTo>
                <a:lnTo>
                  <a:pt x="601979" y="0"/>
                </a:lnTo>
                <a:lnTo>
                  <a:pt x="0" y="0"/>
                </a:lnTo>
                <a:lnTo>
                  <a:pt x="0" y="552450"/>
                </a:lnTo>
                <a:lnTo>
                  <a:pt x="6083" y="552450"/>
                </a:lnTo>
                <a:lnTo>
                  <a:pt x="6083" y="12953"/>
                </a:lnTo>
                <a:lnTo>
                  <a:pt x="12941" y="6857"/>
                </a:lnTo>
                <a:lnTo>
                  <a:pt x="12941" y="12953"/>
                </a:lnTo>
                <a:lnTo>
                  <a:pt x="589026" y="12953"/>
                </a:lnTo>
                <a:lnTo>
                  <a:pt x="589026" y="6857"/>
                </a:lnTo>
                <a:lnTo>
                  <a:pt x="595122" y="12953"/>
                </a:lnTo>
                <a:lnTo>
                  <a:pt x="595122" y="552450"/>
                </a:lnTo>
                <a:lnTo>
                  <a:pt x="601979" y="552450"/>
                </a:lnTo>
                <a:close/>
              </a:path>
              <a:path w="601979" h="552450">
                <a:moveTo>
                  <a:pt x="12941" y="12953"/>
                </a:moveTo>
                <a:lnTo>
                  <a:pt x="12941" y="6857"/>
                </a:lnTo>
                <a:lnTo>
                  <a:pt x="6083" y="12953"/>
                </a:lnTo>
                <a:lnTo>
                  <a:pt x="12941" y="12953"/>
                </a:lnTo>
                <a:close/>
              </a:path>
              <a:path w="601979" h="552450">
                <a:moveTo>
                  <a:pt x="12941" y="552450"/>
                </a:moveTo>
                <a:lnTo>
                  <a:pt x="12941" y="12953"/>
                </a:lnTo>
                <a:lnTo>
                  <a:pt x="6083" y="12953"/>
                </a:lnTo>
                <a:lnTo>
                  <a:pt x="6083" y="552450"/>
                </a:lnTo>
                <a:lnTo>
                  <a:pt x="12941" y="552450"/>
                </a:lnTo>
                <a:close/>
              </a:path>
              <a:path w="601979" h="552450">
                <a:moveTo>
                  <a:pt x="595122" y="12953"/>
                </a:moveTo>
                <a:lnTo>
                  <a:pt x="589026" y="6857"/>
                </a:lnTo>
                <a:lnTo>
                  <a:pt x="589026" y="12953"/>
                </a:lnTo>
                <a:lnTo>
                  <a:pt x="595122" y="12953"/>
                </a:lnTo>
                <a:close/>
              </a:path>
              <a:path w="601979" h="552450">
                <a:moveTo>
                  <a:pt x="595122" y="552450"/>
                </a:moveTo>
                <a:lnTo>
                  <a:pt x="595122" y="12953"/>
                </a:lnTo>
                <a:lnTo>
                  <a:pt x="589026" y="12953"/>
                </a:lnTo>
                <a:lnTo>
                  <a:pt x="589026" y="552450"/>
                </a:lnTo>
                <a:lnTo>
                  <a:pt x="595122" y="552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206119" y="5799582"/>
            <a:ext cx="589280" cy="550545"/>
          </a:xfrm>
          <a:custGeom>
            <a:avLst/>
            <a:gdLst/>
            <a:ahLst/>
            <a:cxnLst/>
            <a:rect l="l" t="t" r="r" b="b"/>
            <a:pathLst>
              <a:path w="589279" h="550545">
                <a:moveTo>
                  <a:pt x="0" y="0"/>
                </a:moveTo>
                <a:lnTo>
                  <a:pt x="0" y="550163"/>
                </a:lnTo>
                <a:lnTo>
                  <a:pt x="589026" y="550163"/>
                </a:lnTo>
                <a:lnTo>
                  <a:pt x="589026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00010" y="5792723"/>
            <a:ext cx="601345" cy="557530"/>
          </a:xfrm>
          <a:custGeom>
            <a:avLst/>
            <a:gdLst/>
            <a:ahLst/>
            <a:cxnLst/>
            <a:rect l="l" t="t" r="r" b="b"/>
            <a:pathLst>
              <a:path w="601345" h="557529">
                <a:moveTo>
                  <a:pt x="601218" y="557022"/>
                </a:moveTo>
                <a:lnTo>
                  <a:pt x="601218" y="0"/>
                </a:lnTo>
                <a:lnTo>
                  <a:pt x="0" y="0"/>
                </a:lnTo>
                <a:lnTo>
                  <a:pt x="0" y="557022"/>
                </a:lnTo>
                <a:lnTo>
                  <a:pt x="6108" y="557022"/>
                </a:lnTo>
                <a:lnTo>
                  <a:pt x="6108" y="12953"/>
                </a:lnTo>
                <a:lnTo>
                  <a:pt x="12204" y="6858"/>
                </a:lnTo>
                <a:lnTo>
                  <a:pt x="12204" y="12953"/>
                </a:lnTo>
                <a:lnTo>
                  <a:pt x="589026" y="12953"/>
                </a:lnTo>
                <a:lnTo>
                  <a:pt x="589026" y="6858"/>
                </a:lnTo>
                <a:lnTo>
                  <a:pt x="595134" y="12953"/>
                </a:lnTo>
                <a:lnTo>
                  <a:pt x="595134" y="557022"/>
                </a:lnTo>
                <a:lnTo>
                  <a:pt x="601218" y="557022"/>
                </a:lnTo>
                <a:close/>
              </a:path>
              <a:path w="601345" h="557529">
                <a:moveTo>
                  <a:pt x="12204" y="12953"/>
                </a:moveTo>
                <a:lnTo>
                  <a:pt x="12204" y="6858"/>
                </a:lnTo>
                <a:lnTo>
                  <a:pt x="6108" y="12953"/>
                </a:lnTo>
                <a:lnTo>
                  <a:pt x="12204" y="12953"/>
                </a:lnTo>
                <a:close/>
              </a:path>
              <a:path w="601345" h="557529">
                <a:moveTo>
                  <a:pt x="12204" y="557022"/>
                </a:moveTo>
                <a:lnTo>
                  <a:pt x="12204" y="12953"/>
                </a:lnTo>
                <a:lnTo>
                  <a:pt x="6108" y="12953"/>
                </a:lnTo>
                <a:lnTo>
                  <a:pt x="6108" y="557022"/>
                </a:lnTo>
                <a:lnTo>
                  <a:pt x="12204" y="557022"/>
                </a:lnTo>
                <a:close/>
              </a:path>
              <a:path w="601345" h="557529">
                <a:moveTo>
                  <a:pt x="595134" y="12953"/>
                </a:moveTo>
                <a:lnTo>
                  <a:pt x="589026" y="6858"/>
                </a:lnTo>
                <a:lnTo>
                  <a:pt x="589026" y="12953"/>
                </a:lnTo>
                <a:lnTo>
                  <a:pt x="595134" y="12953"/>
                </a:lnTo>
                <a:close/>
              </a:path>
              <a:path w="601345" h="557529">
                <a:moveTo>
                  <a:pt x="595134" y="557022"/>
                </a:moveTo>
                <a:lnTo>
                  <a:pt x="595134" y="12953"/>
                </a:lnTo>
                <a:lnTo>
                  <a:pt x="589026" y="12953"/>
                </a:lnTo>
                <a:lnTo>
                  <a:pt x="589026" y="557022"/>
                </a:lnTo>
                <a:lnTo>
                  <a:pt x="595134" y="557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787513" y="5802629"/>
            <a:ext cx="588645" cy="547370"/>
          </a:xfrm>
          <a:custGeom>
            <a:avLst/>
            <a:gdLst/>
            <a:ahLst/>
            <a:cxnLst/>
            <a:rect l="l" t="t" r="r" b="b"/>
            <a:pathLst>
              <a:path w="588645" h="547370">
                <a:moveTo>
                  <a:pt x="0" y="0"/>
                </a:moveTo>
                <a:lnTo>
                  <a:pt x="0" y="547115"/>
                </a:lnTo>
                <a:lnTo>
                  <a:pt x="588264" y="547115"/>
                </a:lnTo>
                <a:lnTo>
                  <a:pt x="58826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780667" y="5795771"/>
            <a:ext cx="601980" cy="554355"/>
          </a:xfrm>
          <a:custGeom>
            <a:avLst/>
            <a:gdLst/>
            <a:ahLst/>
            <a:cxnLst/>
            <a:rect l="l" t="t" r="r" b="b"/>
            <a:pathLst>
              <a:path w="601979" h="554354">
                <a:moveTo>
                  <a:pt x="601979" y="553974"/>
                </a:moveTo>
                <a:lnTo>
                  <a:pt x="601979" y="0"/>
                </a:lnTo>
                <a:lnTo>
                  <a:pt x="0" y="0"/>
                </a:lnTo>
                <a:lnTo>
                  <a:pt x="0" y="553974"/>
                </a:lnTo>
                <a:lnTo>
                  <a:pt x="6845" y="553974"/>
                </a:lnTo>
                <a:lnTo>
                  <a:pt x="6845" y="12953"/>
                </a:lnTo>
                <a:lnTo>
                  <a:pt x="12954" y="6857"/>
                </a:lnTo>
                <a:lnTo>
                  <a:pt x="12954" y="12953"/>
                </a:lnTo>
                <a:lnTo>
                  <a:pt x="589026" y="12953"/>
                </a:lnTo>
                <a:lnTo>
                  <a:pt x="589026" y="6857"/>
                </a:lnTo>
                <a:lnTo>
                  <a:pt x="595109" y="12953"/>
                </a:lnTo>
                <a:lnTo>
                  <a:pt x="595109" y="553974"/>
                </a:lnTo>
                <a:lnTo>
                  <a:pt x="601979" y="553974"/>
                </a:lnTo>
                <a:close/>
              </a:path>
              <a:path w="601979" h="554354">
                <a:moveTo>
                  <a:pt x="12954" y="12953"/>
                </a:moveTo>
                <a:lnTo>
                  <a:pt x="12954" y="6857"/>
                </a:lnTo>
                <a:lnTo>
                  <a:pt x="6845" y="12953"/>
                </a:lnTo>
                <a:lnTo>
                  <a:pt x="12954" y="12953"/>
                </a:lnTo>
                <a:close/>
              </a:path>
              <a:path w="601979" h="554354">
                <a:moveTo>
                  <a:pt x="12954" y="553974"/>
                </a:moveTo>
                <a:lnTo>
                  <a:pt x="12954" y="12953"/>
                </a:lnTo>
                <a:lnTo>
                  <a:pt x="6845" y="12953"/>
                </a:lnTo>
                <a:lnTo>
                  <a:pt x="6845" y="553974"/>
                </a:lnTo>
                <a:lnTo>
                  <a:pt x="12954" y="553974"/>
                </a:lnTo>
                <a:close/>
              </a:path>
              <a:path w="601979" h="554354">
                <a:moveTo>
                  <a:pt x="595109" y="12953"/>
                </a:moveTo>
                <a:lnTo>
                  <a:pt x="589026" y="6857"/>
                </a:lnTo>
                <a:lnTo>
                  <a:pt x="589026" y="12953"/>
                </a:lnTo>
                <a:lnTo>
                  <a:pt x="595109" y="12953"/>
                </a:lnTo>
                <a:close/>
              </a:path>
              <a:path w="601979" h="554354">
                <a:moveTo>
                  <a:pt x="595109" y="553974"/>
                </a:moveTo>
                <a:lnTo>
                  <a:pt x="595109" y="12953"/>
                </a:lnTo>
                <a:lnTo>
                  <a:pt x="589026" y="12953"/>
                </a:lnTo>
                <a:lnTo>
                  <a:pt x="589026" y="553974"/>
                </a:lnTo>
                <a:lnTo>
                  <a:pt x="595109" y="553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45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784739" y="6720078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46353" y="44196"/>
                </a:moveTo>
                <a:lnTo>
                  <a:pt x="546353" y="32004"/>
                </a:lnTo>
                <a:lnTo>
                  <a:pt x="0" y="32004"/>
                </a:lnTo>
                <a:lnTo>
                  <a:pt x="0" y="44196"/>
                </a:lnTo>
                <a:lnTo>
                  <a:pt x="546353" y="44196"/>
                </a:lnTo>
                <a:close/>
              </a:path>
              <a:path w="609600" h="76200">
                <a:moveTo>
                  <a:pt x="609600" y="38100"/>
                </a:moveTo>
                <a:lnTo>
                  <a:pt x="533400" y="0"/>
                </a:lnTo>
                <a:lnTo>
                  <a:pt x="533400" y="32004"/>
                </a:lnTo>
                <a:lnTo>
                  <a:pt x="546353" y="32004"/>
                </a:lnTo>
                <a:lnTo>
                  <a:pt x="546353" y="69723"/>
                </a:lnTo>
                <a:lnTo>
                  <a:pt x="609600" y="38100"/>
                </a:lnTo>
                <a:close/>
              </a:path>
              <a:path w="609600" h="76200">
                <a:moveTo>
                  <a:pt x="546353" y="69723"/>
                </a:moveTo>
                <a:lnTo>
                  <a:pt x="546353" y="44196"/>
                </a:lnTo>
                <a:lnTo>
                  <a:pt x="533400" y="44196"/>
                </a:lnTo>
                <a:lnTo>
                  <a:pt x="533400" y="76200"/>
                </a:lnTo>
                <a:lnTo>
                  <a:pt x="546353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630034" y="6689597"/>
            <a:ext cx="572135" cy="76200"/>
          </a:xfrm>
          <a:custGeom>
            <a:avLst/>
            <a:gdLst/>
            <a:ahLst/>
            <a:cxnLst/>
            <a:rect l="l" t="t" r="r" b="b"/>
            <a:pathLst>
              <a:path w="572134" h="76200">
                <a:moveTo>
                  <a:pt x="76200" y="32003"/>
                </a:moveTo>
                <a:lnTo>
                  <a:pt x="76200" y="0"/>
                </a:lnTo>
                <a:lnTo>
                  <a:pt x="0" y="38100"/>
                </a:lnTo>
                <a:lnTo>
                  <a:pt x="63258" y="69729"/>
                </a:lnTo>
                <a:lnTo>
                  <a:pt x="63258" y="32003"/>
                </a:lnTo>
                <a:lnTo>
                  <a:pt x="76200" y="32003"/>
                </a:lnTo>
                <a:close/>
              </a:path>
              <a:path w="572134" h="76200">
                <a:moveTo>
                  <a:pt x="571512" y="44957"/>
                </a:moveTo>
                <a:lnTo>
                  <a:pt x="571512" y="32003"/>
                </a:lnTo>
                <a:lnTo>
                  <a:pt x="63258" y="32003"/>
                </a:lnTo>
                <a:lnTo>
                  <a:pt x="63258" y="44957"/>
                </a:lnTo>
                <a:lnTo>
                  <a:pt x="571512" y="44957"/>
                </a:lnTo>
                <a:close/>
              </a:path>
              <a:path w="572134" h="76200">
                <a:moveTo>
                  <a:pt x="76200" y="76200"/>
                </a:moveTo>
                <a:lnTo>
                  <a:pt x="76200" y="44957"/>
                </a:lnTo>
                <a:lnTo>
                  <a:pt x="63258" y="44957"/>
                </a:lnTo>
                <a:lnTo>
                  <a:pt x="63258" y="69729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606167" y="6606540"/>
            <a:ext cx="105727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Stack</a:t>
            </a:r>
            <a:r>
              <a:rPr sz="2400" spc="-24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292479" y="6601206"/>
            <a:ext cx="10744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Stack</a:t>
            </a:r>
            <a:r>
              <a:rPr sz="2400" spc="-11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537345" y="6349746"/>
            <a:ext cx="589280" cy="100965"/>
          </a:xfrm>
          <a:custGeom>
            <a:avLst/>
            <a:gdLst/>
            <a:ahLst/>
            <a:cxnLst/>
            <a:rect l="l" t="t" r="r" b="b"/>
            <a:pathLst>
              <a:path w="589280" h="100964">
                <a:moveTo>
                  <a:pt x="0" y="0"/>
                </a:moveTo>
                <a:lnTo>
                  <a:pt x="0" y="100584"/>
                </a:lnTo>
                <a:lnTo>
                  <a:pt x="589026" y="100584"/>
                </a:lnTo>
                <a:lnTo>
                  <a:pt x="5890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531249" y="6349746"/>
            <a:ext cx="601345" cy="106680"/>
          </a:xfrm>
          <a:custGeom>
            <a:avLst/>
            <a:gdLst/>
            <a:ahLst/>
            <a:cxnLst/>
            <a:rect l="l" t="t" r="r" b="b"/>
            <a:pathLst>
              <a:path w="601344" h="106679">
                <a:moveTo>
                  <a:pt x="12191" y="93725"/>
                </a:moveTo>
                <a:lnTo>
                  <a:pt x="12191" y="0"/>
                </a:lnTo>
                <a:lnTo>
                  <a:pt x="0" y="0"/>
                </a:lnTo>
                <a:lnTo>
                  <a:pt x="0" y="106679"/>
                </a:lnTo>
                <a:lnTo>
                  <a:pt x="6095" y="106679"/>
                </a:lnTo>
                <a:lnTo>
                  <a:pt x="6095" y="93725"/>
                </a:lnTo>
                <a:lnTo>
                  <a:pt x="12191" y="93725"/>
                </a:lnTo>
                <a:close/>
              </a:path>
              <a:path w="601344" h="106679">
                <a:moveTo>
                  <a:pt x="595121" y="93725"/>
                </a:moveTo>
                <a:lnTo>
                  <a:pt x="6095" y="93725"/>
                </a:lnTo>
                <a:lnTo>
                  <a:pt x="12191" y="100583"/>
                </a:lnTo>
                <a:lnTo>
                  <a:pt x="12191" y="106679"/>
                </a:lnTo>
                <a:lnTo>
                  <a:pt x="589026" y="106679"/>
                </a:lnTo>
                <a:lnTo>
                  <a:pt x="589026" y="100583"/>
                </a:lnTo>
                <a:lnTo>
                  <a:pt x="595121" y="93725"/>
                </a:lnTo>
                <a:close/>
              </a:path>
              <a:path w="601344" h="106679">
                <a:moveTo>
                  <a:pt x="12191" y="106679"/>
                </a:moveTo>
                <a:lnTo>
                  <a:pt x="12191" y="100583"/>
                </a:lnTo>
                <a:lnTo>
                  <a:pt x="6095" y="93725"/>
                </a:lnTo>
                <a:lnTo>
                  <a:pt x="6095" y="106679"/>
                </a:lnTo>
                <a:lnTo>
                  <a:pt x="12191" y="106679"/>
                </a:lnTo>
                <a:close/>
              </a:path>
              <a:path w="601344" h="106679">
                <a:moveTo>
                  <a:pt x="601218" y="106679"/>
                </a:moveTo>
                <a:lnTo>
                  <a:pt x="601218" y="0"/>
                </a:lnTo>
                <a:lnTo>
                  <a:pt x="589026" y="0"/>
                </a:lnTo>
                <a:lnTo>
                  <a:pt x="589026" y="93725"/>
                </a:lnTo>
                <a:lnTo>
                  <a:pt x="595121" y="93725"/>
                </a:lnTo>
                <a:lnTo>
                  <a:pt x="595121" y="106679"/>
                </a:lnTo>
                <a:lnTo>
                  <a:pt x="601218" y="106679"/>
                </a:lnTo>
                <a:close/>
              </a:path>
              <a:path w="601344" h="106679">
                <a:moveTo>
                  <a:pt x="595121" y="106679"/>
                </a:moveTo>
                <a:lnTo>
                  <a:pt x="595121" y="93725"/>
                </a:lnTo>
                <a:lnTo>
                  <a:pt x="589026" y="100583"/>
                </a:lnTo>
                <a:lnTo>
                  <a:pt x="589026" y="106679"/>
                </a:lnTo>
                <a:lnTo>
                  <a:pt x="595121" y="1066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20275" y="6349746"/>
            <a:ext cx="588645" cy="95250"/>
          </a:xfrm>
          <a:custGeom>
            <a:avLst/>
            <a:gdLst/>
            <a:ahLst/>
            <a:cxnLst/>
            <a:rect l="l" t="t" r="r" b="b"/>
            <a:pathLst>
              <a:path w="588645" h="95250">
                <a:moveTo>
                  <a:pt x="0" y="0"/>
                </a:moveTo>
                <a:lnTo>
                  <a:pt x="0" y="95250"/>
                </a:lnTo>
                <a:lnTo>
                  <a:pt x="588264" y="95250"/>
                </a:lnTo>
                <a:lnTo>
                  <a:pt x="58826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113417" y="6349746"/>
            <a:ext cx="601980" cy="102235"/>
          </a:xfrm>
          <a:custGeom>
            <a:avLst/>
            <a:gdLst/>
            <a:ahLst/>
            <a:cxnLst/>
            <a:rect l="l" t="t" r="r" b="b"/>
            <a:pathLst>
              <a:path w="601979" h="102235">
                <a:moveTo>
                  <a:pt x="12953" y="89153"/>
                </a:moveTo>
                <a:lnTo>
                  <a:pt x="12953" y="0"/>
                </a:lnTo>
                <a:lnTo>
                  <a:pt x="0" y="0"/>
                </a:lnTo>
                <a:lnTo>
                  <a:pt x="0" y="102107"/>
                </a:lnTo>
                <a:lnTo>
                  <a:pt x="6857" y="102107"/>
                </a:lnTo>
                <a:lnTo>
                  <a:pt x="6857" y="89153"/>
                </a:lnTo>
                <a:lnTo>
                  <a:pt x="12953" y="89153"/>
                </a:lnTo>
                <a:close/>
              </a:path>
              <a:path w="601979" h="102235">
                <a:moveTo>
                  <a:pt x="595122" y="89153"/>
                </a:moveTo>
                <a:lnTo>
                  <a:pt x="6857" y="89153"/>
                </a:lnTo>
                <a:lnTo>
                  <a:pt x="12953" y="95250"/>
                </a:lnTo>
                <a:lnTo>
                  <a:pt x="12953" y="102107"/>
                </a:lnTo>
                <a:lnTo>
                  <a:pt x="589026" y="102107"/>
                </a:lnTo>
                <a:lnTo>
                  <a:pt x="589026" y="95250"/>
                </a:lnTo>
                <a:lnTo>
                  <a:pt x="595122" y="89153"/>
                </a:lnTo>
                <a:close/>
              </a:path>
              <a:path w="601979" h="102235">
                <a:moveTo>
                  <a:pt x="12953" y="102107"/>
                </a:moveTo>
                <a:lnTo>
                  <a:pt x="12953" y="95250"/>
                </a:lnTo>
                <a:lnTo>
                  <a:pt x="6857" y="89153"/>
                </a:lnTo>
                <a:lnTo>
                  <a:pt x="6857" y="102107"/>
                </a:lnTo>
                <a:lnTo>
                  <a:pt x="12953" y="102107"/>
                </a:lnTo>
                <a:close/>
              </a:path>
              <a:path w="601979" h="102235">
                <a:moveTo>
                  <a:pt x="601980" y="102107"/>
                </a:moveTo>
                <a:lnTo>
                  <a:pt x="601980" y="0"/>
                </a:lnTo>
                <a:lnTo>
                  <a:pt x="589026" y="0"/>
                </a:lnTo>
                <a:lnTo>
                  <a:pt x="589026" y="89153"/>
                </a:lnTo>
                <a:lnTo>
                  <a:pt x="595122" y="89153"/>
                </a:lnTo>
                <a:lnTo>
                  <a:pt x="595122" y="102107"/>
                </a:lnTo>
                <a:lnTo>
                  <a:pt x="601980" y="102107"/>
                </a:lnTo>
                <a:close/>
              </a:path>
              <a:path w="601979" h="102235">
                <a:moveTo>
                  <a:pt x="595122" y="102107"/>
                </a:moveTo>
                <a:lnTo>
                  <a:pt x="595122" y="89153"/>
                </a:lnTo>
                <a:lnTo>
                  <a:pt x="589026" y="95250"/>
                </a:lnTo>
                <a:lnTo>
                  <a:pt x="589026" y="102107"/>
                </a:lnTo>
                <a:lnTo>
                  <a:pt x="595122" y="1021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700919" y="6349746"/>
            <a:ext cx="589280" cy="99060"/>
          </a:xfrm>
          <a:custGeom>
            <a:avLst/>
            <a:gdLst/>
            <a:ahLst/>
            <a:cxnLst/>
            <a:rect l="l" t="t" r="r" b="b"/>
            <a:pathLst>
              <a:path w="589279" h="99060">
                <a:moveTo>
                  <a:pt x="0" y="0"/>
                </a:moveTo>
                <a:lnTo>
                  <a:pt x="0" y="99060"/>
                </a:lnTo>
                <a:lnTo>
                  <a:pt x="589026" y="99060"/>
                </a:lnTo>
                <a:lnTo>
                  <a:pt x="5890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694823" y="6349746"/>
            <a:ext cx="601345" cy="105410"/>
          </a:xfrm>
          <a:custGeom>
            <a:avLst/>
            <a:gdLst/>
            <a:ahLst/>
            <a:cxnLst/>
            <a:rect l="l" t="t" r="r" b="b"/>
            <a:pathLst>
              <a:path w="601345" h="105410">
                <a:moveTo>
                  <a:pt x="12192" y="92201"/>
                </a:moveTo>
                <a:lnTo>
                  <a:pt x="12192" y="0"/>
                </a:lnTo>
                <a:lnTo>
                  <a:pt x="0" y="0"/>
                </a:lnTo>
                <a:lnTo>
                  <a:pt x="0" y="105155"/>
                </a:lnTo>
                <a:lnTo>
                  <a:pt x="6096" y="105155"/>
                </a:lnTo>
                <a:lnTo>
                  <a:pt x="6096" y="92201"/>
                </a:lnTo>
                <a:lnTo>
                  <a:pt x="12192" y="92201"/>
                </a:lnTo>
                <a:close/>
              </a:path>
              <a:path w="601345" h="105410">
                <a:moveTo>
                  <a:pt x="595122" y="92201"/>
                </a:moveTo>
                <a:lnTo>
                  <a:pt x="6096" y="92201"/>
                </a:lnTo>
                <a:lnTo>
                  <a:pt x="12192" y="99059"/>
                </a:lnTo>
                <a:lnTo>
                  <a:pt x="12192" y="105155"/>
                </a:lnTo>
                <a:lnTo>
                  <a:pt x="589026" y="105155"/>
                </a:lnTo>
                <a:lnTo>
                  <a:pt x="589026" y="99059"/>
                </a:lnTo>
                <a:lnTo>
                  <a:pt x="595122" y="92201"/>
                </a:lnTo>
                <a:close/>
              </a:path>
              <a:path w="601345" h="105410">
                <a:moveTo>
                  <a:pt x="12192" y="105155"/>
                </a:moveTo>
                <a:lnTo>
                  <a:pt x="12192" y="99059"/>
                </a:lnTo>
                <a:lnTo>
                  <a:pt x="6096" y="92201"/>
                </a:lnTo>
                <a:lnTo>
                  <a:pt x="6096" y="105155"/>
                </a:lnTo>
                <a:lnTo>
                  <a:pt x="12192" y="105155"/>
                </a:lnTo>
                <a:close/>
              </a:path>
              <a:path w="601345" h="105410">
                <a:moveTo>
                  <a:pt x="601217" y="105155"/>
                </a:moveTo>
                <a:lnTo>
                  <a:pt x="601217" y="0"/>
                </a:lnTo>
                <a:lnTo>
                  <a:pt x="589026" y="0"/>
                </a:lnTo>
                <a:lnTo>
                  <a:pt x="589026" y="92201"/>
                </a:lnTo>
                <a:lnTo>
                  <a:pt x="595122" y="92201"/>
                </a:lnTo>
                <a:lnTo>
                  <a:pt x="595122" y="105155"/>
                </a:lnTo>
                <a:lnTo>
                  <a:pt x="601217" y="105155"/>
                </a:lnTo>
                <a:close/>
              </a:path>
              <a:path w="601345" h="105410">
                <a:moveTo>
                  <a:pt x="595122" y="105155"/>
                </a:moveTo>
                <a:lnTo>
                  <a:pt x="595122" y="92201"/>
                </a:lnTo>
                <a:lnTo>
                  <a:pt x="589026" y="99059"/>
                </a:lnTo>
                <a:lnTo>
                  <a:pt x="589026" y="105155"/>
                </a:lnTo>
                <a:lnTo>
                  <a:pt x="595122" y="1051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283849" y="6349746"/>
            <a:ext cx="601345" cy="108585"/>
          </a:xfrm>
          <a:custGeom>
            <a:avLst/>
            <a:gdLst/>
            <a:ahLst/>
            <a:cxnLst/>
            <a:rect l="l" t="t" r="r" b="b"/>
            <a:pathLst>
              <a:path w="601345" h="108585">
                <a:moveTo>
                  <a:pt x="12192" y="95250"/>
                </a:moveTo>
                <a:lnTo>
                  <a:pt x="12192" y="0"/>
                </a:lnTo>
                <a:lnTo>
                  <a:pt x="0" y="0"/>
                </a:lnTo>
                <a:lnTo>
                  <a:pt x="0" y="108203"/>
                </a:lnTo>
                <a:lnTo>
                  <a:pt x="6096" y="108203"/>
                </a:lnTo>
                <a:lnTo>
                  <a:pt x="6096" y="95250"/>
                </a:lnTo>
                <a:lnTo>
                  <a:pt x="12192" y="95250"/>
                </a:lnTo>
                <a:close/>
              </a:path>
              <a:path w="601345" h="108585">
                <a:moveTo>
                  <a:pt x="595122" y="95250"/>
                </a:moveTo>
                <a:lnTo>
                  <a:pt x="6096" y="95250"/>
                </a:lnTo>
                <a:lnTo>
                  <a:pt x="12192" y="102107"/>
                </a:lnTo>
                <a:lnTo>
                  <a:pt x="12192" y="108203"/>
                </a:lnTo>
                <a:lnTo>
                  <a:pt x="589026" y="108203"/>
                </a:lnTo>
                <a:lnTo>
                  <a:pt x="589026" y="102107"/>
                </a:lnTo>
                <a:lnTo>
                  <a:pt x="595122" y="95250"/>
                </a:lnTo>
                <a:close/>
              </a:path>
              <a:path w="601345" h="108585">
                <a:moveTo>
                  <a:pt x="12192" y="108203"/>
                </a:moveTo>
                <a:lnTo>
                  <a:pt x="12192" y="102107"/>
                </a:lnTo>
                <a:lnTo>
                  <a:pt x="6096" y="95250"/>
                </a:lnTo>
                <a:lnTo>
                  <a:pt x="6096" y="108203"/>
                </a:lnTo>
                <a:lnTo>
                  <a:pt x="12192" y="108203"/>
                </a:lnTo>
                <a:close/>
              </a:path>
              <a:path w="601345" h="108585">
                <a:moveTo>
                  <a:pt x="601217" y="108203"/>
                </a:moveTo>
                <a:lnTo>
                  <a:pt x="601217" y="0"/>
                </a:lnTo>
                <a:lnTo>
                  <a:pt x="589026" y="0"/>
                </a:lnTo>
                <a:lnTo>
                  <a:pt x="589026" y="95250"/>
                </a:lnTo>
                <a:lnTo>
                  <a:pt x="595122" y="95250"/>
                </a:lnTo>
                <a:lnTo>
                  <a:pt x="595122" y="108203"/>
                </a:lnTo>
                <a:lnTo>
                  <a:pt x="601217" y="108203"/>
                </a:lnTo>
                <a:close/>
              </a:path>
              <a:path w="601345" h="108585">
                <a:moveTo>
                  <a:pt x="595122" y="108203"/>
                </a:moveTo>
                <a:lnTo>
                  <a:pt x="595122" y="95250"/>
                </a:lnTo>
                <a:lnTo>
                  <a:pt x="589026" y="102107"/>
                </a:lnTo>
                <a:lnTo>
                  <a:pt x="589026" y="108203"/>
                </a:lnTo>
                <a:lnTo>
                  <a:pt x="595122" y="1082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872875" y="6349746"/>
            <a:ext cx="588645" cy="95250"/>
          </a:xfrm>
          <a:custGeom>
            <a:avLst/>
            <a:gdLst/>
            <a:ahLst/>
            <a:cxnLst/>
            <a:rect l="l" t="t" r="r" b="b"/>
            <a:pathLst>
              <a:path w="588645" h="95250">
                <a:moveTo>
                  <a:pt x="0" y="0"/>
                </a:moveTo>
                <a:lnTo>
                  <a:pt x="0" y="95250"/>
                </a:lnTo>
                <a:lnTo>
                  <a:pt x="588263" y="95250"/>
                </a:lnTo>
                <a:lnTo>
                  <a:pt x="5882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866017" y="6349746"/>
            <a:ext cx="601980" cy="102235"/>
          </a:xfrm>
          <a:custGeom>
            <a:avLst/>
            <a:gdLst/>
            <a:ahLst/>
            <a:cxnLst/>
            <a:rect l="l" t="t" r="r" b="b"/>
            <a:pathLst>
              <a:path w="601979" h="102235">
                <a:moveTo>
                  <a:pt x="12953" y="89153"/>
                </a:moveTo>
                <a:lnTo>
                  <a:pt x="12953" y="0"/>
                </a:lnTo>
                <a:lnTo>
                  <a:pt x="0" y="0"/>
                </a:lnTo>
                <a:lnTo>
                  <a:pt x="0" y="102107"/>
                </a:lnTo>
                <a:lnTo>
                  <a:pt x="6857" y="102107"/>
                </a:lnTo>
                <a:lnTo>
                  <a:pt x="6857" y="89153"/>
                </a:lnTo>
                <a:lnTo>
                  <a:pt x="12953" y="89153"/>
                </a:lnTo>
                <a:close/>
              </a:path>
              <a:path w="601979" h="102235">
                <a:moveTo>
                  <a:pt x="595122" y="89153"/>
                </a:moveTo>
                <a:lnTo>
                  <a:pt x="6857" y="89153"/>
                </a:lnTo>
                <a:lnTo>
                  <a:pt x="12953" y="95250"/>
                </a:lnTo>
                <a:lnTo>
                  <a:pt x="12953" y="102107"/>
                </a:lnTo>
                <a:lnTo>
                  <a:pt x="589026" y="102107"/>
                </a:lnTo>
                <a:lnTo>
                  <a:pt x="589026" y="95250"/>
                </a:lnTo>
                <a:lnTo>
                  <a:pt x="595122" y="89153"/>
                </a:lnTo>
                <a:close/>
              </a:path>
              <a:path w="601979" h="102235">
                <a:moveTo>
                  <a:pt x="12953" y="102107"/>
                </a:moveTo>
                <a:lnTo>
                  <a:pt x="12953" y="95250"/>
                </a:lnTo>
                <a:lnTo>
                  <a:pt x="6857" y="89153"/>
                </a:lnTo>
                <a:lnTo>
                  <a:pt x="6857" y="102107"/>
                </a:lnTo>
                <a:lnTo>
                  <a:pt x="12953" y="102107"/>
                </a:lnTo>
                <a:close/>
              </a:path>
              <a:path w="601979" h="102235">
                <a:moveTo>
                  <a:pt x="601979" y="102107"/>
                </a:moveTo>
                <a:lnTo>
                  <a:pt x="601979" y="0"/>
                </a:lnTo>
                <a:lnTo>
                  <a:pt x="589026" y="0"/>
                </a:lnTo>
                <a:lnTo>
                  <a:pt x="589026" y="89153"/>
                </a:lnTo>
                <a:lnTo>
                  <a:pt x="595122" y="89153"/>
                </a:lnTo>
                <a:lnTo>
                  <a:pt x="595122" y="102107"/>
                </a:lnTo>
                <a:lnTo>
                  <a:pt x="601979" y="102107"/>
                </a:lnTo>
                <a:close/>
              </a:path>
              <a:path w="601979" h="102235">
                <a:moveTo>
                  <a:pt x="595122" y="102107"/>
                </a:moveTo>
                <a:lnTo>
                  <a:pt x="595122" y="89153"/>
                </a:lnTo>
                <a:lnTo>
                  <a:pt x="589026" y="95250"/>
                </a:lnTo>
                <a:lnTo>
                  <a:pt x="589026" y="102107"/>
                </a:lnTo>
                <a:lnTo>
                  <a:pt x="595122" y="1021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451995" y="6349746"/>
            <a:ext cx="589280" cy="95250"/>
          </a:xfrm>
          <a:custGeom>
            <a:avLst/>
            <a:gdLst/>
            <a:ahLst/>
            <a:cxnLst/>
            <a:rect l="l" t="t" r="r" b="b"/>
            <a:pathLst>
              <a:path w="589279" h="95250">
                <a:moveTo>
                  <a:pt x="0" y="0"/>
                </a:moveTo>
                <a:lnTo>
                  <a:pt x="0" y="95250"/>
                </a:lnTo>
                <a:lnTo>
                  <a:pt x="589026" y="95250"/>
                </a:lnTo>
                <a:lnTo>
                  <a:pt x="5890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445899" y="6349746"/>
            <a:ext cx="601345" cy="102235"/>
          </a:xfrm>
          <a:custGeom>
            <a:avLst/>
            <a:gdLst/>
            <a:ahLst/>
            <a:cxnLst/>
            <a:rect l="l" t="t" r="r" b="b"/>
            <a:pathLst>
              <a:path w="601345" h="102235">
                <a:moveTo>
                  <a:pt x="12192" y="89154"/>
                </a:moveTo>
                <a:lnTo>
                  <a:pt x="12192" y="0"/>
                </a:lnTo>
                <a:lnTo>
                  <a:pt x="0" y="0"/>
                </a:lnTo>
                <a:lnTo>
                  <a:pt x="0" y="102108"/>
                </a:lnTo>
                <a:lnTo>
                  <a:pt x="6096" y="102108"/>
                </a:lnTo>
                <a:lnTo>
                  <a:pt x="6096" y="89154"/>
                </a:lnTo>
                <a:lnTo>
                  <a:pt x="12192" y="89154"/>
                </a:lnTo>
                <a:close/>
              </a:path>
              <a:path w="601345" h="102235">
                <a:moveTo>
                  <a:pt x="595122" y="89153"/>
                </a:moveTo>
                <a:lnTo>
                  <a:pt x="6096" y="89154"/>
                </a:lnTo>
                <a:lnTo>
                  <a:pt x="12192" y="95250"/>
                </a:lnTo>
                <a:lnTo>
                  <a:pt x="12192" y="102108"/>
                </a:lnTo>
                <a:lnTo>
                  <a:pt x="589026" y="102107"/>
                </a:lnTo>
                <a:lnTo>
                  <a:pt x="589026" y="95250"/>
                </a:lnTo>
                <a:lnTo>
                  <a:pt x="595122" y="89153"/>
                </a:lnTo>
                <a:close/>
              </a:path>
              <a:path w="601345" h="102235">
                <a:moveTo>
                  <a:pt x="12192" y="102108"/>
                </a:moveTo>
                <a:lnTo>
                  <a:pt x="12192" y="95250"/>
                </a:lnTo>
                <a:lnTo>
                  <a:pt x="6096" y="89154"/>
                </a:lnTo>
                <a:lnTo>
                  <a:pt x="6096" y="102108"/>
                </a:lnTo>
                <a:lnTo>
                  <a:pt x="12192" y="102108"/>
                </a:lnTo>
                <a:close/>
              </a:path>
              <a:path w="601345" h="102235">
                <a:moveTo>
                  <a:pt x="601217" y="102107"/>
                </a:moveTo>
                <a:lnTo>
                  <a:pt x="601217" y="0"/>
                </a:lnTo>
                <a:lnTo>
                  <a:pt x="589026" y="0"/>
                </a:lnTo>
                <a:lnTo>
                  <a:pt x="589026" y="89153"/>
                </a:lnTo>
                <a:lnTo>
                  <a:pt x="595122" y="89153"/>
                </a:lnTo>
                <a:lnTo>
                  <a:pt x="595122" y="102107"/>
                </a:lnTo>
                <a:lnTo>
                  <a:pt x="601217" y="102107"/>
                </a:lnTo>
                <a:close/>
              </a:path>
              <a:path w="601345" h="102235">
                <a:moveTo>
                  <a:pt x="595122" y="102107"/>
                </a:moveTo>
                <a:lnTo>
                  <a:pt x="595122" y="89153"/>
                </a:lnTo>
                <a:lnTo>
                  <a:pt x="589026" y="95250"/>
                </a:lnTo>
                <a:lnTo>
                  <a:pt x="589026" y="102107"/>
                </a:lnTo>
                <a:lnTo>
                  <a:pt x="595122" y="1021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034925" y="6349746"/>
            <a:ext cx="588645" cy="97790"/>
          </a:xfrm>
          <a:custGeom>
            <a:avLst/>
            <a:gdLst/>
            <a:ahLst/>
            <a:cxnLst/>
            <a:rect l="l" t="t" r="r" b="b"/>
            <a:pathLst>
              <a:path w="588645" h="97789">
                <a:moveTo>
                  <a:pt x="0" y="0"/>
                </a:moveTo>
                <a:lnTo>
                  <a:pt x="0" y="97536"/>
                </a:lnTo>
                <a:lnTo>
                  <a:pt x="588263" y="97536"/>
                </a:lnTo>
                <a:lnTo>
                  <a:pt x="5882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028067" y="6349746"/>
            <a:ext cx="601980" cy="104139"/>
          </a:xfrm>
          <a:custGeom>
            <a:avLst/>
            <a:gdLst/>
            <a:ahLst/>
            <a:cxnLst/>
            <a:rect l="l" t="t" r="r" b="b"/>
            <a:pathLst>
              <a:path w="601979" h="104139">
                <a:moveTo>
                  <a:pt x="12953" y="90677"/>
                </a:moveTo>
                <a:lnTo>
                  <a:pt x="12953" y="0"/>
                </a:lnTo>
                <a:lnTo>
                  <a:pt x="0" y="0"/>
                </a:lnTo>
                <a:lnTo>
                  <a:pt x="0" y="103631"/>
                </a:lnTo>
                <a:lnTo>
                  <a:pt x="6857" y="103631"/>
                </a:lnTo>
                <a:lnTo>
                  <a:pt x="6857" y="90677"/>
                </a:lnTo>
                <a:lnTo>
                  <a:pt x="12953" y="90677"/>
                </a:lnTo>
                <a:close/>
              </a:path>
              <a:path w="601979" h="104139">
                <a:moveTo>
                  <a:pt x="595109" y="90677"/>
                </a:moveTo>
                <a:lnTo>
                  <a:pt x="6857" y="90677"/>
                </a:lnTo>
                <a:lnTo>
                  <a:pt x="12953" y="97536"/>
                </a:lnTo>
                <a:lnTo>
                  <a:pt x="12953" y="103631"/>
                </a:lnTo>
                <a:lnTo>
                  <a:pt x="589025" y="103631"/>
                </a:lnTo>
                <a:lnTo>
                  <a:pt x="589025" y="97536"/>
                </a:lnTo>
                <a:lnTo>
                  <a:pt x="595109" y="90677"/>
                </a:lnTo>
                <a:close/>
              </a:path>
              <a:path w="601979" h="104139">
                <a:moveTo>
                  <a:pt x="12953" y="103631"/>
                </a:moveTo>
                <a:lnTo>
                  <a:pt x="12953" y="97536"/>
                </a:lnTo>
                <a:lnTo>
                  <a:pt x="6857" y="90677"/>
                </a:lnTo>
                <a:lnTo>
                  <a:pt x="6857" y="103631"/>
                </a:lnTo>
                <a:lnTo>
                  <a:pt x="12953" y="103631"/>
                </a:lnTo>
                <a:close/>
              </a:path>
              <a:path w="601979" h="104139">
                <a:moveTo>
                  <a:pt x="601979" y="103631"/>
                </a:moveTo>
                <a:lnTo>
                  <a:pt x="601979" y="0"/>
                </a:lnTo>
                <a:lnTo>
                  <a:pt x="589025" y="0"/>
                </a:lnTo>
                <a:lnTo>
                  <a:pt x="589025" y="90677"/>
                </a:lnTo>
                <a:lnTo>
                  <a:pt x="595109" y="90677"/>
                </a:lnTo>
                <a:lnTo>
                  <a:pt x="595109" y="103631"/>
                </a:lnTo>
                <a:lnTo>
                  <a:pt x="601979" y="103631"/>
                </a:lnTo>
                <a:close/>
              </a:path>
              <a:path w="601979" h="104139">
                <a:moveTo>
                  <a:pt x="595109" y="103631"/>
                </a:moveTo>
                <a:lnTo>
                  <a:pt x="595109" y="90677"/>
                </a:lnTo>
                <a:lnTo>
                  <a:pt x="589025" y="97536"/>
                </a:lnTo>
                <a:lnTo>
                  <a:pt x="589025" y="103631"/>
                </a:lnTo>
                <a:lnTo>
                  <a:pt x="595109" y="1036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623177" y="6349746"/>
            <a:ext cx="589280" cy="102235"/>
          </a:xfrm>
          <a:custGeom>
            <a:avLst/>
            <a:gdLst/>
            <a:ahLst/>
            <a:cxnLst/>
            <a:rect l="l" t="t" r="r" b="b"/>
            <a:pathLst>
              <a:path w="589279" h="102235">
                <a:moveTo>
                  <a:pt x="0" y="0"/>
                </a:moveTo>
                <a:lnTo>
                  <a:pt x="0" y="102108"/>
                </a:lnTo>
                <a:lnTo>
                  <a:pt x="589026" y="102108"/>
                </a:lnTo>
                <a:lnTo>
                  <a:pt x="589026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617093" y="6349746"/>
            <a:ext cx="601980" cy="108585"/>
          </a:xfrm>
          <a:custGeom>
            <a:avLst/>
            <a:gdLst/>
            <a:ahLst/>
            <a:cxnLst/>
            <a:rect l="l" t="t" r="r" b="b"/>
            <a:pathLst>
              <a:path w="601979" h="108585">
                <a:moveTo>
                  <a:pt x="12941" y="95250"/>
                </a:moveTo>
                <a:lnTo>
                  <a:pt x="12941" y="0"/>
                </a:lnTo>
                <a:lnTo>
                  <a:pt x="0" y="0"/>
                </a:lnTo>
                <a:lnTo>
                  <a:pt x="0" y="108203"/>
                </a:lnTo>
                <a:lnTo>
                  <a:pt x="6083" y="108203"/>
                </a:lnTo>
                <a:lnTo>
                  <a:pt x="6083" y="95250"/>
                </a:lnTo>
                <a:lnTo>
                  <a:pt x="12941" y="95250"/>
                </a:lnTo>
                <a:close/>
              </a:path>
              <a:path w="601979" h="108585">
                <a:moveTo>
                  <a:pt x="595122" y="95250"/>
                </a:moveTo>
                <a:lnTo>
                  <a:pt x="6083" y="95250"/>
                </a:lnTo>
                <a:lnTo>
                  <a:pt x="12941" y="102107"/>
                </a:lnTo>
                <a:lnTo>
                  <a:pt x="12941" y="108203"/>
                </a:lnTo>
                <a:lnTo>
                  <a:pt x="589026" y="108203"/>
                </a:lnTo>
                <a:lnTo>
                  <a:pt x="589026" y="102107"/>
                </a:lnTo>
                <a:lnTo>
                  <a:pt x="595122" y="95250"/>
                </a:lnTo>
                <a:close/>
              </a:path>
              <a:path w="601979" h="108585">
                <a:moveTo>
                  <a:pt x="12941" y="108203"/>
                </a:moveTo>
                <a:lnTo>
                  <a:pt x="12941" y="102107"/>
                </a:lnTo>
                <a:lnTo>
                  <a:pt x="6083" y="95250"/>
                </a:lnTo>
                <a:lnTo>
                  <a:pt x="6083" y="108203"/>
                </a:lnTo>
                <a:lnTo>
                  <a:pt x="12941" y="108203"/>
                </a:lnTo>
                <a:close/>
              </a:path>
              <a:path w="601979" h="108585">
                <a:moveTo>
                  <a:pt x="601979" y="108203"/>
                </a:moveTo>
                <a:lnTo>
                  <a:pt x="601979" y="0"/>
                </a:lnTo>
                <a:lnTo>
                  <a:pt x="589026" y="0"/>
                </a:lnTo>
                <a:lnTo>
                  <a:pt x="589026" y="95250"/>
                </a:lnTo>
                <a:lnTo>
                  <a:pt x="595122" y="95250"/>
                </a:lnTo>
                <a:lnTo>
                  <a:pt x="595122" y="108203"/>
                </a:lnTo>
                <a:lnTo>
                  <a:pt x="601979" y="108203"/>
                </a:lnTo>
                <a:close/>
              </a:path>
              <a:path w="601979" h="108585">
                <a:moveTo>
                  <a:pt x="595122" y="108203"/>
                </a:moveTo>
                <a:lnTo>
                  <a:pt x="595122" y="95250"/>
                </a:lnTo>
                <a:lnTo>
                  <a:pt x="589026" y="102107"/>
                </a:lnTo>
                <a:lnTo>
                  <a:pt x="589026" y="108203"/>
                </a:lnTo>
                <a:lnTo>
                  <a:pt x="595122" y="1082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206119" y="6349746"/>
            <a:ext cx="589280" cy="97790"/>
          </a:xfrm>
          <a:custGeom>
            <a:avLst/>
            <a:gdLst/>
            <a:ahLst/>
            <a:cxnLst/>
            <a:rect l="l" t="t" r="r" b="b"/>
            <a:pathLst>
              <a:path w="589279" h="97789">
                <a:moveTo>
                  <a:pt x="0" y="0"/>
                </a:moveTo>
                <a:lnTo>
                  <a:pt x="0" y="97536"/>
                </a:lnTo>
                <a:lnTo>
                  <a:pt x="589026" y="97536"/>
                </a:lnTo>
                <a:lnTo>
                  <a:pt x="589026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200010" y="6349746"/>
            <a:ext cx="601345" cy="104139"/>
          </a:xfrm>
          <a:custGeom>
            <a:avLst/>
            <a:gdLst/>
            <a:ahLst/>
            <a:cxnLst/>
            <a:rect l="l" t="t" r="r" b="b"/>
            <a:pathLst>
              <a:path w="601345" h="104139">
                <a:moveTo>
                  <a:pt x="12204" y="90677"/>
                </a:moveTo>
                <a:lnTo>
                  <a:pt x="12204" y="0"/>
                </a:lnTo>
                <a:lnTo>
                  <a:pt x="0" y="0"/>
                </a:lnTo>
                <a:lnTo>
                  <a:pt x="0" y="103631"/>
                </a:lnTo>
                <a:lnTo>
                  <a:pt x="6108" y="103631"/>
                </a:lnTo>
                <a:lnTo>
                  <a:pt x="6108" y="90677"/>
                </a:lnTo>
                <a:lnTo>
                  <a:pt x="12204" y="90677"/>
                </a:lnTo>
                <a:close/>
              </a:path>
              <a:path w="601345" h="104139">
                <a:moveTo>
                  <a:pt x="595134" y="90677"/>
                </a:moveTo>
                <a:lnTo>
                  <a:pt x="6108" y="90677"/>
                </a:lnTo>
                <a:lnTo>
                  <a:pt x="12204" y="97536"/>
                </a:lnTo>
                <a:lnTo>
                  <a:pt x="12204" y="103631"/>
                </a:lnTo>
                <a:lnTo>
                  <a:pt x="589026" y="103631"/>
                </a:lnTo>
                <a:lnTo>
                  <a:pt x="589026" y="97536"/>
                </a:lnTo>
                <a:lnTo>
                  <a:pt x="595134" y="90677"/>
                </a:lnTo>
                <a:close/>
              </a:path>
              <a:path w="601345" h="104139">
                <a:moveTo>
                  <a:pt x="12204" y="103631"/>
                </a:moveTo>
                <a:lnTo>
                  <a:pt x="12204" y="97536"/>
                </a:lnTo>
                <a:lnTo>
                  <a:pt x="6108" y="90677"/>
                </a:lnTo>
                <a:lnTo>
                  <a:pt x="6108" y="103631"/>
                </a:lnTo>
                <a:lnTo>
                  <a:pt x="12204" y="103631"/>
                </a:lnTo>
                <a:close/>
              </a:path>
              <a:path w="601345" h="104139">
                <a:moveTo>
                  <a:pt x="601218" y="103631"/>
                </a:moveTo>
                <a:lnTo>
                  <a:pt x="601218" y="0"/>
                </a:lnTo>
                <a:lnTo>
                  <a:pt x="589026" y="0"/>
                </a:lnTo>
                <a:lnTo>
                  <a:pt x="589026" y="90677"/>
                </a:lnTo>
                <a:lnTo>
                  <a:pt x="595134" y="90677"/>
                </a:lnTo>
                <a:lnTo>
                  <a:pt x="595134" y="103631"/>
                </a:lnTo>
                <a:lnTo>
                  <a:pt x="601218" y="103631"/>
                </a:lnTo>
                <a:close/>
              </a:path>
              <a:path w="601345" h="104139">
                <a:moveTo>
                  <a:pt x="595134" y="103631"/>
                </a:moveTo>
                <a:lnTo>
                  <a:pt x="595134" y="90677"/>
                </a:lnTo>
                <a:lnTo>
                  <a:pt x="589026" y="97536"/>
                </a:lnTo>
                <a:lnTo>
                  <a:pt x="589026" y="103631"/>
                </a:lnTo>
                <a:lnTo>
                  <a:pt x="595134" y="1036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787513" y="6349746"/>
            <a:ext cx="588645" cy="100965"/>
          </a:xfrm>
          <a:custGeom>
            <a:avLst/>
            <a:gdLst/>
            <a:ahLst/>
            <a:cxnLst/>
            <a:rect l="l" t="t" r="r" b="b"/>
            <a:pathLst>
              <a:path w="588645" h="100964">
                <a:moveTo>
                  <a:pt x="0" y="0"/>
                </a:moveTo>
                <a:lnTo>
                  <a:pt x="0" y="100584"/>
                </a:lnTo>
                <a:lnTo>
                  <a:pt x="588264" y="100584"/>
                </a:lnTo>
                <a:lnTo>
                  <a:pt x="58826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780667" y="6349746"/>
            <a:ext cx="601980" cy="106680"/>
          </a:xfrm>
          <a:custGeom>
            <a:avLst/>
            <a:gdLst/>
            <a:ahLst/>
            <a:cxnLst/>
            <a:rect l="l" t="t" r="r" b="b"/>
            <a:pathLst>
              <a:path w="601979" h="106679">
                <a:moveTo>
                  <a:pt x="12954" y="93725"/>
                </a:moveTo>
                <a:lnTo>
                  <a:pt x="12954" y="0"/>
                </a:lnTo>
                <a:lnTo>
                  <a:pt x="0" y="0"/>
                </a:lnTo>
                <a:lnTo>
                  <a:pt x="0" y="106679"/>
                </a:lnTo>
                <a:lnTo>
                  <a:pt x="6845" y="106679"/>
                </a:lnTo>
                <a:lnTo>
                  <a:pt x="6845" y="93725"/>
                </a:lnTo>
                <a:lnTo>
                  <a:pt x="12954" y="93725"/>
                </a:lnTo>
                <a:close/>
              </a:path>
              <a:path w="601979" h="106679">
                <a:moveTo>
                  <a:pt x="595109" y="93725"/>
                </a:moveTo>
                <a:lnTo>
                  <a:pt x="6845" y="93725"/>
                </a:lnTo>
                <a:lnTo>
                  <a:pt x="12954" y="100583"/>
                </a:lnTo>
                <a:lnTo>
                  <a:pt x="12954" y="106679"/>
                </a:lnTo>
                <a:lnTo>
                  <a:pt x="589026" y="106679"/>
                </a:lnTo>
                <a:lnTo>
                  <a:pt x="589026" y="100583"/>
                </a:lnTo>
                <a:lnTo>
                  <a:pt x="595109" y="93725"/>
                </a:lnTo>
                <a:close/>
              </a:path>
              <a:path w="601979" h="106679">
                <a:moveTo>
                  <a:pt x="12954" y="106679"/>
                </a:moveTo>
                <a:lnTo>
                  <a:pt x="12954" y="100583"/>
                </a:lnTo>
                <a:lnTo>
                  <a:pt x="6845" y="93725"/>
                </a:lnTo>
                <a:lnTo>
                  <a:pt x="6845" y="106679"/>
                </a:lnTo>
                <a:lnTo>
                  <a:pt x="12954" y="106679"/>
                </a:lnTo>
                <a:close/>
              </a:path>
              <a:path w="601979" h="106679">
                <a:moveTo>
                  <a:pt x="601979" y="106679"/>
                </a:moveTo>
                <a:lnTo>
                  <a:pt x="601979" y="0"/>
                </a:lnTo>
                <a:lnTo>
                  <a:pt x="589026" y="0"/>
                </a:lnTo>
                <a:lnTo>
                  <a:pt x="589026" y="93725"/>
                </a:lnTo>
                <a:lnTo>
                  <a:pt x="595109" y="93725"/>
                </a:lnTo>
                <a:lnTo>
                  <a:pt x="595109" y="106679"/>
                </a:lnTo>
                <a:lnTo>
                  <a:pt x="601979" y="106679"/>
                </a:lnTo>
                <a:close/>
              </a:path>
              <a:path w="601979" h="106679">
                <a:moveTo>
                  <a:pt x="595109" y="106679"/>
                </a:moveTo>
                <a:lnTo>
                  <a:pt x="595109" y="93725"/>
                </a:lnTo>
                <a:lnTo>
                  <a:pt x="589026" y="100583"/>
                </a:lnTo>
                <a:lnTo>
                  <a:pt x="589026" y="106679"/>
                </a:lnTo>
                <a:lnTo>
                  <a:pt x="595109" y="1066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dirty="0"/>
              <a:t>Multiple Stacks and Queues</a:t>
            </a:r>
            <a:r>
              <a:rPr spc="-114" dirty="0"/>
              <a:t> </a:t>
            </a:r>
            <a:r>
              <a:rPr dirty="0"/>
              <a:t>(contd.)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27047" y="2364994"/>
            <a:ext cx="7381875" cy="3255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More </a:t>
            </a:r>
            <a:r>
              <a:rPr sz="3200" spc="-5" dirty="0">
                <a:latin typeface="Arial"/>
                <a:cs typeface="Arial"/>
              </a:rPr>
              <a:t>than two </a:t>
            </a:r>
            <a:r>
              <a:rPr sz="3200" spc="-10" dirty="0">
                <a:latin typeface="Arial"/>
                <a:cs typeface="Arial"/>
              </a:rPr>
              <a:t>stacks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(n)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Memory </a:t>
            </a:r>
            <a:r>
              <a:rPr sz="3200" spc="-5" dirty="0">
                <a:latin typeface="Arial"/>
                <a:cs typeface="Arial"/>
              </a:rPr>
              <a:t>is </a:t>
            </a:r>
            <a:r>
              <a:rPr sz="3200" spc="-10" dirty="0">
                <a:latin typeface="Arial"/>
                <a:cs typeface="Arial"/>
              </a:rPr>
              <a:t>divided </a:t>
            </a:r>
            <a:r>
              <a:rPr sz="3200" spc="-5" dirty="0">
                <a:latin typeface="Arial"/>
                <a:cs typeface="Arial"/>
              </a:rPr>
              <a:t>into n </a:t>
            </a:r>
            <a:r>
              <a:rPr sz="3200" spc="-10" dirty="0">
                <a:latin typeface="Arial"/>
                <a:cs typeface="Arial"/>
              </a:rPr>
              <a:t>segments</a:t>
            </a:r>
            <a:endParaRPr sz="32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The initial division of these segments may  be done in proportion to expected sizes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  these stacks if these are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known</a:t>
            </a:r>
            <a:endParaRPr sz="2800">
              <a:latin typeface="Arial"/>
              <a:cs typeface="Arial"/>
            </a:endParaRPr>
          </a:p>
          <a:p>
            <a:pPr marL="755650" marR="586740" lvl="1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All stacks are empty and divided into </a:t>
            </a:r>
            <a:r>
              <a:rPr sz="2400" spc="-10" dirty="0">
                <a:latin typeface="Arial"/>
                <a:cs typeface="Arial"/>
              </a:rPr>
              <a:t>roughly  </a:t>
            </a:r>
            <a:r>
              <a:rPr sz="2400" spc="-5" dirty="0">
                <a:latin typeface="Arial"/>
                <a:cs typeface="Arial"/>
              </a:rPr>
              <a:t>equal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segments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46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145">
              <a:lnSpc>
                <a:spcPct val="100000"/>
              </a:lnSpc>
            </a:pPr>
            <a:r>
              <a:rPr dirty="0"/>
              <a:t>Multiple Stacks and Queues</a:t>
            </a:r>
            <a:r>
              <a:rPr spc="-114" dirty="0"/>
              <a:t> </a:t>
            </a:r>
            <a:r>
              <a:rPr dirty="0"/>
              <a:t>(contd.)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27047" y="2366264"/>
            <a:ext cx="4973320" cy="1828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boundary[stack_no]</a:t>
            </a:r>
            <a:endParaRPr sz="2800">
              <a:latin typeface="Arial"/>
              <a:cs typeface="Arial"/>
            </a:endParaRPr>
          </a:p>
          <a:p>
            <a:pPr marL="838200" lvl="1" indent="-368300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Char char="–"/>
              <a:tabLst>
                <a:tab pos="838200" algn="l"/>
                <a:tab pos="838835" algn="l"/>
              </a:tabLst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0 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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stack_no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MAX_STACKS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top[stack_no]</a:t>
            </a:r>
            <a:endParaRPr sz="2800">
              <a:latin typeface="Arial"/>
              <a:cs typeface="Arial"/>
            </a:endParaRPr>
          </a:p>
          <a:p>
            <a:pPr marL="838200" lvl="1" indent="-368300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Char char="–"/>
              <a:tabLst>
                <a:tab pos="838200" algn="l"/>
                <a:tab pos="838835" algn="l"/>
              </a:tabLst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0 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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stack_no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MAX_STACKS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93099" y="5278373"/>
            <a:ext cx="6540500" cy="214629"/>
          </a:xfrm>
          <a:custGeom>
            <a:avLst/>
            <a:gdLst/>
            <a:ahLst/>
            <a:cxnLst/>
            <a:rect l="l" t="t" r="r" b="b"/>
            <a:pathLst>
              <a:path w="6540500" h="214629">
                <a:moveTo>
                  <a:pt x="6540246" y="214122"/>
                </a:moveTo>
                <a:lnTo>
                  <a:pt x="6540246" y="0"/>
                </a:lnTo>
                <a:lnTo>
                  <a:pt x="0" y="0"/>
                </a:lnTo>
                <a:lnTo>
                  <a:pt x="0" y="214122"/>
                </a:lnTo>
                <a:lnTo>
                  <a:pt x="6095" y="214122"/>
                </a:lnTo>
                <a:lnTo>
                  <a:pt x="6095" y="12954"/>
                </a:lnTo>
                <a:lnTo>
                  <a:pt x="12191" y="6858"/>
                </a:lnTo>
                <a:lnTo>
                  <a:pt x="12191" y="12954"/>
                </a:lnTo>
                <a:lnTo>
                  <a:pt x="6527291" y="12953"/>
                </a:lnTo>
                <a:lnTo>
                  <a:pt x="6527291" y="6858"/>
                </a:lnTo>
                <a:lnTo>
                  <a:pt x="6534150" y="12953"/>
                </a:lnTo>
                <a:lnTo>
                  <a:pt x="6534150" y="214122"/>
                </a:lnTo>
                <a:lnTo>
                  <a:pt x="6540246" y="214122"/>
                </a:lnTo>
                <a:close/>
              </a:path>
              <a:path w="6540500" h="214629">
                <a:moveTo>
                  <a:pt x="12191" y="12954"/>
                </a:moveTo>
                <a:lnTo>
                  <a:pt x="12191" y="6858"/>
                </a:lnTo>
                <a:lnTo>
                  <a:pt x="6095" y="12954"/>
                </a:lnTo>
                <a:lnTo>
                  <a:pt x="12191" y="12954"/>
                </a:lnTo>
                <a:close/>
              </a:path>
              <a:path w="6540500" h="214629">
                <a:moveTo>
                  <a:pt x="12191" y="214122"/>
                </a:moveTo>
                <a:lnTo>
                  <a:pt x="12191" y="12954"/>
                </a:lnTo>
                <a:lnTo>
                  <a:pt x="6095" y="12954"/>
                </a:lnTo>
                <a:lnTo>
                  <a:pt x="6095" y="214122"/>
                </a:lnTo>
                <a:lnTo>
                  <a:pt x="12191" y="214122"/>
                </a:lnTo>
                <a:close/>
              </a:path>
              <a:path w="6540500" h="214629">
                <a:moveTo>
                  <a:pt x="6534150" y="12953"/>
                </a:moveTo>
                <a:lnTo>
                  <a:pt x="6527291" y="6858"/>
                </a:lnTo>
                <a:lnTo>
                  <a:pt x="6527291" y="12953"/>
                </a:lnTo>
                <a:lnTo>
                  <a:pt x="6534150" y="12953"/>
                </a:lnTo>
                <a:close/>
              </a:path>
              <a:path w="6540500" h="214629">
                <a:moveTo>
                  <a:pt x="6534150" y="214122"/>
                </a:moveTo>
                <a:lnTo>
                  <a:pt x="6534150" y="12953"/>
                </a:lnTo>
                <a:lnTo>
                  <a:pt x="6527291" y="12953"/>
                </a:lnTo>
                <a:lnTo>
                  <a:pt x="6527291" y="214122"/>
                </a:lnTo>
                <a:lnTo>
                  <a:pt x="6534150" y="2141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92579" y="4905502"/>
            <a:ext cx="15240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03365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52802" y="4905502"/>
            <a:ext cx="448945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03365"/>
                </a:solidFill>
                <a:latin typeface="Times New Roman"/>
                <a:cs typeface="Times New Roman"/>
              </a:rPr>
              <a:t>m-1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5414" y="4483607"/>
            <a:ext cx="3598545" cy="738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5" dirty="0">
                <a:solidFill>
                  <a:srgbClr val="003365"/>
                </a:solidFill>
                <a:latin typeface="Arial"/>
                <a:cs typeface="Arial"/>
              </a:rPr>
              <a:t>Initially,</a:t>
            </a:r>
            <a:r>
              <a:rPr sz="2400" spc="-7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boundary[i]=top[i].</a:t>
            </a:r>
            <a:endParaRPr sz="2400">
              <a:latin typeface="Arial"/>
              <a:cs typeface="Arial"/>
            </a:endParaRPr>
          </a:p>
          <a:p>
            <a:pPr marL="815340">
              <a:lnSpc>
                <a:spcPct val="100000"/>
              </a:lnSpc>
              <a:spcBef>
                <a:spcPts val="440"/>
              </a:spcBef>
              <a:tabLst>
                <a:tab pos="2739390" algn="l"/>
              </a:tabLst>
            </a:pPr>
            <a:r>
              <a:rPr sz="2000" b="1" spc="-5" dirty="0">
                <a:solidFill>
                  <a:srgbClr val="003365"/>
                </a:solidFill>
                <a:latin typeface="Times New Roman"/>
                <a:cs typeface="Times New Roman"/>
              </a:rPr>
              <a:t>[ m/n</a:t>
            </a:r>
            <a:r>
              <a:rPr sz="2000" b="1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03365"/>
                </a:solidFill>
                <a:latin typeface="Times New Roman"/>
                <a:cs typeface="Times New Roman"/>
              </a:rPr>
              <a:t>]	2[ m/n</a:t>
            </a:r>
            <a:r>
              <a:rPr sz="2000" b="1" spc="-80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03365"/>
                </a:solidFill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93099" y="5492496"/>
            <a:ext cx="6540500" cy="220979"/>
          </a:xfrm>
          <a:custGeom>
            <a:avLst/>
            <a:gdLst/>
            <a:ahLst/>
            <a:cxnLst/>
            <a:rect l="l" t="t" r="r" b="b"/>
            <a:pathLst>
              <a:path w="6540500" h="220979">
                <a:moveTo>
                  <a:pt x="12191" y="208026"/>
                </a:moveTo>
                <a:lnTo>
                  <a:pt x="12191" y="0"/>
                </a:lnTo>
                <a:lnTo>
                  <a:pt x="0" y="0"/>
                </a:lnTo>
                <a:lnTo>
                  <a:pt x="0" y="220980"/>
                </a:lnTo>
                <a:lnTo>
                  <a:pt x="6096" y="220980"/>
                </a:lnTo>
                <a:lnTo>
                  <a:pt x="6095" y="208026"/>
                </a:lnTo>
                <a:lnTo>
                  <a:pt x="12191" y="208026"/>
                </a:lnTo>
                <a:close/>
              </a:path>
              <a:path w="6540500" h="220979">
                <a:moveTo>
                  <a:pt x="6534150" y="208025"/>
                </a:moveTo>
                <a:lnTo>
                  <a:pt x="6095" y="208026"/>
                </a:lnTo>
                <a:lnTo>
                  <a:pt x="12191" y="214884"/>
                </a:lnTo>
                <a:lnTo>
                  <a:pt x="12191" y="220980"/>
                </a:lnTo>
                <a:lnTo>
                  <a:pt x="6527291" y="220979"/>
                </a:lnTo>
                <a:lnTo>
                  <a:pt x="6527291" y="214883"/>
                </a:lnTo>
                <a:lnTo>
                  <a:pt x="6534150" y="208025"/>
                </a:lnTo>
                <a:close/>
              </a:path>
              <a:path w="6540500" h="220979">
                <a:moveTo>
                  <a:pt x="12191" y="220980"/>
                </a:moveTo>
                <a:lnTo>
                  <a:pt x="12191" y="214884"/>
                </a:lnTo>
                <a:lnTo>
                  <a:pt x="6095" y="208026"/>
                </a:lnTo>
                <a:lnTo>
                  <a:pt x="6096" y="220980"/>
                </a:lnTo>
                <a:lnTo>
                  <a:pt x="12191" y="220980"/>
                </a:lnTo>
                <a:close/>
              </a:path>
              <a:path w="6540500" h="220979">
                <a:moveTo>
                  <a:pt x="6540246" y="220979"/>
                </a:moveTo>
                <a:lnTo>
                  <a:pt x="6540246" y="0"/>
                </a:lnTo>
                <a:lnTo>
                  <a:pt x="6527292" y="0"/>
                </a:lnTo>
                <a:lnTo>
                  <a:pt x="6527292" y="208025"/>
                </a:lnTo>
                <a:lnTo>
                  <a:pt x="6534150" y="208025"/>
                </a:lnTo>
                <a:lnTo>
                  <a:pt x="6534150" y="220979"/>
                </a:lnTo>
                <a:lnTo>
                  <a:pt x="6540246" y="220979"/>
                </a:lnTo>
                <a:close/>
              </a:path>
              <a:path w="6540500" h="220979">
                <a:moveTo>
                  <a:pt x="6534150" y="220979"/>
                </a:moveTo>
                <a:lnTo>
                  <a:pt x="6534150" y="208025"/>
                </a:lnTo>
                <a:lnTo>
                  <a:pt x="6527291" y="214883"/>
                </a:lnTo>
                <a:lnTo>
                  <a:pt x="6527291" y="220979"/>
                </a:lnTo>
                <a:lnTo>
                  <a:pt x="6534150" y="220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86241" y="5773673"/>
            <a:ext cx="76200" cy="386080"/>
          </a:xfrm>
          <a:custGeom>
            <a:avLst/>
            <a:gdLst/>
            <a:ahLst/>
            <a:cxnLst/>
            <a:rect l="l" t="t" r="r" b="b"/>
            <a:pathLst>
              <a:path w="76200" h="386079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04" y="76200"/>
                </a:lnTo>
                <a:lnTo>
                  <a:pt x="32004" y="64008"/>
                </a:lnTo>
                <a:lnTo>
                  <a:pt x="44958" y="64008"/>
                </a:lnTo>
                <a:lnTo>
                  <a:pt x="44958" y="76200"/>
                </a:lnTo>
                <a:lnTo>
                  <a:pt x="76200" y="76200"/>
                </a:lnTo>
                <a:close/>
              </a:path>
              <a:path w="76200" h="386079">
                <a:moveTo>
                  <a:pt x="44958" y="76200"/>
                </a:moveTo>
                <a:lnTo>
                  <a:pt x="44958" y="64008"/>
                </a:lnTo>
                <a:lnTo>
                  <a:pt x="32004" y="64008"/>
                </a:lnTo>
                <a:lnTo>
                  <a:pt x="32004" y="76200"/>
                </a:lnTo>
                <a:lnTo>
                  <a:pt x="44958" y="76200"/>
                </a:lnTo>
                <a:close/>
              </a:path>
              <a:path w="76200" h="386079">
                <a:moveTo>
                  <a:pt x="44958" y="385572"/>
                </a:moveTo>
                <a:lnTo>
                  <a:pt x="44958" y="76200"/>
                </a:lnTo>
                <a:lnTo>
                  <a:pt x="32004" y="76200"/>
                </a:lnTo>
                <a:lnTo>
                  <a:pt x="32004" y="385572"/>
                </a:lnTo>
                <a:lnTo>
                  <a:pt x="44958" y="385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03789" y="5767578"/>
            <a:ext cx="76200" cy="386080"/>
          </a:xfrm>
          <a:custGeom>
            <a:avLst/>
            <a:gdLst/>
            <a:ahLst/>
            <a:cxnLst/>
            <a:rect l="l" t="t" r="r" b="b"/>
            <a:pathLst>
              <a:path w="76200" h="386079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03" y="76200"/>
                </a:lnTo>
                <a:lnTo>
                  <a:pt x="32003" y="63246"/>
                </a:lnTo>
                <a:lnTo>
                  <a:pt x="44957" y="63246"/>
                </a:lnTo>
                <a:lnTo>
                  <a:pt x="44957" y="76200"/>
                </a:lnTo>
                <a:lnTo>
                  <a:pt x="76200" y="76200"/>
                </a:lnTo>
                <a:close/>
              </a:path>
              <a:path w="76200" h="386079">
                <a:moveTo>
                  <a:pt x="44957" y="76200"/>
                </a:moveTo>
                <a:lnTo>
                  <a:pt x="44957" y="63246"/>
                </a:lnTo>
                <a:lnTo>
                  <a:pt x="32003" y="63246"/>
                </a:lnTo>
                <a:lnTo>
                  <a:pt x="32003" y="76200"/>
                </a:lnTo>
                <a:lnTo>
                  <a:pt x="44957" y="76200"/>
                </a:lnTo>
                <a:close/>
              </a:path>
              <a:path w="76200" h="386079">
                <a:moveTo>
                  <a:pt x="44958" y="385572"/>
                </a:moveTo>
                <a:lnTo>
                  <a:pt x="44957" y="76200"/>
                </a:lnTo>
                <a:lnTo>
                  <a:pt x="32003" y="76200"/>
                </a:lnTo>
                <a:lnTo>
                  <a:pt x="32004" y="385572"/>
                </a:lnTo>
                <a:lnTo>
                  <a:pt x="44958" y="385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37567" y="5783579"/>
            <a:ext cx="76200" cy="386080"/>
          </a:xfrm>
          <a:custGeom>
            <a:avLst/>
            <a:gdLst/>
            <a:ahLst/>
            <a:cxnLst/>
            <a:rect l="l" t="t" r="r" b="b"/>
            <a:pathLst>
              <a:path w="76200" h="386079">
                <a:moveTo>
                  <a:pt x="76200" y="76199"/>
                </a:moveTo>
                <a:lnTo>
                  <a:pt x="38100" y="0"/>
                </a:lnTo>
                <a:lnTo>
                  <a:pt x="0" y="76200"/>
                </a:lnTo>
                <a:lnTo>
                  <a:pt x="32003" y="76200"/>
                </a:lnTo>
                <a:lnTo>
                  <a:pt x="32003" y="63246"/>
                </a:lnTo>
                <a:lnTo>
                  <a:pt x="44957" y="63246"/>
                </a:lnTo>
                <a:lnTo>
                  <a:pt x="44957" y="76200"/>
                </a:lnTo>
                <a:lnTo>
                  <a:pt x="76200" y="76199"/>
                </a:lnTo>
                <a:close/>
              </a:path>
              <a:path w="76200" h="386079">
                <a:moveTo>
                  <a:pt x="44957" y="76200"/>
                </a:moveTo>
                <a:lnTo>
                  <a:pt x="44957" y="63246"/>
                </a:lnTo>
                <a:lnTo>
                  <a:pt x="32003" y="63246"/>
                </a:lnTo>
                <a:lnTo>
                  <a:pt x="32003" y="76200"/>
                </a:lnTo>
                <a:lnTo>
                  <a:pt x="44957" y="76200"/>
                </a:lnTo>
                <a:close/>
              </a:path>
              <a:path w="76200" h="386079">
                <a:moveTo>
                  <a:pt x="44958" y="385572"/>
                </a:moveTo>
                <a:lnTo>
                  <a:pt x="44957" y="76200"/>
                </a:lnTo>
                <a:lnTo>
                  <a:pt x="32003" y="76200"/>
                </a:lnTo>
                <a:lnTo>
                  <a:pt x="32004" y="385572"/>
                </a:lnTo>
                <a:lnTo>
                  <a:pt x="44958" y="385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31986" y="5801105"/>
            <a:ext cx="76835" cy="407670"/>
          </a:xfrm>
          <a:custGeom>
            <a:avLst/>
            <a:gdLst/>
            <a:ahLst/>
            <a:cxnLst/>
            <a:rect l="l" t="t" r="r" b="b"/>
            <a:pathLst>
              <a:path w="76834" h="407670">
                <a:moveTo>
                  <a:pt x="76212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1254" y="76200"/>
                </a:lnTo>
                <a:lnTo>
                  <a:pt x="31254" y="63246"/>
                </a:lnTo>
                <a:lnTo>
                  <a:pt x="44208" y="63246"/>
                </a:lnTo>
                <a:lnTo>
                  <a:pt x="44208" y="76200"/>
                </a:lnTo>
                <a:lnTo>
                  <a:pt x="76212" y="76200"/>
                </a:lnTo>
                <a:close/>
              </a:path>
              <a:path w="76834" h="407670">
                <a:moveTo>
                  <a:pt x="44208" y="76200"/>
                </a:moveTo>
                <a:lnTo>
                  <a:pt x="44208" y="63246"/>
                </a:lnTo>
                <a:lnTo>
                  <a:pt x="31254" y="63246"/>
                </a:lnTo>
                <a:lnTo>
                  <a:pt x="31254" y="76200"/>
                </a:lnTo>
                <a:lnTo>
                  <a:pt x="44208" y="76200"/>
                </a:lnTo>
                <a:close/>
              </a:path>
              <a:path w="76834" h="407670">
                <a:moveTo>
                  <a:pt x="44208" y="407670"/>
                </a:moveTo>
                <a:lnTo>
                  <a:pt x="44208" y="76200"/>
                </a:lnTo>
                <a:lnTo>
                  <a:pt x="31254" y="76200"/>
                </a:lnTo>
                <a:lnTo>
                  <a:pt x="31254" y="407670"/>
                </a:lnTo>
                <a:lnTo>
                  <a:pt x="44208" y="4076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020951" y="6199378"/>
            <a:ext cx="1589405" cy="663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003365"/>
                </a:solidFill>
                <a:latin typeface="Arial"/>
                <a:cs typeface="Arial"/>
              </a:rPr>
              <a:t>boundary[n]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055"/>
              </a:spcBef>
            </a:pPr>
            <a:r>
              <a:rPr sz="1400" spc="-5" dirty="0">
                <a:latin typeface="Arial"/>
                <a:cs typeface="Arial"/>
              </a:rPr>
              <a:t>47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80883" y="6199378"/>
            <a:ext cx="1563370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003365"/>
                </a:solidFill>
                <a:latin typeface="Arial"/>
                <a:cs typeface="Arial"/>
              </a:rPr>
              <a:t>boundary[</a:t>
            </a:r>
            <a:r>
              <a:rPr sz="2000" b="1" spc="-4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3365"/>
                </a:solidFill>
                <a:latin typeface="Arial"/>
                <a:cs typeface="Arial"/>
              </a:rPr>
              <a:t>0]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03365"/>
                </a:solidFill>
                <a:latin typeface="Arial"/>
                <a:cs typeface="Arial"/>
              </a:rPr>
              <a:t>top[</a:t>
            </a:r>
            <a:r>
              <a:rPr sz="2000" b="1" spc="-8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3365"/>
                </a:solidFill>
                <a:latin typeface="Arial"/>
                <a:cs typeface="Arial"/>
              </a:rPr>
              <a:t>0]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7041" y="6199378"/>
            <a:ext cx="149288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 marR="5080" indent="-7620">
              <a:lnSpc>
                <a:spcPct val="100000"/>
              </a:lnSpc>
            </a:pPr>
            <a:r>
              <a:rPr sz="2000" b="1" spc="-5" dirty="0">
                <a:solidFill>
                  <a:srgbClr val="003365"/>
                </a:solidFill>
                <a:latin typeface="Arial"/>
                <a:cs typeface="Arial"/>
              </a:rPr>
              <a:t>boundary[1]  top[</a:t>
            </a:r>
            <a:r>
              <a:rPr sz="2000" b="1" spc="-8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3365"/>
                </a:solidFill>
                <a:latin typeface="Arial"/>
                <a:cs typeface="Arial"/>
              </a:rPr>
              <a:t>1]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74169" y="6199378"/>
            <a:ext cx="156400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003365"/>
                </a:solidFill>
                <a:latin typeface="Arial"/>
                <a:cs typeface="Arial"/>
              </a:rPr>
              <a:t>boundary[</a:t>
            </a:r>
            <a:r>
              <a:rPr sz="2000" b="1" spc="-4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3365"/>
                </a:solidFill>
                <a:latin typeface="Arial"/>
                <a:cs typeface="Arial"/>
              </a:rPr>
              <a:t>2]</a:t>
            </a:r>
            <a:endParaRPr sz="2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2000" b="1" spc="-5" dirty="0">
                <a:solidFill>
                  <a:srgbClr val="003365"/>
                </a:solidFill>
                <a:latin typeface="Arial"/>
                <a:cs typeface="Arial"/>
              </a:rPr>
              <a:t>top[</a:t>
            </a:r>
            <a:r>
              <a:rPr sz="2000" b="1" spc="-8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3365"/>
                </a:solidFill>
                <a:latin typeface="Arial"/>
                <a:cs typeface="Arial"/>
              </a:rPr>
              <a:t>2]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</TotalTime>
  <Words>3460</Words>
  <Application>Microsoft Office PowerPoint</Application>
  <PresentationFormat>Custom</PresentationFormat>
  <Paragraphs>1229</Paragraphs>
  <Slides>51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新細明體</vt:lpstr>
      <vt:lpstr>Arial</vt:lpstr>
      <vt:lpstr>Arial Narrow</vt:lpstr>
      <vt:lpstr>Calibri</vt:lpstr>
      <vt:lpstr>Courier New</vt:lpstr>
      <vt:lpstr>Palatino Linotype</vt:lpstr>
      <vt:lpstr>Symbol</vt:lpstr>
      <vt:lpstr>Times New Roman</vt:lpstr>
      <vt:lpstr>Office Theme</vt:lpstr>
      <vt:lpstr>Stacks and Queues</vt:lpstr>
      <vt:lpstr>Templates in C++</vt:lpstr>
      <vt:lpstr>Selection Sort Using Template</vt:lpstr>
      <vt:lpstr>Selection Sort Using Template (contd.)</vt:lpstr>
      <vt:lpstr>Stack: Last-In-First-Out (LIFO) List</vt:lpstr>
      <vt:lpstr>An Application of Stack: Stack</vt:lpstr>
      <vt:lpstr>Abstract Data Type for Stack</vt:lpstr>
      <vt:lpstr>Implementation of Stack by Array</vt:lpstr>
      <vt:lpstr>PowerPoint Presentation</vt:lpstr>
      <vt:lpstr>Adding to a Stack</vt:lpstr>
      <vt:lpstr>Deleting from a Stack</vt:lpstr>
      <vt:lpstr>Queue: First-In-First-Out (FIFO) List</vt:lpstr>
      <vt:lpstr>Application: Job Scheduling</vt:lpstr>
      <vt:lpstr>Abstract Data Type of Queue</vt:lpstr>
      <vt:lpstr>Implementation 1: Using Array</vt:lpstr>
      <vt:lpstr>Add to a Queue</vt:lpstr>
      <vt:lpstr>Delete from a Queue</vt:lpstr>
      <vt:lpstr>Problem</vt:lpstr>
      <vt:lpstr>Implementation 2: Regard an Array as a Circular Queue</vt:lpstr>
      <vt:lpstr>An Example Circular Queue</vt:lpstr>
      <vt:lpstr>Full Queues</vt:lpstr>
      <vt:lpstr>Add to a Circular Queue</vt:lpstr>
      <vt:lpstr>Delete from a Circular Queue</vt:lpstr>
      <vt:lpstr>A Mazing Problem</vt:lpstr>
      <vt:lpstr>A Possible Representation</vt:lpstr>
      <vt:lpstr>PowerPoint Presentation</vt:lpstr>
      <vt:lpstr>Use a Stack to Keep Pass History</vt:lpstr>
      <vt:lpstr>PowerPoint Presentation</vt:lpstr>
      <vt:lpstr>PowerPoint Presentation</vt:lpstr>
      <vt:lpstr>PowerPoint Presentation</vt:lpstr>
      <vt:lpstr>PowerPoint Presentation</vt:lpstr>
      <vt:lpstr>Alternative maze algorithm - Initialization</vt:lpstr>
      <vt:lpstr>Alternative maze algorithm - Search</vt:lpstr>
      <vt:lpstr>Alternative example</vt:lpstr>
      <vt:lpstr>Alternative path output</vt:lpstr>
      <vt:lpstr>Evaluation of Expressions</vt:lpstr>
      <vt:lpstr>Evaluation of Expressions (contd.)</vt:lpstr>
      <vt:lpstr>Evaluation of Expressions (contd.)</vt:lpstr>
      <vt:lpstr>Evaluation of Expressions (contd.)</vt:lpstr>
      <vt:lpstr>Phase 2: Postfix Expression</vt:lpstr>
      <vt:lpstr>Program 3.18</vt:lpstr>
      <vt:lpstr>Phase 1: Infix to Postfix Conversion</vt:lpstr>
      <vt:lpstr>Phase 1: Infix to Postfix Conversion</vt:lpstr>
      <vt:lpstr>The orders of operands in infix and</vt:lpstr>
      <vt:lpstr>The orders of operands in infix and</vt:lpstr>
      <vt:lpstr>a *1 (b +c) *2 d</vt:lpstr>
      <vt:lpstr>Rules</vt:lpstr>
      <vt:lpstr>Rules (contd.)</vt:lpstr>
      <vt:lpstr>Multiple Stacks and Queues</vt:lpstr>
      <vt:lpstr>Multiple Stacks and Queues (contd.)</vt:lpstr>
      <vt:lpstr>Multiple Stacks and Queues (contd.)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chapter03.ppt [相容模式]</dc:title>
  <dc:creator>void</dc:creator>
  <cp:lastModifiedBy>Ondřej Navrátil</cp:lastModifiedBy>
  <cp:revision>25</cp:revision>
  <dcterms:created xsi:type="dcterms:W3CDTF">2017-09-19T03:08:27Z</dcterms:created>
  <dcterms:modified xsi:type="dcterms:W3CDTF">2019-10-07T05:54:21Z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2008-10-23T00:00:00Z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2017-09-19T00:00:00Z</vt:filetime>
  </property>
</Properties>
</file>