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092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4460">
              <a:lnSpc>
                <a:spcPts val="151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4460">
              <a:lnSpc>
                <a:spcPts val="151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9/26/2017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4460">
              <a:lnSpc>
                <a:spcPts val="151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9/26/2017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4460">
              <a:lnSpc>
                <a:spcPts val="151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9/26/2017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4460">
              <a:lnSpc>
                <a:spcPts val="151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74839" y="348995"/>
            <a:ext cx="824484" cy="857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4839" y="928877"/>
            <a:ext cx="824865" cy="138430"/>
          </a:xfrm>
          <a:custGeom>
            <a:avLst/>
            <a:gdLst/>
            <a:ahLst/>
            <a:cxnLst/>
            <a:rect l="l" t="t" r="r" b="b"/>
            <a:pathLst>
              <a:path w="824865" h="138430">
                <a:moveTo>
                  <a:pt x="0" y="0"/>
                </a:moveTo>
                <a:lnTo>
                  <a:pt x="0" y="137922"/>
                </a:lnTo>
                <a:lnTo>
                  <a:pt x="824483" y="137922"/>
                </a:lnTo>
                <a:lnTo>
                  <a:pt x="82448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74012" y="1055623"/>
            <a:ext cx="7945374" cy="620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1">
                <a:solidFill>
                  <a:srgbClr val="00336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27047" y="1360423"/>
            <a:ext cx="7597140" cy="4808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9/26/2017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73743" y="6659522"/>
            <a:ext cx="248920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4460">
              <a:lnSpc>
                <a:spcPts val="151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9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4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45.png"/><Relationship Id="rId5" Type="http://schemas.openxmlformats.org/officeDocument/2006/relationships/image" Target="../media/image43.png"/><Relationship Id="rId10" Type="http://schemas.openxmlformats.org/officeDocument/2006/relationships/image" Target="../media/image7.png"/><Relationship Id="rId4" Type="http://schemas.openxmlformats.org/officeDocument/2006/relationships/image" Target="../media/image42.png"/><Relationship Id="rId9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png"/><Relationship Id="rId18" Type="http://schemas.openxmlformats.org/officeDocument/2006/relationships/image" Target="../media/image57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17" Type="http://schemas.openxmlformats.org/officeDocument/2006/relationships/image" Target="../media/image6.png"/><Relationship Id="rId2" Type="http://schemas.openxmlformats.org/officeDocument/2006/relationships/image" Target="../media/image12.png"/><Relationship Id="rId16" Type="http://schemas.openxmlformats.org/officeDocument/2006/relationships/image" Target="../media/image56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9.png"/><Relationship Id="rId5" Type="http://schemas.openxmlformats.org/officeDocument/2006/relationships/image" Target="../media/image13.png"/><Relationship Id="rId15" Type="http://schemas.openxmlformats.org/officeDocument/2006/relationships/image" Target="../media/image3.png"/><Relationship Id="rId10" Type="http://schemas.openxmlformats.org/officeDocument/2006/relationships/image" Target="../media/image52.png"/><Relationship Id="rId19" Type="http://schemas.openxmlformats.org/officeDocument/2006/relationships/image" Target="../media/image7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Relationship Id="rId14" Type="http://schemas.openxmlformats.org/officeDocument/2006/relationships/image" Target="../media/image55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7.png"/><Relationship Id="rId18" Type="http://schemas.openxmlformats.org/officeDocument/2006/relationships/image" Target="../media/image70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12" Type="http://schemas.openxmlformats.org/officeDocument/2006/relationships/image" Target="../media/image66.png"/><Relationship Id="rId17" Type="http://schemas.openxmlformats.org/officeDocument/2006/relationships/image" Target="../media/image6.png"/><Relationship Id="rId2" Type="http://schemas.openxmlformats.org/officeDocument/2006/relationships/image" Target="../media/image12.png"/><Relationship Id="rId16" Type="http://schemas.openxmlformats.org/officeDocument/2006/relationships/image" Target="../media/image69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9.png"/><Relationship Id="rId5" Type="http://schemas.openxmlformats.org/officeDocument/2006/relationships/image" Target="../media/image13.png"/><Relationship Id="rId15" Type="http://schemas.openxmlformats.org/officeDocument/2006/relationships/image" Target="../media/image3.png"/><Relationship Id="rId10" Type="http://schemas.openxmlformats.org/officeDocument/2006/relationships/image" Target="../media/image65.png"/><Relationship Id="rId19" Type="http://schemas.openxmlformats.org/officeDocument/2006/relationships/image" Target="../media/image7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Relationship Id="rId14" Type="http://schemas.openxmlformats.org/officeDocument/2006/relationships/image" Target="../media/image6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6.png"/><Relationship Id="rId4" Type="http://schemas.openxmlformats.org/officeDocument/2006/relationships/image" Target="../media/image75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7047" y="1875282"/>
            <a:ext cx="1718945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b="1" dirty="0">
                <a:latin typeface="Times New Roman"/>
                <a:cs typeface="Times New Roman"/>
              </a:rPr>
              <a:t>A</a:t>
            </a:r>
            <a:r>
              <a:rPr sz="4800" b="1" spc="-10" dirty="0">
                <a:latin typeface="Times New Roman"/>
                <a:cs typeface="Times New Roman"/>
              </a:rPr>
              <a:t>rrays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484" cy="4286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3"/>
          <p:cNvSpPr txBox="1"/>
          <p:nvPr/>
        </p:nvSpPr>
        <p:spPr>
          <a:xfrm>
            <a:off x="2866770" y="4269994"/>
            <a:ext cx="4549775" cy="1686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spc="-10" dirty="0" smtClean="0">
                <a:latin typeface="Arial"/>
                <a:cs typeface="Arial"/>
              </a:rPr>
              <a:t>Peng, Sheng-Lung</a:t>
            </a:r>
          </a:p>
          <a:p>
            <a:pPr algn="ctr">
              <a:lnSpc>
                <a:spcPct val="100000"/>
              </a:lnSpc>
            </a:pPr>
            <a:r>
              <a:rPr lang="en-US" altLang="zh-TW" sz="2000" spc="-10" dirty="0" smtClean="0">
                <a:latin typeface="Arial"/>
                <a:cs typeface="Arial"/>
              </a:rPr>
              <a:t>&amp;</a:t>
            </a:r>
            <a:r>
              <a:rPr lang="zh-TW" altLang="en-US" sz="2000" spc="-10" dirty="0" smtClean="0">
                <a:latin typeface="Arial"/>
                <a:cs typeface="Arial"/>
              </a:rPr>
              <a:t> </a:t>
            </a:r>
            <a:r>
              <a:rPr lang="en-US" sz="2000" spc="-10" dirty="0" err="1" smtClean="0">
                <a:latin typeface="Arial"/>
                <a:cs typeface="Arial"/>
              </a:rPr>
              <a:t>Ond</a:t>
            </a:r>
            <a:r>
              <a:rPr lang="cs-CZ" sz="2000" spc="-10" dirty="0" smtClean="0">
                <a:latin typeface="Arial"/>
                <a:cs typeface="Arial"/>
              </a:rPr>
              <a:t>řej Navrátil</a:t>
            </a:r>
            <a:endParaRPr sz="2000" dirty="0">
              <a:latin typeface="Arial"/>
              <a:cs typeface="Arial"/>
            </a:endParaRPr>
          </a:p>
          <a:p>
            <a:pPr marL="12700" marR="5080" algn="ctr">
              <a:lnSpc>
                <a:spcPct val="119800"/>
              </a:lnSpc>
              <a:spcBef>
                <a:spcPts val="10"/>
              </a:spcBef>
            </a:pPr>
            <a:r>
              <a:rPr sz="2400" spc="-5" dirty="0">
                <a:latin typeface="Arial"/>
                <a:cs typeface="Arial"/>
              </a:rPr>
              <a:t>Department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Computer Science  National </a:t>
            </a:r>
            <a:r>
              <a:rPr lang="en-US" sz="2400" spc="-5" dirty="0" smtClean="0">
                <a:latin typeface="Arial"/>
                <a:cs typeface="Arial"/>
              </a:rPr>
              <a:t>Dong Hwa </a:t>
            </a:r>
            <a:r>
              <a:rPr sz="2400" spc="-5" dirty="0" smtClean="0">
                <a:latin typeface="Arial"/>
                <a:cs typeface="Arial"/>
              </a:rPr>
              <a:t>University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10" dirty="0"/>
              <a:t>Arrays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4286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60128" y="1975103"/>
            <a:ext cx="7189470" cy="4116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Array: a set of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index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 smtClean="0">
                <a:solidFill>
                  <a:srgbClr val="FF3300"/>
                </a:solidFill>
                <a:latin typeface="Arial"/>
                <a:cs typeface="Arial"/>
              </a:rPr>
              <a:t>value</a:t>
            </a:r>
            <a:endParaRPr lang="en-US" sz="2800" dirty="0" smtClean="0">
              <a:solidFill>
                <a:srgbClr val="FF3300"/>
              </a:solidFill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lang="en-US" sz="2800" dirty="0" smtClean="0">
                <a:solidFill>
                  <a:srgbClr val="FF3300"/>
                </a:solidFill>
                <a:latin typeface="Arial"/>
                <a:cs typeface="Arial"/>
              </a:rPr>
              <a:t>Uniform elements</a:t>
            </a:r>
            <a:r>
              <a:rPr lang="en-US" sz="2800" dirty="0" smtClean="0">
                <a:solidFill>
                  <a:srgbClr val="FF0000"/>
                </a:solidFill>
                <a:latin typeface="Arial"/>
                <a:cs typeface="Arial"/>
              </a:rPr>
              <a:t> – </a:t>
            </a:r>
            <a:r>
              <a:rPr lang="en-US" sz="2800" dirty="0" smtClean="0">
                <a:latin typeface="Arial"/>
                <a:cs typeface="Arial"/>
              </a:rPr>
              <a:t>same data type</a:t>
            </a:r>
            <a:endParaRPr sz="2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Data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structure</a:t>
            </a:r>
          </a:p>
          <a:p>
            <a:pPr marL="755650" marR="5080" lvl="1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For each </a:t>
            </a:r>
            <a:r>
              <a:rPr sz="2400" spc="-5" dirty="0" smtClean="0">
                <a:latin typeface="Arial"/>
                <a:cs typeface="Arial"/>
              </a:rPr>
              <a:t>index</a:t>
            </a:r>
            <a:r>
              <a:rPr lang="en-US" sz="2400" spc="-5" dirty="0" smtClean="0">
                <a:latin typeface="Arial"/>
                <a:cs typeface="Arial"/>
              </a:rPr>
              <a:t> out of a certain pool</a:t>
            </a:r>
            <a:r>
              <a:rPr sz="2400" spc="-5" dirty="0" smtClean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there is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value associated with  that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index.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Representation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possible</a:t>
            </a:r>
            <a:r>
              <a:rPr sz="2800" dirty="0">
                <a:latin typeface="Arial"/>
                <a:cs typeface="Arial"/>
              </a:rPr>
              <a:t>)</a:t>
            </a:r>
          </a:p>
          <a:p>
            <a:pPr marL="755015" lvl="1" indent="-28511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Implemented by using consecutive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memory.</a:t>
            </a:r>
            <a:endParaRPr sz="2400" dirty="0">
              <a:latin typeface="Arial"/>
              <a:cs typeface="Arial"/>
            </a:endParaRPr>
          </a:p>
          <a:p>
            <a:pPr marL="355600" marR="461645" indent="-342900">
              <a:lnSpc>
                <a:spcPct val="100000"/>
              </a:lnSpc>
              <a:spcBef>
                <a:spcPts val="66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Example: int list[5]: list[0], …, list[4]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each  contains an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integer</a:t>
            </a:r>
          </a:p>
        </p:txBody>
      </p:sp>
      <p:sp>
        <p:nvSpPr>
          <p:cNvPr id="10" name="object 10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45650"/>
              </p:ext>
            </p:extLst>
          </p:nvPr>
        </p:nvGraphicFramePr>
        <p:xfrm>
          <a:off x="4685423" y="6134415"/>
          <a:ext cx="4464175" cy="1036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"/>
                <a:gridCol w="745998"/>
                <a:gridCol w="744473"/>
                <a:gridCol w="741426"/>
                <a:gridCol w="745985"/>
                <a:gridCol w="743343"/>
              </a:tblGrid>
              <a:tr h="518160">
                <a:tc>
                  <a:txBody>
                    <a:bodyPr/>
                    <a:lstStyle/>
                    <a:p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</a:t>
                      </a: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1219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15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list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2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2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2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2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2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12192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5566" y="499871"/>
            <a:ext cx="7566025" cy="669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b="1" spc="-5" dirty="0">
                <a:latin typeface="Times New Roman"/>
                <a:cs typeface="Times New Roman"/>
              </a:rPr>
              <a:t>class </a:t>
            </a:r>
            <a:r>
              <a:rPr sz="2400" i="1" spc="-5" dirty="0">
                <a:latin typeface="Times New Roman"/>
                <a:cs typeface="Times New Roman"/>
              </a:rPr>
              <a:t>GeneralArray</a:t>
            </a:r>
            <a:r>
              <a:rPr sz="2400" i="1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90"/>
              </a:lnSpc>
            </a:pPr>
            <a:r>
              <a:rPr sz="2400" dirty="0">
                <a:latin typeface="Times New Roman"/>
                <a:cs typeface="Times New Roman"/>
              </a:rPr>
              <a:t>/*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objects: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pairs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&lt;</a:t>
            </a:r>
            <a:r>
              <a:rPr sz="24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index,</a:t>
            </a:r>
            <a:r>
              <a:rPr sz="24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value&gt;</a:t>
            </a:r>
            <a:r>
              <a:rPr sz="240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where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15579" y="1158240"/>
            <a:ext cx="7561580" cy="527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8890" indent="-635">
              <a:lnSpc>
                <a:spcPct val="80000"/>
              </a:lnSpc>
            </a:pPr>
            <a:r>
              <a:rPr sz="2400" dirty="0">
                <a:latin typeface="Times New Roman"/>
                <a:cs typeface="Times New Roman"/>
              </a:rPr>
              <a:t>of </a:t>
            </a:r>
            <a:r>
              <a:rPr sz="2400" spc="-5" dirty="0">
                <a:latin typeface="Times New Roman"/>
                <a:cs typeface="Times New Roman"/>
              </a:rPr>
              <a:t>index in IndexSet </a:t>
            </a:r>
            <a:r>
              <a:rPr sz="2400" dirty="0">
                <a:latin typeface="Times New Roman"/>
                <a:cs typeface="Times New Roman"/>
              </a:rPr>
              <a:t>there </a:t>
            </a:r>
            <a:r>
              <a:rPr sz="2400" spc="-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a </a:t>
            </a:r>
            <a:r>
              <a:rPr sz="2400" spc="-5" dirty="0">
                <a:latin typeface="Times New Roman"/>
                <a:cs typeface="Times New Roman"/>
              </a:rPr>
              <a:t>value of </a:t>
            </a:r>
            <a:r>
              <a:rPr sz="2400" dirty="0">
                <a:latin typeface="Times New Roman"/>
                <a:cs typeface="Times New Roman"/>
              </a:rPr>
              <a:t>type </a:t>
            </a:r>
            <a:r>
              <a:rPr sz="2400" spc="-5" dirty="0">
                <a:latin typeface="Times New Roman"/>
                <a:cs typeface="Times New Roman"/>
              </a:rPr>
              <a:t>float. IndexSet  </a:t>
            </a:r>
            <a:r>
              <a:rPr sz="2400" dirty="0">
                <a:latin typeface="Times New Roman"/>
                <a:cs typeface="Times New Roman"/>
              </a:rPr>
              <a:t>is a finite ordered </a:t>
            </a:r>
            <a:r>
              <a:rPr sz="2400" spc="-5" dirty="0">
                <a:latin typeface="Times New Roman"/>
                <a:cs typeface="Times New Roman"/>
              </a:rPr>
              <a:t>set </a:t>
            </a:r>
            <a:r>
              <a:rPr sz="2400" dirty="0">
                <a:latin typeface="Times New Roman"/>
                <a:cs typeface="Times New Roman"/>
              </a:rPr>
              <a:t>of one or more dimensions, for  example, </a:t>
            </a:r>
            <a:r>
              <a:rPr sz="2400" spc="-5" dirty="0">
                <a:latin typeface="Times New Roman"/>
                <a:cs typeface="Times New Roman"/>
              </a:rPr>
              <a:t>{0, …, n-1} for </a:t>
            </a:r>
            <a:r>
              <a:rPr sz="2400" dirty="0">
                <a:solidFill>
                  <a:srgbClr val="3365CC"/>
                </a:solidFill>
                <a:latin typeface="Times New Roman"/>
                <a:cs typeface="Times New Roman"/>
              </a:rPr>
              <a:t>one </a:t>
            </a:r>
            <a:r>
              <a:rPr sz="2400" spc="-5" dirty="0">
                <a:solidFill>
                  <a:srgbClr val="3365CC"/>
                </a:solidFill>
                <a:latin typeface="Times New Roman"/>
                <a:cs typeface="Times New Roman"/>
              </a:rPr>
              <a:t>dimension</a:t>
            </a:r>
            <a:r>
              <a:rPr sz="2400" spc="-5" dirty="0">
                <a:latin typeface="Times New Roman"/>
                <a:cs typeface="Times New Roman"/>
              </a:rPr>
              <a:t>, {(0, 0), (0, 1),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(0,</a:t>
            </a:r>
            <a:endParaRPr sz="2400">
              <a:latin typeface="Times New Roman"/>
              <a:cs typeface="Times New Roman"/>
            </a:endParaRPr>
          </a:p>
          <a:p>
            <a:pPr marL="354965">
              <a:lnSpc>
                <a:spcPts val="2014"/>
              </a:lnSpc>
            </a:pPr>
            <a:r>
              <a:rPr sz="2400" spc="-5" dirty="0">
                <a:latin typeface="Times New Roman"/>
                <a:cs typeface="Times New Roman"/>
              </a:rPr>
              <a:t>2), (1, 0), (1, 1), (1, 2), (2, 0), (2, 1), (2, 2)} for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two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305"/>
              </a:lnSpc>
            </a:pP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dimensions</a:t>
            </a:r>
            <a:r>
              <a:rPr sz="2400" dirty="0">
                <a:latin typeface="Times New Roman"/>
                <a:cs typeface="Times New Roman"/>
              </a:rPr>
              <a:t>, etc.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305"/>
              </a:lnSpc>
            </a:pPr>
            <a:r>
              <a:rPr sz="2400" b="1" spc="-5" dirty="0">
                <a:latin typeface="Times New Roman"/>
                <a:cs typeface="Times New Roman"/>
              </a:rPr>
              <a:t>public</a:t>
            </a:r>
            <a:r>
              <a:rPr sz="2400" spc="-5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55600" marR="711200" indent="-635">
              <a:lnSpc>
                <a:spcPts val="2300"/>
              </a:lnSpc>
              <a:spcBef>
                <a:spcPts val="270"/>
              </a:spcBef>
            </a:pPr>
            <a:r>
              <a:rPr sz="2400" b="1" spc="-5" dirty="0">
                <a:latin typeface="Times New Roman"/>
                <a:cs typeface="Times New Roman"/>
              </a:rPr>
              <a:t>GeneralArray</a:t>
            </a:r>
            <a:r>
              <a:rPr sz="2400" spc="-5" dirty="0">
                <a:latin typeface="Times New Roman"/>
                <a:cs typeface="Times New Roman"/>
              </a:rPr>
              <a:t>(</a:t>
            </a:r>
            <a:r>
              <a:rPr sz="2400" b="1" spc="-5" dirty="0">
                <a:latin typeface="Times New Roman"/>
                <a:cs typeface="Times New Roman"/>
              </a:rPr>
              <a:t>int </a:t>
            </a:r>
            <a:r>
              <a:rPr sz="2400" dirty="0">
                <a:latin typeface="Times New Roman"/>
                <a:cs typeface="Times New Roman"/>
              </a:rPr>
              <a:t>j; RangeList list, </a:t>
            </a:r>
            <a:r>
              <a:rPr sz="2400" b="1" spc="-5" dirty="0">
                <a:latin typeface="Times New Roman"/>
                <a:cs typeface="Times New Roman"/>
              </a:rPr>
              <a:t>float </a:t>
            </a:r>
            <a:r>
              <a:rPr sz="2400" spc="-30" dirty="0">
                <a:latin typeface="Times New Roman"/>
                <a:cs typeface="Times New Roman"/>
              </a:rPr>
              <a:t>initValue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 </a:t>
            </a:r>
            <a:r>
              <a:rPr sz="2400" spc="-25" dirty="0">
                <a:latin typeface="Times New Roman"/>
                <a:cs typeface="Times New Roman"/>
              </a:rPr>
              <a:t>defatultValue);</a:t>
            </a:r>
            <a:endParaRPr sz="2400">
              <a:latin typeface="Times New Roman"/>
              <a:cs typeface="Times New Roman"/>
            </a:endParaRPr>
          </a:p>
          <a:p>
            <a:pPr marL="354965" marR="53340">
              <a:lnSpc>
                <a:spcPct val="80000"/>
              </a:lnSpc>
              <a:spcBef>
                <a:spcPts val="20"/>
              </a:spcBef>
              <a:tabLst>
                <a:tab pos="2298700" algn="l"/>
                <a:tab pos="3904615" algn="l"/>
              </a:tabLst>
            </a:pPr>
            <a:r>
              <a:rPr sz="2400" dirty="0">
                <a:latin typeface="Times New Roman"/>
                <a:cs typeface="Times New Roman"/>
              </a:rPr>
              <a:t>/* The constructor </a:t>
            </a:r>
            <a:r>
              <a:rPr sz="2400" spc="-5" dirty="0">
                <a:latin typeface="Times New Roman"/>
                <a:cs typeface="Times New Roman"/>
              </a:rPr>
              <a:t>GeneralArray </a:t>
            </a:r>
            <a:r>
              <a:rPr sz="2400" dirty="0">
                <a:latin typeface="Times New Roman"/>
                <a:cs typeface="Times New Roman"/>
              </a:rPr>
              <a:t>creates a j dimensional  array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floats;	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range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	the kth dimension is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given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  the kth element of list. </a:t>
            </a:r>
            <a:r>
              <a:rPr sz="2400" spc="-5" dirty="0">
                <a:latin typeface="Times New Roman"/>
                <a:cs typeface="Times New Roman"/>
              </a:rPr>
              <a:t>For </a:t>
            </a:r>
            <a:r>
              <a:rPr sz="2400" dirty="0">
                <a:latin typeface="Times New Roman"/>
                <a:cs typeface="Times New Roman"/>
              </a:rPr>
              <a:t>each index i in the index </a:t>
            </a:r>
            <a:r>
              <a:rPr sz="2400" spc="-5" dirty="0">
                <a:latin typeface="Times New Roman"/>
                <a:cs typeface="Times New Roman"/>
              </a:rPr>
              <a:t>set,  </a:t>
            </a:r>
            <a:r>
              <a:rPr sz="2400" dirty="0">
                <a:latin typeface="Times New Roman"/>
                <a:cs typeface="Times New Roman"/>
              </a:rPr>
              <a:t>insert &lt;i, </a:t>
            </a:r>
            <a:r>
              <a:rPr sz="2400" spc="-30" dirty="0">
                <a:latin typeface="Times New Roman"/>
                <a:cs typeface="Times New Roman"/>
              </a:rPr>
              <a:t>initValue&gt; </a:t>
            </a:r>
            <a:r>
              <a:rPr sz="2400" dirty="0">
                <a:latin typeface="Times New Roman"/>
                <a:cs typeface="Times New Roman"/>
              </a:rPr>
              <a:t>into the </a:t>
            </a:r>
            <a:r>
              <a:rPr sz="2400" spc="-30" dirty="0">
                <a:latin typeface="Times New Roman"/>
                <a:cs typeface="Times New Roman"/>
              </a:rPr>
              <a:t>array.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354965">
              <a:lnSpc>
                <a:spcPts val="2014"/>
              </a:lnSpc>
            </a:pPr>
            <a:r>
              <a:rPr sz="2400" b="1" dirty="0">
                <a:latin typeface="Times New Roman"/>
                <a:cs typeface="Times New Roman"/>
              </a:rPr>
              <a:t>float Retrieve(index</a:t>
            </a:r>
            <a:r>
              <a:rPr sz="2400" b="1" spc="-1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i)</a:t>
            </a:r>
            <a:r>
              <a:rPr sz="2400" spc="-5" dirty="0"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54965" marR="766445">
              <a:lnSpc>
                <a:spcPct val="80000"/>
              </a:lnSpc>
              <a:spcBef>
                <a:spcPts val="285"/>
              </a:spcBef>
            </a:pPr>
            <a:r>
              <a:rPr sz="2400" dirty="0">
                <a:latin typeface="Times New Roman"/>
                <a:cs typeface="Times New Roman"/>
              </a:rPr>
              <a:t>/* if </a:t>
            </a:r>
            <a:r>
              <a:rPr sz="2400" spc="-5" dirty="0">
                <a:latin typeface="Times New Roman"/>
                <a:cs typeface="Times New Roman"/>
              </a:rPr>
              <a:t>(i </a:t>
            </a:r>
            <a:r>
              <a:rPr sz="2400" dirty="0">
                <a:latin typeface="Times New Roman"/>
                <a:cs typeface="Times New Roman"/>
              </a:rPr>
              <a:t>is in the index </a:t>
            </a:r>
            <a:r>
              <a:rPr sz="2400" spc="-5" dirty="0">
                <a:latin typeface="Times New Roman"/>
                <a:cs typeface="Times New Roman"/>
              </a:rPr>
              <a:t>set of </a:t>
            </a:r>
            <a:r>
              <a:rPr sz="2400" dirty="0">
                <a:latin typeface="Times New Roman"/>
                <a:cs typeface="Times New Roman"/>
              </a:rPr>
              <a:t>the array) </a:t>
            </a:r>
            <a:r>
              <a:rPr sz="2400" spc="-5" dirty="0">
                <a:latin typeface="Times New Roman"/>
                <a:cs typeface="Times New Roman"/>
              </a:rPr>
              <a:t>return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float  </a:t>
            </a:r>
            <a:r>
              <a:rPr sz="2400" dirty="0">
                <a:latin typeface="Times New Roman"/>
                <a:cs typeface="Times New Roman"/>
              </a:rPr>
              <a:t>associated </a:t>
            </a:r>
            <a:r>
              <a:rPr sz="2400" spc="-5" dirty="0">
                <a:latin typeface="Times New Roman"/>
                <a:cs typeface="Times New Roman"/>
              </a:rPr>
              <a:t>with </a:t>
            </a:r>
            <a:r>
              <a:rPr sz="2400" dirty="0">
                <a:latin typeface="Times New Roman"/>
                <a:cs typeface="Times New Roman"/>
              </a:rPr>
              <a:t>i in the array; else </a:t>
            </a:r>
            <a:r>
              <a:rPr sz="2400" spc="-5" dirty="0">
                <a:latin typeface="Times New Roman"/>
                <a:cs typeface="Times New Roman"/>
              </a:rPr>
              <a:t>signal </a:t>
            </a:r>
            <a:r>
              <a:rPr sz="2400" dirty="0">
                <a:latin typeface="Times New Roman"/>
                <a:cs typeface="Times New Roman"/>
              </a:rPr>
              <a:t>an error </a:t>
            </a:r>
            <a:r>
              <a:rPr sz="2400" spc="-5" dirty="0">
                <a:latin typeface="Times New Roman"/>
                <a:cs typeface="Times New Roman"/>
              </a:rPr>
              <a:t>*/  </a:t>
            </a:r>
            <a:r>
              <a:rPr sz="2400" b="1" spc="-5" dirty="0">
                <a:latin typeface="Times New Roman"/>
                <a:cs typeface="Times New Roman"/>
              </a:rPr>
              <a:t>void </a:t>
            </a:r>
            <a:r>
              <a:rPr sz="2400" b="1" spc="-10" dirty="0">
                <a:latin typeface="Times New Roman"/>
                <a:cs typeface="Times New Roman"/>
              </a:rPr>
              <a:t>Store(index </a:t>
            </a:r>
            <a:r>
              <a:rPr sz="2400" b="1" spc="-5" dirty="0">
                <a:latin typeface="Times New Roman"/>
                <a:cs typeface="Times New Roman"/>
              </a:rPr>
              <a:t>i, float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x);</a:t>
            </a:r>
            <a:endParaRPr sz="2400">
              <a:latin typeface="Times New Roman"/>
              <a:cs typeface="Times New Roman"/>
            </a:endParaRPr>
          </a:p>
          <a:p>
            <a:pPr marL="354965" marR="5080">
              <a:lnSpc>
                <a:spcPct val="80000"/>
              </a:lnSpc>
            </a:pPr>
            <a:r>
              <a:rPr sz="2400" dirty="0">
                <a:latin typeface="Times New Roman"/>
                <a:cs typeface="Times New Roman"/>
              </a:rPr>
              <a:t>/* if </a:t>
            </a:r>
            <a:r>
              <a:rPr sz="2400" spc="-5" dirty="0">
                <a:latin typeface="Times New Roman"/>
                <a:cs typeface="Times New Roman"/>
              </a:rPr>
              <a:t>(i </a:t>
            </a:r>
            <a:r>
              <a:rPr sz="2400" dirty="0">
                <a:latin typeface="Times New Roman"/>
                <a:cs typeface="Times New Roman"/>
              </a:rPr>
              <a:t>is in the index </a:t>
            </a:r>
            <a:r>
              <a:rPr sz="2400" spc="-5" dirty="0">
                <a:latin typeface="Times New Roman"/>
                <a:cs typeface="Times New Roman"/>
              </a:rPr>
              <a:t>set of </a:t>
            </a:r>
            <a:r>
              <a:rPr sz="2400" dirty="0">
                <a:latin typeface="Times New Roman"/>
                <a:cs typeface="Times New Roman"/>
              </a:rPr>
              <a:t>the array) delete any pair of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 </a:t>
            </a:r>
            <a:r>
              <a:rPr sz="2400" spc="-5" dirty="0">
                <a:latin typeface="Times New Roman"/>
                <a:cs typeface="Times New Roman"/>
              </a:rPr>
              <a:t>form &lt;i, y&gt; </a:t>
            </a:r>
            <a:r>
              <a:rPr sz="2400" dirty="0">
                <a:latin typeface="Times New Roman"/>
                <a:cs typeface="Times New Roman"/>
              </a:rPr>
              <a:t>present </a:t>
            </a:r>
            <a:r>
              <a:rPr sz="2400" spc="-5" dirty="0">
                <a:latin typeface="Times New Roman"/>
                <a:cs typeface="Times New Roman"/>
              </a:rPr>
              <a:t>in the </a:t>
            </a:r>
            <a:r>
              <a:rPr sz="2400" dirty="0">
                <a:latin typeface="Times New Roman"/>
                <a:cs typeface="Times New Roman"/>
              </a:rPr>
              <a:t>array and insert the new pair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&lt;i,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5579" y="6352032"/>
            <a:ext cx="3531870" cy="669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>
              <a:lnSpc>
                <a:spcPts val="2590"/>
              </a:lnSpc>
            </a:pPr>
            <a:r>
              <a:rPr sz="2400" dirty="0">
                <a:latin typeface="Times New Roman"/>
                <a:cs typeface="Times New Roman"/>
              </a:rPr>
              <a:t>x&gt;; else </a:t>
            </a:r>
            <a:r>
              <a:rPr sz="2400" spc="-5" dirty="0">
                <a:latin typeface="Times New Roman"/>
                <a:cs typeface="Times New Roman"/>
              </a:rPr>
              <a:t>signal </a:t>
            </a:r>
            <a:r>
              <a:rPr sz="2400" dirty="0">
                <a:latin typeface="Times New Roman"/>
                <a:cs typeface="Times New Roman"/>
              </a:rPr>
              <a:t>an </a:t>
            </a:r>
            <a:r>
              <a:rPr sz="2400" spc="-25" dirty="0">
                <a:latin typeface="Times New Roman"/>
                <a:cs typeface="Times New Roman"/>
              </a:rPr>
              <a:t>error.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*/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90"/>
              </a:lnSpc>
            </a:pPr>
            <a:r>
              <a:rPr sz="2400" spc="-5" dirty="0">
                <a:latin typeface="Times New Roman"/>
                <a:cs typeface="Times New Roman"/>
              </a:rPr>
              <a:t>}; </a:t>
            </a:r>
            <a:r>
              <a:rPr sz="2400" dirty="0">
                <a:latin typeface="Times New Roman"/>
                <a:cs typeface="Times New Roman"/>
              </a:rPr>
              <a:t>// end </a:t>
            </a:r>
            <a:r>
              <a:rPr sz="2400" spc="-5" dirty="0">
                <a:latin typeface="Times New Roman"/>
                <a:cs typeface="Times New Roman"/>
              </a:rPr>
              <a:t>of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GeneralArray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Ordered</a:t>
            </a:r>
            <a:r>
              <a:rPr spc="-85" dirty="0"/>
              <a:t> </a:t>
            </a:r>
            <a:r>
              <a:rPr spc="-5" dirty="0"/>
              <a:t>List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27047" y="2366264"/>
            <a:ext cx="7369175" cy="35102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Ordered (linear)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list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(item</a:t>
            </a:r>
            <a:r>
              <a:rPr sz="2400" spc="-7" baseline="-20833" dirty="0"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, item</a:t>
            </a:r>
            <a:r>
              <a:rPr sz="2400" spc="-7" baseline="-20833" dirty="0">
                <a:latin typeface="Arial"/>
                <a:cs typeface="Arial"/>
              </a:rPr>
              <a:t>2</a:t>
            </a:r>
            <a:r>
              <a:rPr sz="2400" spc="-5" dirty="0">
                <a:latin typeface="Arial"/>
                <a:cs typeface="Arial"/>
              </a:rPr>
              <a:t>, item</a:t>
            </a:r>
            <a:r>
              <a:rPr sz="2400" spc="-7" baseline="-20833" dirty="0">
                <a:latin typeface="Arial"/>
                <a:cs typeface="Arial"/>
              </a:rPr>
              <a:t>3</a:t>
            </a:r>
            <a:r>
              <a:rPr sz="2400" spc="-5" dirty="0">
                <a:latin typeface="Arial"/>
                <a:cs typeface="Arial"/>
              </a:rPr>
              <a:t>, …,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item</a:t>
            </a:r>
            <a:r>
              <a:rPr sz="2400" spc="-7" baseline="-20833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Examples:</a:t>
            </a:r>
            <a:endParaRPr sz="2800">
              <a:latin typeface="Arial"/>
              <a:cs typeface="Arial"/>
            </a:endParaRPr>
          </a:p>
          <a:p>
            <a:pPr marL="755650" marR="71755" lvl="1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(MONDAY, TUEDSAY, WEDNESDAY,  THURSDAY, FRIDAY, SATURDAYY,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SUNDAY)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(2, 3, 4, 5, 6, 7, 8, 9, 10, Jack, Queen, King,</a:t>
            </a:r>
            <a:r>
              <a:rPr sz="2400" spc="2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Ace)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(1941, 1942, 1943, 1944,</a:t>
            </a:r>
            <a:r>
              <a:rPr sz="2400" spc="2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1945)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(a</a:t>
            </a:r>
            <a:r>
              <a:rPr sz="1600" spc="-5" dirty="0"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, a</a:t>
            </a:r>
            <a:r>
              <a:rPr sz="1600" spc="-5" dirty="0">
                <a:latin typeface="Arial"/>
                <a:cs typeface="Arial"/>
              </a:rPr>
              <a:t>2</a:t>
            </a:r>
            <a:r>
              <a:rPr sz="2400" spc="-5" dirty="0">
                <a:latin typeface="Arial"/>
                <a:cs typeface="Arial"/>
              </a:rPr>
              <a:t>, a</a:t>
            </a:r>
            <a:r>
              <a:rPr sz="1600" spc="-5" dirty="0">
                <a:latin typeface="Arial"/>
                <a:cs typeface="Arial"/>
              </a:rPr>
              <a:t>3</a:t>
            </a:r>
            <a:r>
              <a:rPr sz="2400" spc="-5" dirty="0">
                <a:latin typeface="Arial"/>
                <a:cs typeface="Arial"/>
              </a:rPr>
              <a:t>, …, a</a:t>
            </a:r>
            <a:r>
              <a:rPr sz="1600" spc="-5" dirty="0">
                <a:latin typeface="Arial"/>
                <a:cs typeface="Arial"/>
              </a:rPr>
              <a:t>n-1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spc="1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1600" spc="-5" dirty="0">
                <a:latin typeface="Arial"/>
                <a:cs typeface="Arial"/>
              </a:rPr>
              <a:t>n</a:t>
            </a:r>
            <a:r>
              <a:rPr sz="2400" spc="-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ts val="1515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Operations on Ordered</a:t>
            </a:r>
            <a:r>
              <a:rPr spc="-35" dirty="0"/>
              <a:t> </a:t>
            </a:r>
            <a:r>
              <a:rPr spc="-5" dirty="0"/>
              <a:t>List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7047" y="2330958"/>
            <a:ext cx="7587615" cy="3703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Find the length, n, of 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list.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lr>
                <a:srgbClr val="009ACC"/>
              </a:buClr>
              <a:buSzPct val="68750"/>
              <a:buChar char="■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Read the items from left to right (or right to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left).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lr>
                <a:srgbClr val="009ACC"/>
              </a:buClr>
              <a:buSzPct val="68750"/>
              <a:buChar char="■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Retrieve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i-th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element.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lr>
                <a:srgbClr val="009ACC"/>
              </a:buClr>
              <a:buSzPct val="68750"/>
              <a:buChar char="■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Store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new value into the i-th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position.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2590"/>
              </a:lnSpc>
              <a:spcBef>
                <a:spcPts val="615"/>
              </a:spcBef>
              <a:buClr>
                <a:srgbClr val="009ACC"/>
              </a:buClr>
              <a:buSzPct val="68750"/>
              <a:buChar char="■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Insert </a:t>
            </a:r>
            <a:r>
              <a:rPr sz="2400" dirty="0">
                <a:latin typeface="Arial"/>
                <a:cs typeface="Arial"/>
              </a:rPr>
              <a:t>a </a:t>
            </a:r>
            <a:r>
              <a:rPr sz="2400" spc="-5" dirty="0">
                <a:latin typeface="Arial"/>
                <a:cs typeface="Arial"/>
              </a:rPr>
              <a:t>new element at the position </a:t>
            </a:r>
            <a:r>
              <a:rPr sz="2400" dirty="0">
                <a:latin typeface="Arial"/>
                <a:cs typeface="Arial"/>
              </a:rPr>
              <a:t>i , </a:t>
            </a:r>
            <a:r>
              <a:rPr sz="2400" spc="-5" dirty="0">
                <a:latin typeface="Arial"/>
                <a:cs typeface="Arial"/>
              </a:rPr>
              <a:t>causing  elements numbered i, I+1, …, </a:t>
            </a:r>
            <a:r>
              <a:rPr sz="2400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to become numbered  i+1, i+2, …,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n+1</a:t>
            </a:r>
            <a:endParaRPr sz="2400">
              <a:latin typeface="Arial"/>
              <a:cs typeface="Arial"/>
            </a:endParaRPr>
          </a:p>
          <a:p>
            <a:pPr marL="355600" marR="277495" indent="-342900">
              <a:lnSpc>
                <a:spcPts val="2590"/>
              </a:lnSpc>
              <a:spcBef>
                <a:spcPts val="575"/>
              </a:spcBef>
              <a:buClr>
                <a:srgbClr val="009ACC"/>
              </a:buClr>
              <a:buSzPct val="68750"/>
              <a:buChar char="■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Delete the element at position </a:t>
            </a:r>
            <a:r>
              <a:rPr sz="2400" dirty="0">
                <a:latin typeface="Arial"/>
                <a:cs typeface="Arial"/>
              </a:rPr>
              <a:t>i , </a:t>
            </a:r>
            <a:r>
              <a:rPr sz="2400" spc="-5" dirty="0">
                <a:latin typeface="Arial"/>
                <a:cs typeface="Arial"/>
              </a:rPr>
              <a:t>causing elements  numbered i+1, …, </a:t>
            </a:r>
            <a:r>
              <a:rPr sz="2400" dirty="0">
                <a:latin typeface="Arial"/>
                <a:cs typeface="Arial"/>
              </a:rPr>
              <a:t>n </a:t>
            </a:r>
            <a:r>
              <a:rPr sz="2400" spc="-5" dirty="0">
                <a:latin typeface="Arial"/>
                <a:cs typeface="Arial"/>
              </a:rPr>
              <a:t>to become numbered </a:t>
            </a:r>
            <a:r>
              <a:rPr sz="2400" dirty="0">
                <a:latin typeface="Arial"/>
                <a:cs typeface="Arial"/>
              </a:rPr>
              <a:t>i, </a:t>
            </a:r>
            <a:r>
              <a:rPr sz="2400" spc="-5" dirty="0">
                <a:latin typeface="Arial"/>
                <a:cs typeface="Arial"/>
              </a:rPr>
              <a:t>i+1, …,  n-1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ts val="1515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Implementation on Ordered</a:t>
            </a:r>
            <a:r>
              <a:rPr spc="-45" dirty="0"/>
              <a:t> </a:t>
            </a:r>
            <a:r>
              <a:rPr spc="-5" dirty="0"/>
              <a:t>List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3777996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27047" y="2280920"/>
            <a:ext cx="7538084" cy="3803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Implemeting ordered list by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array</a:t>
            </a:r>
            <a:endParaRPr sz="280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  <a:spcBef>
                <a:spcPts val="10"/>
              </a:spcBef>
            </a:pPr>
            <a:r>
              <a:rPr sz="2400" spc="-5" dirty="0">
                <a:latin typeface="Arial"/>
                <a:cs typeface="Arial"/>
              </a:rPr>
              <a:t>Sequential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mapping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tabLst>
                <a:tab pos="838200" algn="l"/>
              </a:tabLst>
            </a:pPr>
            <a:r>
              <a:rPr sz="2400" dirty="0">
                <a:latin typeface="Arial"/>
                <a:cs typeface="Arial"/>
              </a:rPr>
              <a:t>–	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(1)~(4)</a:t>
            </a:r>
            <a:r>
              <a:rPr sz="2400" spc="-8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875"/>
              </a:lnSpc>
              <a:tabLst>
                <a:tab pos="838200" algn="l"/>
              </a:tabLst>
            </a:pPr>
            <a:r>
              <a:rPr sz="2400" dirty="0">
                <a:latin typeface="Arial"/>
                <a:cs typeface="Arial"/>
              </a:rPr>
              <a:t>–	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(5)~(6)</a:t>
            </a:r>
            <a:r>
              <a:rPr sz="2400" spc="-8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355600" marR="202565" indent="-342900">
              <a:lnSpc>
                <a:spcPct val="80000"/>
              </a:lnSpc>
              <a:spcBef>
                <a:spcPts val="665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Performing operations 5 and 6 requires data  movement</a:t>
            </a:r>
            <a:endParaRPr sz="2800">
              <a:latin typeface="Arial"/>
              <a:cs typeface="Arial"/>
            </a:endParaRPr>
          </a:p>
          <a:p>
            <a:pPr marL="755650" lvl="1" indent="-285750">
              <a:lnSpc>
                <a:spcPts val="2875"/>
              </a:lnSpc>
              <a:spcBef>
                <a:spcPts val="1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Costly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80000"/>
              </a:lnSpc>
              <a:spcBef>
                <a:spcPts val="665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This overhead motivates us to consider non-  sequential mapping of order lists in Chapter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4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1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Linked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list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549025" y="5897879"/>
          <a:ext cx="395439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748"/>
                <a:gridCol w="658749"/>
                <a:gridCol w="660260"/>
                <a:gridCol w="658761"/>
                <a:gridCol w="659130"/>
                <a:gridCol w="658748"/>
              </a:tblGrid>
              <a:tr h="518160"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192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list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192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ts val="1515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Polynomial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27047" y="2364994"/>
            <a:ext cx="7423784" cy="373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Example:</a:t>
            </a:r>
            <a:endParaRPr sz="3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80"/>
              </a:spcBef>
            </a:pPr>
            <a:r>
              <a:rPr sz="2800" dirty="0">
                <a:latin typeface="Arial"/>
                <a:cs typeface="Arial"/>
              </a:rPr>
              <a:t>– A(X)=3X</a:t>
            </a:r>
            <a:r>
              <a:rPr sz="2775" baseline="25525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+2X+4,</a:t>
            </a:r>
            <a:r>
              <a:rPr sz="2800" spc="-1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B(X)=X</a:t>
            </a:r>
            <a:r>
              <a:rPr sz="2775" baseline="25525" dirty="0">
                <a:latin typeface="Arial"/>
                <a:cs typeface="Arial"/>
              </a:rPr>
              <a:t>4</a:t>
            </a:r>
            <a:r>
              <a:rPr sz="2800" dirty="0">
                <a:latin typeface="Arial"/>
                <a:cs typeface="Arial"/>
              </a:rPr>
              <a:t>+10X</a:t>
            </a:r>
            <a:r>
              <a:rPr sz="2775" baseline="25525" dirty="0">
                <a:latin typeface="Arial"/>
                <a:cs typeface="Arial"/>
              </a:rPr>
              <a:t>3</a:t>
            </a:r>
            <a:r>
              <a:rPr sz="2800" dirty="0">
                <a:latin typeface="Arial"/>
                <a:cs typeface="Arial"/>
              </a:rPr>
              <a:t>+3X</a:t>
            </a:r>
            <a:r>
              <a:rPr sz="2775" baseline="25525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+1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5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The </a:t>
            </a:r>
            <a:r>
              <a:rPr sz="3200" spc="-10" dirty="0">
                <a:latin typeface="Arial"/>
                <a:cs typeface="Arial"/>
              </a:rPr>
              <a:t>largest exponent </a:t>
            </a:r>
            <a:r>
              <a:rPr sz="3200" spc="-5" dirty="0">
                <a:latin typeface="Arial"/>
                <a:cs typeface="Arial"/>
              </a:rPr>
              <a:t>of a </a:t>
            </a:r>
            <a:r>
              <a:rPr sz="3200" spc="-10" dirty="0">
                <a:latin typeface="Arial"/>
                <a:cs typeface="Arial"/>
              </a:rPr>
              <a:t>polynomial is  </a:t>
            </a:r>
            <a:r>
              <a:rPr sz="3200" spc="-5" dirty="0">
                <a:latin typeface="Arial"/>
                <a:cs typeface="Arial"/>
              </a:rPr>
              <a:t>called is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degree</a:t>
            </a:r>
            <a:endParaRPr sz="3200">
              <a:latin typeface="Arial"/>
              <a:cs typeface="Arial"/>
            </a:endParaRPr>
          </a:p>
          <a:p>
            <a:pPr marL="355600" marR="428625" indent="-342900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A </a:t>
            </a:r>
            <a:r>
              <a:rPr sz="3200" spc="-10" dirty="0">
                <a:latin typeface="Arial"/>
                <a:cs typeface="Arial"/>
              </a:rPr>
              <a:t>polynomial </a:t>
            </a:r>
            <a:r>
              <a:rPr sz="3200" spc="-5" dirty="0">
                <a:latin typeface="Arial"/>
                <a:cs typeface="Arial"/>
              </a:rPr>
              <a:t>is called </a:t>
            </a: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sparse </a:t>
            </a:r>
            <a:r>
              <a:rPr sz="3200" spc="-5" dirty="0">
                <a:latin typeface="Arial"/>
                <a:cs typeface="Arial"/>
              </a:rPr>
              <a:t>when </a:t>
            </a:r>
            <a:r>
              <a:rPr sz="3200" spc="-10" dirty="0">
                <a:latin typeface="Arial"/>
                <a:cs typeface="Arial"/>
              </a:rPr>
              <a:t>it  </a:t>
            </a:r>
            <a:r>
              <a:rPr sz="3200" spc="-5" dirty="0">
                <a:latin typeface="Arial"/>
                <a:cs typeface="Arial"/>
              </a:rPr>
              <a:t>has many zero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terms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Implement polynomials </a:t>
            </a:r>
            <a:r>
              <a:rPr sz="3200" spc="-5" dirty="0">
                <a:latin typeface="Arial"/>
                <a:cs typeface="Arial"/>
              </a:rPr>
              <a:t>by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arrays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4460">
              <a:lnSpc>
                <a:spcPts val="1515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0367" y="515619"/>
            <a:ext cx="1942464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10" dirty="0">
                <a:latin typeface="Arial"/>
                <a:cs typeface="Arial"/>
              </a:rPr>
              <a:t>class</a:t>
            </a:r>
            <a:r>
              <a:rPr sz="2000" b="1" spc="-5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polynomial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{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38515" y="1275079"/>
            <a:ext cx="38671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26390" algn="l"/>
              </a:tabLst>
            </a:pPr>
            <a:r>
              <a:rPr sz="1300" i="1" spc="5" dirty="0">
                <a:latin typeface="Times New Roman"/>
                <a:cs typeface="Times New Roman"/>
              </a:rPr>
              <a:t>i	i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30913" y="1123696"/>
            <a:ext cx="3542665" cy="316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a set of ordered pairs of &lt;</a:t>
            </a:r>
            <a:r>
              <a:rPr sz="2000" i="1" spc="-5" dirty="0">
                <a:latin typeface="Times New Roman"/>
                <a:cs typeface="Times New Roman"/>
              </a:rPr>
              <a:t>e </a:t>
            </a:r>
            <a:r>
              <a:rPr sz="2000" spc="-5" dirty="0">
                <a:latin typeface="Arial"/>
                <a:cs typeface="Arial"/>
              </a:rPr>
              <a:t>,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2000" i="1" spc="-3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&gt;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20367" y="1128267"/>
            <a:ext cx="3304540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114425" algn="l"/>
              </a:tabLst>
            </a:pPr>
            <a:r>
              <a:rPr sz="3000" b="1" spc="-15" baseline="1388" dirty="0">
                <a:latin typeface="Arial"/>
                <a:cs typeface="Arial"/>
              </a:rPr>
              <a:t>ob</a:t>
            </a:r>
            <a:r>
              <a:rPr sz="3000" b="1" spc="-7" baseline="1388" dirty="0">
                <a:latin typeface="Arial"/>
                <a:cs typeface="Arial"/>
              </a:rPr>
              <a:t>j</a:t>
            </a:r>
            <a:r>
              <a:rPr sz="3000" b="1" spc="-15" baseline="1388" dirty="0">
                <a:latin typeface="Arial"/>
                <a:cs typeface="Arial"/>
              </a:rPr>
              <a:t>ec</a:t>
            </a:r>
            <a:r>
              <a:rPr sz="3000" b="1" spc="-7" baseline="1388" dirty="0">
                <a:latin typeface="Arial"/>
                <a:cs typeface="Arial"/>
              </a:rPr>
              <a:t>t</a:t>
            </a:r>
            <a:r>
              <a:rPr sz="3000" b="1" spc="-15" baseline="1388" dirty="0">
                <a:latin typeface="Arial"/>
                <a:cs typeface="Arial"/>
              </a:rPr>
              <a:t>s</a:t>
            </a:r>
            <a:r>
              <a:rPr sz="3000" b="1" spc="-7" baseline="1388" dirty="0">
                <a:latin typeface="Arial"/>
                <a:cs typeface="Arial"/>
              </a:rPr>
              <a:t>:</a:t>
            </a:r>
            <a:r>
              <a:rPr sz="3000" b="1" baseline="1388" dirty="0">
                <a:latin typeface="Arial"/>
                <a:cs typeface="Arial"/>
              </a:rPr>
              <a:t>	</a:t>
            </a:r>
            <a:r>
              <a:rPr sz="1850" i="1" spc="70" dirty="0">
                <a:latin typeface="Times New Roman"/>
                <a:cs typeface="Times New Roman"/>
              </a:rPr>
              <a:t>p</a:t>
            </a:r>
            <a:r>
              <a:rPr sz="1850" spc="10" dirty="0">
                <a:latin typeface="Times New Roman"/>
                <a:cs typeface="Times New Roman"/>
              </a:rPr>
              <a:t>(</a:t>
            </a:r>
            <a:r>
              <a:rPr sz="1850" spc="-285" dirty="0">
                <a:latin typeface="Times New Roman"/>
                <a:cs typeface="Times New Roman"/>
              </a:rPr>
              <a:t> </a:t>
            </a:r>
            <a:r>
              <a:rPr sz="1850" i="1" spc="100" dirty="0">
                <a:latin typeface="Times New Roman"/>
                <a:cs typeface="Times New Roman"/>
              </a:rPr>
              <a:t>x</a:t>
            </a:r>
            <a:r>
              <a:rPr sz="1850" spc="10" dirty="0">
                <a:latin typeface="Times New Roman"/>
                <a:cs typeface="Times New Roman"/>
              </a:rPr>
              <a:t>)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Symbol"/>
                <a:cs typeface="Symbol"/>
              </a:rPr>
              <a:t>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spc="15" dirty="0">
                <a:latin typeface="Times New Roman"/>
                <a:cs typeface="Times New Roman"/>
              </a:rPr>
              <a:t>a</a:t>
            </a:r>
            <a:r>
              <a:rPr sz="1850" i="1" spc="105" dirty="0">
                <a:latin typeface="Times New Roman"/>
                <a:cs typeface="Times New Roman"/>
              </a:rPr>
              <a:t> </a:t>
            </a:r>
            <a:r>
              <a:rPr sz="1850" i="1" spc="125" dirty="0">
                <a:latin typeface="Times New Roman"/>
                <a:cs typeface="Times New Roman"/>
              </a:rPr>
              <a:t>x</a:t>
            </a:r>
            <a:r>
              <a:rPr sz="1650" i="1" spc="-127" baseline="42929" dirty="0">
                <a:latin typeface="Times New Roman"/>
                <a:cs typeface="Times New Roman"/>
              </a:rPr>
              <a:t>e</a:t>
            </a:r>
            <a:r>
              <a:rPr sz="1125" spc="22" baseline="44444" dirty="0">
                <a:latin typeface="Times New Roman"/>
                <a:cs typeface="Times New Roman"/>
              </a:rPr>
              <a:t>1</a:t>
            </a:r>
            <a:r>
              <a:rPr sz="1125" spc="75" baseline="44444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Symbol"/>
                <a:cs typeface="Symbol"/>
              </a:rPr>
              <a:t>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...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Symbol"/>
                <a:cs typeface="Symbol"/>
              </a:rPr>
              <a:t>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i="1" spc="15" dirty="0">
                <a:latin typeface="Times New Roman"/>
                <a:cs typeface="Times New Roman"/>
              </a:rPr>
              <a:t>a</a:t>
            </a:r>
            <a:r>
              <a:rPr sz="1850" i="1" dirty="0">
                <a:latin typeface="Times New Roman"/>
                <a:cs typeface="Times New Roman"/>
              </a:rPr>
              <a:t> </a:t>
            </a:r>
            <a:r>
              <a:rPr sz="1850" i="1" spc="-150" dirty="0">
                <a:latin typeface="Times New Roman"/>
                <a:cs typeface="Times New Roman"/>
              </a:rPr>
              <a:t> </a:t>
            </a:r>
            <a:r>
              <a:rPr sz="1850" i="1" spc="125" dirty="0">
                <a:latin typeface="Times New Roman"/>
                <a:cs typeface="Times New Roman"/>
              </a:rPr>
              <a:t>x</a:t>
            </a:r>
            <a:r>
              <a:rPr sz="1650" i="1" spc="-22" baseline="42929" dirty="0">
                <a:latin typeface="Times New Roman"/>
                <a:cs typeface="Times New Roman"/>
              </a:rPr>
              <a:t>e</a:t>
            </a:r>
            <a:r>
              <a:rPr sz="1125" i="1" spc="22" baseline="44444" dirty="0">
                <a:latin typeface="Times New Roman"/>
                <a:cs typeface="Times New Roman"/>
              </a:rPr>
              <a:t>n</a:t>
            </a:r>
            <a:endParaRPr sz="1125" baseline="44444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07078" y="1302003"/>
            <a:ext cx="1160145" cy="179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076960" algn="l"/>
              </a:tabLst>
            </a:pPr>
            <a:r>
              <a:rPr sz="1100" dirty="0">
                <a:latin typeface="Times New Roman"/>
                <a:cs typeface="Times New Roman"/>
              </a:rPr>
              <a:t>1	</a:t>
            </a:r>
            <a:r>
              <a:rPr sz="1100" i="1" dirty="0">
                <a:latin typeface="Times New Roman"/>
                <a:cs typeface="Times New Roman"/>
              </a:rPr>
              <a:t>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4839" y="2920745"/>
            <a:ext cx="824484" cy="3429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20367" y="1415288"/>
            <a:ext cx="6534784" cy="4962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00"/>
              </a:lnSpc>
            </a:pPr>
            <a:r>
              <a:rPr sz="2000" spc="-5" dirty="0">
                <a:latin typeface="Arial"/>
                <a:cs typeface="Arial"/>
              </a:rPr>
              <a:t>where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1950" i="1" baseline="-21367" dirty="0">
                <a:latin typeface="Times New Roman"/>
                <a:cs typeface="Times New Roman"/>
              </a:rPr>
              <a:t>i </a:t>
            </a:r>
            <a:r>
              <a:rPr sz="2100" i="1" spc="-15" dirty="0">
                <a:latin typeface="Symbol"/>
                <a:cs typeface="Symbol"/>
              </a:rPr>
              <a:t></a:t>
            </a:r>
            <a:r>
              <a:rPr sz="2000" i="1" spc="-15" dirty="0">
                <a:latin typeface="Arial"/>
                <a:cs typeface="Arial"/>
              </a:rPr>
              <a:t>Coefficient </a:t>
            </a:r>
            <a:r>
              <a:rPr sz="2000" i="1" spc="-5" dirty="0">
                <a:latin typeface="Arial"/>
                <a:cs typeface="Arial"/>
              </a:rPr>
              <a:t>and </a:t>
            </a:r>
            <a:r>
              <a:rPr sz="2000" i="1" dirty="0">
                <a:latin typeface="Times New Roman"/>
                <a:cs typeface="Times New Roman"/>
              </a:rPr>
              <a:t>e</a:t>
            </a:r>
            <a:r>
              <a:rPr sz="1950" i="1" baseline="-21367" dirty="0">
                <a:latin typeface="Times New Roman"/>
                <a:cs typeface="Times New Roman"/>
              </a:rPr>
              <a:t>i </a:t>
            </a:r>
            <a:r>
              <a:rPr sz="2500" i="1" spc="-75" dirty="0">
                <a:latin typeface="Symbol"/>
                <a:cs typeface="Symbol"/>
              </a:rPr>
              <a:t></a:t>
            </a:r>
            <a:r>
              <a:rPr sz="2500" i="1" spc="-229" dirty="0">
                <a:latin typeface="Times New Roman"/>
                <a:cs typeface="Times New Roman"/>
              </a:rPr>
              <a:t> </a:t>
            </a:r>
            <a:r>
              <a:rPr sz="2000" i="1" spc="-10" dirty="0">
                <a:latin typeface="Arial"/>
                <a:cs typeface="Arial"/>
              </a:rPr>
              <a:t>Exponent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400"/>
              </a:lnSpc>
            </a:pPr>
            <a:r>
              <a:rPr sz="2000" spc="-25" dirty="0">
                <a:latin typeface="Arial"/>
                <a:cs typeface="Arial"/>
              </a:rPr>
              <a:t>We </a:t>
            </a:r>
            <a:r>
              <a:rPr sz="2000" spc="-10" dirty="0">
                <a:latin typeface="Arial"/>
                <a:cs typeface="Arial"/>
              </a:rPr>
              <a:t>assume </a:t>
            </a:r>
            <a:r>
              <a:rPr sz="2000" spc="-5" dirty="0">
                <a:latin typeface="Arial"/>
                <a:cs typeface="Arial"/>
              </a:rPr>
              <a:t>that Exponent consists of integers ≥</a:t>
            </a:r>
            <a:r>
              <a:rPr sz="2000" spc="3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public</a:t>
            </a:r>
            <a:r>
              <a:rPr sz="2000" spc="-5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sz="2000" spc="-10" dirty="0">
                <a:latin typeface="Arial"/>
                <a:cs typeface="Arial"/>
              </a:rPr>
              <a:t>Polynomial();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// return the polynomial p(x) =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0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int</a:t>
            </a:r>
            <a:r>
              <a:rPr sz="2000" b="1" spc="-6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operator!</a:t>
            </a:r>
            <a:r>
              <a:rPr sz="2000" spc="-5" dirty="0">
                <a:latin typeface="Arial"/>
                <a:cs typeface="Arial"/>
              </a:rPr>
              <a:t>();</a:t>
            </a:r>
            <a:endParaRPr sz="2000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// </a:t>
            </a:r>
            <a:r>
              <a:rPr sz="2000" b="1" spc="-5" dirty="0">
                <a:latin typeface="Arial"/>
                <a:cs typeface="Arial"/>
              </a:rPr>
              <a:t>if </a:t>
            </a:r>
            <a:r>
              <a:rPr sz="2000" spc="-5" dirty="0">
                <a:latin typeface="Arial"/>
                <a:cs typeface="Arial"/>
              </a:rPr>
              <a:t>*</a:t>
            </a:r>
            <a:r>
              <a:rPr sz="2000" b="1" spc="-5" dirty="0">
                <a:latin typeface="Arial"/>
                <a:cs typeface="Arial"/>
              </a:rPr>
              <a:t>this </a:t>
            </a:r>
            <a:r>
              <a:rPr sz="2000" spc="-5" dirty="0">
                <a:latin typeface="Arial"/>
                <a:cs typeface="Arial"/>
              </a:rPr>
              <a:t>is the zero </a:t>
            </a:r>
            <a:r>
              <a:rPr sz="2000" spc="-10" dirty="0">
                <a:latin typeface="Arial"/>
                <a:cs typeface="Arial"/>
              </a:rPr>
              <a:t>polynomial, </a:t>
            </a:r>
            <a:r>
              <a:rPr sz="2000" spc="-5" dirty="0">
                <a:latin typeface="Arial"/>
                <a:cs typeface="Arial"/>
              </a:rPr>
              <a:t>return 1; </a:t>
            </a:r>
            <a:r>
              <a:rPr sz="2000" b="1" spc="-5" dirty="0">
                <a:latin typeface="Arial"/>
                <a:cs typeface="Arial"/>
              </a:rPr>
              <a:t>else </a:t>
            </a:r>
            <a:r>
              <a:rPr sz="2000" spc="-5" dirty="0">
                <a:latin typeface="Arial"/>
                <a:cs typeface="Arial"/>
              </a:rPr>
              <a:t>return </a:t>
            </a:r>
            <a:r>
              <a:rPr sz="2000" spc="-10" dirty="0">
                <a:latin typeface="Arial"/>
                <a:cs typeface="Arial"/>
              </a:rPr>
              <a:t>0;  Coefficient Coef(Exponent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e);</a:t>
            </a:r>
            <a:endParaRPr sz="2000">
              <a:latin typeface="Arial"/>
              <a:cs typeface="Arial"/>
            </a:endParaRPr>
          </a:p>
          <a:p>
            <a:pPr marL="355600" marR="228854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// return the coefficient of e in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b="1" dirty="0">
                <a:latin typeface="Arial"/>
                <a:cs typeface="Arial"/>
              </a:rPr>
              <a:t>this  </a:t>
            </a:r>
            <a:r>
              <a:rPr sz="2000" spc="-10" dirty="0">
                <a:latin typeface="Arial"/>
                <a:cs typeface="Arial"/>
              </a:rPr>
              <a:t>Exponent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LeadExp();</a:t>
            </a:r>
            <a:endParaRPr sz="2000">
              <a:latin typeface="Arial"/>
              <a:cs typeface="Arial"/>
            </a:endParaRPr>
          </a:p>
          <a:p>
            <a:pPr marL="355600" marR="2042795" indent="-635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// return the largest exponent in *</a:t>
            </a:r>
            <a:r>
              <a:rPr sz="2000" b="1" spc="-5" dirty="0">
                <a:latin typeface="Arial"/>
                <a:cs typeface="Arial"/>
              </a:rPr>
              <a:t>this  </a:t>
            </a:r>
            <a:r>
              <a:rPr sz="2000" spc="-5" dirty="0">
                <a:latin typeface="Arial"/>
                <a:cs typeface="Arial"/>
              </a:rPr>
              <a:t>Polynomial Add(Polynomial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poly);</a:t>
            </a:r>
            <a:endParaRPr sz="2000">
              <a:latin typeface="Arial"/>
              <a:cs typeface="Arial"/>
            </a:endParaRPr>
          </a:p>
          <a:p>
            <a:pPr marL="355600" marR="494665">
              <a:lnSpc>
                <a:spcPct val="100000"/>
              </a:lnSpc>
              <a:tabLst>
                <a:tab pos="5566410" algn="l"/>
              </a:tabLst>
            </a:pPr>
            <a:r>
              <a:rPr sz="2000" spc="-5" dirty="0">
                <a:latin typeface="Arial"/>
                <a:cs typeface="Arial"/>
              </a:rPr>
              <a:t>//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return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sum</a:t>
            </a:r>
            <a:r>
              <a:rPr sz="2000" spc="-10" dirty="0">
                <a:latin typeface="Arial"/>
                <a:cs typeface="Arial"/>
              </a:rPr>
              <a:t> o</a:t>
            </a:r>
            <a:r>
              <a:rPr sz="2000" spc="-5" dirty="0">
                <a:latin typeface="Arial"/>
                <a:cs typeface="Arial"/>
              </a:rPr>
              <a:t>f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the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polynomial</a:t>
            </a:r>
            <a:r>
              <a:rPr sz="2000" spc="-5" dirty="0">
                <a:latin typeface="Arial"/>
                <a:cs typeface="Arial"/>
              </a:rPr>
              <a:t>s</a:t>
            </a:r>
            <a:r>
              <a:rPr sz="2000" spc="2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*</a:t>
            </a:r>
            <a:r>
              <a:rPr sz="2000" b="1" spc="-5" dirty="0">
                <a:latin typeface="Arial"/>
                <a:cs typeface="Arial"/>
              </a:rPr>
              <a:t>this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an</a:t>
            </a:r>
            <a:r>
              <a:rPr sz="2000" spc="-5" dirty="0">
                <a:latin typeface="Arial"/>
                <a:cs typeface="Arial"/>
              </a:rPr>
              <a:t>d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poly  </a:t>
            </a:r>
            <a:r>
              <a:rPr sz="2000" spc="-5" dirty="0">
                <a:latin typeface="Arial"/>
                <a:cs typeface="Arial"/>
              </a:rPr>
              <a:t>Polynomial Mult(Polynomial</a:t>
            </a:r>
            <a:r>
              <a:rPr sz="2000" spc="6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poly);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// return the </a:t>
            </a:r>
            <a:r>
              <a:rPr sz="2000" spc="-10" dirty="0">
                <a:latin typeface="Arial"/>
                <a:cs typeface="Arial"/>
              </a:rPr>
              <a:t>product </a:t>
            </a:r>
            <a:r>
              <a:rPr sz="2000" spc="-5" dirty="0">
                <a:latin typeface="Arial"/>
                <a:cs typeface="Arial"/>
              </a:rPr>
              <a:t>of the </a:t>
            </a:r>
            <a:r>
              <a:rPr sz="2000" spc="-10" dirty="0">
                <a:latin typeface="Arial"/>
                <a:cs typeface="Arial"/>
              </a:rPr>
              <a:t>polynomials </a:t>
            </a:r>
            <a:r>
              <a:rPr sz="2000" spc="-5" dirty="0">
                <a:latin typeface="Arial"/>
                <a:cs typeface="Arial"/>
              </a:rPr>
              <a:t>*</a:t>
            </a:r>
            <a:r>
              <a:rPr sz="2000" b="1" spc="-5" dirty="0">
                <a:latin typeface="Arial"/>
                <a:cs typeface="Arial"/>
              </a:rPr>
              <a:t>this </a:t>
            </a:r>
            <a:r>
              <a:rPr sz="2000" spc="-5" dirty="0">
                <a:latin typeface="Arial"/>
                <a:cs typeface="Arial"/>
              </a:rPr>
              <a:t>and</a:t>
            </a:r>
            <a:r>
              <a:rPr sz="2000" spc="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poly</a:t>
            </a:r>
            <a:endParaRPr sz="20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sz="2000" b="1" spc="-5" dirty="0">
                <a:latin typeface="Arial"/>
                <a:cs typeface="Arial"/>
              </a:rPr>
              <a:t>float </a:t>
            </a:r>
            <a:r>
              <a:rPr sz="2000" spc="-5" dirty="0">
                <a:latin typeface="Arial"/>
                <a:cs typeface="Arial"/>
              </a:rPr>
              <a:t>Eval(</a:t>
            </a:r>
            <a:r>
              <a:rPr sz="2000" b="1" spc="-5" dirty="0">
                <a:latin typeface="Arial"/>
                <a:cs typeface="Arial"/>
              </a:rPr>
              <a:t>float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f);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20392" y="6367779"/>
            <a:ext cx="6651625" cy="619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4965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// Evaluate the </a:t>
            </a:r>
            <a:r>
              <a:rPr sz="2000" spc="-10" dirty="0">
                <a:latin typeface="Arial"/>
                <a:cs typeface="Arial"/>
              </a:rPr>
              <a:t>polynomial </a:t>
            </a:r>
            <a:r>
              <a:rPr sz="2000" spc="-5" dirty="0">
                <a:latin typeface="Arial"/>
                <a:cs typeface="Arial"/>
              </a:rPr>
              <a:t>*</a:t>
            </a:r>
            <a:r>
              <a:rPr sz="2000" b="1" spc="-5" dirty="0">
                <a:latin typeface="Arial"/>
                <a:cs typeface="Arial"/>
              </a:rPr>
              <a:t>this </a:t>
            </a:r>
            <a:r>
              <a:rPr sz="2000" spc="-5" dirty="0">
                <a:latin typeface="Arial"/>
                <a:cs typeface="Arial"/>
              </a:rPr>
              <a:t>at f and return the</a:t>
            </a:r>
            <a:r>
              <a:rPr sz="2000" spc="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result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Arial"/>
                <a:cs typeface="Arial"/>
              </a:rPr>
              <a:t>}; end of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Polynomial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ts val="3804"/>
              </a:lnSpc>
              <a:spcBef>
                <a:spcPts val="810"/>
              </a:spcBef>
            </a:pPr>
            <a:r>
              <a:rPr sz="3200" b="1" spc="-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1411" y="386080"/>
            <a:ext cx="21082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5" dirty="0">
                <a:solidFill>
                  <a:srgbClr val="FFFFFF"/>
                </a:solidFill>
                <a:latin typeface="Arial Narrow"/>
                <a:cs typeface="Arial Narrow"/>
              </a:rPr>
              <a:t>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Polynomial Representation #1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8967" y="2187702"/>
            <a:ext cx="14884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private: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3964" y="2553461"/>
            <a:ext cx="20358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int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degree;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2166" y="2553461"/>
            <a:ext cx="16700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degree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17156" y="2553461"/>
            <a:ext cx="20364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≤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MaxDegree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13977" y="2919221"/>
            <a:ext cx="18516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float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coef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21268" y="2919221"/>
            <a:ext cx="185356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[MaxDegree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30419" y="2919221"/>
            <a:ext cx="937894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+</a:t>
            </a:r>
            <a:r>
              <a:rPr sz="2400" b="1" spc="-12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1];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25772" y="3966209"/>
            <a:ext cx="203327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x</a:t>
            </a:r>
            <a:r>
              <a:rPr sz="2400" spc="-7" baseline="24305" dirty="0">
                <a:latin typeface="Arial"/>
                <a:cs typeface="Arial"/>
              </a:rPr>
              <a:t>4</a:t>
            </a:r>
            <a:r>
              <a:rPr sz="2400" spc="-5" dirty="0">
                <a:latin typeface="Arial"/>
                <a:cs typeface="Arial"/>
              </a:rPr>
              <a:t>+10x</a:t>
            </a:r>
            <a:r>
              <a:rPr sz="2400" spc="-7" baseline="24305" dirty="0">
                <a:latin typeface="Arial"/>
                <a:cs typeface="Arial"/>
              </a:rPr>
              <a:t>3</a:t>
            </a:r>
            <a:r>
              <a:rPr sz="2400" spc="-5" dirty="0">
                <a:latin typeface="Arial"/>
                <a:cs typeface="Arial"/>
              </a:rPr>
              <a:t>+3x</a:t>
            </a:r>
            <a:r>
              <a:rPr sz="2400" spc="-7" baseline="24305" dirty="0">
                <a:latin typeface="Arial"/>
                <a:cs typeface="Arial"/>
              </a:rPr>
              <a:t>2</a:t>
            </a:r>
            <a:r>
              <a:rPr sz="2400" spc="-5" dirty="0">
                <a:latin typeface="Arial"/>
                <a:cs typeface="Arial"/>
              </a:rPr>
              <a:t>+1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3748925" y="4772405"/>
          <a:ext cx="5435345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7374"/>
                <a:gridCol w="1085850"/>
                <a:gridCol w="1088897"/>
                <a:gridCol w="1085850"/>
                <a:gridCol w="1087374"/>
              </a:tblGrid>
              <a:tr h="518160">
                <a:tc>
                  <a:txBody>
                    <a:bodyPr/>
                    <a:lstStyle/>
                    <a:p>
                      <a:pPr marR="43053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053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4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marR="430530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165" algn="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815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/>
          <p:nvPr/>
        </p:nvSpPr>
        <p:spPr>
          <a:xfrm>
            <a:off x="774839" y="2920745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86189" y="5172835"/>
            <a:ext cx="7079615" cy="1185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CoeffArray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 dirty="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</a:pPr>
            <a:r>
              <a:rPr sz="2400" spc="-25" dirty="0">
                <a:latin typeface="Arial"/>
                <a:cs typeface="Arial"/>
              </a:rPr>
              <a:t>Waste </a:t>
            </a:r>
            <a:r>
              <a:rPr sz="2400" spc="-5" dirty="0">
                <a:latin typeface="Arial"/>
                <a:cs typeface="Arial"/>
              </a:rPr>
              <a:t>space when the degree of the polynomial</a:t>
            </a:r>
            <a:r>
              <a:rPr sz="2400" spc="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is</a:t>
            </a:r>
          </a:p>
        </p:txBody>
      </p:sp>
      <p:sp>
        <p:nvSpPr>
          <p:cNvPr id="19" name="object 19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485503" y="6638290"/>
            <a:ext cx="12446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41706" y="6668960"/>
            <a:ext cx="4177029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much smaller than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MaxDegree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Polynomial Representation #2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48967" y="2187702"/>
            <a:ext cx="14884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private: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3964" y="2553461"/>
            <a:ext cx="20358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int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degree;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92166" y="2553461"/>
            <a:ext cx="16700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</a:t>
            </a:r>
            <a:r>
              <a:rPr sz="2400" b="1" spc="-10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degree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17156" y="2553461"/>
            <a:ext cx="203644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≤</a:t>
            </a:r>
            <a:r>
              <a:rPr sz="2400" b="1" spc="-10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MaxDegree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2920745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25117" y="2919221"/>
            <a:ext cx="7861934" cy="3359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104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float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*coef;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336550">
              <a:lnSpc>
                <a:spcPct val="100000"/>
              </a:lnSpc>
            </a:pPr>
            <a:r>
              <a:rPr sz="2400" b="1" spc="-10" dirty="0">
                <a:latin typeface="Courier New"/>
                <a:cs typeface="Courier New"/>
              </a:rPr>
              <a:t>Polynomial::Polynomial(int </a:t>
            </a:r>
            <a:r>
              <a:rPr sz="2400" b="1" spc="-5" dirty="0">
                <a:latin typeface="Courier New"/>
                <a:cs typeface="Courier New"/>
              </a:rPr>
              <a:t>d)</a:t>
            </a:r>
            <a:endParaRPr sz="2400">
              <a:latin typeface="Courier New"/>
              <a:cs typeface="Courier New"/>
            </a:endParaRPr>
          </a:p>
          <a:p>
            <a:pPr marL="33655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70104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degree=d;</a:t>
            </a:r>
            <a:endParaRPr sz="2400">
              <a:latin typeface="Courier New"/>
              <a:cs typeface="Courier New"/>
            </a:endParaRPr>
          </a:p>
          <a:p>
            <a:pPr marL="70104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coef=new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float[degree+1];</a:t>
            </a:r>
            <a:endParaRPr sz="2400">
              <a:latin typeface="Courier New"/>
              <a:cs typeface="Courier New"/>
            </a:endParaRPr>
          </a:p>
          <a:p>
            <a:pPr marL="33655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Arial"/>
                <a:cs typeface="Arial"/>
              </a:rPr>
              <a:t>Waste </a:t>
            </a:r>
            <a:r>
              <a:rPr sz="2400" spc="-5" dirty="0">
                <a:latin typeface="Arial"/>
                <a:cs typeface="Arial"/>
              </a:rPr>
              <a:t>space when the polynomial is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sparse (e.g.,</a:t>
            </a:r>
            <a:r>
              <a:rPr sz="2400" spc="9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r>
              <a:rPr sz="2400" spc="-15" baseline="24305" dirty="0">
                <a:solidFill>
                  <a:srgbClr val="FF3300"/>
                </a:solidFill>
                <a:latin typeface="Arial"/>
                <a:cs typeface="Arial"/>
              </a:rPr>
              <a:t>1000</a:t>
            </a:r>
            <a:r>
              <a:rPr sz="2400" spc="-10" dirty="0">
                <a:solidFill>
                  <a:srgbClr val="FF3300"/>
                </a:solidFill>
                <a:latin typeface="Arial"/>
                <a:cs typeface="Arial"/>
              </a:rPr>
              <a:t>+1)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96850">
              <a:lnSpc>
                <a:spcPts val="3804"/>
              </a:lnSpc>
              <a:spcBef>
                <a:spcPts val="810"/>
              </a:spcBef>
            </a:pPr>
            <a:r>
              <a:rPr sz="3200" b="1" spc="-18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8353" y="386080"/>
            <a:ext cx="35941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50" dirty="0">
                <a:solidFill>
                  <a:srgbClr val="FFFFFF"/>
                </a:solidFill>
                <a:latin typeface="Arial Narrow"/>
                <a:cs typeface="Arial Narrow"/>
              </a:rPr>
              <a:t>11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Polynomial Representation #3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7047" y="2367534"/>
            <a:ext cx="7500620" cy="19132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Use one global array to store all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polynomials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009ACC"/>
              </a:buClr>
              <a:buSzPct val="68750"/>
              <a:buChar char="■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Class member free gives the location of the next free  location</a:t>
            </a:r>
            <a:endParaRPr sz="2400">
              <a:latin typeface="Arial"/>
              <a:cs typeface="Arial"/>
            </a:endParaRPr>
          </a:p>
          <a:p>
            <a:pPr marL="755650">
              <a:lnSpc>
                <a:spcPct val="100000"/>
              </a:lnSpc>
              <a:spcBef>
                <a:spcPts val="490"/>
              </a:spcBef>
            </a:pPr>
            <a:r>
              <a:rPr sz="2000" spc="-5" dirty="0">
                <a:latin typeface="Arial"/>
                <a:cs typeface="Arial"/>
              </a:rPr>
              <a:t>A(X)=2X</a:t>
            </a:r>
            <a:r>
              <a:rPr sz="1950" spc="-7" baseline="25641" dirty="0">
                <a:latin typeface="Arial"/>
                <a:cs typeface="Arial"/>
              </a:rPr>
              <a:t>1000</a:t>
            </a:r>
            <a:r>
              <a:rPr sz="2000" spc="-5" dirty="0">
                <a:latin typeface="Arial"/>
                <a:cs typeface="Arial"/>
              </a:rPr>
              <a:t>+1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5015" algn="l"/>
              </a:tabLst>
            </a:pPr>
            <a:r>
              <a:rPr sz="2000" spc="-5" dirty="0">
                <a:latin typeface="Arial"/>
                <a:cs typeface="Arial"/>
              </a:rPr>
              <a:t>–	B(X)=X</a:t>
            </a:r>
            <a:r>
              <a:rPr sz="1950" spc="-7" baseline="25641" dirty="0">
                <a:latin typeface="Arial"/>
                <a:cs typeface="Arial"/>
              </a:rPr>
              <a:t>4</a:t>
            </a:r>
            <a:r>
              <a:rPr sz="2000" spc="-5" dirty="0">
                <a:latin typeface="Arial"/>
                <a:cs typeface="Arial"/>
              </a:rPr>
              <a:t>+10X</a:t>
            </a:r>
            <a:r>
              <a:rPr sz="1950" spc="-7" baseline="25641" dirty="0">
                <a:latin typeface="Arial"/>
                <a:cs typeface="Arial"/>
              </a:rPr>
              <a:t>3</a:t>
            </a:r>
            <a:r>
              <a:rPr sz="2000" spc="-5" dirty="0">
                <a:latin typeface="Arial"/>
                <a:cs typeface="Arial"/>
              </a:rPr>
              <a:t>+3X</a:t>
            </a:r>
            <a:r>
              <a:rPr sz="1950" spc="-7" baseline="25641" dirty="0">
                <a:latin typeface="Arial"/>
                <a:cs typeface="Arial"/>
              </a:rPr>
              <a:t>2</a:t>
            </a:r>
            <a:r>
              <a:rPr sz="2000" spc="-5" dirty="0">
                <a:latin typeface="Arial"/>
                <a:cs typeface="Arial"/>
              </a:rPr>
              <a:t>+1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661045" y="4485132"/>
          <a:ext cx="8101199" cy="1737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3078"/>
                <a:gridCol w="1012697"/>
                <a:gridCol w="1009650"/>
                <a:gridCol w="1017651"/>
                <a:gridCol w="1012697"/>
                <a:gridCol w="1009650"/>
                <a:gridCol w="1012685"/>
                <a:gridCol w="1013091"/>
              </a:tblGrid>
              <a:tr h="365759">
                <a:tc>
                  <a:txBody>
                    <a:bodyPr/>
                    <a:lstStyle/>
                    <a:p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i="1" spc="-5" dirty="0">
                          <a:latin typeface="Arial"/>
                          <a:cs typeface="Arial"/>
                        </a:rPr>
                        <a:t>A.Start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i="1" spc="-5" dirty="0">
                          <a:latin typeface="Arial"/>
                          <a:cs typeface="Arial"/>
                        </a:rPr>
                        <a:t>A.F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inish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i="1" spc="-5" dirty="0">
                          <a:latin typeface="Arial"/>
                          <a:cs typeface="Arial"/>
                        </a:rPr>
                        <a:t>B.Start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280" algn="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i="1" spc="-5" dirty="0">
                          <a:latin typeface="Arial"/>
                          <a:cs typeface="Arial"/>
                        </a:rPr>
                        <a:t>B.F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ini</a:t>
                      </a:r>
                      <a:r>
                        <a:rPr sz="1800" i="1" spc="-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800" i="1" dirty="0">
                          <a:latin typeface="Arial"/>
                          <a:cs typeface="Arial"/>
                        </a:rPr>
                        <a:t>h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i="1" spc="-5" dirty="0">
                          <a:latin typeface="Arial"/>
                          <a:cs typeface="Arial"/>
                        </a:rPr>
                        <a:t>free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spc="-5" dirty="0">
                          <a:latin typeface="Arial"/>
                          <a:cs typeface="Arial"/>
                        </a:rPr>
                        <a:t>coef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spc="-5" dirty="0">
                          <a:latin typeface="Arial"/>
                          <a:cs typeface="Arial"/>
                        </a:rPr>
                        <a:t>exp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1000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Index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99396" y="6638290"/>
            <a:ext cx="1981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105" dirty="0"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4703" y="6190488"/>
            <a:ext cx="3380104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Specification:</a:t>
            </a:r>
            <a:r>
              <a:rPr sz="2400" spc="-7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polynomial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22290" y="6190488"/>
            <a:ext cx="409067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Representation: &lt;start,</a:t>
            </a:r>
            <a:r>
              <a:rPr sz="2400" spc="-7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finish&gt;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3490" y="6554216"/>
            <a:ext cx="229235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300"/>
              </a:lnSpc>
            </a:pP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A  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65491" y="6483096"/>
            <a:ext cx="804545" cy="668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90"/>
              </a:lnSpc>
            </a:pP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&lt;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0,1&gt;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590"/>
              </a:lnSpc>
            </a:pP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&lt;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2,5&gt;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44167" y="613409"/>
            <a:ext cx="7010400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1840864" algn="l"/>
              </a:tabLst>
            </a:pPr>
            <a:r>
              <a:rPr sz="2400" i="0" spc="-5" dirty="0">
                <a:solidFill>
                  <a:srgbClr val="FF3300"/>
                </a:solidFill>
                <a:latin typeface="Arial"/>
                <a:cs typeface="Arial"/>
              </a:rPr>
              <a:t>Storage requirements: start, </a:t>
            </a:r>
            <a:r>
              <a:rPr sz="2400" i="0" dirty="0">
                <a:solidFill>
                  <a:srgbClr val="FF3300"/>
                </a:solidFill>
                <a:latin typeface="Arial"/>
                <a:cs typeface="Arial"/>
              </a:rPr>
              <a:t>finish, </a:t>
            </a:r>
            <a:r>
              <a:rPr sz="2400" i="0" spc="-5" dirty="0">
                <a:solidFill>
                  <a:srgbClr val="FF3300"/>
                </a:solidFill>
                <a:latin typeface="Arial"/>
                <a:cs typeface="Arial"/>
              </a:rPr>
              <a:t>2*(finish-start+1)  Non</a:t>
            </a:r>
            <a:r>
              <a:rPr sz="2400" i="0" spc="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i="0" spc="-5" dirty="0">
                <a:solidFill>
                  <a:srgbClr val="FF3300"/>
                </a:solidFill>
                <a:latin typeface="Arial"/>
                <a:cs typeface="Arial"/>
              </a:rPr>
              <a:t>sparse:	</a:t>
            </a:r>
            <a:r>
              <a:rPr sz="2400" i="0" dirty="0">
                <a:solidFill>
                  <a:srgbClr val="FF3300"/>
                </a:solidFill>
                <a:latin typeface="Arial"/>
                <a:cs typeface="Arial"/>
              </a:rPr>
              <a:t>twice </a:t>
            </a:r>
            <a:r>
              <a:rPr sz="2400" i="0" spc="-5" dirty="0">
                <a:solidFill>
                  <a:srgbClr val="FF3300"/>
                </a:solidFill>
                <a:latin typeface="Arial"/>
                <a:cs typeface="Arial"/>
              </a:rPr>
              <a:t>as much as representation</a:t>
            </a:r>
            <a:r>
              <a:rPr sz="2400" i="0" spc="-6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i="0" dirty="0">
                <a:solidFill>
                  <a:srgbClr val="FF3300"/>
                </a:solidFill>
                <a:latin typeface="Arial"/>
                <a:cs typeface="Arial"/>
              </a:rPr>
              <a:t>2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72966" y="1344929"/>
            <a:ext cx="417576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when all the items are</a:t>
            </a:r>
            <a:r>
              <a:rPr sz="24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nonzero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0349" y="1621535"/>
            <a:ext cx="221551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class term</a:t>
            </a:r>
            <a:r>
              <a:rPr sz="2400" b="1" spc="-12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5347" y="1914144"/>
            <a:ext cx="33147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friend</a:t>
            </a:r>
            <a:r>
              <a:rPr sz="2400" b="1" spc="-10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Polynomial;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45347" y="2206752"/>
            <a:ext cx="14884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private:</a:t>
            </a:r>
            <a:endParaRPr sz="240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670824" y="2580158"/>
          <a:ext cx="7719178" cy="15387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03648"/>
                <a:gridCol w="732197"/>
                <a:gridCol w="3583333"/>
              </a:tblGrid>
              <a:tr h="591312">
                <a:tc>
                  <a:txBody>
                    <a:bodyPr/>
                    <a:lstStyle/>
                    <a:p>
                      <a:pPr marL="751840">
                        <a:lnSpc>
                          <a:spcPts val="1955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float</a:t>
                      </a:r>
                      <a:r>
                        <a:rPr sz="2400" b="1" spc="-110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coef;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751840">
                        <a:lnSpc>
                          <a:spcPts val="2590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int</a:t>
                      </a:r>
                      <a:r>
                        <a:rPr sz="2400" b="1" spc="-110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exp;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6225">
                        <a:lnSpc>
                          <a:spcPts val="1955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275590">
                        <a:lnSpc>
                          <a:spcPts val="2590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955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coefficient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90805">
                        <a:lnSpc>
                          <a:spcPts val="2590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exponent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947419">
                <a:tc>
                  <a:txBody>
                    <a:bodyPr/>
                    <a:lstStyle/>
                    <a:p>
                      <a:pPr marL="22225">
                        <a:lnSpc>
                          <a:spcPts val="2195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};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class</a:t>
                      </a:r>
                      <a:r>
                        <a:rPr sz="2400" b="1" spc="-114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Polynomial;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  <a:p>
                      <a:pPr marL="2755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//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3400">
                        <a:latin typeface="Times New Roman"/>
                        <a:cs typeface="Times New Roman"/>
                      </a:endParaRPr>
                    </a:p>
                    <a:p>
                      <a:pPr marL="901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forward</a:t>
                      </a:r>
                      <a:r>
                        <a:rPr sz="2400" b="1" spc="-114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delcaration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2" name="object 12"/>
          <p:cNvSpPr/>
          <p:nvPr/>
        </p:nvSpPr>
        <p:spPr>
          <a:xfrm>
            <a:off x="774839" y="1206246"/>
            <a:ext cx="824484" cy="4286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45335" y="4326127"/>
            <a:ext cx="148844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7190" marR="5080" indent="-365125">
              <a:lnSpc>
                <a:spcPts val="23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private:  static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87445" y="4547616"/>
            <a:ext cx="7569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term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99040" y="4547616"/>
            <a:ext cx="36810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termArray[MaxTerms];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10332" y="4840223"/>
            <a:ext cx="29476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static int</a:t>
            </a:r>
            <a:r>
              <a:rPr sz="2400" b="1" spc="-12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free;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10332" y="5132832"/>
            <a:ext cx="331342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int Start,</a:t>
            </a:r>
            <a:r>
              <a:rPr sz="2400" b="1" spc="-12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Finish;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680349" y="5718047"/>
            <a:ext cx="312991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term</a:t>
            </a:r>
            <a:r>
              <a:rPr sz="2400" b="1" spc="-12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Polynomial::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64874" y="5718047"/>
            <a:ext cx="368109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termArray[MaxTerms];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0604" y="6065520"/>
            <a:ext cx="240157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free</a:t>
            </a:r>
            <a:r>
              <a:rPr sz="2400" b="1" spc="-1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location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80349" y="6065520"/>
            <a:ext cx="3494404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// location of</a:t>
            </a:r>
            <a:r>
              <a:rPr sz="2400" b="1" spc="-12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next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// in</a:t>
            </a:r>
            <a:r>
              <a:rPr sz="2400" b="1" spc="-10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temArray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80349" y="6742176"/>
            <a:ext cx="458851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int Polynomial::free 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=</a:t>
            </a:r>
            <a:r>
              <a:rPr sz="2400" b="1" spc="-14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0;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Adding Two</a:t>
            </a:r>
            <a:r>
              <a:rPr spc="-30" dirty="0"/>
              <a:t> </a:t>
            </a:r>
            <a:r>
              <a:rPr spc="-5" dirty="0"/>
              <a:t>Polynomials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732673" y="2108454"/>
          <a:ext cx="7992996" cy="1908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0125"/>
                <a:gridCol w="1016126"/>
                <a:gridCol w="1152144"/>
                <a:gridCol w="1079754"/>
                <a:gridCol w="747521"/>
                <a:gridCol w="836676"/>
                <a:gridCol w="1160525"/>
                <a:gridCol w="1000125"/>
              </a:tblGrid>
              <a:tr h="536448">
                <a:tc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192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A.Start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A.Finish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B.Start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B.Finish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000" i="1" spc="-5" dirty="0">
                          <a:latin typeface="Arial"/>
                          <a:cs typeface="Arial"/>
                        </a:rPr>
                        <a:t>free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spc="-5" dirty="0">
                          <a:latin typeface="Arial"/>
                          <a:cs typeface="Arial"/>
                        </a:rPr>
                        <a:t>coef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192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10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spc="-5" dirty="0">
                          <a:latin typeface="Arial"/>
                          <a:cs typeface="Arial"/>
                        </a:rPr>
                        <a:t>exp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192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1000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12953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Index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192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2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955">
                      <a:solidFill>
                        <a:srgbClr val="000000"/>
                      </a:solidFill>
                      <a:prstDash val="solid"/>
                    </a:lnR>
                    <a:lnT w="12953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74839" y="2920745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54107" y="4247388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5992" y="4294632"/>
            <a:ext cx="1949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93249" y="4067555"/>
            <a:ext cx="76200" cy="431800"/>
          </a:xfrm>
          <a:custGeom>
            <a:avLst/>
            <a:gdLst/>
            <a:ahLst/>
            <a:cxnLst/>
            <a:rect l="l" t="t" r="r" b="b"/>
            <a:pathLst>
              <a:path w="76200" h="4318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1242" y="76200"/>
                </a:lnTo>
                <a:lnTo>
                  <a:pt x="31242" y="63246"/>
                </a:lnTo>
                <a:lnTo>
                  <a:pt x="44196" y="63246"/>
                </a:lnTo>
                <a:lnTo>
                  <a:pt x="44196" y="76200"/>
                </a:lnTo>
                <a:lnTo>
                  <a:pt x="76200" y="76200"/>
                </a:lnTo>
                <a:close/>
              </a:path>
              <a:path w="76200" h="431800">
                <a:moveTo>
                  <a:pt x="44196" y="76200"/>
                </a:moveTo>
                <a:lnTo>
                  <a:pt x="44196" y="63246"/>
                </a:lnTo>
                <a:lnTo>
                  <a:pt x="31242" y="63246"/>
                </a:lnTo>
                <a:lnTo>
                  <a:pt x="31242" y="76200"/>
                </a:lnTo>
                <a:lnTo>
                  <a:pt x="44196" y="76200"/>
                </a:lnTo>
                <a:close/>
              </a:path>
              <a:path w="76200" h="431800">
                <a:moveTo>
                  <a:pt x="44196" y="431292"/>
                </a:moveTo>
                <a:lnTo>
                  <a:pt x="44196" y="76200"/>
                </a:lnTo>
                <a:lnTo>
                  <a:pt x="31242" y="76200"/>
                </a:lnTo>
                <a:lnTo>
                  <a:pt x="31242" y="431292"/>
                </a:lnTo>
                <a:lnTo>
                  <a:pt x="44196" y="431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53519" y="4067555"/>
            <a:ext cx="76200" cy="431800"/>
          </a:xfrm>
          <a:custGeom>
            <a:avLst/>
            <a:gdLst/>
            <a:ahLst/>
            <a:cxnLst/>
            <a:rect l="l" t="t" r="r" b="b"/>
            <a:pathLst>
              <a:path w="76200" h="431800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3" y="76200"/>
                </a:lnTo>
                <a:lnTo>
                  <a:pt x="32003" y="63246"/>
                </a:lnTo>
                <a:lnTo>
                  <a:pt x="44195" y="63246"/>
                </a:lnTo>
                <a:lnTo>
                  <a:pt x="44195" y="76200"/>
                </a:lnTo>
                <a:lnTo>
                  <a:pt x="76200" y="76200"/>
                </a:lnTo>
                <a:close/>
              </a:path>
              <a:path w="76200" h="431800">
                <a:moveTo>
                  <a:pt x="44195" y="76200"/>
                </a:moveTo>
                <a:lnTo>
                  <a:pt x="44195" y="63246"/>
                </a:lnTo>
                <a:lnTo>
                  <a:pt x="32003" y="63246"/>
                </a:lnTo>
                <a:lnTo>
                  <a:pt x="32003" y="76200"/>
                </a:lnTo>
                <a:lnTo>
                  <a:pt x="44195" y="76200"/>
                </a:lnTo>
                <a:close/>
              </a:path>
              <a:path w="76200" h="431800">
                <a:moveTo>
                  <a:pt x="44195" y="431292"/>
                </a:moveTo>
                <a:lnTo>
                  <a:pt x="44195" y="76200"/>
                </a:lnTo>
                <a:lnTo>
                  <a:pt x="32003" y="76200"/>
                </a:lnTo>
                <a:lnTo>
                  <a:pt x="32003" y="431292"/>
                </a:lnTo>
                <a:lnTo>
                  <a:pt x="44195" y="4312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839" y="463524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1732673" y="4700778"/>
          <a:ext cx="7921751" cy="18303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/>
                <a:gridCol w="990600"/>
                <a:gridCol w="989076"/>
                <a:gridCol w="990600"/>
                <a:gridCol w="990599"/>
                <a:gridCol w="990600"/>
                <a:gridCol w="989076"/>
                <a:gridCol w="990600"/>
              </a:tblGrid>
              <a:tr h="371474"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12191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7299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400" i="1" spc="-5" dirty="0">
                          <a:latin typeface="Arial"/>
                          <a:cs typeface="Arial"/>
                        </a:rPr>
                        <a:t>coef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1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1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1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1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1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1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191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191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6155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Exp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1295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5394"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Index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dirty="0">
                          <a:latin typeface="Arial"/>
                          <a:cs typeface="Arial"/>
                        </a:rPr>
                        <a:t>9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spc="-5" dirty="0">
                          <a:latin typeface="Arial"/>
                          <a:cs typeface="Arial"/>
                        </a:rPr>
                        <a:t>10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8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spc="-185" dirty="0">
                          <a:latin typeface="Arial"/>
                          <a:cs typeface="Arial"/>
                        </a:rPr>
                        <a:t>11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spc="-5" dirty="0">
                          <a:latin typeface="Arial"/>
                          <a:cs typeface="Arial"/>
                        </a:rPr>
                        <a:t>12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i="1" spc="-5" dirty="0">
                          <a:latin typeface="Arial"/>
                          <a:cs typeface="Arial"/>
                        </a:rPr>
                        <a:t>13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1295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0367" y="340106"/>
            <a:ext cx="3903345" cy="742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5" dirty="0">
                <a:latin typeface="Arial"/>
                <a:cs typeface="Arial"/>
              </a:rPr>
              <a:t>Polynomial Polynomial</a:t>
            </a:r>
            <a:r>
              <a:rPr sz="1600" spc="-5" dirty="0">
                <a:latin typeface="Arial"/>
                <a:cs typeface="Arial"/>
              </a:rPr>
              <a:t>:: Add(Polynomial</a:t>
            </a:r>
            <a:r>
              <a:rPr sz="1600" spc="-18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B)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// </a:t>
            </a:r>
            <a:r>
              <a:rPr sz="1600" spc="-5" dirty="0">
                <a:latin typeface="Arial"/>
                <a:cs typeface="Arial"/>
              </a:rPr>
              <a:t>return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sum of A(x) </a:t>
            </a:r>
            <a:r>
              <a:rPr sz="1600" dirty="0">
                <a:latin typeface="Arial"/>
                <a:cs typeface="Arial"/>
              </a:rPr>
              <a:t>( </a:t>
            </a:r>
            <a:r>
              <a:rPr sz="1600" spc="-5" dirty="0">
                <a:latin typeface="Arial"/>
                <a:cs typeface="Arial"/>
              </a:rPr>
              <a:t>in *this) and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B(x)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63267" y="1071626"/>
            <a:ext cx="5897245" cy="269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i="1" spc="-5" dirty="0">
                <a:latin typeface="Arial"/>
                <a:cs typeface="Arial"/>
              </a:rPr>
              <a:t>Polynomial </a:t>
            </a:r>
            <a:r>
              <a:rPr sz="1600" dirty="0">
                <a:latin typeface="Arial"/>
                <a:cs typeface="Arial"/>
              </a:rPr>
              <a:t>C; </a:t>
            </a:r>
            <a:r>
              <a:rPr sz="1600" b="1" spc="-5" dirty="0">
                <a:latin typeface="Arial"/>
                <a:cs typeface="Arial"/>
              </a:rPr>
              <a:t>int </a:t>
            </a:r>
            <a:r>
              <a:rPr sz="1600" dirty="0">
                <a:latin typeface="Arial"/>
                <a:cs typeface="Arial"/>
              </a:rPr>
              <a:t>a = </a:t>
            </a:r>
            <a:r>
              <a:rPr sz="1600" spc="-5" dirty="0">
                <a:latin typeface="Arial"/>
                <a:cs typeface="Arial"/>
              </a:rPr>
              <a:t>Start; </a:t>
            </a:r>
            <a:r>
              <a:rPr sz="1600" b="1" spc="-5" dirty="0">
                <a:latin typeface="Arial"/>
                <a:cs typeface="Arial"/>
              </a:rPr>
              <a:t>int </a:t>
            </a:r>
            <a:r>
              <a:rPr sz="1600" dirty="0">
                <a:latin typeface="Arial"/>
                <a:cs typeface="Arial"/>
              </a:rPr>
              <a:t>b = </a:t>
            </a:r>
            <a:r>
              <a:rPr sz="1600" spc="-5" dirty="0">
                <a:latin typeface="Arial"/>
                <a:cs typeface="Arial"/>
              </a:rPr>
              <a:t>B.Start; C.Start </a:t>
            </a:r>
            <a:r>
              <a:rPr sz="1600" dirty="0">
                <a:latin typeface="Arial"/>
                <a:cs typeface="Arial"/>
              </a:rPr>
              <a:t>= </a:t>
            </a:r>
            <a:r>
              <a:rPr sz="1600" spc="-5" dirty="0">
                <a:latin typeface="Arial"/>
                <a:cs typeface="Arial"/>
              </a:rPr>
              <a:t>free; </a:t>
            </a:r>
            <a:r>
              <a:rPr sz="1600" b="1" spc="-5" dirty="0">
                <a:latin typeface="Arial"/>
                <a:cs typeface="Arial"/>
              </a:rPr>
              <a:t>float</a:t>
            </a:r>
            <a:r>
              <a:rPr sz="1600" b="1" spc="1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while </a:t>
            </a:r>
            <a:r>
              <a:rPr sz="1600" spc="-5" dirty="0">
                <a:latin typeface="Arial"/>
                <a:cs typeface="Arial"/>
              </a:rPr>
              <a:t>((a &lt;= </a:t>
            </a:r>
            <a:r>
              <a:rPr sz="1600" dirty="0">
                <a:latin typeface="Arial"/>
                <a:cs typeface="Arial"/>
              </a:rPr>
              <a:t>Finish) </a:t>
            </a:r>
            <a:r>
              <a:rPr sz="1600" spc="-5" dirty="0">
                <a:latin typeface="Arial"/>
                <a:cs typeface="Arial"/>
              </a:rPr>
              <a:t>&amp;&amp; (b &lt;= B.Finish))</a:t>
            </a:r>
            <a:endParaRPr sz="1600">
              <a:latin typeface="Arial"/>
              <a:cs typeface="Arial"/>
            </a:endParaRPr>
          </a:p>
          <a:p>
            <a:pPr marR="404495" algn="ctr">
              <a:lnSpc>
                <a:spcPts val="1914"/>
              </a:lnSpc>
            </a:pPr>
            <a:r>
              <a:rPr sz="1600" b="1" spc="-5" dirty="0">
                <a:latin typeface="Arial"/>
                <a:cs typeface="Arial"/>
              </a:rPr>
              <a:t>switch </a:t>
            </a:r>
            <a:r>
              <a:rPr sz="1600" spc="-5" dirty="0">
                <a:latin typeface="Arial"/>
                <a:cs typeface="Arial"/>
              </a:rPr>
              <a:t>(compare(termArray[a].exp, </a:t>
            </a:r>
            <a:r>
              <a:rPr sz="1600" dirty="0">
                <a:latin typeface="Arial"/>
                <a:cs typeface="Arial"/>
              </a:rPr>
              <a:t>termArray[b].exp))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584200">
              <a:lnSpc>
                <a:spcPts val="1914"/>
              </a:lnSpc>
            </a:pPr>
            <a:r>
              <a:rPr sz="1600" b="1" spc="-5" dirty="0">
                <a:latin typeface="Arial"/>
                <a:cs typeface="Arial"/>
              </a:rPr>
              <a:t>case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‘</a:t>
            </a:r>
            <a:r>
              <a:rPr sz="1600" dirty="0">
                <a:latin typeface="Arial"/>
                <a:cs typeface="Arial"/>
              </a:rPr>
              <a:t>=</a:t>
            </a:r>
            <a:r>
              <a:rPr sz="1600" dirty="0">
                <a:latin typeface="Times New Roman"/>
                <a:cs typeface="Times New Roman"/>
              </a:rPr>
              <a:t>‘</a:t>
            </a:r>
            <a:r>
              <a:rPr sz="1600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92583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Arial"/>
                <a:cs typeface="Arial"/>
              </a:rPr>
              <a:t>c = termArray[a].coef</a:t>
            </a:r>
            <a:r>
              <a:rPr sz="1600" spc="-4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+termArray[b].coef;</a:t>
            </a:r>
            <a:endParaRPr sz="1600">
              <a:latin typeface="Arial"/>
              <a:cs typeface="Arial"/>
            </a:endParaRPr>
          </a:p>
          <a:p>
            <a:pPr marL="1498600" marR="1599565" indent="-57277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if </a:t>
            </a:r>
            <a:r>
              <a:rPr sz="1600" dirty="0">
                <a:latin typeface="Arial"/>
                <a:cs typeface="Arial"/>
              </a:rPr>
              <a:t>( c ) </a:t>
            </a:r>
            <a:r>
              <a:rPr sz="1600" spc="-20" dirty="0">
                <a:latin typeface="Arial"/>
                <a:cs typeface="Arial"/>
              </a:rPr>
              <a:t>NewTerm(c, </a:t>
            </a:r>
            <a:r>
              <a:rPr sz="1600" dirty="0">
                <a:latin typeface="Arial"/>
                <a:cs typeface="Arial"/>
              </a:rPr>
              <a:t>termArray[a].exp);  </a:t>
            </a:r>
            <a:r>
              <a:rPr sz="1600" spc="-5" dirty="0">
                <a:latin typeface="Arial"/>
                <a:cs typeface="Arial"/>
              </a:rPr>
              <a:t>a++;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b++;</a:t>
            </a:r>
            <a:endParaRPr sz="1600">
              <a:latin typeface="Arial"/>
              <a:cs typeface="Arial"/>
            </a:endParaRPr>
          </a:p>
          <a:p>
            <a:pPr marR="2327275" algn="ctr">
              <a:lnSpc>
                <a:spcPts val="1914"/>
              </a:lnSpc>
            </a:pPr>
            <a:r>
              <a:rPr sz="1600" spc="-5" dirty="0">
                <a:latin typeface="Arial"/>
                <a:cs typeface="Arial"/>
              </a:rPr>
              <a:t>break;</a:t>
            </a:r>
            <a:endParaRPr sz="1600">
              <a:latin typeface="Arial"/>
              <a:cs typeface="Arial"/>
            </a:endParaRPr>
          </a:p>
          <a:p>
            <a:pPr marL="584200">
              <a:lnSpc>
                <a:spcPts val="1914"/>
              </a:lnSpc>
            </a:pPr>
            <a:r>
              <a:rPr sz="1600" b="1" spc="-5" dirty="0">
                <a:latin typeface="Arial"/>
                <a:cs typeface="Arial"/>
              </a:rPr>
              <a:t>case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‘</a:t>
            </a:r>
            <a:r>
              <a:rPr sz="1600" dirty="0">
                <a:latin typeface="Arial"/>
                <a:cs typeface="Arial"/>
              </a:rPr>
              <a:t>&lt;</a:t>
            </a:r>
            <a:r>
              <a:rPr sz="1600" dirty="0">
                <a:latin typeface="Times New Roman"/>
                <a:cs typeface="Times New Roman"/>
              </a:rPr>
              <a:t>‘</a:t>
            </a:r>
            <a:r>
              <a:rPr sz="1600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925830" marR="731520">
              <a:lnSpc>
                <a:spcPct val="100000"/>
              </a:lnSpc>
              <a:spcBef>
                <a:spcPts val="5"/>
              </a:spcBef>
            </a:pPr>
            <a:r>
              <a:rPr sz="1600" spc="-15" dirty="0">
                <a:latin typeface="Arial"/>
                <a:cs typeface="Arial"/>
              </a:rPr>
              <a:t>NewTerm(termArray[b].coef, </a:t>
            </a:r>
            <a:r>
              <a:rPr sz="1600" dirty="0">
                <a:latin typeface="Arial"/>
                <a:cs typeface="Arial"/>
              </a:rPr>
              <a:t>termArray[b].exp);  </a:t>
            </a:r>
            <a:r>
              <a:rPr sz="1600" spc="-5" dirty="0">
                <a:latin typeface="Arial"/>
                <a:cs typeface="Arial"/>
              </a:rPr>
              <a:t>b++;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2920745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34767" y="3753103"/>
            <a:ext cx="4599305" cy="742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case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‘</a:t>
            </a:r>
            <a:r>
              <a:rPr sz="1600" dirty="0">
                <a:latin typeface="Arial"/>
                <a:cs typeface="Arial"/>
              </a:rPr>
              <a:t>&gt;</a:t>
            </a:r>
            <a:r>
              <a:rPr sz="1600" dirty="0">
                <a:latin typeface="Times New Roman"/>
                <a:cs typeface="Times New Roman"/>
              </a:rPr>
              <a:t>’</a:t>
            </a:r>
            <a:r>
              <a:rPr sz="1600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354330" marR="5080">
              <a:lnSpc>
                <a:spcPct val="100000"/>
              </a:lnSpc>
              <a:spcBef>
                <a:spcPts val="5"/>
              </a:spcBef>
            </a:pPr>
            <a:r>
              <a:rPr sz="1600" spc="-15" dirty="0">
                <a:latin typeface="Arial"/>
                <a:cs typeface="Arial"/>
              </a:rPr>
              <a:t>NewTerm(termArray[a].coef, </a:t>
            </a:r>
            <a:r>
              <a:rPr sz="1600" dirty="0">
                <a:latin typeface="Arial"/>
                <a:cs typeface="Arial"/>
              </a:rPr>
              <a:t>termArray[a].exp);  </a:t>
            </a:r>
            <a:r>
              <a:rPr sz="1600" spc="-5" dirty="0">
                <a:latin typeface="Arial"/>
                <a:cs typeface="Arial"/>
              </a:rPr>
              <a:t>a++;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63267" y="4485385"/>
            <a:ext cx="253809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} </a:t>
            </a:r>
            <a:r>
              <a:rPr sz="1600" spc="-5" dirty="0">
                <a:latin typeface="Arial"/>
                <a:cs typeface="Arial"/>
              </a:rPr>
              <a:t>// end of </a:t>
            </a:r>
            <a:r>
              <a:rPr sz="1600" b="1" spc="-5" dirty="0">
                <a:latin typeface="Arial"/>
                <a:cs typeface="Arial"/>
              </a:rPr>
              <a:t>switch </a:t>
            </a:r>
            <a:r>
              <a:rPr sz="1600" spc="-5" dirty="0">
                <a:latin typeface="Arial"/>
                <a:cs typeface="Arial"/>
              </a:rPr>
              <a:t>and </a:t>
            </a:r>
            <a:r>
              <a:rPr sz="1600" b="1" spc="-5" dirty="0">
                <a:latin typeface="Arial"/>
                <a:cs typeface="Arial"/>
              </a:rPr>
              <a:t>while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49366" y="4346447"/>
            <a:ext cx="4081145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Analysis: O(n+m) </a:t>
            </a: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where </a:t>
            </a: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n </a:t>
            </a: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(m)</a:t>
            </a:r>
            <a:r>
              <a:rPr sz="2400" spc="-1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is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63267" y="4729226"/>
            <a:ext cx="2910205" cy="498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// add in remaining terms of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A(x)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for </a:t>
            </a:r>
            <a:r>
              <a:rPr sz="1600" spc="-5" dirty="0">
                <a:latin typeface="Arial"/>
                <a:cs typeface="Arial"/>
              </a:rPr>
              <a:t>(; a&lt;= Finish;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a++)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49366" y="4712207"/>
            <a:ext cx="40855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3300"/>
                </a:solidFill>
                <a:latin typeface="Times New Roman"/>
                <a:cs typeface="Times New Roman"/>
              </a:rPr>
              <a:t>the number of non-zeros in</a:t>
            </a:r>
            <a:r>
              <a:rPr sz="2400" spc="-27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Times New Roman"/>
                <a:cs typeface="Times New Roman"/>
              </a:rPr>
              <a:t>A(B).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4839" y="463524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63267" y="5216905"/>
            <a:ext cx="4427855" cy="1230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2880">
              <a:lnSpc>
                <a:spcPct val="100000"/>
              </a:lnSpc>
            </a:pPr>
            <a:r>
              <a:rPr sz="1600" spc="-15" dirty="0">
                <a:latin typeface="Arial"/>
                <a:cs typeface="Arial"/>
              </a:rPr>
              <a:t>NewTerm(termArray[a].coef,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termArray[a].exp);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// add in remaining terms of B(x)</a:t>
            </a:r>
            <a:endParaRPr sz="1600">
              <a:latin typeface="Arial"/>
              <a:cs typeface="Arial"/>
            </a:endParaRPr>
          </a:p>
          <a:p>
            <a:pPr marL="182880" marR="5080" indent="-170815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for </a:t>
            </a:r>
            <a:r>
              <a:rPr sz="1600" spc="-5" dirty="0">
                <a:latin typeface="Arial"/>
                <a:cs typeface="Arial"/>
              </a:rPr>
              <a:t>(; b&lt;= B.Finish; b++)  </a:t>
            </a:r>
            <a:r>
              <a:rPr sz="1600" spc="-15" dirty="0">
                <a:latin typeface="Arial"/>
                <a:cs typeface="Arial"/>
              </a:rPr>
              <a:t>NewTerm(termArray[b].coef,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termArray[b].exp);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1914"/>
              </a:lnSpc>
            </a:pPr>
            <a:r>
              <a:rPr sz="1600" spc="-5" dirty="0">
                <a:latin typeface="Arial"/>
                <a:cs typeface="Arial"/>
              </a:rPr>
              <a:t>C.Finish </a:t>
            </a:r>
            <a:r>
              <a:rPr sz="1600" dirty="0">
                <a:latin typeface="Arial"/>
                <a:cs typeface="Arial"/>
              </a:rPr>
              <a:t>= </a:t>
            </a:r>
            <a:r>
              <a:rPr sz="1600" spc="-5" dirty="0">
                <a:latin typeface="Arial"/>
                <a:cs typeface="Arial"/>
              </a:rPr>
              <a:t>free </a:t>
            </a:r>
            <a:r>
              <a:rPr sz="1600" dirty="0">
                <a:latin typeface="Times New Roman"/>
                <a:cs typeface="Times New Roman"/>
              </a:rPr>
              <a:t>–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"/>
                <a:cs typeface="Arial"/>
              </a:rPr>
              <a:t>1;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20367" y="6436105"/>
            <a:ext cx="1294765" cy="498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return</a:t>
            </a:r>
            <a:r>
              <a:rPr sz="1600" b="1" spc="-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C;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Arial"/>
                <a:cs typeface="Arial"/>
              </a:rPr>
              <a:t>} </a:t>
            </a:r>
            <a:r>
              <a:rPr sz="1600" spc="-5" dirty="0">
                <a:latin typeface="Arial"/>
                <a:cs typeface="Arial"/>
              </a:rPr>
              <a:t>// end of</a:t>
            </a:r>
            <a:r>
              <a:rPr sz="1600" spc="-1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Add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z="4000" dirty="0"/>
              <a:t>Adding a New</a:t>
            </a:r>
            <a:r>
              <a:rPr sz="4000" spc="-140" dirty="0"/>
              <a:t> </a:t>
            </a:r>
            <a:r>
              <a:rPr sz="4000" dirty="0"/>
              <a:t>Term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1741297" y="2133600"/>
            <a:ext cx="7562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void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52984" y="2133600"/>
            <a:ext cx="459295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Polynomial::NewTerm(float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01951" y="2133600"/>
            <a:ext cx="1666239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c, int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e)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1297" y="2499359"/>
            <a:ext cx="4589145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// Add </a:t>
            </a:r>
            <a:r>
              <a:rPr sz="2400" b="1" dirty="0">
                <a:latin typeface="Courier New"/>
                <a:cs typeface="Courier New"/>
              </a:rPr>
              <a:t>a </a:t>
            </a:r>
            <a:r>
              <a:rPr sz="2400" b="1" spc="-5" dirty="0">
                <a:latin typeface="Courier New"/>
                <a:cs typeface="Courier New"/>
              </a:rPr>
              <a:t>new term to</a:t>
            </a:r>
            <a:r>
              <a:rPr sz="2400" b="1" spc="-14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C(x)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  <a:p>
            <a:pPr marL="37719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if (free &gt;= MaxTerms)</a:t>
            </a:r>
            <a:r>
              <a:rPr sz="2400" b="1" spc="-13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14165" y="3962400"/>
            <a:ext cx="367728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polynomials"&lt;&lt;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endl;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49207" y="3596640"/>
            <a:ext cx="4772025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cerr &lt;&lt; "Too many terms</a:t>
            </a:r>
            <a:r>
              <a:rPr sz="2400" b="1" spc="-13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in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exit();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41297" y="4693920"/>
            <a:ext cx="4932045" cy="1861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>
              <a:latin typeface="Courier New"/>
              <a:cs typeface="Courier New"/>
            </a:endParaRPr>
          </a:p>
          <a:p>
            <a:pPr marL="35560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termArray[free].coef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3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c;  termArray[free].exp </a:t>
            </a:r>
            <a:r>
              <a:rPr sz="2400" b="1" dirty="0">
                <a:latin typeface="Courier New"/>
                <a:cs typeface="Courier New"/>
              </a:rPr>
              <a:t>= </a:t>
            </a:r>
            <a:r>
              <a:rPr sz="2400" b="1" spc="-5" dirty="0">
                <a:latin typeface="Courier New"/>
                <a:cs typeface="Courier New"/>
              </a:rPr>
              <a:t>e;  free++;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} </a:t>
            </a:r>
            <a:r>
              <a:rPr sz="2400" b="1" spc="-5" dirty="0">
                <a:latin typeface="Courier New"/>
                <a:cs typeface="Courier New"/>
              </a:rPr>
              <a:t>// end of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NewTerm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813053"/>
            <a:ext cx="5738495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-5" dirty="0"/>
              <a:t>Disadvantages of</a:t>
            </a:r>
            <a:r>
              <a:rPr sz="3600" spc="-80" dirty="0"/>
              <a:t> </a:t>
            </a:r>
            <a:r>
              <a:rPr sz="3600" spc="-5" dirty="0"/>
              <a:t>Representing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2027047" y="1361694"/>
            <a:ext cx="7235190" cy="4988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i="1" spc="-5" dirty="0">
                <a:solidFill>
                  <a:srgbClr val="003365"/>
                </a:solidFill>
                <a:latin typeface="Times New Roman"/>
                <a:cs typeface="Times New Roman"/>
              </a:rPr>
              <a:t>Polynomials by</a:t>
            </a:r>
            <a:r>
              <a:rPr sz="3600" i="1" spc="-15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3600" i="1" spc="-5" dirty="0">
                <a:solidFill>
                  <a:srgbClr val="003365"/>
                </a:solidFill>
                <a:latin typeface="Times New Roman"/>
                <a:cs typeface="Times New Roman"/>
              </a:rPr>
              <a:t>Arrays</a:t>
            </a:r>
            <a:endParaRPr sz="3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1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The value of free is continually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incremented  until it tries to exceed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MaxTerms</a:t>
            </a:r>
            <a:endParaRPr sz="2800">
              <a:latin typeface="Arial"/>
              <a:cs typeface="Arial"/>
            </a:endParaRPr>
          </a:p>
          <a:p>
            <a:pPr marL="355600" marR="459105" indent="-342900">
              <a:lnSpc>
                <a:spcPct val="100000"/>
              </a:lnSpc>
              <a:spcBef>
                <a:spcPts val="67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What should we do when free is going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  exceed</a:t>
            </a:r>
            <a:r>
              <a:rPr sz="2800" spc="-8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MaxTerms</a:t>
            </a:r>
            <a:r>
              <a:rPr sz="2800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  <a:p>
            <a:pPr marL="755650" marR="624205" lvl="1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Either quit or reuse the space of unused  polynomials by compacting the global array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400" dirty="0">
                <a:latin typeface="Arial"/>
                <a:cs typeface="Arial"/>
              </a:rPr>
              <a:t>It </a:t>
            </a:r>
            <a:r>
              <a:rPr sz="2400" spc="-5" dirty="0">
                <a:latin typeface="Arial"/>
                <a:cs typeface="Arial"/>
              </a:rPr>
              <a:t>is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costly!</a:t>
            </a:r>
            <a:endParaRPr sz="2400">
              <a:latin typeface="Arial"/>
              <a:cs typeface="Arial"/>
            </a:endParaRPr>
          </a:p>
          <a:p>
            <a:pPr marL="355600" marR="813435" indent="-342900">
              <a:lnSpc>
                <a:spcPct val="100000"/>
              </a:lnSpc>
              <a:spcBef>
                <a:spcPts val="66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 more elegant solution is proposed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  Chapter 4 by employing linked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list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Sparse</a:t>
            </a:r>
            <a:r>
              <a:rPr spc="-65" dirty="0"/>
              <a:t> </a:t>
            </a:r>
            <a:r>
              <a:rPr spc="-5" dirty="0"/>
              <a:t>Matrix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4286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27047" y="2371090"/>
            <a:ext cx="7562215" cy="3178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A </a:t>
            </a:r>
            <a:r>
              <a:rPr sz="3200" spc="-10" dirty="0">
                <a:latin typeface="Arial"/>
                <a:cs typeface="Arial"/>
              </a:rPr>
              <a:t>general </a:t>
            </a:r>
            <a:r>
              <a:rPr sz="3200" spc="-5" dirty="0">
                <a:latin typeface="Arial"/>
                <a:cs typeface="Arial"/>
              </a:rPr>
              <a:t>matrix </a:t>
            </a:r>
            <a:r>
              <a:rPr sz="3200" spc="-10" dirty="0">
                <a:latin typeface="Arial"/>
                <a:cs typeface="Arial"/>
              </a:rPr>
              <a:t>consists </a:t>
            </a:r>
            <a:r>
              <a:rPr sz="3200" spc="-5" dirty="0">
                <a:latin typeface="Arial"/>
                <a:cs typeface="Arial"/>
              </a:rPr>
              <a:t>of m rows </a:t>
            </a:r>
            <a:r>
              <a:rPr sz="3200" spc="-10" dirty="0">
                <a:latin typeface="Arial"/>
                <a:cs typeface="Arial"/>
              </a:rPr>
              <a:t>and  </a:t>
            </a:r>
            <a:r>
              <a:rPr sz="3200" spc="-5" dirty="0">
                <a:latin typeface="Arial"/>
                <a:cs typeface="Arial"/>
              </a:rPr>
              <a:t>n columns of</a:t>
            </a:r>
            <a:r>
              <a:rPr sz="3200" spc="-7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numbers</a:t>
            </a:r>
            <a:endParaRPr sz="32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7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An </a:t>
            </a:r>
            <a:r>
              <a:rPr sz="2800" dirty="0">
                <a:latin typeface="Arial"/>
                <a:cs typeface="Arial"/>
              </a:rPr>
              <a:t>m</a:t>
            </a:r>
            <a:r>
              <a:rPr sz="2800" dirty="0">
                <a:latin typeface="PMingLiU"/>
                <a:cs typeface="PMingLiU"/>
              </a:rPr>
              <a:t>×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matrix</a:t>
            </a:r>
            <a:endParaRPr sz="2800">
              <a:latin typeface="Arial"/>
              <a:cs typeface="Arial"/>
            </a:endParaRPr>
          </a:p>
          <a:p>
            <a:pPr marL="755650" marR="964565" lvl="1" indent="-285750">
              <a:lnSpc>
                <a:spcPts val="3020"/>
              </a:lnSpc>
              <a:spcBef>
                <a:spcPts val="745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It is natural to store a matrix in a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two-  dimensional array, say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A[m][n]</a:t>
            </a:r>
            <a:endParaRPr sz="2800">
              <a:latin typeface="Arial"/>
              <a:cs typeface="Arial"/>
            </a:endParaRPr>
          </a:p>
          <a:p>
            <a:pPr marL="355600" marR="137795" indent="-342900">
              <a:lnSpc>
                <a:spcPts val="3460"/>
              </a:lnSpc>
              <a:spcBef>
                <a:spcPts val="760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A matrix is called </a:t>
            </a: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sparse </a:t>
            </a:r>
            <a:r>
              <a:rPr sz="3200" spc="-5" dirty="0">
                <a:latin typeface="Arial"/>
                <a:cs typeface="Arial"/>
              </a:rPr>
              <a:t>if it </a:t>
            </a:r>
            <a:r>
              <a:rPr sz="3200" spc="-10" dirty="0">
                <a:latin typeface="Arial"/>
                <a:cs typeface="Arial"/>
              </a:rPr>
              <a:t>consists of  </a:t>
            </a:r>
            <a:r>
              <a:rPr sz="3200" spc="-5" dirty="0">
                <a:latin typeface="Arial"/>
                <a:cs typeface="Arial"/>
              </a:rPr>
              <a:t>many zero</a:t>
            </a:r>
            <a:r>
              <a:rPr sz="3200" spc="-9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entries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84247" y="5633720"/>
            <a:ext cx="6704965" cy="1241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marR="5080" indent="-285750">
              <a:lnSpc>
                <a:spcPts val="3020"/>
              </a:lnSpc>
              <a:buChar char="–"/>
              <a:tabLst>
                <a:tab pos="298450" algn="l"/>
              </a:tabLst>
            </a:pPr>
            <a:r>
              <a:rPr sz="2800" dirty="0">
                <a:latin typeface="Arial"/>
                <a:cs typeface="Arial"/>
              </a:rPr>
              <a:t>Implementing a spare matrix by a two-  dimensional array waste a lot of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memory</a:t>
            </a:r>
          </a:p>
          <a:p>
            <a:pPr marL="297815" indent="-285115">
              <a:lnSpc>
                <a:spcPct val="100000"/>
              </a:lnSpc>
              <a:spcBef>
                <a:spcPts val="265"/>
              </a:spcBef>
              <a:buChar char="–"/>
              <a:tabLst>
                <a:tab pos="298450" algn="l"/>
              </a:tabLst>
            </a:pPr>
            <a:r>
              <a:rPr sz="2800" dirty="0">
                <a:latin typeface="Arial"/>
                <a:cs typeface="Arial"/>
              </a:rPr>
              <a:t>Space complexity </a:t>
            </a:r>
            <a:r>
              <a:rPr sz="2800" spc="-5" dirty="0">
                <a:latin typeface="Arial"/>
                <a:cs typeface="Arial"/>
              </a:rPr>
              <a:t>is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O(m</a:t>
            </a:r>
            <a:r>
              <a:rPr sz="2800" dirty="0">
                <a:latin typeface="PMingLiU"/>
                <a:cs typeface="PMingLiU"/>
              </a:rPr>
              <a:t>×</a:t>
            </a:r>
            <a:r>
              <a:rPr sz="2800" dirty="0">
                <a:latin typeface="Arial"/>
                <a:cs typeface="Arial"/>
              </a:rPr>
              <a:t>n)</a:t>
            </a:r>
          </a:p>
        </p:txBody>
      </p:sp>
      <p:sp>
        <p:nvSpPr>
          <p:cNvPr id="14" name="object 1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Sparse Matrix</a:t>
            </a:r>
            <a:r>
              <a:rPr spc="-35" dirty="0"/>
              <a:t> </a:t>
            </a:r>
            <a:r>
              <a:rPr spc="-5" dirty="0"/>
              <a:t>(contd.)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794118" y="5084064"/>
            <a:ext cx="516890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6</a:t>
            </a:r>
            <a:r>
              <a:rPr sz="2400" dirty="0">
                <a:latin typeface="PMingLiU"/>
                <a:cs typeface="PMingLiU"/>
              </a:rPr>
              <a:t>×</a:t>
            </a:r>
            <a:r>
              <a:rPr sz="2400" dirty="0">
                <a:latin typeface="Arial"/>
                <a:cs typeface="Arial"/>
              </a:rPr>
              <a:t>6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32100" y="4986732"/>
            <a:ext cx="50482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2400" spc="-5" dirty="0" smtClean="0">
                <a:latin typeface="Arial"/>
                <a:cs typeface="Arial"/>
              </a:rPr>
              <a:t>5x5</a:t>
            </a:r>
          </a:p>
          <a:p>
            <a:pPr marL="12700" algn="ctr">
              <a:lnSpc>
                <a:spcPct val="100000"/>
              </a:lnSpc>
            </a:pPr>
            <a:r>
              <a:rPr sz="2400" spc="-5" dirty="0" smtClean="0">
                <a:latin typeface="Arial"/>
                <a:cs typeface="Arial"/>
              </a:rPr>
              <a:t>(</a:t>
            </a:r>
            <a:r>
              <a:rPr sz="2400" spc="-5" dirty="0">
                <a:latin typeface="Arial"/>
                <a:cs typeface="Arial"/>
              </a:rPr>
              <a:t>a)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89856" y="5465064"/>
            <a:ext cx="39687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(b)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13727" y="5843778"/>
            <a:ext cx="76200" cy="506095"/>
          </a:xfrm>
          <a:custGeom>
            <a:avLst/>
            <a:gdLst/>
            <a:ahLst/>
            <a:cxnLst/>
            <a:rect l="l" t="t" r="r" b="b"/>
            <a:pathLst>
              <a:path w="76200" h="506095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16" y="76200"/>
                </a:lnTo>
                <a:lnTo>
                  <a:pt x="32016" y="63246"/>
                </a:lnTo>
                <a:lnTo>
                  <a:pt x="44970" y="63246"/>
                </a:lnTo>
                <a:lnTo>
                  <a:pt x="44970" y="76200"/>
                </a:lnTo>
                <a:lnTo>
                  <a:pt x="76200" y="76200"/>
                </a:lnTo>
                <a:close/>
              </a:path>
              <a:path w="76200" h="506095">
                <a:moveTo>
                  <a:pt x="44970" y="76200"/>
                </a:moveTo>
                <a:lnTo>
                  <a:pt x="44970" y="63246"/>
                </a:lnTo>
                <a:lnTo>
                  <a:pt x="32016" y="63246"/>
                </a:lnTo>
                <a:lnTo>
                  <a:pt x="32016" y="76200"/>
                </a:lnTo>
                <a:lnTo>
                  <a:pt x="44970" y="76200"/>
                </a:lnTo>
                <a:close/>
              </a:path>
              <a:path w="76200" h="506095">
                <a:moveTo>
                  <a:pt x="44970" y="505968"/>
                </a:moveTo>
                <a:lnTo>
                  <a:pt x="44970" y="76200"/>
                </a:lnTo>
                <a:lnTo>
                  <a:pt x="32016" y="76200"/>
                </a:lnTo>
                <a:lnTo>
                  <a:pt x="32016" y="505968"/>
                </a:lnTo>
                <a:lnTo>
                  <a:pt x="44970" y="5059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25167" y="6196583"/>
            <a:ext cx="3354704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u="heavy" spc="-5" dirty="0">
                <a:latin typeface="Arial"/>
                <a:cs typeface="Arial"/>
              </a:rPr>
              <a:t>Figure 2.2: </a:t>
            </a:r>
            <a:r>
              <a:rPr sz="2400" u="heavy" spc="-45" dirty="0">
                <a:latin typeface="Arial"/>
                <a:cs typeface="Arial"/>
              </a:rPr>
              <a:t>Two</a:t>
            </a:r>
            <a:r>
              <a:rPr sz="2400" u="heavy" spc="-125" dirty="0">
                <a:latin typeface="Arial"/>
                <a:cs typeface="Arial"/>
              </a:rPr>
              <a:t> </a:t>
            </a:r>
            <a:r>
              <a:rPr sz="2400" u="heavy" spc="-5" dirty="0">
                <a:latin typeface="Arial"/>
                <a:cs typeface="Arial"/>
              </a:rPr>
              <a:t>matrices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245743" y="6363461"/>
            <a:ext cx="13335" cy="0"/>
          </a:xfrm>
          <a:custGeom>
            <a:avLst/>
            <a:gdLst/>
            <a:ahLst/>
            <a:cxnLst/>
            <a:rect l="l" t="t" r="r" b="b"/>
            <a:pathLst>
              <a:path w="13334">
                <a:moveTo>
                  <a:pt x="0" y="0"/>
                </a:moveTo>
                <a:lnTo>
                  <a:pt x="12953" y="0"/>
                </a:lnTo>
              </a:path>
            </a:pathLst>
          </a:custGeom>
          <a:ln w="274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331584" y="6377940"/>
            <a:ext cx="18542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sparse</a:t>
            </a:r>
            <a:r>
              <a:rPr sz="2400" spc="-9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matrix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9563" y="1740229"/>
            <a:ext cx="7860400" cy="31878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19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19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z="4000" dirty="0"/>
              <a:t>Sparse Matrix Abastract Data</a:t>
            </a:r>
            <a:r>
              <a:rPr sz="4000" spc="-114" dirty="0"/>
              <a:t> </a:t>
            </a:r>
            <a:r>
              <a:rPr sz="4000" dirty="0"/>
              <a:t>Type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20367" y="1672590"/>
            <a:ext cx="7401559" cy="4765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5" dirty="0">
                <a:latin typeface="Arial"/>
                <a:cs typeface="Arial"/>
              </a:rPr>
              <a:t>class</a:t>
            </a:r>
            <a:r>
              <a:rPr sz="2400" b="1" i="1" spc="-9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SparseMatrix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/* objects: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i="1" spc="-5" dirty="0">
                <a:latin typeface="Arial"/>
                <a:cs typeface="Arial"/>
              </a:rPr>
              <a:t>set of triples, </a:t>
            </a:r>
            <a:r>
              <a:rPr sz="2400" i="1" spc="-30" dirty="0">
                <a:latin typeface="Arial"/>
                <a:cs typeface="Arial"/>
              </a:rPr>
              <a:t>&lt;row, </a:t>
            </a:r>
            <a:r>
              <a:rPr sz="2400" i="1" spc="-5" dirty="0">
                <a:latin typeface="Arial"/>
                <a:cs typeface="Arial"/>
              </a:rPr>
              <a:t>column, value&gt;,</a:t>
            </a:r>
            <a:r>
              <a:rPr sz="2400" i="1" spc="-19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where  row and column are integers and form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i="1" spc="-5" dirty="0">
                <a:latin typeface="Arial"/>
                <a:cs typeface="Arial"/>
              </a:rPr>
              <a:t>unique  combinations; value </a:t>
            </a:r>
            <a:r>
              <a:rPr sz="2400" i="1" dirty="0">
                <a:latin typeface="Arial"/>
                <a:cs typeface="Arial"/>
              </a:rPr>
              <a:t>is </a:t>
            </a:r>
            <a:r>
              <a:rPr sz="2400" i="1" spc="-5" dirty="0">
                <a:latin typeface="Arial"/>
                <a:cs typeface="Arial"/>
              </a:rPr>
              <a:t>also an </a:t>
            </a:r>
            <a:r>
              <a:rPr sz="2400" i="1" spc="-15" dirty="0">
                <a:latin typeface="Arial"/>
                <a:cs typeface="Arial"/>
              </a:rPr>
              <a:t>integer.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*/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i="1" spc="-5" dirty="0">
                <a:latin typeface="Arial"/>
                <a:cs typeface="Arial"/>
              </a:rPr>
              <a:t>public:</a:t>
            </a:r>
            <a:endParaRPr sz="2400">
              <a:latin typeface="Arial"/>
              <a:cs typeface="Arial"/>
            </a:endParaRPr>
          </a:p>
          <a:p>
            <a:pPr marL="18034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SparseMatrix</a:t>
            </a:r>
            <a:r>
              <a:rPr sz="2400" i="1" spc="-5" dirty="0">
                <a:latin typeface="Arial"/>
                <a:cs typeface="Arial"/>
              </a:rPr>
              <a:t>(</a:t>
            </a:r>
            <a:r>
              <a:rPr sz="2400" b="1" i="1" spc="-5" dirty="0">
                <a:latin typeface="Arial"/>
                <a:cs typeface="Arial"/>
              </a:rPr>
              <a:t>int </a:t>
            </a:r>
            <a:r>
              <a:rPr sz="2400" i="1" spc="-25" dirty="0">
                <a:latin typeface="Arial"/>
                <a:cs typeface="Arial"/>
              </a:rPr>
              <a:t>MaxRow, </a:t>
            </a:r>
            <a:r>
              <a:rPr sz="2400" b="1" i="1" spc="-5" dirty="0">
                <a:latin typeface="Arial"/>
                <a:cs typeface="Arial"/>
              </a:rPr>
              <a:t>int</a:t>
            </a:r>
            <a:r>
              <a:rPr sz="2400" b="1" i="1" spc="-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MaxCol);</a:t>
            </a:r>
            <a:endParaRPr sz="2400">
              <a:latin typeface="Arial"/>
              <a:cs typeface="Arial"/>
            </a:endParaRPr>
          </a:p>
          <a:p>
            <a:pPr marL="12700" marR="11557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/* the constructor function creates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i="1" spc="-5" dirty="0">
                <a:latin typeface="Arial"/>
                <a:cs typeface="Arial"/>
              </a:rPr>
              <a:t>SparseMatrix that  can hold up to MaxInterms </a:t>
            </a:r>
            <a:r>
              <a:rPr sz="2400" i="1" dirty="0">
                <a:latin typeface="Arial"/>
                <a:cs typeface="Arial"/>
              </a:rPr>
              <a:t>= </a:t>
            </a:r>
            <a:r>
              <a:rPr sz="2400" i="1" spc="-5" dirty="0">
                <a:latin typeface="Arial"/>
                <a:cs typeface="Arial"/>
              </a:rPr>
              <a:t>MaxRow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i="1" spc="-5" dirty="0">
                <a:latin typeface="Arial"/>
                <a:cs typeface="Arial"/>
              </a:rPr>
              <a:t>MaxCol and  whose maximum row size is MaxRow and whose  maximum column size is MaxCol</a:t>
            </a:r>
            <a:r>
              <a:rPr sz="2400" i="1" spc="-2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*/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SparseMatrix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Transpose</a:t>
            </a:r>
            <a:r>
              <a:rPr sz="2400" i="1" spc="-15" dirty="0">
                <a:latin typeface="Arial"/>
                <a:cs typeface="Arial"/>
              </a:rPr>
              <a:t>();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/* returns the SparseMatrix obtained by</a:t>
            </a:r>
            <a:r>
              <a:rPr sz="2400" i="1" spc="-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interchanging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0379" y="6427470"/>
            <a:ext cx="677037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the row and column value of every triple in *</a:t>
            </a:r>
            <a:r>
              <a:rPr sz="2400" b="1" i="1" spc="-5" dirty="0">
                <a:latin typeface="Arial"/>
                <a:cs typeface="Arial"/>
              </a:rPr>
              <a:t>this</a:t>
            </a:r>
            <a:r>
              <a:rPr sz="2400" b="1" i="1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*/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88019" y="797814"/>
            <a:ext cx="47872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0" spc="-5" dirty="0">
                <a:solidFill>
                  <a:srgbClr val="000000"/>
                </a:solidFill>
                <a:latin typeface="Arial"/>
                <a:cs typeface="Arial"/>
              </a:rPr>
              <a:t>SparseMatrix Add</a:t>
            </a:r>
            <a:r>
              <a:rPr sz="2400" spc="-5" dirty="0">
                <a:solidFill>
                  <a:srgbClr val="000000"/>
                </a:solidFill>
                <a:latin typeface="Arial"/>
                <a:cs typeface="Arial"/>
              </a:rPr>
              <a:t>(</a:t>
            </a:r>
            <a:r>
              <a:rPr sz="2400" i="0" spc="-5" dirty="0">
                <a:solidFill>
                  <a:srgbClr val="000000"/>
                </a:solidFill>
                <a:latin typeface="Arial"/>
                <a:cs typeface="Arial"/>
              </a:rPr>
              <a:t>SparseMatrix</a:t>
            </a:r>
            <a:r>
              <a:rPr sz="2400" i="0" spc="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00"/>
                </a:solidFill>
                <a:latin typeface="Arial"/>
                <a:cs typeface="Arial"/>
              </a:rPr>
              <a:t>b);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2920745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20367" y="1163573"/>
            <a:ext cx="7870190" cy="5130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9591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/* </a:t>
            </a:r>
            <a:r>
              <a:rPr sz="2400" b="1" i="1" spc="-5" dirty="0">
                <a:latin typeface="Arial"/>
                <a:cs typeface="Arial"/>
              </a:rPr>
              <a:t>if </a:t>
            </a:r>
            <a:r>
              <a:rPr sz="2400" i="1" spc="-5" dirty="0">
                <a:latin typeface="Arial"/>
                <a:cs typeface="Arial"/>
              </a:rPr>
              <a:t>the dimensions of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i="1" spc="-5" dirty="0">
                <a:latin typeface="Arial"/>
                <a:cs typeface="Arial"/>
              </a:rPr>
              <a:t>(*this) and </a:t>
            </a:r>
            <a:r>
              <a:rPr sz="2400" i="1" dirty="0">
                <a:latin typeface="Arial"/>
                <a:cs typeface="Arial"/>
              </a:rPr>
              <a:t>b </a:t>
            </a:r>
            <a:r>
              <a:rPr sz="2400" i="1" spc="-5" dirty="0">
                <a:latin typeface="Arial"/>
                <a:cs typeface="Arial"/>
              </a:rPr>
              <a:t>are the same, then  </a:t>
            </a:r>
            <a:r>
              <a:rPr sz="2400" i="1" dirty="0">
                <a:latin typeface="Arial"/>
                <a:cs typeface="Arial"/>
              </a:rPr>
              <a:t>the </a:t>
            </a:r>
            <a:r>
              <a:rPr sz="2400" i="1" spc="-5" dirty="0">
                <a:latin typeface="Arial"/>
                <a:cs typeface="Arial"/>
              </a:rPr>
              <a:t>matrix produced by adding corresponding items,  namely those with identical row and column values </a:t>
            </a:r>
            <a:r>
              <a:rPr sz="2400" i="1" dirty="0">
                <a:latin typeface="Arial"/>
                <a:cs typeface="Arial"/>
              </a:rPr>
              <a:t>is  </a:t>
            </a:r>
            <a:r>
              <a:rPr sz="2400" i="1" spc="-5" dirty="0">
                <a:latin typeface="Arial"/>
                <a:cs typeface="Arial"/>
              </a:rPr>
              <a:t>returned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b="1" i="1" spc="-5" dirty="0">
                <a:latin typeface="Arial"/>
                <a:cs typeface="Arial"/>
              </a:rPr>
              <a:t>else </a:t>
            </a:r>
            <a:r>
              <a:rPr sz="2400" i="1" spc="-5" dirty="0">
                <a:latin typeface="Arial"/>
                <a:cs typeface="Arial"/>
              </a:rPr>
              <a:t>error.</a:t>
            </a:r>
            <a:r>
              <a:rPr sz="2400" i="1" spc="-8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*/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8034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SparseMatrix Multiply</a:t>
            </a:r>
            <a:r>
              <a:rPr sz="2400" i="1" spc="-5" dirty="0">
                <a:latin typeface="Arial"/>
                <a:cs typeface="Arial"/>
              </a:rPr>
              <a:t>(</a:t>
            </a:r>
            <a:r>
              <a:rPr sz="2400" spc="-5" dirty="0">
                <a:latin typeface="Arial"/>
                <a:cs typeface="Arial"/>
              </a:rPr>
              <a:t>SparseMatrix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b);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99900"/>
              </a:lnSpc>
            </a:pPr>
            <a:r>
              <a:rPr sz="2400" i="1" dirty="0">
                <a:latin typeface="Arial"/>
                <a:cs typeface="Arial"/>
              </a:rPr>
              <a:t>/* </a:t>
            </a:r>
            <a:r>
              <a:rPr sz="2400" b="1" i="1" spc="-5" dirty="0">
                <a:latin typeface="Arial"/>
                <a:cs typeface="Arial"/>
              </a:rPr>
              <a:t>if </a:t>
            </a:r>
            <a:r>
              <a:rPr sz="2400" i="1" spc="-5" dirty="0">
                <a:latin typeface="Arial"/>
                <a:cs typeface="Arial"/>
              </a:rPr>
              <a:t>number of columns in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i="1" spc="-5" dirty="0">
                <a:latin typeface="Arial"/>
                <a:cs typeface="Arial"/>
              </a:rPr>
              <a:t>(*</a:t>
            </a:r>
            <a:r>
              <a:rPr sz="2400" b="1" i="1" spc="-5" dirty="0">
                <a:latin typeface="Arial"/>
                <a:cs typeface="Arial"/>
              </a:rPr>
              <a:t>this</a:t>
            </a:r>
            <a:r>
              <a:rPr sz="2400" i="1" spc="-5" dirty="0">
                <a:latin typeface="Arial"/>
                <a:cs typeface="Arial"/>
              </a:rPr>
              <a:t>) equals number of rows  in </a:t>
            </a:r>
            <a:r>
              <a:rPr sz="2400" i="1" dirty="0">
                <a:latin typeface="Arial"/>
                <a:cs typeface="Arial"/>
              </a:rPr>
              <a:t>b </a:t>
            </a:r>
            <a:r>
              <a:rPr sz="2400" i="1" spc="-5" dirty="0">
                <a:latin typeface="Arial"/>
                <a:cs typeface="Arial"/>
              </a:rPr>
              <a:t>then the matrix </a:t>
            </a:r>
            <a:r>
              <a:rPr sz="2400" i="1" dirty="0">
                <a:latin typeface="Arial"/>
                <a:cs typeface="Arial"/>
              </a:rPr>
              <a:t>d </a:t>
            </a:r>
            <a:r>
              <a:rPr sz="2400" i="1" spc="-5" dirty="0">
                <a:latin typeface="Arial"/>
                <a:cs typeface="Arial"/>
              </a:rPr>
              <a:t>produced by multiplying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i="1" spc="-5" dirty="0">
                <a:latin typeface="Arial"/>
                <a:cs typeface="Arial"/>
              </a:rPr>
              <a:t>by </a:t>
            </a:r>
            <a:r>
              <a:rPr sz="2400" i="1" dirty="0">
                <a:latin typeface="Arial"/>
                <a:cs typeface="Arial"/>
              </a:rPr>
              <a:t>b  </a:t>
            </a:r>
            <a:r>
              <a:rPr sz="2400" i="1" spc="-5" dirty="0">
                <a:latin typeface="Arial"/>
                <a:cs typeface="Arial"/>
              </a:rPr>
              <a:t>according to the formula d[i][j] </a:t>
            </a:r>
            <a:r>
              <a:rPr sz="2400" i="1" dirty="0">
                <a:latin typeface="Arial"/>
                <a:cs typeface="Arial"/>
              </a:rPr>
              <a:t>= </a:t>
            </a:r>
            <a:r>
              <a:rPr sz="2400" i="1" spc="-5" dirty="0">
                <a:latin typeface="Arial"/>
                <a:cs typeface="Arial"/>
              </a:rPr>
              <a:t>Σ(a[i][k] </a:t>
            </a:r>
            <a:r>
              <a:rPr sz="2400" i="1" dirty="0">
                <a:latin typeface="Arial"/>
                <a:cs typeface="Arial"/>
              </a:rPr>
              <a:t>. </a:t>
            </a:r>
            <a:r>
              <a:rPr sz="2400" i="1" spc="-5" dirty="0">
                <a:latin typeface="Arial"/>
                <a:cs typeface="Arial"/>
              </a:rPr>
              <a:t>b[k][j]), where  d[i][j] is the (i, j)th element, is returned. </a:t>
            </a:r>
            <a:r>
              <a:rPr sz="2400" i="1" dirty="0">
                <a:latin typeface="Arial"/>
                <a:cs typeface="Arial"/>
              </a:rPr>
              <a:t>k </a:t>
            </a:r>
            <a:r>
              <a:rPr sz="2400" i="1" spc="-5" dirty="0">
                <a:latin typeface="Arial"/>
                <a:cs typeface="Arial"/>
              </a:rPr>
              <a:t>ranges from </a:t>
            </a:r>
            <a:r>
              <a:rPr sz="2400" i="1" dirty="0">
                <a:latin typeface="Arial"/>
                <a:cs typeface="Arial"/>
              </a:rPr>
              <a:t>0 </a:t>
            </a:r>
            <a:r>
              <a:rPr sz="2400" i="1" spc="-5" dirty="0">
                <a:latin typeface="Arial"/>
                <a:cs typeface="Arial"/>
              </a:rPr>
              <a:t>to  the number of columns in </a:t>
            </a:r>
            <a:r>
              <a:rPr sz="2400" i="1" dirty="0">
                <a:latin typeface="Arial"/>
                <a:cs typeface="Arial"/>
              </a:rPr>
              <a:t>a </a:t>
            </a:r>
            <a:r>
              <a:rPr sz="2400" i="1" dirty="0">
                <a:latin typeface="Times New Roman"/>
                <a:cs typeface="Times New Roman"/>
              </a:rPr>
              <a:t>–</a:t>
            </a:r>
            <a:r>
              <a:rPr sz="2400" i="1" spc="4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400" b="1" i="1" spc="-5" dirty="0">
                <a:latin typeface="Arial"/>
                <a:cs typeface="Arial"/>
              </a:rPr>
              <a:t>else</a:t>
            </a:r>
            <a:r>
              <a:rPr sz="2400" b="1" i="1" spc="-10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error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*/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Sparse Matrix Representation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4286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7047" y="2364994"/>
            <a:ext cx="7382509" cy="3715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Use triple &lt;row, </a:t>
            </a:r>
            <a:r>
              <a:rPr sz="3200" spc="-10" dirty="0">
                <a:latin typeface="Arial"/>
                <a:cs typeface="Arial"/>
              </a:rPr>
              <a:t>column,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value&gt;</a:t>
            </a:r>
            <a:endParaRPr sz="3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Store triples row by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row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For all triples within a row, their </a:t>
            </a:r>
            <a:r>
              <a:rPr sz="3200" spc="-10" dirty="0">
                <a:latin typeface="Arial"/>
                <a:cs typeface="Arial"/>
              </a:rPr>
              <a:t>column  indices </a:t>
            </a:r>
            <a:r>
              <a:rPr sz="3200" spc="-5" dirty="0">
                <a:latin typeface="Arial"/>
                <a:cs typeface="Arial"/>
              </a:rPr>
              <a:t>are in </a:t>
            </a:r>
            <a:r>
              <a:rPr sz="3200" spc="-10" dirty="0">
                <a:latin typeface="Arial"/>
                <a:cs typeface="Arial"/>
              </a:rPr>
              <a:t>ascending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order.</a:t>
            </a:r>
            <a:endParaRPr sz="3200">
              <a:latin typeface="Arial"/>
              <a:cs typeface="Arial"/>
            </a:endParaRPr>
          </a:p>
          <a:p>
            <a:pPr marL="355600" marR="502920" indent="-342900" algn="just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Must know the </a:t>
            </a:r>
            <a:r>
              <a:rPr sz="3200" spc="-10" dirty="0">
                <a:latin typeface="Arial"/>
                <a:cs typeface="Arial"/>
              </a:rPr>
              <a:t>numbers </a:t>
            </a:r>
            <a:r>
              <a:rPr sz="3200" spc="-5" dirty="0">
                <a:latin typeface="Arial"/>
                <a:cs typeface="Arial"/>
              </a:rPr>
              <a:t>of rows </a:t>
            </a:r>
            <a:r>
              <a:rPr sz="3200" spc="-10" dirty="0">
                <a:latin typeface="Arial"/>
                <a:cs typeface="Arial"/>
              </a:rPr>
              <a:t>and  columns </a:t>
            </a:r>
            <a:r>
              <a:rPr sz="3200" spc="-5" dirty="0">
                <a:latin typeface="Arial"/>
                <a:cs typeface="Arial"/>
              </a:rPr>
              <a:t>and the </a:t>
            </a:r>
            <a:r>
              <a:rPr sz="3200" spc="-10" dirty="0">
                <a:latin typeface="Arial"/>
                <a:cs typeface="Arial"/>
              </a:rPr>
              <a:t>number </a:t>
            </a:r>
            <a:r>
              <a:rPr sz="3200" spc="-5" dirty="0">
                <a:latin typeface="Arial"/>
                <a:cs typeface="Arial"/>
              </a:rPr>
              <a:t>of </a:t>
            </a:r>
            <a:r>
              <a:rPr sz="3200" spc="-10" dirty="0">
                <a:latin typeface="Arial"/>
                <a:cs typeface="Arial"/>
              </a:rPr>
              <a:t>nonzero  elements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6757" y="683514"/>
            <a:ext cx="56686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•Represented by </a:t>
            </a:r>
            <a:r>
              <a:rPr sz="2400" dirty="0">
                <a:latin typeface="Arial"/>
                <a:cs typeface="Arial"/>
              </a:rPr>
              <a:t>a two-dimensional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array.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6745" y="1049273"/>
            <a:ext cx="6993890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•Sparse matrix wastes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space.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•Each element is characterized by </a:t>
            </a:r>
            <a:r>
              <a:rPr sz="2400" spc="-30" dirty="0">
                <a:latin typeface="Arial"/>
                <a:cs typeface="Arial"/>
              </a:rPr>
              <a:t>&lt;row, </a:t>
            </a:r>
            <a:r>
              <a:rPr sz="2400" spc="-5" dirty="0">
                <a:latin typeface="Arial"/>
                <a:cs typeface="Arial"/>
              </a:rPr>
              <a:t>col, value&gt;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43919" y="3938778"/>
            <a:ext cx="863600" cy="360680"/>
          </a:xfrm>
          <a:custGeom>
            <a:avLst/>
            <a:gdLst/>
            <a:ahLst/>
            <a:cxnLst/>
            <a:rect l="l" t="t" r="r" b="b"/>
            <a:pathLst>
              <a:path w="863600" h="360679">
                <a:moveTo>
                  <a:pt x="215646" y="360425"/>
                </a:moveTo>
                <a:lnTo>
                  <a:pt x="215646" y="0"/>
                </a:lnTo>
                <a:lnTo>
                  <a:pt x="0" y="179832"/>
                </a:lnTo>
                <a:lnTo>
                  <a:pt x="215646" y="360425"/>
                </a:lnTo>
                <a:close/>
              </a:path>
              <a:path w="863600" h="360679">
                <a:moveTo>
                  <a:pt x="863346" y="270510"/>
                </a:moveTo>
                <a:lnTo>
                  <a:pt x="863346" y="89916"/>
                </a:lnTo>
                <a:lnTo>
                  <a:pt x="215646" y="89916"/>
                </a:lnTo>
                <a:lnTo>
                  <a:pt x="215646" y="270510"/>
                </a:lnTo>
                <a:lnTo>
                  <a:pt x="863346" y="27051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34013" y="3925061"/>
            <a:ext cx="880110" cy="387985"/>
          </a:xfrm>
          <a:custGeom>
            <a:avLst/>
            <a:gdLst/>
            <a:ahLst/>
            <a:cxnLst/>
            <a:rect l="l" t="t" r="r" b="b"/>
            <a:pathLst>
              <a:path w="880110" h="387985">
                <a:moveTo>
                  <a:pt x="232410" y="97536"/>
                </a:moveTo>
                <a:lnTo>
                  <a:pt x="232410" y="0"/>
                </a:lnTo>
                <a:lnTo>
                  <a:pt x="0" y="193548"/>
                </a:lnTo>
                <a:lnTo>
                  <a:pt x="13716" y="205015"/>
                </a:lnTo>
                <a:lnTo>
                  <a:pt x="13716" y="188975"/>
                </a:lnTo>
                <a:lnTo>
                  <a:pt x="19663" y="193918"/>
                </a:lnTo>
                <a:lnTo>
                  <a:pt x="219456" y="27190"/>
                </a:lnTo>
                <a:lnTo>
                  <a:pt x="219456" y="13715"/>
                </a:lnTo>
                <a:lnTo>
                  <a:pt x="230124" y="18287"/>
                </a:lnTo>
                <a:lnTo>
                  <a:pt x="230124" y="97536"/>
                </a:lnTo>
                <a:lnTo>
                  <a:pt x="232410" y="97536"/>
                </a:lnTo>
                <a:close/>
              </a:path>
              <a:path w="880110" h="387985">
                <a:moveTo>
                  <a:pt x="19663" y="193918"/>
                </a:moveTo>
                <a:lnTo>
                  <a:pt x="13716" y="188975"/>
                </a:lnTo>
                <a:lnTo>
                  <a:pt x="13716" y="198882"/>
                </a:lnTo>
                <a:lnTo>
                  <a:pt x="19663" y="193918"/>
                </a:lnTo>
                <a:close/>
              </a:path>
              <a:path w="880110" h="387985">
                <a:moveTo>
                  <a:pt x="230124" y="368808"/>
                </a:moveTo>
                <a:lnTo>
                  <a:pt x="19663" y="193918"/>
                </a:lnTo>
                <a:lnTo>
                  <a:pt x="13716" y="198882"/>
                </a:lnTo>
                <a:lnTo>
                  <a:pt x="13716" y="205015"/>
                </a:lnTo>
                <a:lnTo>
                  <a:pt x="219456" y="377027"/>
                </a:lnTo>
                <a:lnTo>
                  <a:pt x="219456" y="374141"/>
                </a:lnTo>
                <a:lnTo>
                  <a:pt x="230124" y="368808"/>
                </a:lnTo>
                <a:close/>
              </a:path>
              <a:path w="880110" h="387985">
                <a:moveTo>
                  <a:pt x="230124" y="18287"/>
                </a:moveTo>
                <a:lnTo>
                  <a:pt x="219456" y="13715"/>
                </a:lnTo>
                <a:lnTo>
                  <a:pt x="219456" y="27190"/>
                </a:lnTo>
                <a:lnTo>
                  <a:pt x="230124" y="18287"/>
                </a:lnTo>
                <a:close/>
              </a:path>
              <a:path w="880110" h="387985">
                <a:moveTo>
                  <a:pt x="230124" y="97536"/>
                </a:moveTo>
                <a:lnTo>
                  <a:pt x="230124" y="18287"/>
                </a:lnTo>
                <a:lnTo>
                  <a:pt x="219456" y="27190"/>
                </a:lnTo>
                <a:lnTo>
                  <a:pt x="219456" y="109727"/>
                </a:lnTo>
                <a:lnTo>
                  <a:pt x="225552" y="109727"/>
                </a:lnTo>
                <a:lnTo>
                  <a:pt x="225552" y="97536"/>
                </a:lnTo>
                <a:lnTo>
                  <a:pt x="230124" y="97536"/>
                </a:lnTo>
                <a:close/>
              </a:path>
              <a:path w="880110" h="387985">
                <a:moveTo>
                  <a:pt x="873252" y="277367"/>
                </a:moveTo>
                <a:lnTo>
                  <a:pt x="219456" y="277367"/>
                </a:lnTo>
                <a:lnTo>
                  <a:pt x="219456" y="359943"/>
                </a:lnTo>
                <a:lnTo>
                  <a:pt x="225552" y="365008"/>
                </a:lnTo>
                <a:lnTo>
                  <a:pt x="225552" y="290322"/>
                </a:lnTo>
                <a:lnTo>
                  <a:pt x="232410" y="284225"/>
                </a:lnTo>
                <a:lnTo>
                  <a:pt x="232410" y="290322"/>
                </a:lnTo>
                <a:lnTo>
                  <a:pt x="867156" y="290322"/>
                </a:lnTo>
                <a:lnTo>
                  <a:pt x="867156" y="284225"/>
                </a:lnTo>
                <a:lnTo>
                  <a:pt x="873252" y="277367"/>
                </a:lnTo>
                <a:close/>
              </a:path>
              <a:path w="880110" h="387985">
                <a:moveTo>
                  <a:pt x="230124" y="385946"/>
                </a:moveTo>
                <a:lnTo>
                  <a:pt x="230124" y="368808"/>
                </a:lnTo>
                <a:lnTo>
                  <a:pt x="219456" y="374141"/>
                </a:lnTo>
                <a:lnTo>
                  <a:pt x="219456" y="377027"/>
                </a:lnTo>
                <a:lnTo>
                  <a:pt x="230124" y="385946"/>
                </a:lnTo>
                <a:close/>
              </a:path>
              <a:path w="880110" h="387985">
                <a:moveTo>
                  <a:pt x="880110" y="290322"/>
                </a:moveTo>
                <a:lnTo>
                  <a:pt x="880110" y="97536"/>
                </a:lnTo>
                <a:lnTo>
                  <a:pt x="225552" y="97536"/>
                </a:lnTo>
                <a:lnTo>
                  <a:pt x="232410" y="103632"/>
                </a:lnTo>
                <a:lnTo>
                  <a:pt x="232410" y="109727"/>
                </a:lnTo>
                <a:lnTo>
                  <a:pt x="867156" y="109727"/>
                </a:lnTo>
                <a:lnTo>
                  <a:pt x="867156" y="103632"/>
                </a:lnTo>
                <a:lnTo>
                  <a:pt x="873252" y="109727"/>
                </a:lnTo>
                <a:lnTo>
                  <a:pt x="873252" y="290322"/>
                </a:lnTo>
                <a:lnTo>
                  <a:pt x="880110" y="290322"/>
                </a:lnTo>
                <a:close/>
              </a:path>
              <a:path w="880110" h="387985">
                <a:moveTo>
                  <a:pt x="232410" y="109727"/>
                </a:moveTo>
                <a:lnTo>
                  <a:pt x="232410" y="103632"/>
                </a:lnTo>
                <a:lnTo>
                  <a:pt x="225552" y="97536"/>
                </a:lnTo>
                <a:lnTo>
                  <a:pt x="225552" y="109727"/>
                </a:lnTo>
                <a:lnTo>
                  <a:pt x="232410" y="109727"/>
                </a:lnTo>
                <a:close/>
              </a:path>
              <a:path w="880110" h="387985">
                <a:moveTo>
                  <a:pt x="232410" y="290322"/>
                </a:moveTo>
                <a:lnTo>
                  <a:pt x="232410" y="284225"/>
                </a:lnTo>
                <a:lnTo>
                  <a:pt x="225552" y="290322"/>
                </a:lnTo>
                <a:lnTo>
                  <a:pt x="232410" y="290322"/>
                </a:lnTo>
                <a:close/>
              </a:path>
              <a:path w="880110" h="387985">
                <a:moveTo>
                  <a:pt x="232410" y="387858"/>
                </a:moveTo>
                <a:lnTo>
                  <a:pt x="232410" y="290322"/>
                </a:lnTo>
                <a:lnTo>
                  <a:pt x="225552" y="290322"/>
                </a:lnTo>
                <a:lnTo>
                  <a:pt x="225552" y="365008"/>
                </a:lnTo>
                <a:lnTo>
                  <a:pt x="230124" y="368808"/>
                </a:lnTo>
                <a:lnTo>
                  <a:pt x="230124" y="385946"/>
                </a:lnTo>
                <a:lnTo>
                  <a:pt x="232410" y="387858"/>
                </a:lnTo>
                <a:close/>
              </a:path>
              <a:path w="880110" h="387985">
                <a:moveTo>
                  <a:pt x="873252" y="109727"/>
                </a:moveTo>
                <a:lnTo>
                  <a:pt x="867156" y="103632"/>
                </a:lnTo>
                <a:lnTo>
                  <a:pt x="867156" y="109727"/>
                </a:lnTo>
                <a:lnTo>
                  <a:pt x="873252" y="109727"/>
                </a:lnTo>
                <a:close/>
              </a:path>
              <a:path w="880110" h="387985">
                <a:moveTo>
                  <a:pt x="873252" y="277367"/>
                </a:moveTo>
                <a:lnTo>
                  <a:pt x="873252" y="109727"/>
                </a:lnTo>
                <a:lnTo>
                  <a:pt x="867156" y="109727"/>
                </a:lnTo>
                <a:lnTo>
                  <a:pt x="867156" y="277367"/>
                </a:lnTo>
                <a:lnTo>
                  <a:pt x="873252" y="277367"/>
                </a:lnTo>
                <a:close/>
              </a:path>
              <a:path w="880110" h="387985">
                <a:moveTo>
                  <a:pt x="873252" y="290322"/>
                </a:moveTo>
                <a:lnTo>
                  <a:pt x="873252" y="277367"/>
                </a:lnTo>
                <a:lnTo>
                  <a:pt x="867156" y="284225"/>
                </a:lnTo>
                <a:lnTo>
                  <a:pt x="867156" y="290322"/>
                </a:lnTo>
                <a:lnTo>
                  <a:pt x="873252" y="2903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43919" y="4659629"/>
            <a:ext cx="863600" cy="359410"/>
          </a:xfrm>
          <a:custGeom>
            <a:avLst/>
            <a:gdLst/>
            <a:ahLst/>
            <a:cxnLst/>
            <a:rect l="l" t="t" r="r" b="b"/>
            <a:pathLst>
              <a:path w="863600" h="359410">
                <a:moveTo>
                  <a:pt x="647700" y="268986"/>
                </a:moveTo>
                <a:lnTo>
                  <a:pt x="647700" y="89154"/>
                </a:lnTo>
                <a:lnTo>
                  <a:pt x="0" y="89154"/>
                </a:lnTo>
                <a:lnTo>
                  <a:pt x="0" y="268986"/>
                </a:lnTo>
                <a:lnTo>
                  <a:pt x="647700" y="268986"/>
                </a:lnTo>
                <a:close/>
              </a:path>
              <a:path w="863600" h="359410">
                <a:moveTo>
                  <a:pt x="863346" y="179070"/>
                </a:moveTo>
                <a:lnTo>
                  <a:pt x="647700" y="0"/>
                </a:lnTo>
                <a:lnTo>
                  <a:pt x="647700" y="358902"/>
                </a:lnTo>
                <a:lnTo>
                  <a:pt x="863346" y="17907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37823" y="4645914"/>
            <a:ext cx="879475" cy="386080"/>
          </a:xfrm>
          <a:custGeom>
            <a:avLst/>
            <a:gdLst/>
            <a:ahLst/>
            <a:cxnLst/>
            <a:rect l="l" t="t" r="r" b="b"/>
            <a:pathLst>
              <a:path w="879475" h="386079">
                <a:moveTo>
                  <a:pt x="653796" y="96774"/>
                </a:moveTo>
                <a:lnTo>
                  <a:pt x="0" y="96774"/>
                </a:lnTo>
                <a:lnTo>
                  <a:pt x="0" y="288798"/>
                </a:lnTo>
                <a:lnTo>
                  <a:pt x="6096" y="288798"/>
                </a:lnTo>
                <a:lnTo>
                  <a:pt x="6096" y="109727"/>
                </a:lnTo>
                <a:lnTo>
                  <a:pt x="12192" y="102870"/>
                </a:lnTo>
                <a:lnTo>
                  <a:pt x="12192" y="109727"/>
                </a:lnTo>
                <a:lnTo>
                  <a:pt x="647700" y="109727"/>
                </a:lnTo>
                <a:lnTo>
                  <a:pt x="647700" y="102870"/>
                </a:lnTo>
                <a:lnTo>
                  <a:pt x="653796" y="96774"/>
                </a:lnTo>
                <a:close/>
              </a:path>
              <a:path w="879475" h="386079">
                <a:moveTo>
                  <a:pt x="12192" y="109727"/>
                </a:moveTo>
                <a:lnTo>
                  <a:pt x="12192" y="102870"/>
                </a:lnTo>
                <a:lnTo>
                  <a:pt x="6096" y="109727"/>
                </a:lnTo>
                <a:lnTo>
                  <a:pt x="12192" y="109727"/>
                </a:lnTo>
                <a:close/>
              </a:path>
              <a:path w="879475" h="386079">
                <a:moveTo>
                  <a:pt x="12192" y="276606"/>
                </a:moveTo>
                <a:lnTo>
                  <a:pt x="12192" y="109727"/>
                </a:lnTo>
                <a:lnTo>
                  <a:pt x="6096" y="109727"/>
                </a:lnTo>
                <a:lnTo>
                  <a:pt x="6096" y="276606"/>
                </a:lnTo>
                <a:lnTo>
                  <a:pt x="12192" y="276606"/>
                </a:lnTo>
                <a:close/>
              </a:path>
              <a:path w="879475" h="386079">
                <a:moveTo>
                  <a:pt x="659892" y="359058"/>
                </a:moveTo>
                <a:lnTo>
                  <a:pt x="659892" y="276606"/>
                </a:lnTo>
                <a:lnTo>
                  <a:pt x="6096" y="276606"/>
                </a:lnTo>
                <a:lnTo>
                  <a:pt x="12192" y="282701"/>
                </a:lnTo>
                <a:lnTo>
                  <a:pt x="12192" y="288798"/>
                </a:lnTo>
                <a:lnTo>
                  <a:pt x="647700" y="288798"/>
                </a:lnTo>
                <a:lnTo>
                  <a:pt x="647700" y="282701"/>
                </a:lnTo>
                <a:lnTo>
                  <a:pt x="653796" y="288798"/>
                </a:lnTo>
                <a:lnTo>
                  <a:pt x="653796" y="364120"/>
                </a:lnTo>
                <a:lnTo>
                  <a:pt x="659892" y="359058"/>
                </a:lnTo>
                <a:close/>
              </a:path>
              <a:path w="879475" h="386079">
                <a:moveTo>
                  <a:pt x="12192" y="288798"/>
                </a:moveTo>
                <a:lnTo>
                  <a:pt x="12192" y="282701"/>
                </a:lnTo>
                <a:lnTo>
                  <a:pt x="6096" y="276606"/>
                </a:lnTo>
                <a:lnTo>
                  <a:pt x="6096" y="288798"/>
                </a:lnTo>
                <a:lnTo>
                  <a:pt x="12192" y="288798"/>
                </a:lnTo>
                <a:close/>
              </a:path>
              <a:path w="879475" h="386079">
                <a:moveTo>
                  <a:pt x="879348" y="192786"/>
                </a:moveTo>
                <a:lnTo>
                  <a:pt x="647700" y="0"/>
                </a:lnTo>
                <a:lnTo>
                  <a:pt x="647700" y="96774"/>
                </a:lnTo>
                <a:lnTo>
                  <a:pt x="649986" y="96774"/>
                </a:lnTo>
                <a:lnTo>
                  <a:pt x="649986" y="18287"/>
                </a:lnTo>
                <a:lnTo>
                  <a:pt x="659892" y="13715"/>
                </a:lnTo>
                <a:lnTo>
                  <a:pt x="659892" y="26548"/>
                </a:lnTo>
                <a:lnTo>
                  <a:pt x="859679" y="193156"/>
                </a:lnTo>
                <a:lnTo>
                  <a:pt x="865632" y="188213"/>
                </a:lnTo>
                <a:lnTo>
                  <a:pt x="865632" y="204200"/>
                </a:lnTo>
                <a:lnTo>
                  <a:pt x="879348" y="192786"/>
                </a:lnTo>
                <a:close/>
              </a:path>
              <a:path w="879475" h="386079">
                <a:moveTo>
                  <a:pt x="653796" y="109727"/>
                </a:moveTo>
                <a:lnTo>
                  <a:pt x="653796" y="96774"/>
                </a:lnTo>
                <a:lnTo>
                  <a:pt x="647700" y="102870"/>
                </a:lnTo>
                <a:lnTo>
                  <a:pt x="647700" y="109727"/>
                </a:lnTo>
                <a:lnTo>
                  <a:pt x="653796" y="109727"/>
                </a:lnTo>
                <a:close/>
              </a:path>
              <a:path w="879475" h="386079">
                <a:moveTo>
                  <a:pt x="653796" y="288798"/>
                </a:moveTo>
                <a:lnTo>
                  <a:pt x="647700" y="282701"/>
                </a:lnTo>
                <a:lnTo>
                  <a:pt x="647700" y="288798"/>
                </a:lnTo>
                <a:lnTo>
                  <a:pt x="653796" y="288798"/>
                </a:lnTo>
                <a:close/>
              </a:path>
              <a:path w="879475" h="386079">
                <a:moveTo>
                  <a:pt x="653796" y="364120"/>
                </a:moveTo>
                <a:lnTo>
                  <a:pt x="653796" y="288798"/>
                </a:lnTo>
                <a:lnTo>
                  <a:pt x="647700" y="288798"/>
                </a:lnTo>
                <a:lnTo>
                  <a:pt x="647700" y="385572"/>
                </a:lnTo>
                <a:lnTo>
                  <a:pt x="649986" y="383669"/>
                </a:lnTo>
                <a:lnTo>
                  <a:pt x="649986" y="367284"/>
                </a:lnTo>
                <a:lnTo>
                  <a:pt x="653796" y="364120"/>
                </a:lnTo>
                <a:close/>
              </a:path>
              <a:path w="879475" h="386079">
                <a:moveTo>
                  <a:pt x="659892" y="26548"/>
                </a:moveTo>
                <a:lnTo>
                  <a:pt x="659892" y="13715"/>
                </a:lnTo>
                <a:lnTo>
                  <a:pt x="649986" y="18287"/>
                </a:lnTo>
                <a:lnTo>
                  <a:pt x="659892" y="26548"/>
                </a:lnTo>
                <a:close/>
              </a:path>
              <a:path w="879475" h="386079">
                <a:moveTo>
                  <a:pt x="659892" y="109727"/>
                </a:moveTo>
                <a:lnTo>
                  <a:pt x="659892" y="26548"/>
                </a:lnTo>
                <a:lnTo>
                  <a:pt x="649986" y="18287"/>
                </a:lnTo>
                <a:lnTo>
                  <a:pt x="649986" y="96774"/>
                </a:lnTo>
                <a:lnTo>
                  <a:pt x="653796" y="96774"/>
                </a:lnTo>
                <a:lnTo>
                  <a:pt x="653796" y="109727"/>
                </a:lnTo>
                <a:lnTo>
                  <a:pt x="659892" y="109727"/>
                </a:lnTo>
                <a:close/>
              </a:path>
              <a:path w="879475" h="386079">
                <a:moveTo>
                  <a:pt x="865632" y="204200"/>
                </a:moveTo>
                <a:lnTo>
                  <a:pt x="865632" y="198120"/>
                </a:lnTo>
                <a:lnTo>
                  <a:pt x="859679" y="193156"/>
                </a:lnTo>
                <a:lnTo>
                  <a:pt x="649986" y="367284"/>
                </a:lnTo>
                <a:lnTo>
                  <a:pt x="659892" y="372618"/>
                </a:lnTo>
                <a:lnTo>
                  <a:pt x="659892" y="375425"/>
                </a:lnTo>
                <a:lnTo>
                  <a:pt x="865632" y="204200"/>
                </a:lnTo>
                <a:close/>
              </a:path>
              <a:path w="879475" h="386079">
                <a:moveTo>
                  <a:pt x="659892" y="375425"/>
                </a:moveTo>
                <a:lnTo>
                  <a:pt x="659892" y="372618"/>
                </a:lnTo>
                <a:lnTo>
                  <a:pt x="649986" y="367284"/>
                </a:lnTo>
                <a:lnTo>
                  <a:pt x="649986" y="383669"/>
                </a:lnTo>
                <a:lnTo>
                  <a:pt x="659892" y="375425"/>
                </a:lnTo>
                <a:close/>
              </a:path>
              <a:path w="879475" h="386079">
                <a:moveTo>
                  <a:pt x="865632" y="198120"/>
                </a:moveTo>
                <a:lnTo>
                  <a:pt x="865632" y="188213"/>
                </a:lnTo>
                <a:lnTo>
                  <a:pt x="859679" y="193156"/>
                </a:lnTo>
                <a:lnTo>
                  <a:pt x="865632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742452" y="2057354"/>
          <a:ext cx="7141976" cy="44909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346"/>
                <a:gridCol w="427268"/>
                <a:gridCol w="529661"/>
                <a:gridCol w="1627932"/>
                <a:gridCol w="1569170"/>
                <a:gridCol w="538857"/>
                <a:gridCol w="525806"/>
                <a:gridCol w="943936"/>
              </a:tblGrid>
              <a:tr h="366212">
                <a:tc gridSpan="2">
                  <a:txBody>
                    <a:bodyPr/>
                    <a:lstStyle/>
                    <a:p>
                      <a:pPr marL="873125">
                        <a:lnSpc>
                          <a:spcPts val="23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row</a:t>
                      </a:r>
                      <a:endParaRPr sz="20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37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col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ts val="23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value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37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row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237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col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ts val="2370"/>
                        </a:lnSpc>
                      </a:pPr>
                      <a:r>
                        <a:rPr sz="2000" b="1" spc="-5" dirty="0">
                          <a:latin typeface="Courier New"/>
                          <a:cs typeface="Courier New"/>
                        </a:rPr>
                        <a:t>value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40253">
                <a:tc gridSpan="2">
                  <a:txBody>
                    <a:bodyPr/>
                    <a:lstStyle/>
                    <a:p>
                      <a:pPr marL="22225">
                        <a:lnSpc>
                          <a:spcPts val="300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a[0]</a:t>
                      </a:r>
                      <a:r>
                        <a:rPr sz="2800" b="1" spc="-1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300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300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00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b[0]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300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300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ts val="300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3">
                <a:tc gridSpan="2">
                  <a:txBody>
                    <a:bodyPr/>
                    <a:lstStyle/>
                    <a:p>
                      <a:pPr marL="233679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[1]</a:t>
                      </a:r>
                      <a:r>
                        <a:rPr sz="2800" b="1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[1]</a:t>
                      </a:r>
                      <a:endParaRPr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030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91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 gridSpan="2">
                  <a:txBody>
                    <a:bodyPr/>
                    <a:lstStyle/>
                    <a:p>
                      <a:pPr marL="233679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[2]</a:t>
                      </a:r>
                      <a:r>
                        <a:rPr sz="2800" b="1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-15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11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91293">
                <a:tc gridSpan="2">
                  <a:txBody>
                    <a:bodyPr/>
                    <a:lstStyle/>
                    <a:p>
                      <a:pPr marL="233679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[3]</a:t>
                      </a:r>
                      <a:r>
                        <a:rPr sz="2800" b="1" spc="-12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11</a:t>
                      </a:r>
                      <a:endParaRPr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[3]</a:t>
                      </a:r>
                      <a:endParaRPr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935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531144">
                <a:tc gridSpan="8">
                  <a:txBody>
                    <a:bodyPr/>
                    <a:lstStyle/>
                    <a:p>
                      <a:pPr marL="233679">
                        <a:lnSpc>
                          <a:spcPts val="3175"/>
                        </a:lnSpc>
                        <a:tabLst>
                          <a:tab pos="2360930" algn="l"/>
                          <a:tab pos="4485005" algn="l"/>
                          <a:tab pos="6400165" algn="l"/>
                        </a:tabLst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[4]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2	3</a:t>
                      </a:r>
                      <a:r>
                        <a:rPr sz="2800" b="1" spc="3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3600" spc="-7" baseline="-31250" dirty="0">
                          <a:latin typeface="Arial"/>
                          <a:cs typeface="Arial"/>
                        </a:rPr>
                        <a:t>transpose	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[4]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2800" b="1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800" b="1" dirty="0">
                          <a:latin typeface="Courier New"/>
                          <a:cs typeface="Courier New"/>
                        </a:rPr>
                        <a:t>5	</a:t>
                      </a:r>
                      <a:r>
                        <a:rPr sz="2800" b="1" spc="-5" dirty="0">
                          <a:latin typeface="Courier New"/>
                          <a:cs typeface="Courier New"/>
                        </a:rPr>
                        <a:t>28</a:t>
                      </a:r>
                      <a:endParaRPr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57722">
                <a:tc>
                  <a:txBody>
                    <a:bodyPr/>
                    <a:lstStyle/>
                    <a:p>
                      <a:pPr marR="97155" algn="r">
                        <a:lnSpc>
                          <a:spcPts val="235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235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235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-6</a:t>
                      </a:r>
                      <a:endParaRPr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35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ts val="235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35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ts val="235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91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-6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91293">
                <a:tc>
                  <a:txBody>
                    <a:bodyPr/>
                    <a:lstStyle/>
                    <a:p>
                      <a:pPr marR="9715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[7]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3360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28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[7]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-15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89518">
                <a:tc gridSpan="8">
                  <a:txBody>
                    <a:bodyPr/>
                    <a:lstStyle/>
                    <a:p>
                      <a:pPr marL="1663064">
                        <a:lnSpc>
                          <a:spcPct val="100000"/>
                        </a:lnSpc>
                        <a:spcBef>
                          <a:spcPts val="500"/>
                        </a:spcBef>
                        <a:tabLst>
                          <a:tab pos="5739765" algn="l"/>
                        </a:tabLst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(a)	(b)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48967" y="6276085"/>
            <a:ext cx="4956810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40" dirty="0">
                <a:solidFill>
                  <a:srgbClr val="FF3300"/>
                </a:solidFill>
                <a:latin typeface="Arial"/>
                <a:cs typeface="Arial"/>
              </a:rPr>
              <a:t>row,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column in ascending</a:t>
            </a:r>
            <a:r>
              <a:rPr sz="2800" spc="-2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order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3573" y="1890521"/>
            <a:ext cx="9398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0" spc="-5" dirty="0">
                <a:solidFill>
                  <a:srgbClr val="000000"/>
                </a:solidFill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58567" y="1890521"/>
            <a:ext cx="29470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SparseMatrix;</a:t>
            </a:r>
            <a:r>
              <a:rPr sz="2400" b="1" spc="-1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//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61430" y="1890521"/>
            <a:ext cx="130556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forward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22184" y="1890521"/>
            <a:ext cx="20370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declaration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3573" y="2622041"/>
            <a:ext cx="9398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8414" y="2622041"/>
            <a:ext cx="221615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MatrixTerm</a:t>
            </a:r>
            <a:r>
              <a:rPr sz="2400" b="1" spc="-1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{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28570" y="2987802"/>
            <a:ext cx="22174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friend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class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00707" y="2987802"/>
            <a:ext cx="221932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SparseMatrix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28570" y="3353561"/>
            <a:ext cx="14884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private: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93569" y="3719321"/>
            <a:ext cx="239966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int row,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col,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48890" y="3719321"/>
            <a:ext cx="11226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value;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4839" y="2920745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305225" y="4816602"/>
            <a:ext cx="240220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SparseMatrix: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63573" y="4085082"/>
            <a:ext cx="1489075" cy="149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};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class  privat</a:t>
            </a:r>
            <a:r>
              <a:rPr sz="2400" b="1" dirty="0">
                <a:latin typeface="Courier New"/>
                <a:cs typeface="Courier New"/>
              </a:rPr>
              <a:t>e: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028570" y="5548121"/>
            <a:ext cx="276479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int Rows,</a:t>
            </a:r>
            <a:r>
              <a:rPr sz="2400" b="1" spc="-114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Cols,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48859" y="5548121"/>
            <a:ext cx="112268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Terms;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8570" y="5913882"/>
            <a:ext cx="185293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MatrixTerm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35953" y="5913882"/>
            <a:ext cx="331533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smArray[MaxTerms];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56330" y="521715"/>
            <a:ext cx="4402455" cy="68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30" dirty="0"/>
              <a:t>Transpose </a:t>
            </a:r>
            <a:r>
              <a:rPr spc="-5" dirty="0"/>
              <a:t>a</a:t>
            </a:r>
            <a:r>
              <a:rPr spc="-40" dirty="0"/>
              <a:t> </a:t>
            </a:r>
            <a:r>
              <a:rPr spc="-5" dirty="0"/>
              <a:t>Matrix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32977" y="1568958"/>
            <a:ext cx="7613650" cy="4765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8630" indent="-455930">
              <a:lnSpc>
                <a:spcPct val="100000"/>
              </a:lnSpc>
              <a:buAutoNum type="arabicParenBoth"/>
              <a:tabLst>
                <a:tab pos="469265" algn="l"/>
              </a:tabLst>
            </a:pPr>
            <a:r>
              <a:rPr sz="2400" spc="-5" dirty="0">
                <a:latin typeface="Arial"/>
                <a:cs typeface="Arial"/>
              </a:rPr>
              <a:t>For each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row</a:t>
            </a:r>
            <a:r>
              <a:rPr sz="2400" spc="-6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</a:t>
            </a:r>
          </a:p>
          <a:p>
            <a:pPr marL="102171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take element </a:t>
            </a:r>
            <a:r>
              <a:rPr sz="2400" dirty="0">
                <a:latin typeface="Arial"/>
                <a:cs typeface="Arial"/>
              </a:rPr>
              <a:t>&lt;i, j, </a:t>
            </a:r>
            <a:r>
              <a:rPr sz="2400" spc="-5" dirty="0">
                <a:latin typeface="Arial"/>
                <a:cs typeface="Arial"/>
              </a:rPr>
              <a:t>value&gt; and store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it</a:t>
            </a:r>
          </a:p>
          <a:p>
            <a:pPr marL="102235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in element &lt;j, i, value&gt; of the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transpose.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432434" marR="2590165" algn="ctr">
              <a:lnSpc>
                <a:spcPct val="100000"/>
              </a:lnSpc>
              <a:tabLst>
                <a:tab pos="1820545" algn="l"/>
                <a:tab pos="2877185" algn="l"/>
              </a:tabLst>
            </a:pPr>
            <a:r>
              <a:rPr sz="2400" spc="-10" dirty="0">
                <a:latin typeface="Arial"/>
                <a:cs typeface="Arial"/>
              </a:rPr>
              <a:t>difficulty: </a:t>
            </a:r>
            <a:r>
              <a:rPr sz="2400" spc="-5" dirty="0">
                <a:solidFill>
                  <a:srgbClr val="3365CC"/>
                </a:solidFill>
                <a:latin typeface="Arial"/>
                <a:cs typeface="Arial"/>
              </a:rPr>
              <a:t>where to put &lt;j, i, value&gt;  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 15)	====&gt;	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15)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tabLst>
                <a:tab pos="2314575" algn="l"/>
                <a:tab pos="3371850" algn="l"/>
              </a:tabLst>
            </a:pPr>
            <a:r>
              <a:rPr sz="2400" spc="-5" dirty="0">
                <a:latin typeface="Arial"/>
                <a:cs typeface="Arial"/>
              </a:rPr>
              <a:t>(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3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 22)	====&gt;	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3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22)</a:t>
            </a:r>
            <a:endParaRPr sz="2400" dirty="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  <a:tabLst>
                <a:tab pos="3390265" algn="l"/>
              </a:tabLst>
            </a:pPr>
            <a:r>
              <a:rPr sz="2400" spc="-5" dirty="0">
                <a:latin typeface="Arial"/>
                <a:cs typeface="Arial"/>
              </a:rPr>
              <a:t>(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5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 -15) ====&gt;	</a:t>
            </a:r>
            <a:r>
              <a:rPr sz="2400" spc="-10" dirty="0">
                <a:latin typeface="Arial"/>
                <a:cs typeface="Arial"/>
              </a:rPr>
              <a:t>(</a:t>
            </a:r>
            <a:r>
              <a:rPr sz="2400" spc="-10" dirty="0">
                <a:solidFill>
                  <a:srgbClr val="FF3300"/>
                </a:solidFill>
                <a:latin typeface="Arial"/>
                <a:cs typeface="Arial"/>
              </a:rPr>
              <a:t>5</a:t>
            </a:r>
            <a:r>
              <a:rPr sz="2400" spc="-10" dirty="0">
                <a:latin typeface="Arial"/>
                <a:cs typeface="Arial"/>
              </a:rPr>
              <a:t>,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-15)</a:t>
            </a:r>
            <a:endParaRPr sz="2400" dirty="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tabLst>
                <a:tab pos="3264535" algn="l"/>
              </a:tabLst>
            </a:pPr>
            <a:r>
              <a:rPr sz="2400" spc="-5" dirty="0">
                <a:latin typeface="Arial"/>
                <a:cs typeface="Arial"/>
              </a:rPr>
              <a:t>(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11)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====&gt;	(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,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1</a:t>
            </a:r>
            <a:r>
              <a:rPr sz="2400" spc="-5" dirty="0">
                <a:latin typeface="Arial"/>
                <a:cs typeface="Arial"/>
              </a:rPr>
              <a:t>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11)</a:t>
            </a:r>
            <a:endParaRPr sz="2400" dirty="0">
              <a:latin typeface="Arial"/>
              <a:cs typeface="Arial"/>
            </a:endParaRPr>
          </a:p>
          <a:p>
            <a:pPr marL="432434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Move elements down very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often.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arenBoth" startAt="2"/>
              <a:tabLst>
                <a:tab pos="470534" algn="l"/>
              </a:tabLst>
            </a:pPr>
            <a:r>
              <a:rPr sz="2400" spc="-5" dirty="0">
                <a:latin typeface="Arial"/>
                <a:cs typeface="Arial"/>
              </a:rPr>
              <a:t>For all elements in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column</a:t>
            </a:r>
            <a:r>
              <a:rPr sz="2400" spc="-3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j,</a:t>
            </a:r>
            <a:endParaRPr sz="2400" dirty="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place element &lt;i, j, value&gt; in element &lt;j, i, value&gt;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1245" y="1537461"/>
            <a:ext cx="20066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row col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0347" y="1537461"/>
            <a:ext cx="20066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row col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18467" y="2516123"/>
            <a:ext cx="505459" cy="76200"/>
          </a:xfrm>
          <a:custGeom>
            <a:avLst/>
            <a:gdLst/>
            <a:ahLst/>
            <a:cxnLst/>
            <a:rect l="l" t="t" r="r" b="b"/>
            <a:pathLst>
              <a:path w="505460" h="76200">
                <a:moveTo>
                  <a:pt x="76200" y="32003"/>
                </a:moveTo>
                <a:lnTo>
                  <a:pt x="76200" y="0"/>
                </a:lnTo>
                <a:lnTo>
                  <a:pt x="0" y="38099"/>
                </a:lnTo>
                <a:lnTo>
                  <a:pt x="64007" y="70103"/>
                </a:lnTo>
                <a:lnTo>
                  <a:pt x="64007" y="32003"/>
                </a:lnTo>
                <a:lnTo>
                  <a:pt x="76200" y="32003"/>
                </a:lnTo>
                <a:close/>
              </a:path>
              <a:path w="505460" h="76200">
                <a:moveTo>
                  <a:pt x="505205" y="44957"/>
                </a:moveTo>
                <a:lnTo>
                  <a:pt x="505205" y="32003"/>
                </a:lnTo>
                <a:lnTo>
                  <a:pt x="64007" y="32003"/>
                </a:lnTo>
                <a:lnTo>
                  <a:pt x="64007" y="44957"/>
                </a:lnTo>
                <a:lnTo>
                  <a:pt x="505205" y="44957"/>
                </a:lnTo>
                <a:close/>
              </a:path>
              <a:path w="505460" h="76200">
                <a:moveTo>
                  <a:pt x="76200" y="76199"/>
                </a:moveTo>
                <a:lnTo>
                  <a:pt x="76200" y="44957"/>
                </a:lnTo>
                <a:lnTo>
                  <a:pt x="64007" y="44957"/>
                </a:lnTo>
                <a:lnTo>
                  <a:pt x="64007" y="70103"/>
                </a:lnTo>
                <a:lnTo>
                  <a:pt x="76200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50071" y="2545079"/>
            <a:ext cx="433705" cy="76200"/>
          </a:xfrm>
          <a:custGeom>
            <a:avLst/>
            <a:gdLst/>
            <a:ahLst/>
            <a:cxnLst/>
            <a:rect l="l" t="t" r="r" b="b"/>
            <a:pathLst>
              <a:path w="433705" h="76200">
                <a:moveTo>
                  <a:pt x="369569" y="44196"/>
                </a:moveTo>
                <a:lnTo>
                  <a:pt x="369569" y="31242"/>
                </a:lnTo>
                <a:lnTo>
                  <a:pt x="0" y="31242"/>
                </a:lnTo>
                <a:lnTo>
                  <a:pt x="0" y="44196"/>
                </a:lnTo>
                <a:lnTo>
                  <a:pt x="369569" y="44196"/>
                </a:lnTo>
                <a:close/>
              </a:path>
              <a:path w="433705" h="76200">
                <a:moveTo>
                  <a:pt x="433578" y="38100"/>
                </a:moveTo>
                <a:lnTo>
                  <a:pt x="357378" y="0"/>
                </a:lnTo>
                <a:lnTo>
                  <a:pt x="357378" y="31242"/>
                </a:lnTo>
                <a:lnTo>
                  <a:pt x="369569" y="31242"/>
                </a:lnTo>
                <a:lnTo>
                  <a:pt x="369569" y="70104"/>
                </a:lnTo>
                <a:lnTo>
                  <a:pt x="433578" y="38100"/>
                </a:lnTo>
                <a:close/>
              </a:path>
              <a:path w="433705" h="76200">
                <a:moveTo>
                  <a:pt x="369569" y="70104"/>
                </a:moveTo>
                <a:lnTo>
                  <a:pt x="369569" y="44196"/>
                </a:lnTo>
                <a:lnTo>
                  <a:pt x="357378" y="44196"/>
                </a:lnTo>
                <a:lnTo>
                  <a:pt x="357378" y="76200"/>
                </a:lnTo>
                <a:lnTo>
                  <a:pt x="369569" y="70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46839" y="2943605"/>
            <a:ext cx="432434" cy="834390"/>
          </a:xfrm>
          <a:custGeom>
            <a:avLst/>
            <a:gdLst/>
            <a:ahLst/>
            <a:cxnLst/>
            <a:rect l="l" t="t" r="r" b="b"/>
            <a:pathLst>
              <a:path w="432435" h="834389">
                <a:moveTo>
                  <a:pt x="68579" y="50292"/>
                </a:moveTo>
                <a:lnTo>
                  <a:pt x="0" y="0"/>
                </a:lnTo>
                <a:lnTo>
                  <a:pt x="762" y="84581"/>
                </a:lnTo>
                <a:lnTo>
                  <a:pt x="23621" y="73023"/>
                </a:lnTo>
                <a:lnTo>
                  <a:pt x="23621" y="59436"/>
                </a:lnTo>
                <a:lnTo>
                  <a:pt x="35051" y="53339"/>
                </a:lnTo>
                <a:lnTo>
                  <a:pt x="40672" y="64402"/>
                </a:lnTo>
                <a:lnTo>
                  <a:pt x="68579" y="50292"/>
                </a:lnTo>
                <a:close/>
              </a:path>
              <a:path w="432435" h="834389">
                <a:moveTo>
                  <a:pt x="40672" y="64402"/>
                </a:moveTo>
                <a:lnTo>
                  <a:pt x="35051" y="53339"/>
                </a:lnTo>
                <a:lnTo>
                  <a:pt x="23621" y="59436"/>
                </a:lnTo>
                <a:lnTo>
                  <a:pt x="29114" y="70246"/>
                </a:lnTo>
                <a:lnTo>
                  <a:pt x="40672" y="64402"/>
                </a:lnTo>
                <a:close/>
              </a:path>
              <a:path w="432435" h="834389">
                <a:moveTo>
                  <a:pt x="29114" y="70246"/>
                </a:moveTo>
                <a:lnTo>
                  <a:pt x="23621" y="59436"/>
                </a:lnTo>
                <a:lnTo>
                  <a:pt x="23621" y="73023"/>
                </a:lnTo>
                <a:lnTo>
                  <a:pt x="29114" y="70246"/>
                </a:lnTo>
                <a:close/>
              </a:path>
              <a:path w="432435" h="834389">
                <a:moveTo>
                  <a:pt x="431919" y="834390"/>
                </a:moveTo>
                <a:lnTo>
                  <a:pt x="40672" y="64402"/>
                </a:lnTo>
                <a:lnTo>
                  <a:pt x="29114" y="70246"/>
                </a:lnTo>
                <a:lnTo>
                  <a:pt x="417392" y="834390"/>
                </a:lnTo>
                <a:lnTo>
                  <a:pt x="431919" y="834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43029" y="3562350"/>
            <a:ext cx="107314" cy="215900"/>
          </a:xfrm>
          <a:custGeom>
            <a:avLst/>
            <a:gdLst/>
            <a:ahLst/>
            <a:cxnLst/>
            <a:rect l="l" t="t" r="r" b="b"/>
            <a:pathLst>
              <a:path w="107314" h="215900">
                <a:moveTo>
                  <a:pt x="70103" y="54101"/>
                </a:moveTo>
                <a:lnTo>
                  <a:pt x="3810" y="0"/>
                </a:lnTo>
                <a:lnTo>
                  <a:pt x="0" y="85344"/>
                </a:lnTo>
                <a:lnTo>
                  <a:pt x="24383" y="74477"/>
                </a:lnTo>
                <a:lnTo>
                  <a:pt x="24383" y="60960"/>
                </a:lnTo>
                <a:lnTo>
                  <a:pt x="35813" y="55625"/>
                </a:lnTo>
                <a:lnTo>
                  <a:pt x="40915" y="67109"/>
                </a:lnTo>
                <a:lnTo>
                  <a:pt x="70103" y="54101"/>
                </a:lnTo>
                <a:close/>
              </a:path>
              <a:path w="107314" h="215900">
                <a:moveTo>
                  <a:pt x="40915" y="67109"/>
                </a:moveTo>
                <a:lnTo>
                  <a:pt x="35813" y="55625"/>
                </a:lnTo>
                <a:lnTo>
                  <a:pt x="24383" y="60960"/>
                </a:lnTo>
                <a:lnTo>
                  <a:pt x="29396" y="72243"/>
                </a:lnTo>
                <a:lnTo>
                  <a:pt x="40915" y="67109"/>
                </a:lnTo>
                <a:close/>
              </a:path>
              <a:path w="107314" h="215900">
                <a:moveTo>
                  <a:pt x="29396" y="72243"/>
                </a:moveTo>
                <a:lnTo>
                  <a:pt x="24383" y="60960"/>
                </a:lnTo>
                <a:lnTo>
                  <a:pt x="24383" y="74477"/>
                </a:lnTo>
                <a:lnTo>
                  <a:pt x="29396" y="72243"/>
                </a:lnTo>
                <a:close/>
              </a:path>
              <a:path w="107314" h="215900">
                <a:moveTo>
                  <a:pt x="106898" y="215646"/>
                </a:moveTo>
                <a:lnTo>
                  <a:pt x="40915" y="67109"/>
                </a:lnTo>
                <a:lnTo>
                  <a:pt x="29396" y="72243"/>
                </a:lnTo>
                <a:lnTo>
                  <a:pt x="93098" y="215646"/>
                </a:lnTo>
                <a:lnTo>
                  <a:pt x="106898" y="215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64231" y="3777996"/>
            <a:ext cx="450215" cy="857250"/>
          </a:xfrm>
          <a:custGeom>
            <a:avLst/>
            <a:gdLst/>
            <a:ahLst/>
            <a:cxnLst/>
            <a:rect l="l" t="t" r="r" b="b"/>
            <a:pathLst>
              <a:path w="450214" h="857250">
                <a:moveTo>
                  <a:pt x="450113" y="857249"/>
                </a:moveTo>
                <a:lnTo>
                  <a:pt x="14527" y="0"/>
                </a:lnTo>
                <a:lnTo>
                  <a:pt x="0" y="0"/>
                </a:lnTo>
                <a:lnTo>
                  <a:pt x="435586" y="857249"/>
                </a:lnTo>
                <a:lnTo>
                  <a:pt x="450113" y="857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36128" y="3777996"/>
            <a:ext cx="394970" cy="857250"/>
          </a:xfrm>
          <a:custGeom>
            <a:avLst/>
            <a:gdLst/>
            <a:ahLst/>
            <a:cxnLst/>
            <a:rect l="l" t="t" r="r" b="b"/>
            <a:pathLst>
              <a:path w="394970" h="857250">
                <a:moveTo>
                  <a:pt x="394606" y="857250"/>
                </a:moveTo>
                <a:lnTo>
                  <a:pt x="13799" y="0"/>
                </a:lnTo>
                <a:lnTo>
                  <a:pt x="0" y="0"/>
                </a:lnTo>
                <a:lnTo>
                  <a:pt x="380807" y="857250"/>
                </a:lnTo>
                <a:lnTo>
                  <a:pt x="394606" y="857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99818" y="4635246"/>
            <a:ext cx="16510" cy="10160"/>
          </a:xfrm>
          <a:custGeom>
            <a:avLst/>
            <a:gdLst/>
            <a:ahLst/>
            <a:cxnLst/>
            <a:rect l="l" t="t" r="r" b="b"/>
            <a:pathLst>
              <a:path w="16510" h="10160">
                <a:moveTo>
                  <a:pt x="16463" y="3809"/>
                </a:moveTo>
                <a:lnTo>
                  <a:pt x="14527" y="0"/>
                </a:lnTo>
                <a:lnTo>
                  <a:pt x="0" y="0"/>
                </a:lnTo>
                <a:lnTo>
                  <a:pt x="5033" y="9905"/>
                </a:lnTo>
                <a:lnTo>
                  <a:pt x="16463" y="38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16935" y="4635246"/>
            <a:ext cx="394970" cy="857250"/>
          </a:xfrm>
          <a:custGeom>
            <a:avLst/>
            <a:gdLst/>
            <a:ahLst/>
            <a:cxnLst/>
            <a:rect l="l" t="t" r="r" b="b"/>
            <a:pathLst>
              <a:path w="394970" h="857250">
                <a:moveTo>
                  <a:pt x="394606" y="857249"/>
                </a:moveTo>
                <a:lnTo>
                  <a:pt x="13799" y="0"/>
                </a:lnTo>
                <a:lnTo>
                  <a:pt x="0" y="0"/>
                </a:lnTo>
                <a:lnTo>
                  <a:pt x="380807" y="857249"/>
                </a:lnTo>
                <a:lnTo>
                  <a:pt x="394606" y="857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97743" y="5492496"/>
            <a:ext cx="19050" cy="16510"/>
          </a:xfrm>
          <a:custGeom>
            <a:avLst/>
            <a:gdLst/>
            <a:ahLst/>
            <a:cxnLst/>
            <a:rect l="l" t="t" r="r" b="b"/>
            <a:pathLst>
              <a:path w="19050" h="16510">
                <a:moveTo>
                  <a:pt x="18538" y="10667"/>
                </a:moveTo>
                <a:lnTo>
                  <a:pt x="13799" y="0"/>
                </a:lnTo>
                <a:lnTo>
                  <a:pt x="0" y="0"/>
                </a:lnTo>
                <a:lnTo>
                  <a:pt x="7108" y="16001"/>
                </a:lnTo>
                <a:lnTo>
                  <a:pt x="18538" y="106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53489" y="5994653"/>
            <a:ext cx="5224780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Iteration 0: scan the array and process  the entries with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col=0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309144"/>
              </p:ext>
            </p:extLst>
          </p:nvPr>
        </p:nvGraphicFramePr>
        <p:xfrm>
          <a:off x="987304" y="2436780"/>
          <a:ext cx="7552387" cy="33610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8538"/>
                <a:gridCol w="1124362"/>
                <a:gridCol w="425558"/>
                <a:gridCol w="426682"/>
                <a:gridCol w="1169266"/>
                <a:gridCol w="1168591"/>
                <a:gridCol w="424512"/>
                <a:gridCol w="426800"/>
                <a:gridCol w="768078"/>
              </a:tblGrid>
              <a:tr h="339059">
                <a:tc>
                  <a:txBody>
                    <a:bodyPr/>
                    <a:lstStyle/>
                    <a:p>
                      <a:pPr marL="22225">
                        <a:lnSpc>
                          <a:spcPts val="2425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CurrentB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ts val="22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a[0]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22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6559" algn="r">
                        <a:lnSpc>
                          <a:spcPts val="22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20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b[0]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2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2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20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5546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289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9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6559" algn="r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89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89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91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52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-15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11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28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30149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-6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58216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2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[7]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925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[7]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25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925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25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-15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1245" y="1537461"/>
            <a:ext cx="20066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row col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0347" y="1537461"/>
            <a:ext cx="20066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row col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50071" y="2545079"/>
            <a:ext cx="433705" cy="76200"/>
          </a:xfrm>
          <a:custGeom>
            <a:avLst/>
            <a:gdLst/>
            <a:ahLst/>
            <a:cxnLst/>
            <a:rect l="l" t="t" r="r" b="b"/>
            <a:pathLst>
              <a:path w="433705" h="76200">
                <a:moveTo>
                  <a:pt x="369569" y="44196"/>
                </a:moveTo>
                <a:lnTo>
                  <a:pt x="369569" y="31242"/>
                </a:lnTo>
                <a:lnTo>
                  <a:pt x="0" y="31242"/>
                </a:lnTo>
                <a:lnTo>
                  <a:pt x="0" y="44196"/>
                </a:lnTo>
                <a:lnTo>
                  <a:pt x="369569" y="44196"/>
                </a:lnTo>
                <a:close/>
              </a:path>
              <a:path w="433705" h="76200">
                <a:moveTo>
                  <a:pt x="433578" y="38100"/>
                </a:moveTo>
                <a:lnTo>
                  <a:pt x="357378" y="0"/>
                </a:lnTo>
                <a:lnTo>
                  <a:pt x="357378" y="31242"/>
                </a:lnTo>
                <a:lnTo>
                  <a:pt x="369569" y="31242"/>
                </a:lnTo>
                <a:lnTo>
                  <a:pt x="369569" y="70104"/>
                </a:lnTo>
                <a:lnTo>
                  <a:pt x="433578" y="38100"/>
                </a:lnTo>
                <a:close/>
              </a:path>
              <a:path w="433705" h="76200">
                <a:moveTo>
                  <a:pt x="369569" y="70104"/>
                </a:moveTo>
                <a:lnTo>
                  <a:pt x="369569" y="44196"/>
                </a:lnTo>
                <a:lnTo>
                  <a:pt x="357378" y="44196"/>
                </a:lnTo>
                <a:lnTo>
                  <a:pt x="357378" y="76200"/>
                </a:lnTo>
                <a:lnTo>
                  <a:pt x="369569" y="70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75688" y="3412235"/>
            <a:ext cx="738505" cy="365760"/>
          </a:xfrm>
          <a:custGeom>
            <a:avLst/>
            <a:gdLst/>
            <a:ahLst/>
            <a:cxnLst/>
            <a:rect l="l" t="t" r="r" b="b"/>
            <a:pathLst>
              <a:path w="738504" h="365760">
                <a:moveTo>
                  <a:pt x="738307" y="11429"/>
                </a:moveTo>
                <a:lnTo>
                  <a:pt x="732211" y="0"/>
                </a:lnTo>
                <a:lnTo>
                  <a:pt x="0" y="365760"/>
                </a:lnTo>
                <a:lnTo>
                  <a:pt x="28977" y="365760"/>
                </a:lnTo>
                <a:lnTo>
                  <a:pt x="738307" y="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46839" y="3777996"/>
            <a:ext cx="158115" cy="71755"/>
          </a:xfrm>
          <a:custGeom>
            <a:avLst/>
            <a:gdLst/>
            <a:ahLst/>
            <a:cxnLst/>
            <a:rect l="l" t="t" r="r" b="b"/>
            <a:pathLst>
              <a:path w="158114" h="71754">
                <a:moveTo>
                  <a:pt x="65561" y="31613"/>
                </a:moveTo>
                <a:lnTo>
                  <a:pt x="51815" y="3809"/>
                </a:lnTo>
                <a:lnTo>
                  <a:pt x="0" y="71627"/>
                </a:lnTo>
                <a:lnTo>
                  <a:pt x="54101" y="71627"/>
                </a:lnTo>
                <a:lnTo>
                  <a:pt x="54101" y="37337"/>
                </a:lnTo>
                <a:lnTo>
                  <a:pt x="65561" y="31613"/>
                </a:lnTo>
                <a:close/>
              </a:path>
              <a:path w="158114" h="71754">
                <a:moveTo>
                  <a:pt x="71300" y="43221"/>
                </a:moveTo>
                <a:lnTo>
                  <a:pt x="65561" y="31613"/>
                </a:lnTo>
                <a:lnTo>
                  <a:pt x="54101" y="37337"/>
                </a:lnTo>
                <a:lnTo>
                  <a:pt x="60197" y="48767"/>
                </a:lnTo>
                <a:lnTo>
                  <a:pt x="71300" y="43221"/>
                </a:lnTo>
                <a:close/>
              </a:path>
              <a:path w="158114" h="71754">
                <a:moveTo>
                  <a:pt x="85343" y="71627"/>
                </a:moveTo>
                <a:lnTo>
                  <a:pt x="71300" y="43221"/>
                </a:lnTo>
                <a:lnTo>
                  <a:pt x="60197" y="48767"/>
                </a:lnTo>
                <a:lnTo>
                  <a:pt x="54101" y="37337"/>
                </a:lnTo>
                <a:lnTo>
                  <a:pt x="54101" y="71627"/>
                </a:lnTo>
                <a:lnTo>
                  <a:pt x="85343" y="71627"/>
                </a:lnTo>
                <a:close/>
              </a:path>
              <a:path w="158114" h="71754">
                <a:moveTo>
                  <a:pt x="157826" y="0"/>
                </a:moveTo>
                <a:lnTo>
                  <a:pt x="128848" y="0"/>
                </a:lnTo>
                <a:lnTo>
                  <a:pt x="65561" y="31613"/>
                </a:lnTo>
                <a:lnTo>
                  <a:pt x="71300" y="43221"/>
                </a:lnTo>
                <a:lnTo>
                  <a:pt x="15782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46839" y="3916679"/>
            <a:ext cx="866140" cy="306070"/>
          </a:xfrm>
          <a:custGeom>
            <a:avLst/>
            <a:gdLst/>
            <a:ahLst/>
            <a:cxnLst/>
            <a:rect l="l" t="t" r="r" b="b"/>
            <a:pathLst>
              <a:path w="866139" h="306070">
                <a:moveTo>
                  <a:pt x="70828" y="263414"/>
                </a:moveTo>
                <a:lnTo>
                  <a:pt x="60959" y="233172"/>
                </a:lnTo>
                <a:lnTo>
                  <a:pt x="0" y="293370"/>
                </a:lnTo>
                <a:lnTo>
                  <a:pt x="58673" y="301827"/>
                </a:lnTo>
                <a:lnTo>
                  <a:pt x="58673" y="267462"/>
                </a:lnTo>
                <a:lnTo>
                  <a:pt x="70828" y="263414"/>
                </a:lnTo>
                <a:close/>
              </a:path>
              <a:path w="866139" h="306070">
                <a:moveTo>
                  <a:pt x="74790" y="275555"/>
                </a:moveTo>
                <a:lnTo>
                  <a:pt x="70828" y="263414"/>
                </a:lnTo>
                <a:lnTo>
                  <a:pt x="58673" y="267462"/>
                </a:lnTo>
                <a:lnTo>
                  <a:pt x="62483" y="279654"/>
                </a:lnTo>
                <a:lnTo>
                  <a:pt x="74790" y="275555"/>
                </a:lnTo>
                <a:close/>
              </a:path>
              <a:path w="866139" h="306070">
                <a:moveTo>
                  <a:pt x="84581" y="305562"/>
                </a:moveTo>
                <a:lnTo>
                  <a:pt x="74790" y="275555"/>
                </a:lnTo>
                <a:lnTo>
                  <a:pt x="62483" y="279654"/>
                </a:lnTo>
                <a:lnTo>
                  <a:pt x="58673" y="267462"/>
                </a:lnTo>
                <a:lnTo>
                  <a:pt x="58673" y="301827"/>
                </a:lnTo>
                <a:lnTo>
                  <a:pt x="84581" y="305562"/>
                </a:lnTo>
                <a:close/>
              </a:path>
              <a:path w="866139" h="306070">
                <a:moveTo>
                  <a:pt x="865631" y="12192"/>
                </a:moveTo>
                <a:lnTo>
                  <a:pt x="861821" y="0"/>
                </a:lnTo>
                <a:lnTo>
                  <a:pt x="70828" y="263414"/>
                </a:lnTo>
                <a:lnTo>
                  <a:pt x="74790" y="275555"/>
                </a:lnTo>
                <a:lnTo>
                  <a:pt x="865631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753489" y="5994653"/>
            <a:ext cx="5224780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Iteration 1: scan the array and process  the entries with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col=1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297176"/>
              </p:ext>
            </p:extLst>
          </p:nvPr>
        </p:nvGraphicFramePr>
        <p:xfrm>
          <a:off x="987304" y="2436780"/>
          <a:ext cx="7552388" cy="3361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8660"/>
                <a:gridCol w="1124240"/>
                <a:gridCol w="425487"/>
                <a:gridCol w="426237"/>
                <a:gridCol w="1169320"/>
                <a:gridCol w="1169054"/>
                <a:gridCol w="424512"/>
                <a:gridCol w="426800"/>
                <a:gridCol w="768078"/>
              </a:tblGrid>
              <a:tr h="339059">
                <a:tc>
                  <a:txBody>
                    <a:bodyPr/>
                    <a:lstStyle/>
                    <a:p>
                      <a:pPr marL="22225">
                        <a:lnSpc>
                          <a:spcPts val="2425"/>
                        </a:lnSpc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CurrentB</a:t>
                      </a:r>
                      <a:endParaRPr sz="24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ts val="22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a[0]</a:t>
                      </a:r>
                      <a:endParaRPr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22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6559" algn="r">
                        <a:lnSpc>
                          <a:spcPts val="22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ts val="22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b[0]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22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22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5546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289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9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6559" algn="r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89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89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89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91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592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-15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6559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11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6559" algn="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28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3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30149"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-6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58222">
                <a:tc>
                  <a:txBody>
                    <a:bodyPr/>
                    <a:lstStyle/>
                    <a:p>
                      <a:endParaRPr sz="280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292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[7]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92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[7]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2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925"/>
                        </a:lnSpc>
                      </a:pPr>
                      <a:r>
                        <a:rPr sz="2800" b="1" dirty="0"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25"/>
                        </a:lnSpc>
                      </a:pPr>
                      <a:r>
                        <a:rPr sz="2800" b="1" spc="-5" dirty="0">
                          <a:latin typeface="Courier New"/>
                          <a:cs typeface="Courier New"/>
                        </a:rPr>
                        <a:t>-15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93697" y="469900"/>
            <a:ext cx="581533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SparseMatrix</a:t>
            </a:r>
            <a:r>
              <a:rPr sz="2000" b="1" spc="3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SparseMatrix::Transpose()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3697" y="744225"/>
            <a:ext cx="551053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// return the transpose of a</a:t>
            </a:r>
            <a:r>
              <a:rPr sz="2000" b="1" spc="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(*this)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93697" y="1018540"/>
            <a:ext cx="2615565" cy="60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  <a:p>
            <a:pPr marL="31623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SparseMatrix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b;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97747" y="1567179"/>
            <a:ext cx="21590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b.Rows =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Cols;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12163" y="1567179"/>
            <a:ext cx="2463165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b = columns in</a:t>
            </a:r>
            <a:r>
              <a:rPr sz="2000" b="1" spc="-5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36348" y="1567179"/>
            <a:ext cx="4140200" cy="60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// rows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in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// columns in b = rows in a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197747" y="1841500"/>
            <a:ext cx="21590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b.Cols =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Rows;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83533" y="2115820"/>
            <a:ext cx="1853564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= terms in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a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36069" y="2115820"/>
            <a:ext cx="2921000" cy="60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271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// terms in</a:t>
            </a:r>
            <a:r>
              <a:rPr sz="2000" b="1" spc="-6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b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// nonzero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matrix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97747" y="2150364"/>
            <a:ext cx="2463800" cy="848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b.Terms =</a:t>
            </a:r>
            <a:r>
              <a:rPr sz="2000" b="1" spc="-5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Terms;  if (Terms &gt;</a:t>
            </a:r>
            <a:r>
              <a:rPr sz="2000" b="1" spc="-6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0)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13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502535" y="2938779"/>
            <a:ext cx="3987165" cy="60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int CurrentB =</a:t>
            </a:r>
            <a:r>
              <a:rPr sz="2000" b="1" spc="-4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0;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</a:pPr>
            <a:r>
              <a:rPr sz="2000" b="1" spc="-5" dirty="0">
                <a:solidFill>
                  <a:srgbClr val="FF3300"/>
                </a:solidFill>
                <a:latin typeface="Courier New"/>
                <a:cs typeface="Courier New"/>
              </a:rPr>
              <a:t>for (int c=0; c&lt;Cols; c++)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807335" y="4036059"/>
            <a:ext cx="3987165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// find elements in column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12135" y="4310379"/>
            <a:ext cx="3682365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if (smArray[i].col ==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02535" y="3487432"/>
            <a:ext cx="5053965" cy="1156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// transpose by</a:t>
            </a:r>
            <a:r>
              <a:rPr sz="2000" b="1" spc="-1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columns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for (int i = 0; i &lt; Terms;</a:t>
            </a:r>
            <a:r>
              <a:rPr sz="2000" b="1" spc="2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i++)</a:t>
            </a:r>
            <a:endParaRPr sz="2000">
              <a:latin typeface="Courier New"/>
              <a:cs typeface="Courier New"/>
            </a:endParaRPr>
          </a:p>
          <a:p>
            <a:pPr marR="461645" algn="r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c</a:t>
            </a:r>
            <a:endParaRPr sz="2000">
              <a:latin typeface="Courier New"/>
              <a:cs typeface="Courier New"/>
            </a:endParaRPr>
          </a:p>
          <a:p>
            <a:pPr marR="461645" algn="r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{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16934" y="4619244"/>
            <a:ext cx="5968365" cy="139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b.smArray[CurrentB].row=c;  b.smArray[CurrentB].col=smArray[i].row;  b.smArray[CurrentB].value=</a:t>
            </a:r>
            <a:endParaRPr sz="2000">
              <a:latin typeface="Courier New"/>
              <a:cs typeface="Courier New"/>
            </a:endParaRPr>
          </a:p>
          <a:p>
            <a:pPr marL="12700" marR="3052445" indent="304165">
              <a:lnSpc>
                <a:spcPts val="2160"/>
              </a:lnSpc>
            </a:pPr>
            <a:r>
              <a:rPr sz="2000" b="1" spc="-5" dirty="0">
                <a:latin typeface="Courier New"/>
                <a:cs typeface="Courier New"/>
              </a:rPr>
              <a:t>smArray[i].value;  CurrentB++;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27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97747" y="5956312"/>
            <a:ext cx="4140200" cy="60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230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  <a:tabLst>
                <a:tab pos="469265" algn="l"/>
              </a:tabLst>
            </a:pPr>
            <a:r>
              <a:rPr sz="2000" b="1" spc="-5" dirty="0">
                <a:latin typeface="Courier New"/>
                <a:cs typeface="Courier New"/>
              </a:rPr>
              <a:t>}	// end of if (Terms &gt;</a:t>
            </a:r>
            <a:r>
              <a:rPr sz="2000" b="1" spc="-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0)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93697" y="6504940"/>
            <a:ext cx="3376929" cy="608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6230">
              <a:lnSpc>
                <a:spcPts val="2280"/>
              </a:lnSpc>
            </a:pPr>
            <a:r>
              <a:rPr sz="2000" b="1" spc="-5" dirty="0">
                <a:latin typeface="Courier New"/>
                <a:cs typeface="Courier New"/>
              </a:rPr>
              <a:t>return</a:t>
            </a:r>
            <a:r>
              <a:rPr sz="2000" b="1" spc="-7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b;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280"/>
              </a:lnSpc>
              <a:tabLst>
                <a:tab pos="469265" algn="l"/>
              </a:tabLst>
            </a:pPr>
            <a:r>
              <a:rPr sz="2000" b="1" spc="-5" dirty="0">
                <a:latin typeface="Courier New"/>
                <a:cs typeface="Courier New"/>
              </a:rPr>
              <a:t>}	// end of</a:t>
            </a:r>
            <a:r>
              <a:rPr sz="2000" b="1" spc="-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transpose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94118" y="5975603"/>
            <a:ext cx="2282190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25" dirty="0">
                <a:solidFill>
                  <a:srgbClr val="FF3300"/>
                </a:solidFill>
                <a:latin typeface="Arial"/>
                <a:cs typeface="Arial"/>
              </a:rPr>
              <a:t>Time</a:t>
            </a:r>
            <a:r>
              <a:rPr sz="2400" spc="-10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Complexity  O(terms*cols)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32142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Compared with</a:t>
            </a:r>
            <a:r>
              <a:rPr sz="4000" spc="-110" dirty="0"/>
              <a:t> </a:t>
            </a:r>
            <a:r>
              <a:rPr sz="4000" dirty="0"/>
              <a:t>2-Dimensional</a:t>
            </a:r>
            <a:endParaRPr sz="4000"/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Array</a:t>
            </a:r>
            <a:r>
              <a:rPr sz="4000" i="1" spc="-105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Representation</a:t>
            </a:r>
            <a:endParaRPr sz="4000" dirty="0">
              <a:latin typeface="Times New Roman"/>
              <a:cs typeface="Times New Roman"/>
            </a:endParaRPr>
          </a:p>
          <a:p>
            <a:pPr marL="355600" indent="-342900">
              <a:lnSpc>
                <a:spcPts val="3340"/>
              </a:lnSpc>
              <a:spcBef>
                <a:spcPts val="2445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dirty="0"/>
              <a:t>Discussion:</a:t>
            </a:r>
          </a:p>
          <a:p>
            <a:pPr marL="755650" lvl="1" indent="-285750">
              <a:lnSpc>
                <a:spcPts val="3340"/>
              </a:lnSpc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O(columns</a:t>
            </a:r>
            <a:r>
              <a:rPr sz="2800" spc="-5" dirty="0">
                <a:latin typeface="PMingLiU"/>
                <a:cs typeface="PMingLiU"/>
              </a:rPr>
              <a:t>×</a:t>
            </a:r>
            <a:r>
              <a:rPr sz="2400" spc="-5" dirty="0">
                <a:latin typeface="Arial"/>
                <a:cs typeface="Arial"/>
              </a:rPr>
              <a:t>terms) </a:t>
            </a:r>
            <a:r>
              <a:rPr sz="2400" dirty="0">
                <a:latin typeface="Arial"/>
                <a:cs typeface="Arial"/>
              </a:rPr>
              <a:t>vs.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O(columns</a:t>
            </a:r>
            <a:r>
              <a:rPr sz="2800" spc="-5" dirty="0">
                <a:latin typeface="PMingLiU"/>
                <a:cs typeface="PMingLiU"/>
              </a:rPr>
              <a:t>×</a:t>
            </a:r>
            <a:r>
              <a:rPr sz="2400" spc="-5" dirty="0">
                <a:latin typeface="Arial"/>
                <a:cs typeface="Arial"/>
              </a:rPr>
              <a:t>rows)</a:t>
            </a:r>
            <a:endParaRPr sz="2400" dirty="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buChar char="–"/>
              <a:tabLst>
                <a:tab pos="755650" algn="l"/>
              </a:tabLst>
            </a:pPr>
            <a:r>
              <a:rPr sz="2400" spc="165" dirty="0" smtClean="0">
                <a:latin typeface="Arial"/>
                <a:cs typeface="Arial"/>
              </a:rPr>
              <a:t>Terms</a:t>
            </a:r>
            <a:r>
              <a:rPr lang="en-US" sz="2400" spc="165" dirty="0" smtClean="0">
                <a:latin typeface="Arial"/>
                <a:cs typeface="Arial"/>
              </a:rPr>
              <a:t> -</a:t>
            </a:r>
            <a:r>
              <a:rPr sz="2400" spc="165" dirty="0" smtClean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columns</a:t>
            </a:r>
            <a:r>
              <a:rPr sz="2800" spc="-5" dirty="0">
                <a:latin typeface="PMingLiU"/>
                <a:cs typeface="PMingLiU"/>
              </a:rPr>
              <a:t>×</a:t>
            </a:r>
            <a:r>
              <a:rPr sz="2400" spc="-5" dirty="0">
                <a:latin typeface="Arial"/>
                <a:cs typeface="Arial"/>
              </a:rPr>
              <a:t>rows when</a:t>
            </a:r>
            <a:r>
              <a:rPr sz="2400" spc="-2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non-sparse</a:t>
            </a:r>
            <a:endParaRPr sz="24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O(columns</a:t>
            </a:r>
            <a:r>
              <a:rPr sz="2400" spc="-7" baseline="24305" dirty="0">
                <a:latin typeface="Arial"/>
                <a:cs typeface="Arial"/>
              </a:rPr>
              <a:t>2</a:t>
            </a:r>
            <a:r>
              <a:rPr sz="2800" spc="-5" dirty="0">
                <a:latin typeface="PMingLiU"/>
                <a:cs typeface="PMingLiU"/>
              </a:rPr>
              <a:t>×</a:t>
            </a:r>
            <a:r>
              <a:rPr sz="2400" spc="-5" dirty="0">
                <a:latin typeface="Arial"/>
                <a:cs typeface="Arial"/>
              </a:rPr>
              <a:t>rows) when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non-sparse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dirty="0"/>
              <a:t>Problem: Scan the array “columns”</a:t>
            </a:r>
            <a:r>
              <a:rPr spc="-90" dirty="0"/>
              <a:t> </a:t>
            </a:r>
            <a:r>
              <a:rPr dirty="0"/>
              <a:t>times.</a:t>
            </a:r>
          </a:p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dirty="0"/>
              <a:t>Solution:</a:t>
            </a:r>
          </a:p>
          <a:p>
            <a:pPr marL="755650" marR="5080" lvl="1" indent="-285750">
              <a:lnSpc>
                <a:spcPct val="8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Determine the number of elements in each column  of the original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matrix.</a:t>
            </a:r>
          </a:p>
          <a:p>
            <a:pPr marL="755650" marR="55880" lvl="1" indent="-285750">
              <a:lnSpc>
                <a:spcPts val="2300"/>
              </a:lnSpc>
              <a:spcBef>
                <a:spcPts val="56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Determine the starting positions of each row in the  transpose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matrix.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29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Fast Matrix</a:t>
            </a:r>
            <a:r>
              <a:rPr spc="-20" dirty="0"/>
              <a:t> </a:t>
            </a:r>
            <a:r>
              <a:rPr spc="-5" dirty="0"/>
              <a:t>Transposing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7047" y="2364994"/>
            <a:ext cx="7355840" cy="3082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039494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Store some </a:t>
            </a:r>
            <a:r>
              <a:rPr sz="3200" spc="-10" dirty="0">
                <a:latin typeface="Arial"/>
                <a:cs typeface="Arial"/>
              </a:rPr>
              <a:t>information </a:t>
            </a:r>
            <a:r>
              <a:rPr sz="3200" spc="-5" dirty="0">
                <a:latin typeface="Arial"/>
                <a:cs typeface="Arial"/>
              </a:rPr>
              <a:t>to </a:t>
            </a:r>
            <a:r>
              <a:rPr sz="3200" spc="-10" dirty="0">
                <a:latin typeface="Arial"/>
                <a:cs typeface="Arial"/>
              </a:rPr>
              <a:t>avoid  scanning </a:t>
            </a:r>
            <a:r>
              <a:rPr sz="3200" spc="-5" dirty="0">
                <a:latin typeface="Arial"/>
                <a:cs typeface="Arial"/>
              </a:rPr>
              <a:t>all terms back and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forth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545"/>
              </a:spcBef>
              <a:buClr>
                <a:srgbClr val="009ACC"/>
              </a:buClr>
              <a:buSzPct val="68750"/>
              <a:buFont typeface="Arial"/>
              <a:buChar char="■"/>
              <a:tabLst>
                <a:tab pos="355600" algn="l"/>
              </a:tabLst>
            </a:pPr>
            <a:r>
              <a:rPr sz="3200" b="1" spc="-5" dirty="0">
                <a:latin typeface="Courier New"/>
                <a:cs typeface="Courier New"/>
              </a:rPr>
              <a:t>FastTranspose</a:t>
            </a:r>
            <a:r>
              <a:rPr sz="3200" b="1" spc="-1010" dirty="0">
                <a:latin typeface="Courier New"/>
                <a:cs typeface="Courier New"/>
              </a:rPr>
              <a:t> </a:t>
            </a:r>
            <a:r>
              <a:rPr sz="3200" spc="-10" dirty="0">
                <a:latin typeface="Arial"/>
                <a:cs typeface="Arial"/>
              </a:rPr>
              <a:t>requires </a:t>
            </a:r>
            <a:r>
              <a:rPr sz="3200" spc="-5" dirty="0">
                <a:latin typeface="Arial"/>
                <a:cs typeface="Arial"/>
              </a:rPr>
              <a:t>more </a:t>
            </a:r>
            <a:r>
              <a:rPr sz="3200" spc="-10" dirty="0">
                <a:latin typeface="Arial"/>
                <a:cs typeface="Arial"/>
              </a:rPr>
              <a:t>space  </a:t>
            </a:r>
            <a:r>
              <a:rPr sz="3200" spc="-5" dirty="0">
                <a:latin typeface="Arial"/>
                <a:cs typeface="Arial"/>
              </a:rPr>
              <a:t>than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b="1" spc="-5" dirty="0">
                <a:latin typeface="Courier New"/>
                <a:cs typeface="Courier New"/>
              </a:rPr>
              <a:t>Transpose</a:t>
            </a:r>
            <a:endParaRPr sz="3200">
              <a:latin typeface="Courier New"/>
              <a:cs typeface="Courier New"/>
            </a:endParaRPr>
          </a:p>
          <a:p>
            <a:pPr marL="755650" lvl="1" indent="-285750">
              <a:lnSpc>
                <a:spcPct val="100000"/>
              </a:lnSpc>
              <a:spcBef>
                <a:spcPts val="900"/>
              </a:spcBef>
              <a:buChar char="–"/>
              <a:tabLst>
                <a:tab pos="755650" algn="l"/>
              </a:tabLst>
            </a:pPr>
            <a:r>
              <a:rPr sz="2800" spc="-5" dirty="0">
                <a:latin typeface="Arial"/>
                <a:cs typeface="Arial"/>
              </a:rPr>
              <a:t>RowSize</a:t>
            </a:r>
            <a:endParaRPr sz="28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7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RowStart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0819" y="957579"/>
            <a:ext cx="2005964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3365"/>
                </a:solidFill>
                <a:latin typeface="Courier New"/>
                <a:cs typeface="Courier New"/>
              </a:rPr>
              <a:t>row col</a:t>
            </a:r>
            <a:r>
              <a:rPr sz="2000" b="1" spc="-6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3365"/>
                </a:solidFill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7375" y="957579"/>
            <a:ext cx="20066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3365"/>
                </a:solidFill>
                <a:latin typeface="Courier New"/>
                <a:cs typeface="Courier New"/>
              </a:rPr>
              <a:t>row col</a:t>
            </a:r>
            <a:r>
              <a:rPr sz="2000" b="1" spc="-5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3365"/>
                </a:solidFill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46389" y="1833372"/>
            <a:ext cx="7200900" cy="216535"/>
          </a:xfrm>
          <a:custGeom>
            <a:avLst/>
            <a:gdLst/>
            <a:ahLst/>
            <a:cxnLst/>
            <a:rect l="l" t="t" r="r" b="b"/>
            <a:pathLst>
              <a:path w="7200900" h="216535">
                <a:moveTo>
                  <a:pt x="0" y="0"/>
                </a:moveTo>
                <a:lnTo>
                  <a:pt x="0" y="216408"/>
                </a:lnTo>
                <a:lnTo>
                  <a:pt x="7200900" y="216407"/>
                </a:lnTo>
                <a:lnTo>
                  <a:pt x="7200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82603" y="5381244"/>
            <a:ext cx="147320" cy="111760"/>
          </a:xfrm>
          <a:custGeom>
            <a:avLst/>
            <a:gdLst/>
            <a:ahLst/>
            <a:cxnLst/>
            <a:rect l="l" t="t" r="r" b="b"/>
            <a:pathLst>
              <a:path w="147320" h="111760">
                <a:moveTo>
                  <a:pt x="147191" y="111251"/>
                </a:moveTo>
                <a:lnTo>
                  <a:pt x="8381" y="0"/>
                </a:lnTo>
                <a:lnTo>
                  <a:pt x="0" y="9905"/>
                </a:lnTo>
                <a:lnTo>
                  <a:pt x="126450" y="111251"/>
                </a:lnTo>
                <a:lnTo>
                  <a:pt x="147191" y="1112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19813" y="5381244"/>
            <a:ext cx="146685" cy="111760"/>
          </a:xfrm>
          <a:custGeom>
            <a:avLst/>
            <a:gdLst/>
            <a:ahLst/>
            <a:cxnLst/>
            <a:rect l="l" t="t" r="r" b="b"/>
            <a:pathLst>
              <a:path w="146685" h="111760">
                <a:moveTo>
                  <a:pt x="146429" y="111251"/>
                </a:moveTo>
                <a:lnTo>
                  <a:pt x="7620" y="0"/>
                </a:lnTo>
                <a:lnTo>
                  <a:pt x="0" y="9905"/>
                </a:lnTo>
                <a:lnTo>
                  <a:pt x="126140" y="111251"/>
                </a:lnTo>
                <a:lnTo>
                  <a:pt x="146429" y="1112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063881" y="5381244"/>
            <a:ext cx="147320" cy="111760"/>
          </a:xfrm>
          <a:custGeom>
            <a:avLst/>
            <a:gdLst/>
            <a:ahLst/>
            <a:cxnLst/>
            <a:rect l="l" t="t" r="r" b="b"/>
            <a:pathLst>
              <a:path w="147320" h="111760">
                <a:moveTo>
                  <a:pt x="146851" y="111251"/>
                </a:moveTo>
                <a:lnTo>
                  <a:pt x="8381" y="0"/>
                </a:lnTo>
                <a:lnTo>
                  <a:pt x="0" y="9905"/>
                </a:lnTo>
                <a:lnTo>
                  <a:pt x="126450" y="111251"/>
                </a:lnTo>
                <a:lnTo>
                  <a:pt x="146851" y="1112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638429" y="5381244"/>
            <a:ext cx="147320" cy="111760"/>
          </a:xfrm>
          <a:custGeom>
            <a:avLst/>
            <a:gdLst/>
            <a:ahLst/>
            <a:cxnLst/>
            <a:rect l="l" t="t" r="r" b="b"/>
            <a:pathLst>
              <a:path w="147320" h="111760">
                <a:moveTo>
                  <a:pt x="147184" y="111251"/>
                </a:moveTo>
                <a:lnTo>
                  <a:pt x="8369" y="0"/>
                </a:lnTo>
                <a:lnTo>
                  <a:pt x="0" y="9905"/>
                </a:lnTo>
                <a:lnTo>
                  <a:pt x="126444" y="111251"/>
                </a:lnTo>
                <a:lnTo>
                  <a:pt x="147184" y="1112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143622" y="5381244"/>
            <a:ext cx="146685" cy="111760"/>
          </a:xfrm>
          <a:custGeom>
            <a:avLst/>
            <a:gdLst/>
            <a:ahLst/>
            <a:cxnLst/>
            <a:rect l="l" t="t" r="r" b="b"/>
            <a:pathLst>
              <a:path w="146684" h="111760">
                <a:moveTo>
                  <a:pt x="146436" y="111251"/>
                </a:moveTo>
                <a:lnTo>
                  <a:pt x="7632" y="0"/>
                </a:lnTo>
                <a:lnTo>
                  <a:pt x="0" y="9905"/>
                </a:lnTo>
                <a:lnTo>
                  <a:pt x="126455" y="111251"/>
                </a:lnTo>
                <a:lnTo>
                  <a:pt x="146436" y="1112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2390152" y="1313277"/>
          <a:ext cx="6214547" cy="46580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6100"/>
                <a:gridCol w="363897"/>
                <a:gridCol w="456453"/>
                <a:gridCol w="547664"/>
                <a:gridCol w="547664"/>
                <a:gridCol w="684796"/>
                <a:gridCol w="483715"/>
                <a:gridCol w="329146"/>
                <a:gridCol w="865112"/>
              </a:tblGrid>
              <a:tr h="454787">
                <a:tc>
                  <a:txBody>
                    <a:bodyPr/>
                    <a:lstStyle/>
                    <a:p>
                      <a:pPr marL="22225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1699260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0330" algn="r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8415" algn="r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L="233679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R="3746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15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91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L="233679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R="4127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033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pPr marL="233679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R="3746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pPr marL="233679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R="4000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969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28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L="233679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R="3683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[5</a:t>
                      </a: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88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L="233679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R="4000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969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91287">
                <a:tc>
                  <a:txBody>
                    <a:bodyPr/>
                    <a:lstStyle/>
                    <a:p>
                      <a:pPr marL="233679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[7]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R="3683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[7</a:t>
                      </a: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87100">
                <a:tc>
                  <a:txBody>
                    <a:bodyPr/>
                    <a:lstStyle/>
                    <a:p>
                      <a:pPr marL="74866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index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[0][1][2][3][4][5]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65759">
                <a:tc>
                  <a:txBody>
                    <a:bodyPr/>
                    <a:lstStyle/>
                    <a:p>
                      <a:pPr marL="383540">
                        <a:lnSpc>
                          <a:spcPts val="2485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RowSize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9220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98780">
                <a:tc>
                  <a:txBody>
                    <a:bodyPr/>
                    <a:lstStyle/>
                    <a:p>
                      <a:pPr marL="383540">
                        <a:lnSpc>
                          <a:spcPts val="2485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RowStart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8585">
                        <a:lnSpc>
                          <a:spcPts val="248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5109053" y="5492496"/>
            <a:ext cx="238125" cy="182880"/>
          </a:xfrm>
          <a:custGeom>
            <a:avLst/>
            <a:gdLst/>
            <a:ahLst/>
            <a:cxnLst/>
            <a:rect l="l" t="t" r="r" b="b"/>
            <a:pathLst>
              <a:path w="238125" h="182879">
                <a:moveTo>
                  <a:pt x="182930" y="129989"/>
                </a:moveTo>
                <a:lnTo>
                  <a:pt x="20741" y="0"/>
                </a:lnTo>
                <a:lnTo>
                  <a:pt x="0" y="0"/>
                </a:lnTo>
                <a:lnTo>
                  <a:pt x="174842" y="140131"/>
                </a:lnTo>
                <a:lnTo>
                  <a:pt x="182930" y="129989"/>
                </a:lnTo>
                <a:close/>
              </a:path>
              <a:path w="238125" h="182879">
                <a:moveTo>
                  <a:pt x="192827" y="173393"/>
                </a:moveTo>
                <a:lnTo>
                  <a:pt x="192827" y="137921"/>
                </a:lnTo>
                <a:lnTo>
                  <a:pt x="184445" y="147827"/>
                </a:lnTo>
                <a:lnTo>
                  <a:pt x="174842" y="140131"/>
                </a:lnTo>
                <a:lnTo>
                  <a:pt x="154727" y="165353"/>
                </a:lnTo>
                <a:lnTo>
                  <a:pt x="192827" y="173393"/>
                </a:lnTo>
                <a:close/>
              </a:path>
              <a:path w="238125" h="182879">
                <a:moveTo>
                  <a:pt x="192827" y="137921"/>
                </a:moveTo>
                <a:lnTo>
                  <a:pt x="182930" y="129989"/>
                </a:lnTo>
                <a:lnTo>
                  <a:pt x="174842" y="140131"/>
                </a:lnTo>
                <a:lnTo>
                  <a:pt x="184445" y="147827"/>
                </a:lnTo>
                <a:lnTo>
                  <a:pt x="192827" y="137921"/>
                </a:lnTo>
                <a:close/>
              </a:path>
              <a:path w="238125" h="182879">
                <a:moveTo>
                  <a:pt x="237785" y="182879"/>
                </a:moveTo>
                <a:lnTo>
                  <a:pt x="202733" y="105155"/>
                </a:lnTo>
                <a:lnTo>
                  <a:pt x="182930" y="129989"/>
                </a:lnTo>
                <a:lnTo>
                  <a:pt x="192827" y="137921"/>
                </a:lnTo>
                <a:lnTo>
                  <a:pt x="192827" y="173393"/>
                </a:lnTo>
                <a:lnTo>
                  <a:pt x="237785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987175" y="5685282"/>
            <a:ext cx="360045" cy="76200"/>
          </a:xfrm>
          <a:custGeom>
            <a:avLst/>
            <a:gdLst/>
            <a:ahLst/>
            <a:cxnLst/>
            <a:rect l="l" t="t" r="r" b="b"/>
            <a:pathLst>
              <a:path w="360045" h="76200">
                <a:moveTo>
                  <a:pt x="296417" y="44195"/>
                </a:moveTo>
                <a:lnTo>
                  <a:pt x="296417" y="31241"/>
                </a:lnTo>
                <a:lnTo>
                  <a:pt x="0" y="31241"/>
                </a:lnTo>
                <a:lnTo>
                  <a:pt x="0" y="44195"/>
                </a:lnTo>
                <a:lnTo>
                  <a:pt x="296417" y="44195"/>
                </a:lnTo>
                <a:close/>
              </a:path>
              <a:path w="360045" h="76200">
                <a:moveTo>
                  <a:pt x="359664" y="38100"/>
                </a:moveTo>
                <a:lnTo>
                  <a:pt x="283464" y="0"/>
                </a:lnTo>
                <a:lnTo>
                  <a:pt x="283464" y="31241"/>
                </a:lnTo>
                <a:lnTo>
                  <a:pt x="296417" y="31241"/>
                </a:lnTo>
                <a:lnTo>
                  <a:pt x="296417" y="69723"/>
                </a:lnTo>
                <a:lnTo>
                  <a:pt x="359664" y="38100"/>
                </a:lnTo>
                <a:close/>
              </a:path>
              <a:path w="360045" h="76200">
                <a:moveTo>
                  <a:pt x="296417" y="69723"/>
                </a:moveTo>
                <a:lnTo>
                  <a:pt x="296417" y="44195"/>
                </a:lnTo>
                <a:lnTo>
                  <a:pt x="283464" y="44195"/>
                </a:lnTo>
                <a:lnTo>
                  <a:pt x="283464" y="76200"/>
                </a:lnTo>
                <a:lnTo>
                  <a:pt x="296417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645953" y="5492496"/>
            <a:ext cx="238125" cy="182880"/>
          </a:xfrm>
          <a:custGeom>
            <a:avLst/>
            <a:gdLst/>
            <a:ahLst/>
            <a:cxnLst/>
            <a:rect l="l" t="t" r="r" b="b"/>
            <a:pathLst>
              <a:path w="238125" h="182879">
                <a:moveTo>
                  <a:pt x="182478" y="129989"/>
                </a:moveTo>
                <a:lnTo>
                  <a:pt x="20289" y="0"/>
                </a:lnTo>
                <a:lnTo>
                  <a:pt x="0" y="0"/>
                </a:lnTo>
                <a:lnTo>
                  <a:pt x="174399" y="140119"/>
                </a:lnTo>
                <a:lnTo>
                  <a:pt x="182478" y="129989"/>
                </a:lnTo>
                <a:close/>
              </a:path>
              <a:path w="238125" h="182879">
                <a:moveTo>
                  <a:pt x="192375" y="173320"/>
                </a:moveTo>
                <a:lnTo>
                  <a:pt x="192375" y="137921"/>
                </a:lnTo>
                <a:lnTo>
                  <a:pt x="183993" y="147827"/>
                </a:lnTo>
                <a:lnTo>
                  <a:pt x="174399" y="140119"/>
                </a:lnTo>
                <a:lnTo>
                  <a:pt x="154275" y="165353"/>
                </a:lnTo>
                <a:lnTo>
                  <a:pt x="192375" y="173320"/>
                </a:lnTo>
                <a:close/>
              </a:path>
              <a:path w="238125" h="182879">
                <a:moveTo>
                  <a:pt x="192375" y="137921"/>
                </a:moveTo>
                <a:lnTo>
                  <a:pt x="182478" y="129989"/>
                </a:lnTo>
                <a:lnTo>
                  <a:pt x="174399" y="140119"/>
                </a:lnTo>
                <a:lnTo>
                  <a:pt x="183993" y="147827"/>
                </a:lnTo>
                <a:lnTo>
                  <a:pt x="192375" y="137921"/>
                </a:lnTo>
                <a:close/>
              </a:path>
              <a:path w="238125" h="182879">
                <a:moveTo>
                  <a:pt x="238095" y="182879"/>
                </a:moveTo>
                <a:lnTo>
                  <a:pt x="202281" y="105155"/>
                </a:lnTo>
                <a:lnTo>
                  <a:pt x="182478" y="129989"/>
                </a:lnTo>
                <a:lnTo>
                  <a:pt x="192375" y="137921"/>
                </a:lnTo>
                <a:lnTo>
                  <a:pt x="192375" y="173320"/>
                </a:lnTo>
                <a:lnTo>
                  <a:pt x="238095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23623" y="5685282"/>
            <a:ext cx="360680" cy="76200"/>
          </a:xfrm>
          <a:custGeom>
            <a:avLst/>
            <a:gdLst/>
            <a:ahLst/>
            <a:cxnLst/>
            <a:rect l="l" t="t" r="r" b="b"/>
            <a:pathLst>
              <a:path w="360679" h="76200">
                <a:moveTo>
                  <a:pt x="296417" y="44195"/>
                </a:moveTo>
                <a:lnTo>
                  <a:pt x="296417" y="31241"/>
                </a:lnTo>
                <a:lnTo>
                  <a:pt x="0" y="31241"/>
                </a:lnTo>
                <a:lnTo>
                  <a:pt x="0" y="44195"/>
                </a:lnTo>
                <a:lnTo>
                  <a:pt x="296417" y="44195"/>
                </a:lnTo>
                <a:close/>
              </a:path>
              <a:path w="360679" h="76200">
                <a:moveTo>
                  <a:pt x="360425" y="38100"/>
                </a:moveTo>
                <a:lnTo>
                  <a:pt x="284225" y="0"/>
                </a:lnTo>
                <a:lnTo>
                  <a:pt x="284225" y="31241"/>
                </a:lnTo>
                <a:lnTo>
                  <a:pt x="296417" y="31241"/>
                </a:lnTo>
                <a:lnTo>
                  <a:pt x="296417" y="70104"/>
                </a:lnTo>
                <a:lnTo>
                  <a:pt x="360425" y="38100"/>
                </a:lnTo>
                <a:close/>
              </a:path>
              <a:path w="360679" h="76200">
                <a:moveTo>
                  <a:pt x="296417" y="70104"/>
                </a:moveTo>
                <a:lnTo>
                  <a:pt x="296417" y="44195"/>
                </a:lnTo>
                <a:lnTo>
                  <a:pt x="284225" y="44195"/>
                </a:lnTo>
                <a:lnTo>
                  <a:pt x="284225" y="76200"/>
                </a:lnTo>
                <a:lnTo>
                  <a:pt x="296417" y="701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90331" y="5492496"/>
            <a:ext cx="238125" cy="182880"/>
          </a:xfrm>
          <a:custGeom>
            <a:avLst/>
            <a:gdLst/>
            <a:ahLst/>
            <a:cxnLst/>
            <a:rect l="l" t="t" r="r" b="b"/>
            <a:pathLst>
              <a:path w="238125" h="182879">
                <a:moveTo>
                  <a:pt x="182370" y="130132"/>
                </a:moveTo>
                <a:lnTo>
                  <a:pt x="20401" y="0"/>
                </a:lnTo>
                <a:lnTo>
                  <a:pt x="0" y="0"/>
                </a:lnTo>
                <a:lnTo>
                  <a:pt x="174646" y="139973"/>
                </a:lnTo>
                <a:lnTo>
                  <a:pt x="182370" y="130132"/>
                </a:lnTo>
                <a:close/>
              </a:path>
              <a:path w="238125" h="182879">
                <a:moveTo>
                  <a:pt x="192065" y="173232"/>
                </a:moveTo>
                <a:lnTo>
                  <a:pt x="192065" y="137921"/>
                </a:lnTo>
                <a:lnTo>
                  <a:pt x="184445" y="147827"/>
                </a:lnTo>
                <a:lnTo>
                  <a:pt x="174646" y="139973"/>
                </a:lnTo>
                <a:lnTo>
                  <a:pt x="154727" y="165353"/>
                </a:lnTo>
                <a:lnTo>
                  <a:pt x="192065" y="173232"/>
                </a:lnTo>
                <a:close/>
              </a:path>
              <a:path w="238125" h="182879">
                <a:moveTo>
                  <a:pt x="192065" y="137921"/>
                </a:moveTo>
                <a:lnTo>
                  <a:pt x="182370" y="130132"/>
                </a:lnTo>
                <a:lnTo>
                  <a:pt x="174646" y="139973"/>
                </a:lnTo>
                <a:lnTo>
                  <a:pt x="184445" y="147827"/>
                </a:lnTo>
                <a:lnTo>
                  <a:pt x="192065" y="137921"/>
                </a:lnTo>
                <a:close/>
              </a:path>
              <a:path w="238125" h="182879">
                <a:moveTo>
                  <a:pt x="237785" y="182879"/>
                </a:moveTo>
                <a:lnTo>
                  <a:pt x="201971" y="105155"/>
                </a:lnTo>
                <a:lnTo>
                  <a:pt x="182370" y="130132"/>
                </a:lnTo>
                <a:lnTo>
                  <a:pt x="192065" y="137921"/>
                </a:lnTo>
                <a:lnTo>
                  <a:pt x="192065" y="173232"/>
                </a:lnTo>
                <a:lnTo>
                  <a:pt x="237785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067691" y="5685282"/>
            <a:ext cx="360680" cy="76200"/>
          </a:xfrm>
          <a:custGeom>
            <a:avLst/>
            <a:gdLst/>
            <a:ahLst/>
            <a:cxnLst/>
            <a:rect l="l" t="t" r="r" b="b"/>
            <a:pathLst>
              <a:path w="360679" h="76200">
                <a:moveTo>
                  <a:pt x="297179" y="44195"/>
                </a:moveTo>
                <a:lnTo>
                  <a:pt x="297179" y="31241"/>
                </a:lnTo>
                <a:lnTo>
                  <a:pt x="0" y="31241"/>
                </a:lnTo>
                <a:lnTo>
                  <a:pt x="0" y="44195"/>
                </a:lnTo>
                <a:lnTo>
                  <a:pt x="297179" y="44195"/>
                </a:lnTo>
                <a:close/>
              </a:path>
              <a:path w="360679" h="76200">
                <a:moveTo>
                  <a:pt x="360425" y="38100"/>
                </a:moveTo>
                <a:lnTo>
                  <a:pt x="284225" y="0"/>
                </a:lnTo>
                <a:lnTo>
                  <a:pt x="284225" y="31241"/>
                </a:lnTo>
                <a:lnTo>
                  <a:pt x="297179" y="31241"/>
                </a:lnTo>
                <a:lnTo>
                  <a:pt x="297179" y="69723"/>
                </a:lnTo>
                <a:lnTo>
                  <a:pt x="360425" y="38100"/>
                </a:lnTo>
                <a:close/>
              </a:path>
              <a:path w="360679" h="76200">
                <a:moveTo>
                  <a:pt x="297179" y="69723"/>
                </a:moveTo>
                <a:lnTo>
                  <a:pt x="297179" y="44195"/>
                </a:lnTo>
                <a:lnTo>
                  <a:pt x="284225" y="44195"/>
                </a:lnTo>
                <a:lnTo>
                  <a:pt x="284225" y="76200"/>
                </a:lnTo>
                <a:lnTo>
                  <a:pt x="297179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64874" y="5492496"/>
            <a:ext cx="238125" cy="182880"/>
          </a:xfrm>
          <a:custGeom>
            <a:avLst/>
            <a:gdLst/>
            <a:ahLst/>
            <a:cxnLst/>
            <a:rect l="l" t="t" r="r" b="b"/>
            <a:pathLst>
              <a:path w="238125" h="182879">
                <a:moveTo>
                  <a:pt x="182930" y="129985"/>
                </a:moveTo>
                <a:lnTo>
                  <a:pt x="20739" y="0"/>
                </a:lnTo>
                <a:lnTo>
                  <a:pt x="0" y="0"/>
                </a:lnTo>
                <a:lnTo>
                  <a:pt x="174839" y="140134"/>
                </a:lnTo>
                <a:lnTo>
                  <a:pt x="182930" y="129985"/>
                </a:lnTo>
                <a:close/>
              </a:path>
              <a:path w="238125" h="182879">
                <a:moveTo>
                  <a:pt x="192833" y="173393"/>
                </a:moveTo>
                <a:lnTo>
                  <a:pt x="192833" y="137921"/>
                </a:lnTo>
                <a:lnTo>
                  <a:pt x="184438" y="147827"/>
                </a:lnTo>
                <a:lnTo>
                  <a:pt x="174839" y="140134"/>
                </a:lnTo>
                <a:lnTo>
                  <a:pt x="154733" y="165353"/>
                </a:lnTo>
                <a:lnTo>
                  <a:pt x="192833" y="173393"/>
                </a:lnTo>
                <a:close/>
              </a:path>
              <a:path w="238125" h="182879">
                <a:moveTo>
                  <a:pt x="192833" y="137921"/>
                </a:moveTo>
                <a:lnTo>
                  <a:pt x="182930" y="129985"/>
                </a:lnTo>
                <a:lnTo>
                  <a:pt x="174839" y="140134"/>
                </a:lnTo>
                <a:lnTo>
                  <a:pt x="184438" y="147827"/>
                </a:lnTo>
                <a:lnTo>
                  <a:pt x="192833" y="137921"/>
                </a:lnTo>
                <a:close/>
              </a:path>
              <a:path w="238125" h="182879">
                <a:moveTo>
                  <a:pt x="237791" y="182879"/>
                </a:moveTo>
                <a:lnTo>
                  <a:pt x="202726" y="105155"/>
                </a:lnTo>
                <a:lnTo>
                  <a:pt x="182930" y="129985"/>
                </a:lnTo>
                <a:lnTo>
                  <a:pt x="192833" y="137921"/>
                </a:lnTo>
                <a:lnTo>
                  <a:pt x="192833" y="173393"/>
                </a:lnTo>
                <a:lnTo>
                  <a:pt x="237791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642227" y="5685282"/>
            <a:ext cx="360680" cy="76200"/>
          </a:xfrm>
          <a:custGeom>
            <a:avLst/>
            <a:gdLst/>
            <a:ahLst/>
            <a:cxnLst/>
            <a:rect l="l" t="t" r="r" b="b"/>
            <a:pathLst>
              <a:path w="360679" h="76200">
                <a:moveTo>
                  <a:pt x="297179" y="44195"/>
                </a:moveTo>
                <a:lnTo>
                  <a:pt x="297179" y="31241"/>
                </a:lnTo>
                <a:lnTo>
                  <a:pt x="0" y="31241"/>
                </a:lnTo>
                <a:lnTo>
                  <a:pt x="0" y="44195"/>
                </a:lnTo>
                <a:lnTo>
                  <a:pt x="297179" y="44195"/>
                </a:lnTo>
                <a:close/>
              </a:path>
              <a:path w="360679" h="76200">
                <a:moveTo>
                  <a:pt x="360438" y="38100"/>
                </a:moveTo>
                <a:lnTo>
                  <a:pt x="284238" y="0"/>
                </a:lnTo>
                <a:lnTo>
                  <a:pt x="284238" y="31241"/>
                </a:lnTo>
                <a:lnTo>
                  <a:pt x="297179" y="31241"/>
                </a:lnTo>
                <a:lnTo>
                  <a:pt x="297179" y="69729"/>
                </a:lnTo>
                <a:lnTo>
                  <a:pt x="360438" y="38100"/>
                </a:lnTo>
                <a:close/>
              </a:path>
              <a:path w="360679" h="76200">
                <a:moveTo>
                  <a:pt x="297179" y="69729"/>
                </a:moveTo>
                <a:lnTo>
                  <a:pt x="297179" y="44195"/>
                </a:lnTo>
                <a:lnTo>
                  <a:pt x="284238" y="44195"/>
                </a:lnTo>
                <a:lnTo>
                  <a:pt x="284238" y="76200"/>
                </a:lnTo>
                <a:lnTo>
                  <a:pt x="297179" y="697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70077" y="5492496"/>
            <a:ext cx="238125" cy="182880"/>
          </a:xfrm>
          <a:custGeom>
            <a:avLst/>
            <a:gdLst/>
            <a:ahLst/>
            <a:cxnLst/>
            <a:rect l="l" t="t" r="r" b="b"/>
            <a:pathLst>
              <a:path w="238125" h="182879">
                <a:moveTo>
                  <a:pt x="182360" y="130147"/>
                </a:moveTo>
                <a:lnTo>
                  <a:pt x="19981" y="0"/>
                </a:lnTo>
                <a:lnTo>
                  <a:pt x="0" y="0"/>
                </a:lnTo>
                <a:lnTo>
                  <a:pt x="174649" y="139970"/>
                </a:lnTo>
                <a:lnTo>
                  <a:pt x="182360" y="130147"/>
                </a:lnTo>
                <a:close/>
              </a:path>
              <a:path w="238125" h="182879">
                <a:moveTo>
                  <a:pt x="192060" y="173231"/>
                </a:moveTo>
                <a:lnTo>
                  <a:pt x="192060" y="137921"/>
                </a:lnTo>
                <a:lnTo>
                  <a:pt x="184453" y="147827"/>
                </a:lnTo>
                <a:lnTo>
                  <a:pt x="174649" y="139970"/>
                </a:lnTo>
                <a:lnTo>
                  <a:pt x="154722" y="165353"/>
                </a:lnTo>
                <a:lnTo>
                  <a:pt x="192060" y="173231"/>
                </a:lnTo>
                <a:close/>
              </a:path>
              <a:path w="238125" h="182879">
                <a:moveTo>
                  <a:pt x="192060" y="137921"/>
                </a:moveTo>
                <a:lnTo>
                  <a:pt x="182360" y="130147"/>
                </a:lnTo>
                <a:lnTo>
                  <a:pt x="174649" y="139970"/>
                </a:lnTo>
                <a:lnTo>
                  <a:pt x="184453" y="147827"/>
                </a:lnTo>
                <a:lnTo>
                  <a:pt x="192060" y="137921"/>
                </a:lnTo>
                <a:close/>
              </a:path>
              <a:path w="238125" h="182879">
                <a:moveTo>
                  <a:pt x="237793" y="182879"/>
                </a:moveTo>
                <a:lnTo>
                  <a:pt x="201979" y="105155"/>
                </a:lnTo>
                <a:lnTo>
                  <a:pt x="182360" y="130147"/>
                </a:lnTo>
                <a:lnTo>
                  <a:pt x="192060" y="137921"/>
                </a:lnTo>
                <a:lnTo>
                  <a:pt x="192060" y="173231"/>
                </a:lnTo>
                <a:lnTo>
                  <a:pt x="237793" y="182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147445" y="5685282"/>
            <a:ext cx="360680" cy="76200"/>
          </a:xfrm>
          <a:custGeom>
            <a:avLst/>
            <a:gdLst/>
            <a:ahLst/>
            <a:cxnLst/>
            <a:rect l="l" t="t" r="r" b="b"/>
            <a:pathLst>
              <a:path w="360679" h="76200">
                <a:moveTo>
                  <a:pt x="297179" y="44195"/>
                </a:moveTo>
                <a:lnTo>
                  <a:pt x="297179" y="31241"/>
                </a:lnTo>
                <a:lnTo>
                  <a:pt x="0" y="31241"/>
                </a:lnTo>
                <a:lnTo>
                  <a:pt x="0" y="44195"/>
                </a:lnTo>
                <a:lnTo>
                  <a:pt x="297179" y="44195"/>
                </a:lnTo>
                <a:close/>
              </a:path>
              <a:path w="360679" h="76200">
                <a:moveTo>
                  <a:pt x="360425" y="38100"/>
                </a:moveTo>
                <a:lnTo>
                  <a:pt x="284225" y="0"/>
                </a:lnTo>
                <a:lnTo>
                  <a:pt x="284225" y="31241"/>
                </a:lnTo>
                <a:lnTo>
                  <a:pt x="297179" y="31241"/>
                </a:lnTo>
                <a:lnTo>
                  <a:pt x="297179" y="69723"/>
                </a:lnTo>
                <a:lnTo>
                  <a:pt x="360425" y="38100"/>
                </a:lnTo>
                <a:close/>
              </a:path>
              <a:path w="360679" h="76200">
                <a:moveTo>
                  <a:pt x="297179" y="69723"/>
                </a:moveTo>
                <a:lnTo>
                  <a:pt x="297179" y="44195"/>
                </a:lnTo>
                <a:lnTo>
                  <a:pt x="284225" y="44195"/>
                </a:lnTo>
                <a:lnTo>
                  <a:pt x="284225" y="76200"/>
                </a:lnTo>
                <a:lnTo>
                  <a:pt x="297179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2258707" y="6192011"/>
            <a:ext cx="544004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•Calculate RowSize by scanning array</a:t>
            </a: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 b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258707" y="6602888"/>
            <a:ext cx="574167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25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•Calculate RowStart by scanning</a:t>
            </a:r>
            <a:r>
              <a:rPr sz="2400" spc="-3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RowSize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386443" y="6659522"/>
            <a:ext cx="2235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400" spc="-5" dirty="0"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50819" y="957579"/>
            <a:ext cx="2005964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0" spc="-5" dirty="0">
                <a:latin typeface="Courier New"/>
                <a:cs typeface="Courier New"/>
              </a:rPr>
              <a:t>row col</a:t>
            </a:r>
            <a:r>
              <a:rPr sz="2000" b="1" i="0" spc="-65" dirty="0">
                <a:latin typeface="Courier New"/>
                <a:cs typeface="Courier New"/>
              </a:rPr>
              <a:t> </a:t>
            </a:r>
            <a:r>
              <a:rPr sz="2000" b="1" i="0" spc="-5" dirty="0"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7375" y="957579"/>
            <a:ext cx="20066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3365"/>
                </a:solidFill>
                <a:latin typeface="Courier New"/>
                <a:cs typeface="Courier New"/>
              </a:rPr>
              <a:t>row col</a:t>
            </a:r>
            <a:r>
              <a:rPr sz="2000" b="1" spc="-5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3365"/>
                </a:solidFill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46389" y="1833372"/>
            <a:ext cx="7200900" cy="216535"/>
          </a:xfrm>
          <a:custGeom>
            <a:avLst/>
            <a:gdLst/>
            <a:ahLst/>
            <a:cxnLst/>
            <a:rect l="l" t="t" r="r" b="b"/>
            <a:pathLst>
              <a:path w="7200900" h="216535">
                <a:moveTo>
                  <a:pt x="0" y="0"/>
                </a:moveTo>
                <a:lnTo>
                  <a:pt x="0" y="216408"/>
                </a:lnTo>
                <a:lnTo>
                  <a:pt x="7200900" y="216407"/>
                </a:lnTo>
                <a:lnTo>
                  <a:pt x="7200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62588" y="1760220"/>
            <a:ext cx="111760" cy="303530"/>
          </a:xfrm>
          <a:custGeom>
            <a:avLst/>
            <a:gdLst/>
            <a:ahLst/>
            <a:cxnLst/>
            <a:rect l="l" t="t" r="r" b="b"/>
            <a:pathLst>
              <a:path w="111760" h="303530">
                <a:moveTo>
                  <a:pt x="111199" y="3810"/>
                </a:moveTo>
                <a:lnTo>
                  <a:pt x="99007" y="0"/>
                </a:lnTo>
                <a:lnTo>
                  <a:pt x="0" y="303276"/>
                </a:lnTo>
                <a:lnTo>
                  <a:pt x="13435" y="303275"/>
                </a:lnTo>
                <a:lnTo>
                  <a:pt x="111199" y="38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98683" y="1762505"/>
            <a:ext cx="83820" cy="300990"/>
          </a:xfrm>
          <a:custGeom>
            <a:avLst/>
            <a:gdLst/>
            <a:ahLst/>
            <a:cxnLst/>
            <a:rect l="l" t="t" r="r" b="b"/>
            <a:pathLst>
              <a:path w="83820" h="300989">
                <a:moveTo>
                  <a:pt x="75437" y="68580"/>
                </a:moveTo>
                <a:lnTo>
                  <a:pt x="24384" y="0"/>
                </a:lnTo>
                <a:lnTo>
                  <a:pt x="0" y="81533"/>
                </a:lnTo>
                <a:lnTo>
                  <a:pt x="28956" y="76561"/>
                </a:lnTo>
                <a:lnTo>
                  <a:pt x="28956" y="63245"/>
                </a:lnTo>
                <a:lnTo>
                  <a:pt x="41910" y="60960"/>
                </a:lnTo>
                <a:lnTo>
                  <a:pt x="44170" y="73949"/>
                </a:lnTo>
                <a:lnTo>
                  <a:pt x="75437" y="68580"/>
                </a:lnTo>
                <a:close/>
              </a:path>
              <a:path w="83820" h="300989">
                <a:moveTo>
                  <a:pt x="44170" y="73949"/>
                </a:moveTo>
                <a:lnTo>
                  <a:pt x="41910" y="60960"/>
                </a:lnTo>
                <a:lnTo>
                  <a:pt x="28956" y="63245"/>
                </a:lnTo>
                <a:lnTo>
                  <a:pt x="31205" y="76175"/>
                </a:lnTo>
                <a:lnTo>
                  <a:pt x="44170" y="73949"/>
                </a:lnTo>
                <a:close/>
              </a:path>
              <a:path w="83820" h="300989">
                <a:moveTo>
                  <a:pt x="31205" y="76175"/>
                </a:moveTo>
                <a:lnTo>
                  <a:pt x="28956" y="63245"/>
                </a:lnTo>
                <a:lnTo>
                  <a:pt x="28956" y="76561"/>
                </a:lnTo>
                <a:lnTo>
                  <a:pt x="31205" y="76175"/>
                </a:lnTo>
                <a:close/>
              </a:path>
              <a:path w="83820" h="300989">
                <a:moveTo>
                  <a:pt x="83678" y="300989"/>
                </a:moveTo>
                <a:lnTo>
                  <a:pt x="44170" y="73949"/>
                </a:lnTo>
                <a:lnTo>
                  <a:pt x="31205" y="76175"/>
                </a:lnTo>
                <a:lnTo>
                  <a:pt x="70327" y="300989"/>
                </a:lnTo>
                <a:lnTo>
                  <a:pt x="83678" y="300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82731" y="2063495"/>
            <a:ext cx="293370" cy="857250"/>
          </a:xfrm>
          <a:custGeom>
            <a:avLst/>
            <a:gdLst/>
            <a:ahLst/>
            <a:cxnLst/>
            <a:rect l="l" t="t" r="r" b="b"/>
            <a:pathLst>
              <a:path w="293370" h="857250">
                <a:moveTo>
                  <a:pt x="293292" y="0"/>
                </a:moveTo>
                <a:lnTo>
                  <a:pt x="279856" y="0"/>
                </a:lnTo>
                <a:lnTo>
                  <a:pt x="0" y="857250"/>
                </a:lnTo>
                <a:lnTo>
                  <a:pt x="13435" y="857249"/>
                </a:lnTo>
                <a:lnTo>
                  <a:pt x="2932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69010" y="2063495"/>
            <a:ext cx="162560" cy="857250"/>
          </a:xfrm>
          <a:custGeom>
            <a:avLst/>
            <a:gdLst/>
            <a:ahLst/>
            <a:cxnLst/>
            <a:rect l="l" t="t" r="r" b="b"/>
            <a:pathLst>
              <a:path w="162560" h="857250">
                <a:moveTo>
                  <a:pt x="162526" y="857250"/>
                </a:moveTo>
                <a:lnTo>
                  <a:pt x="13351" y="0"/>
                </a:lnTo>
                <a:lnTo>
                  <a:pt x="0" y="0"/>
                </a:lnTo>
                <a:lnTo>
                  <a:pt x="149174" y="857250"/>
                </a:lnTo>
                <a:lnTo>
                  <a:pt x="162526" y="857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02874" y="2920745"/>
            <a:ext cx="293370" cy="857250"/>
          </a:xfrm>
          <a:custGeom>
            <a:avLst/>
            <a:gdLst/>
            <a:ahLst/>
            <a:cxnLst/>
            <a:rect l="l" t="t" r="r" b="b"/>
            <a:pathLst>
              <a:path w="293370" h="857250">
                <a:moveTo>
                  <a:pt x="293292" y="0"/>
                </a:moveTo>
                <a:lnTo>
                  <a:pt x="279856" y="0"/>
                </a:lnTo>
                <a:lnTo>
                  <a:pt x="0" y="857250"/>
                </a:lnTo>
                <a:lnTo>
                  <a:pt x="13435" y="857250"/>
                </a:lnTo>
                <a:lnTo>
                  <a:pt x="2932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18185" y="2920745"/>
            <a:ext cx="162560" cy="857250"/>
          </a:xfrm>
          <a:custGeom>
            <a:avLst/>
            <a:gdLst/>
            <a:ahLst/>
            <a:cxnLst/>
            <a:rect l="l" t="t" r="r" b="b"/>
            <a:pathLst>
              <a:path w="162560" h="857250">
                <a:moveTo>
                  <a:pt x="162526" y="857250"/>
                </a:moveTo>
                <a:lnTo>
                  <a:pt x="13351" y="0"/>
                </a:lnTo>
                <a:lnTo>
                  <a:pt x="0" y="0"/>
                </a:lnTo>
                <a:lnTo>
                  <a:pt x="149174" y="857250"/>
                </a:lnTo>
                <a:lnTo>
                  <a:pt x="162526" y="857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123017" y="3777996"/>
            <a:ext cx="293370" cy="857250"/>
          </a:xfrm>
          <a:custGeom>
            <a:avLst/>
            <a:gdLst/>
            <a:ahLst/>
            <a:cxnLst/>
            <a:rect l="l" t="t" r="r" b="b"/>
            <a:pathLst>
              <a:path w="293370" h="857250">
                <a:moveTo>
                  <a:pt x="293292" y="0"/>
                </a:moveTo>
                <a:lnTo>
                  <a:pt x="279856" y="0"/>
                </a:lnTo>
                <a:lnTo>
                  <a:pt x="0" y="857250"/>
                </a:lnTo>
                <a:lnTo>
                  <a:pt x="13435" y="857250"/>
                </a:lnTo>
                <a:lnTo>
                  <a:pt x="29329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67359" y="3777996"/>
            <a:ext cx="162560" cy="857250"/>
          </a:xfrm>
          <a:custGeom>
            <a:avLst/>
            <a:gdLst/>
            <a:ahLst/>
            <a:cxnLst/>
            <a:rect l="l" t="t" r="r" b="b"/>
            <a:pathLst>
              <a:path w="162560" h="857250">
                <a:moveTo>
                  <a:pt x="162526" y="857250"/>
                </a:moveTo>
                <a:lnTo>
                  <a:pt x="13351" y="0"/>
                </a:lnTo>
                <a:lnTo>
                  <a:pt x="0" y="0"/>
                </a:lnTo>
                <a:lnTo>
                  <a:pt x="149174" y="857250"/>
                </a:lnTo>
                <a:lnTo>
                  <a:pt x="162526" y="857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974221" y="4635246"/>
            <a:ext cx="162560" cy="438150"/>
          </a:xfrm>
          <a:custGeom>
            <a:avLst/>
            <a:gdLst/>
            <a:ahLst/>
            <a:cxnLst/>
            <a:rect l="l" t="t" r="r" b="b"/>
            <a:pathLst>
              <a:path w="162560" h="438150">
                <a:moveTo>
                  <a:pt x="29933" y="364097"/>
                </a:moveTo>
                <a:lnTo>
                  <a:pt x="0" y="354329"/>
                </a:lnTo>
                <a:lnTo>
                  <a:pt x="12953" y="438150"/>
                </a:lnTo>
                <a:lnTo>
                  <a:pt x="25908" y="425029"/>
                </a:lnTo>
                <a:lnTo>
                  <a:pt x="25908" y="376427"/>
                </a:lnTo>
                <a:lnTo>
                  <a:pt x="29933" y="364097"/>
                </a:lnTo>
                <a:close/>
              </a:path>
              <a:path w="162560" h="438150">
                <a:moveTo>
                  <a:pt x="42075" y="368059"/>
                </a:moveTo>
                <a:lnTo>
                  <a:pt x="29933" y="364097"/>
                </a:lnTo>
                <a:lnTo>
                  <a:pt x="25908" y="376427"/>
                </a:lnTo>
                <a:lnTo>
                  <a:pt x="38100" y="380238"/>
                </a:lnTo>
                <a:lnTo>
                  <a:pt x="42075" y="368059"/>
                </a:lnTo>
                <a:close/>
              </a:path>
              <a:path w="162560" h="438150">
                <a:moveTo>
                  <a:pt x="72389" y="377951"/>
                </a:moveTo>
                <a:lnTo>
                  <a:pt x="42075" y="368059"/>
                </a:lnTo>
                <a:lnTo>
                  <a:pt x="38100" y="380238"/>
                </a:lnTo>
                <a:lnTo>
                  <a:pt x="25908" y="376427"/>
                </a:lnTo>
                <a:lnTo>
                  <a:pt x="25908" y="425029"/>
                </a:lnTo>
                <a:lnTo>
                  <a:pt x="72389" y="377951"/>
                </a:lnTo>
                <a:close/>
              </a:path>
              <a:path w="162560" h="438150">
                <a:moveTo>
                  <a:pt x="162232" y="0"/>
                </a:moveTo>
                <a:lnTo>
                  <a:pt x="148796" y="0"/>
                </a:lnTo>
                <a:lnTo>
                  <a:pt x="29933" y="364097"/>
                </a:lnTo>
                <a:lnTo>
                  <a:pt x="42075" y="368059"/>
                </a:lnTo>
                <a:lnTo>
                  <a:pt x="1622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16533" y="4635246"/>
            <a:ext cx="89535" cy="440055"/>
          </a:xfrm>
          <a:custGeom>
            <a:avLst/>
            <a:gdLst/>
            <a:ahLst/>
            <a:cxnLst/>
            <a:rect l="l" t="t" r="r" b="b"/>
            <a:pathLst>
              <a:path w="89535" h="440054">
                <a:moveTo>
                  <a:pt x="89463" y="437388"/>
                </a:moveTo>
                <a:lnTo>
                  <a:pt x="13351" y="0"/>
                </a:lnTo>
                <a:lnTo>
                  <a:pt x="0" y="0"/>
                </a:lnTo>
                <a:lnTo>
                  <a:pt x="76509" y="439674"/>
                </a:lnTo>
                <a:lnTo>
                  <a:pt x="89463" y="437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2368042" y="1313277"/>
          <a:ext cx="6236658" cy="5141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082"/>
                <a:gridCol w="424336"/>
                <a:gridCol w="414706"/>
                <a:gridCol w="319201"/>
                <a:gridCol w="637977"/>
                <a:gridCol w="628906"/>
                <a:gridCol w="637868"/>
                <a:gridCol w="552146"/>
                <a:gridCol w="520861"/>
                <a:gridCol w="319944"/>
                <a:gridCol w="778631"/>
              </a:tblGrid>
              <a:tr h="454787">
                <a:tc>
                  <a:txBody>
                    <a:bodyPr/>
                    <a:lstStyle/>
                    <a:p>
                      <a:pPr marR="97155" algn="r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a[0]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295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59155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b[0]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442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91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906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251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505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pPr marR="9906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251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28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[5</a:t>
                      </a: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505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906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315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91287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[7</a:t>
                      </a: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505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[7]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818006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447040">
                        <a:lnSpc>
                          <a:spcPct val="100000"/>
                        </a:lnSpc>
                        <a:tabLst>
                          <a:tab pos="2146935" algn="l"/>
                        </a:tabLst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index	[0][1][2][3][4][5]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26713">
                <a:tc gridSpan="3">
                  <a:txBody>
                    <a:bodyPr/>
                    <a:lstStyle/>
                    <a:p>
                      <a:pPr marL="2222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RowSize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4699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4793">
                <a:tc gridSpan="3">
                  <a:txBody>
                    <a:bodyPr/>
                    <a:lstStyle/>
                    <a:p>
                      <a:pPr marL="2222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RowStart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4889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8" name="object 28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109592" y="6615079"/>
            <a:ext cx="19723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25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RowStart[0]++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86443" y="6659522"/>
            <a:ext cx="2235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400" spc="-5" dirty="0">
                <a:latin typeface="Arial"/>
                <a:cs typeface="Arial"/>
              </a:rPr>
              <a:t>31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50819" y="957579"/>
            <a:ext cx="2005964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0" spc="-5" dirty="0">
                <a:latin typeface="Courier New"/>
                <a:cs typeface="Courier New"/>
              </a:rPr>
              <a:t>row col</a:t>
            </a:r>
            <a:r>
              <a:rPr sz="2000" b="1" i="0" spc="-65" dirty="0">
                <a:latin typeface="Courier New"/>
                <a:cs typeface="Courier New"/>
              </a:rPr>
              <a:t> </a:t>
            </a:r>
            <a:r>
              <a:rPr sz="2000" b="1" i="0" spc="-5" dirty="0"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7375" y="957579"/>
            <a:ext cx="20066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3365"/>
                </a:solidFill>
                <a:latin typeface="Courier New"/>
                <a:cs typeface="Courier New"/>
              </a:rPr>
              <a:t>row col</a:t>
            </a:r>
            <a:r>
              <a:rPr sz="2000" b="1" spc="-5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3365"/>
                </a:solidFill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46389" y="1833372"/>
            <a:ext cx="7200900" cy="216535"/>
          </a:xfrm>
          <a:custGeom>
            <a:avLst/>
            <a:gdLst/>
            <a:ahLst/>
            <a:cxnLst/>
            <a:rect l="l" t="t" r="r" b="b"/>
            <a:pathLst>
              <a:path w="7200900" h="216535">
                <a:moveTo>
                  <a:pt x="0" y="0"/>
                </a:moveTo>
                <a:lnTo>
                  <a:pt x="0" y="216408"/>
                </a:lnTo>
                <a:lnTo>
                  <a:pt x="7200900" y="216407"/>
                </a:lnTo>
                <a:lnTo>
                  <a:pt x="7200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25690" y="1975104"/>
            <a:ext cx="64135" cy="88900"/>
          </a:xfrm>
          <a:custGeom>
            <a:avLst/>
            <a:gdLst/>
            <a:ahLst/>
            <a:cxnLst/>
            <a:rect l="l" t="t" r="r" b="b"/>
            <a:pathLst>
              <a:path w="64135" h="88900">
                <a:moveTo>
                  <a:pt x="63730" y="6095"/>
                </a:moveTo>
                <a:lnTo>
                  <a:pt x="53075" y="0"/>
                </a:lnTo>
                <a:lnTo>
                  <a:pt x="0" y="88391"/>
                </a:lnTo>
                <a:lnTo>
                  <a:pt x="14798" y="88391"/>
                </a:lnTo>
                <a:lnTo>
                  <a:pt x="63730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2063495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752114" y="2063495"/>
            <a:ext cx="488950" cy="857250"/>
          </a:xfrm>
          <a:custGeom>
            <a:avLst/>
            <a:gdLst/>
            <a:ahLst/>
            <a:cxnLst/>
            <a:rect l="l" t="t" r="r" b="b"/>
            <a:pathLst>
              <a:path w="488950" h="857250">
                <a:moveTo>
                  <a:pt x="488375" y="0"/>
                </a:moveTo>
                <a:lnTo>
                  <a:pt x="473576" y="0"/>
                </a:lnTo>
                <a:lnTo>
                  <a:pt x="291774" y="307709"/>
                </a:lnTo>
                <a:lnTo>
                  <a:pt x="215605" y="441672"/>
                </a:lnTo>
                <a:lnTo>
                  <a:pt x="166018" y="531540"/>
                </a:lnTo>
                <a:lnTo>
                  <a:pt x="117627" y="621863"/>
                </a:lnTo>
                <a:lnTo>
                  <a:pt x="70637" y="712651"/>
                </a:lnTo>
                <a:lnTo>
                  <a:pt x="47732" y="758221"/>
                </a:lnTo>
                <a:lnTo>
                  <a:pt x="25255" y="803910"/>
                </a:lnTo>
                <a:lnTo>
                  <a:pt x="3485" y="849735"/>
                </a:lnTo>
                <a:lnTo>
                  <a:pt x="0" y="857250"/>
                </a:lnTo>
                <a:lnTo>
                  <a:pt x="14073" y="857250"/>
                </a:lnTo>
                <a:lnTo>
                  <a:pt x="26609" y="830680"/>
                </a:lnTo>
                <a:lnTo>
                  <a:pt x="48242" y="785983"/>
                </a:lnTo>
                <a:lnTo>
                  <a:pt x="70314" y="741440"/>
                </a:lnTo>
                <a:lnTo>
                  <a:pt x="92798" y="697047"/>
                </a:lnTo>
                <a:lnTo>
                  <a:pt x="138897" y="608689"/>
                </a:lnTo>
                <a:lnTo>
                  <a:pt x="186321" y="520868"/>
                </a:lnTo>
                <a:lnTo>
                  <a:pt x="234857" y="433543"/>
                </a:lnTo>
                <a:lnTo>
                  <a:pt x="309270" y="303394"/>
                </a:lnTo>
                <a:lnTo>
                  <a:pt x="4883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520767" y="2920745"/>
            <a:ext cx="245745" cy="857250"/>
          </a:xfrm>
          <a:custGeom>
            <a:avLst/>
            <a:gdLst/>
            <a:ahLst/>
            <a:cxnLst/>
            <a:rect l="l" t="t" r="r" b="b"/>
            <a:pathLst>
              <a:path w="245745" h="857250">
                <a:moveTo>
                  <a:pt x="245419" y="0"/>
                </a:moveTo>
                <a:lnTo>
                  <a:pt x="231346" y="0"/>
                </a:lnTo>
                <a:lnTo>
                  <a:pt x="213375" y="38742"/>
                </a:lnTo>
                <a:lnTo>
                  <a:pt x="192339" y="85404"/>
                </a:lnTo>
                <a:lnTo>
                  <a:pt x="171828" y="132449"/>
                </a:lnTo>
                <a:lnTo>
                  <a:pt x="151950" y="179852"/>
                </a:lnTo>
                <a:lnTo>
                  <a:pt x="132810" y="227590"/>
                </a:lnTo>
                <a:lnTo>
                  <a:pt x="114516" y="275637"/>
                </a:lnTo>
                <a:lnTo>
                  <a:pt x="97172" y="323971"/>
                </a:lnTo>
                <a:lnTo>
                  <a:pt x="80885" y="372566"/>
                </a:lnTo>
                <a:lnTo>
                  <a:pt x="65762" y="421400"/>
                </a:lnTo>
                <a:lnTo>
                  <a:pt x="51909" y="470447"/>
                </a:lnTo>
                <a:lnTo>
                  <a:pt x="39432" y="519683"/>
                </a:lnTo>
                <a:lnTo>
                  <a:pt x="29022" y="564672"/>
                </a:lnTo>
                <a:lnTo>
                  <a:pt x="19897" y="610886"/>
                </a:lnTo>
                <a:lnTo>
                  <a:pt x="12243" y="658089"/>
                </a:lnTo>
                <a:lnTo>
                  <a:pt x="6251" y="706046"/>
                </a:lnTo>
                <a:lnTo>
                  <a:pt x="2107" y="754519"/>
                </a:lnTo>
                <a:lnTo>
                  <a:pt x="0" y="803271"/>
                </a:lnTo>
                <a:lnTo>
                  <a:pt x="118" y="852068"/>
                </a:lnTo>
                <a:lnTo>
                  <a:pt x="387" y="857250"/>
                </a:lnTo>
                <a:lnTo>
                  <a:pt x="11946" y="857250"/>
                </a:lnTo>
                <a:lnTo>
                  <a:pt x="11946" y="815219"/>
                </a:lnTo>
                <a:lnTo>
                  <a:pt x="13789" y="764327"/>
                </a:lnTo>
                <a:lnTo>
                  <a:pt x="18058" y="713198"/>
                </a:lnTo>
                <a:lnTo>
                  <a:pt x="24521" y="662077"/>
                </a:lnTo>
                <a:lnTo>
                  <a:pt x="32942" y="611207"/>
                </a:lnTo>
                <a:lnTo>
                  <a:pt x="43089" y="560831"/>
                </a:lnTo>
                <a:lnTo>
                  <a:pt x="54728" y="511192"/>
                </a:lnTo>
                <a:lnTo>
                  <a:pt x="66864" y="465408"/>
                </a:lnTo>
                <a:lnTo>
                  <a:pt x="66864" y="462533"/>
                </a:lnTo>
                <a:lnTo>
                  <a:pt x="81820" y="411681"/>
                </a:lnTo>
                <a:lnTo>
                  <a:pt x="97961" y="361221"/>
                </a:lnTo>
                <a:lnTo>
                  <a:pt x="115200" y="311135"/>
                </a:lnTo>
                <a:lnTo>
                  <a:pt x="133450" y="261407"/>
                </a:lnTo>
                <a:lnTo>
                  <a:pt x="152622" y="212019"/>
                </a:lnTo>
                <a:lnTo>
                  <a:pt x="172630" y="162955"/>
                </a:lnTo>
                <a:lnTo>
                  <a:pt x="193385" y="114195"/>
                </a:lnTo>
                <a:lnTo>
                  <a:pt x="214801" y="65725"/>
                </a:lnTo>
                <a:lnTo>
                  <a:pt x="236790" y="17525"/>
                </a:lnTo>
                <a:lnTo>
                  <a:pt x="236790" y="18287"/>
                </a:lnTo>
                <a:lnTo>
                  <a:pt x="245419" y="0"/>
                </a:lnTo>
                <a:close/>
              </a:path>
              <a:path w="245745" h="857250">
                <a:moveTo>
                  <a:pt x="12626" y="857250"/>
                </a:moveTo>
                <a:lnTo>
                  <a:pt x="11946" y="815219"/>
                </a:lnTo>
                <a:lnTo>
                  <a:pt x="11946" y="857250"/>
                </a:lnTo>
                <a:lnTo>
                  <a:pt x="12626" y="857250"/>
                </a:lnTo>
                <a:close/>
              </a:path>
              <a:path w="245745" h="857250">
                <a:moveTo>
                  <a:pt x="67626" y="462533"/>
                </a:moveTo>
                <a:lnTo>
                  <a:pt x="66864" y="462533"/>
                </a:lnTo>
                <a:lnTo>
                  <a:pt x="66864" y="465408"/>
                </a:lnTo>
                <a:lnTo>
                  <a:pt x="67626" y="4625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67847" y="4197858"/>
            <a:ext cx="1328420" cy="437515"/>
          </a:xfrm>
          <a:custGeom>
            <a:avLst/>
            <a:gdLst/>
            <a:ahLst/>
            <a:cxnLst/>
            <a:rect l="l" t="t" r="r" b="b"/>
            <a:pathLst>
              <a:path w="1328420" h="437514">
                <a:moveTo>
                  <a:pt x="83820" y="0"/>
                </a:moveTo>
                <a:lnTo>
                  <a:pt x="0" y="12191"/>
                </a:lnTo>
                <a:lnTo>
                  <a:pt x="57912" y="70103"/>
                </a:lnTo>
                <a:lnTo>
                  <a:pt x="57912" y="38100"/>
                </a:lnTo>
                <a:lnTo>
                  <a:pt x="62484" y="25907"/>
                </a:lnTo>
                <a:lnTo>
                  <a:pt x="74130" y="29694"/>
                </a:lnTo>
                <a:lnTo>
                  <a:pt x="83820" y="0"/>
                </a:lnTo>
                <a:close/>
              </a:path>
              <a:path w="1328420" h="437514">
                <a:moveTo>
                  <a:pt x="74130" y="29694"/>
                </a:moveTo>
                <a:lnTo>
                  <a:pt x="62484" y="25907"/>
                </a:lnTo>
                <a:lnTo>
                  <a:pt x="57912" y="38100"/>
                </a:lnTo>
                <a:lnTo>
                  <a:pt x="70094" y="42061"/>
                </a:lnTo>
                <a:lnTo>
                  <a:pt x="74130" y="29694"/>
                </a:lnTo>
                <a:close/>
              </a:path>
              <a:path w="1328420" h="437514">
                <a:moveTo>
                  <a:pt x="70094" y="42061"/>
                </a:moveTo>
                <a:lnTo>
                  <a:pt x="57912" y="38100"/>
                </a:lnTo>
                <a:lnTo>
                  <a:pt x="57912" y="70103"/>
                </a:lnTo>
                <a:lnTo>
                  <a:pt x="60198" y="72389"/>
                </a:lnTo>
                <a:lnTo>
                  <a:pt x="70094" y="42061"/>
                </a:lnTo>
                <a:close/>
              </a:path>
              <a:path w="1328420" h="437514">
                <a:moveTo>
                  <a:pt x="1328050" y="437388"/>
                </a:moveTo>
                <a:lnTo>
                  <a:pt x="74130" y="29694"/>
                </a:lnTo>
                <a:lnTo>
                  <a:pt x="70094" y="42061"/>
                </a:lnTo>
                <a:lnTo>
                  <a:pt x="1285974" y="437388"/>
                </a:lnTo>
                <a:lnTo>
                  <a:pt x="1328050" y="437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521155" y="3777996"/>
            <a:ext cx="688975" cy="857250"/>
          </a:xfrm>
          <a:custGeom>
            <a:avLst/>
            <a:gdLst/>
            <a:ahLst/>
            <a:cxnLst/>
            <a:rect l="l" t="t" r="r" b="b"/>
            <a:pathLst>
              <a:path w="688975" h="857250">
                <a:moveTo>
                  <a:pt x="103814" y="336041"/>
                </a:moveTo>
                <a:lnTo>
                  <a:pt x="90098" y="311657"/>
                </a:lnTo>
                <a:lnTo>
                  <a:pt x="77144" y="287274"/>
                </a:lnTo>
                <a:lnTo>
                  <a:pt x="66476" y="262889"/>
                </a:lnTo>
                <a:lnTo>
                  <a:pt x="66476" y="263651"/>
                </a:lnTo>
                <a:lnTo>
                  <a:pt x="56570" y="238505"/>
                </a:lnTo>
                <a:lnTo>
                  <a:pt x="56570" y="239267"/>
                </a:lnTo>
                <a:lnTo>
                  <a:pt x="42469" y="195710"/>
                </a:lnTo>
                <a:lnTo>
                  <a:pt x="31134" y="151366"/>
                </a:lnTo>
                <a:lnTo>
                  <a:pt x="22610" y="106396"/>
                </a:lnTo>
                <a:lnTo>
                  <a:pt x="16946" y="60959"/>
                </a:lnTo>
                <a:lnTo>
                  <a:pt x="16946" y="61721"/>
                </a:lnTo>
                <a:lnTo>
                  <a:pt x="13898" y="35051"/>
                </a:lnTo>
                <a:lnTo>
                  <a:pt x="12374" y="7619"/>
                </a:lnTo>
                <a:lnTo>
                  <a:pt x="12374" y="8381"/>
                </a:lnTo>
                <a:lnTo>
                  <a:pt x="12238" y="0"/>
                </a:lnTo>
                <a:lnTo>
                  <a:pt x="0" y="0"/>
                </a:lnTo>
                <a:lnTo>
                  <a:pt x="2261" y="43422"/>
                </a:lnTo>
                <a:lnTo>
                  <a:pt x="7394" y="91596"/>
                </a:lnTo>
                <a:lnTo>
                  <a:pt x="15317" y="139104"/>
                </a:lnTo>
                <a:lnTo>
                  <a:pt x="26217" y="185711"/>
                </a:lnTo>
                <a:lnTo>
                  <a:pt x="40284" y="231179"/>
                </a:lnTo>
                <a:lnTo>
                  <a:pt x="57705" y="275272"/>
                </a:lnTo>
                <a:lnTo>
                  <a:pt x="78668" y="317753"/>
                </a:lnTo>
                <a:lnTo>
                  <a:pt x="99568" y="352974"/>
                </a:lnTo>
                <a:lnTo>
                  <a:pt x="103052" y="358230"/>
                </a:lnTo>
                <a:lnTo>
                  <a:pt x="103052" y="335279"/>
                </a:lnTo>
                <a:lnTo>
                  <a:pt x="103814" y="336041"/>
                </a:lnTo>
                <a:close/>
              </a:path>
              <a:path w="688975" h="857250">
                <a:moveTo>
                  <a:pt x="151820" y="407669"/>
                </a:moveTo>
                <a:lnTo>
                  <a:pt x="134294" y="383286"/>
                </a:lnTo>
                <a:lnTo>
                  <a:pt x="134294" y="384048"/>
                </a:lnTo>
                <a:lnTo>
                  <a:pt x="118292" y="359663"/>
                </a:lnTo>
                <a:lnTo>
                  <a:pt x="103052" y="335279"/>
                </a:lnTo>
                <a:lnTo>
                  <a:pt x="103052" y="358230"/>
                </a:lnTo>
                <a:lnTo>
                  <a:pt x="122685" y="387848"/>
                </a:lnTo>
                <a:lnTo>
                  <a:pt x="147923" y="422366"/>
                </a:lnTo>
                <a:lnTo>
                  <a:pt x="151058" y="426293"/>
                </a:lnTo>
                <a:lnTo>
                  <a:pt x="151058" y="407669"/>
                </a:lnTo>
                <a:lnTo>
                  <a:pt x="151820" y="407669"/>
                </a:lnTo>
                <a:close/>
              </a:path>
              <a:path w="688975" h="857250">
                <a:moveTo>
                  <a:pt x="170108" y="431291"/>
                </a:moveTo>
                <a:lnTo>
                  <a:pt x="151058" y="407669"/>
                </a:lnTo>
                <a:lnTo>
                  <a:pt x="151058" y="426293"/>
                </a:lnTo>
                <a:lnTo>
                  <a:pt x="169346" y="449199"/>
                </a:lnTo>
                <a:lnTo>
                  <a:pt x="169346" y="431291"/>
                </a:lnTo>
                <a:lnTo>
                  <a:pt x="170108" y="431291"/>
                </a:lnTo>
                <a:close/>
              </a:path>
              <a:path w="688975" h="857250">
                <a:moveTo>
                  <a:pt x="253166" y="524255"/>
                </a:moveTo>
                <a:lnTo>
                  <a:pt x="230306" y="501395"/>
                </a:lnTo>
                <a:lnTo>
                  <a:pt x="208970" y="477774"/>
                </a:lnTo>
                <a:lnTo>
                  <a:pt x="189158" y="454913"/>
                </a:lnTo>
                <a:lnTo>
                  <a:pt x="169346" y="431291"/>
                </a:lnTo>
                <a:lnTo>
                  <a:pt x="169346" y="449199"/>
                </a:lnTo>
                <a:lnTo>
                  <a:pt x="175188" y="456517"/>
                </a:lnTo>
                <a:lnTo>
                  <a:pt x="204386" y="490290"/>
                </a:lnTo>
                <a:lnTo>
                  <a:pt x="235421" y="523675"/>
                </a:lnTo>
                <a:lnTo>
                  <a:pt x="252404" y="540766"/>
                </a:lnTo>
                <a:lnTo>
                  <a:pt x="252404" y="524255"/>
                </a:lnTo>
                <a:lnTo>
                  <a:pt x="253166" y="524255"/>
                </a:lnTo>
                <a:close/>
              </a:path>
              <a:path w="688975" h="857250">
                <a:moveTo>
                  <a:pt x="432236" y="681227"/>
                </a:moveTo>
                <a:lnTo>
                  <a:pt x="394677" y="652154"/>
                </a:lnTo>
                <a:lnTo>
                  <a:pt x="357794" y="621617"/>
                </a:lnTo>
                <a:lnTo>
                  <a:pt x="321707" y="589919"/>
                </a:lnTo>
                <a:lnTo>
                  <a:pt x="286537" y="557364"/>
                </a:lnTo>
                <a:lnTo>
                  <a:pt x="252404" y="524255"/>
                </a:lnTo>
                <a:lnTo>
                  <a:pt x="252404" y="540766"/>
                </a:lnTo>
                <a:lnTo>
                  <a:pt x="302627" y="589239"/>
                </a:lnTo>
                <a:lnTo>
                  <a:pt x="338608" y="621397"/>
                </a:lnTo>
                <a:lnTo>
                  <a:pt x="376048" y="653126"/>
                </a:lnTo>
                <a:lnTo>
                  <a:pt x="414853" y="684414"/>
                </a:lnTo>
                <a:lnTo>
                  <a:pt x="431474" y="697204"/>
                </a:lnTo>
                <a:lnTo>
                  <a:pt x="431474" y="681227"/>
                </a:lnTo>
                <a:lnTo>
                  <a:pt x="432236" y="681227"/>
                </a:lnTo>
                <a:close/>
              </a:path>
              <a:path w="688975" h="857250">
                <a:moveTo>
                  <a:pt x="688418" y="857249"/>
                </a:moveTo>
                <a:lnTo>
                  <a:pt x="646701" y="831270"/>
                </a:lnTo>
                <a:lnTo>
                  <a:pt x="602668" y="802916"/>
                </a:lnTo>
                <a:lnTo>
                  <a:pt x="559097" y="773816"/>
                </a:lnTo>
                <a:lnTo>
                  <a:pt x="516019" y="743888"/>
                </a:lnTo>
                <a:lnTo>
                  <a:pt x="473468" y="713053"/>
                </a:lnTo>
                <a:lnTo>
                  <a:pt x="431474" y="681227"/>
                </a:lnTo>
                <a:lnTo>
                  <a:pt x="431474" y="697204"/>
                </a:lnTo>
                <a:lnTo>
                  <a:pt x="496179" y="745628"/>
                </a:lnTo>
                <a:lnTo>
                  <a:pt x="538511" y="775533"/>
                </a:lnTo>
                <a:lnTo>
                  <a:pt x="581829" y="804956"/>
                </a:lnTo>
                <a:lnTo>
                  <a:pt x="626039" y="833887"/>
                </a:lnTo>
                <a:lnTo>
                  <a:pt x="663027" y="857249"/>
                </a:lnTo>
                <a:lnTo>
                  <a:pt x="688418" y="857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553821" y="4635246"/>
            <a:ext cx="1596390" cy="517525"/>
          </a:xfrm>
          <a:custGeom>
            <a:avLst/>
            <a:gdLst/>
            <a:ahLst/>
            <a:cxnLst/>
            <a:rect l="l" t="t" r="r" b="b"/>
            <a:pathLst>
              <a:path w="1596390" h="517525">
                <a:moveTo>
                  <a:pt x="1595909" y="505205"/>
                </a:moveTo>
                <a:lnTo>
                  <a:pt x="42075" y="0"/>
                </a:lnTo>
                <a:lnTo>
                  <a:pt x="0" y="0"/>
                </a:lnTo>
                <a:lnTo>
                  <a:pt x="1591325" y="517397"/>
                </a:lnTo>
                <a:lnTo>
                  <a:pt x="1595909" y="5052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184182" y="4635246"/>
            <a:ext cx="1108075" cy="521970"/>
          </a:xfrm>
          <a:custGeom>
            <a:avLst/>
            <a:gdLst/>
            <a:ahLst/>
            <a:cxnLst/>
            <a:rect l="l" t="t" r="r" b="b"/>
            <a:pathLst>
              <a:path w="1108075" h="521970">
                <a:moveTo>
                  <a:pt x="480142" y="244601"/>
                </a:moveTo>
                <a:lnTo>
                  <a:pt x="412336" y="211836"/>
                </a:lnTo>
                <a:lnTo>
                  <a:pt x="412336" y="212598"/>
                </a:lnTo>
                <a:lnTo>
                  <a:pt x="345268" y="178307"/>
                </a:lnTo>
                <a:lnTo>
                  <a:pt x="277450" y="143255"/>
                </a:lnTo>
                <a:lnTo>
                  <a:pt x="209644" y="106679"/>
                </a:lnTo>
                <a:lnTo>
                  <a:pt x="209644" y="107441"/>
                </a:lnTo>
                <a:lnTo>
                  <a:pt x="163783" y="81600"/>
                </a:lnTo>
                <a:lnTo>
                  <a:pt x="118223" y="55418"/>
                </a:lnTo>
                <a:lnTo>
                  <a:pt x="72996" y="28815"/>
                </a:lnTo>
                <a:lnTo>
                  <a:pt x="28136" y="1709"/>
                </a:lnTo>
                <a:lnTo>
                  <a:pt x="25390" y="0"/>
                </a:lnTo>
                <a:lnTo>
                  <a:pt x="0" y="0"/>
                </a:lnTo>
                <a:lnTo>
                  <a:pt x="53727" y="32978"/>
                </a:lnTo>
                <a:lnTo>
                  <a:pt x="100044" y="60369"/>
                </a:lnTo>
                <a:lnTo>
                  <a:pt x="146874" y="87225"/>
                </a:lnTo>
                <a:lnTo>
                  <a:pt x="194123" y="113536"/>
                </a:lnTo>
                <a:lnTo>
                  <a:pt x="241696" y="139292"/>
                </a:lnTo>
                <a:lnTo>
                  <a:pt x="289499" y="164483"/>
                </a:lnTo>
                <a:lnTo>
                  <a:pt x="337436" y="189097"/>
                </a:lnTo>
                <a:lnTo>
                  <a:pt x="385413" y="213125"/>
                </a:lnTo>
                <a:lnTo>
                  <a:pt x="433336" y="236557"/>
                </a:lnTo>
                <a:lnTo>
                  <a:pt x="479380" y="258554"/>
                </a:lnTo>
                <a:lnTo>
                  <a:pt x="479380" y="244601"/>
                </a:lnTo>
                <a:lnTo>
                  <a:pt x="480142" y="244601"/>
                </a:lnTo>
                <a:close/>
              </a:path>
              <a:path w="1108075" h="521970">
                <a:moveTo>
                  <a:pt x="1038341" y="479559"/>
                </a:moveTo>
                <a:lnTo>
                  <a:pt x="1001789" y="466181"/>
                </a:lnTo>
                <a:lnTo>
                  <a:pt x="953566" y="448018"/>
                </a:lnTo>
                <a:lnTo>
                  <a:pt x="905458" y="429398"/>
                </a:lnTo>
                <a:lnTo>
                  <a:pt x="857475" y="410342"/>
                </a:lnTo>
                <a:lnTo>
                  <a:pt x="809629" y="390871"/>
                </a:lnTo>
                <a:lnTo>
                  <a:pt x="761929" y="371003"/>
                </a:lnTo>
                <a:lnTo>
                  <a:pt x="714386" y="350759"/>
                </a:lnTo>
                <a:lnTo>
                  <a:pt x="667009" y="330160"/>
                </a:lnTo>
                <a:lnTo>
                  <a:pt x="619810" y="309224"/>
                </a:lnTo>
                <a:lnTo>
                  <a:pt x="572799" y="287973"/>
                </a:lnTo>
                <a:lnTo>
                  <a:pt x="525985" y="266425"/>
                </a:lnTo>
                <a:lnTo>
                  <a:pt x="479380" y="244601"/>
                </a:lnTo>
                <a:lnTo>
                  <a:pt x="479380" y="258554"/>
                </a:lnTo>
                <a:lnTo>
                  <a:pt x="528640" y="281586"/>
                </a:lnTo>
                <a:lnTo>
                  <a:pt x="575832" y="303164"/>
                </a:lnTo>
                <a:lnTo>
                  <a:pt x="622591" y="324103"/>
                </a:lnTo>
                <a:lnTo>
                  <a:pt x="668823" y="344392"/>
                </a:lnTo>
                <a:lnTo>
                  <a:pt x="714432" y="364022"/>
                </a:lnTo>
                <a:lnTo>
                  <a:pt x="759325" y="382982"/>
                </a:lnTo>
                <a:lnTo>
                  <a:pt x="803406" y="401261"/>
                </a:lnTo>
                <a:lnTo>
                  <a:pt x="846582" y="418850"/>
                </a:lnTo>
                <a:lnTo>
                  <a:pt x="888756" y="435737"/>
                </a:lnTo>
                <a:lnTo>
                  <a:pt x="929836" y="451912"/>
                </a:lnTo>
                <a:lnTo>
                  <a:pt x="969726" y="467365"/>
                </a:lnTo>
                <a:lnTo>
                  <a:pt x="1008332" y="482085"/>
                </a:lnTo>
                <a:lnTo>
                  <a:pt x="1034065" y="491746"/>
                </a:lnTo>
                <a:lnTo>
                  <a:pt x="1038341" y="479559"/>
                </a:lnTo>
                <a:close/>
              </a:path>
              <a:path w="1108075" h="521970">
                <a:moveTo>
                  <a:pt x="1050118" y="518607"/>
                </a:moveTo>
                <a:lnTo>
                  <a:pt x="1050118" y="483869"/>
                </a:lnTo>
                <a:lnTo>
                  <a:pt x="1045558" y="496062"/>
                </a:lnTo>
                <a:lnTo>
                  <a:pt x="1034065" y="491746"/>
                </a:lnTo>
                <a:lnTo>
                  <a:pt x="1023460" y="521969"/>
                </a:lnTo>
                <a:lnTo>
                  <a:pt x="1050118" y="518607"/>
                </a:lnTo>
                <a:close/>
              </a:path>
              <a:path w="1108075" h="521970">
                <a:moveTo>
                  <a:pt x="1050118" y="483869"/>
                </a:moveTo>
                <a:lnTo>
                  <a:pt x="1038341" y="479559"/>
                </a:lnTo>
                <a:lnTo>
                  <a:pt x="1034065" y="491746"/>
                </a:lnTo>
                <a:lnTo>
                  <a:pt x="1045558" y="496062"/>
                </a:lnTo>
                <a:lnTo>
                  <a:pt x="1050118" y="483869"/>
                </a:lnTo>
                <a:close/>
              </a:path>
              <a:path w="1108075" h="521970">
                <a:moveTo>
                  <a:pt x="1108030" y="511301"/>
                </a:moveTo>
                <a:lnTo>
                  <a:pt x="1048594" y="450341"/>
                </a:lnTo>
                <a:lnTo>
                  <a:pt x="1038341" y="479559"/>
                </a:lnTo>
                <a:lnTo>
                  <a:pt x="1050118" y="483869"/>
                </a:lnTo>
                <a:lnTo>
                  <a:pt x="1050118" y="518607"/>
                </a:lnTo>
                <a:lnTo>
                  <a:pt x="1108030" y="5113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2368042" y="1313277"/>
          <a:ext cx="6236657" cy="5141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082"/>
                <a:gridCol w="424547"/>
                <a:gridCol w="415311"/>
                <a:gridCol w="319630"/>
                <a:gridCol w="638507"/>
                <a:gridCol w="627508"/>
                <a:gridCol w="637797"/>
                <a:gridCol w="551840"/>
                <a:gridCol w="520861"/>
                <a:gridCol w="320295"/>
                <a:gridCol w="778279"/>
              </a:tblGrid>
              <a:tr h="454787">
                <a:tc>
                  <a:txBody>
                    <a:bodyPr/>
                    <a:lstStyle/>
                    <a:p>
                      <a:pPr marR="97155" algn="r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57250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510" algn="r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315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91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906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124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315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pPr marR="9906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124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78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28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[5</a:t>
                      </a: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315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956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91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315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91287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[7</a:t>
                      </a: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315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[7]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818006">
                <a:tc grid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447040">
                        <a:lnSpc>
                          <a:spcPct val="100000"/>
                        </a:lnSpc>
                        <a:tabLst>
                          <a:tab pos="2146935" algn="l"/>
                        </a:tabLst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index	[0][1][2][3][4][5]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26713">
                <a:tc gridSpan="3">
                  <a:txBody>
                    <a:bodyPr/>
                    <a:lstStyle/>
                    <a:p>
                      <a:pPr marL="2222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RowSize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4699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4793">
                <a:tc gridSpan="3">
                  <a:txBody>
                    <a:bodyPr/>
                    <a:lstStyle/>
                    <a:p>
                      <a:pPr marL="2222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RowStart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1454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874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54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4762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5" name="object 25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461899" y="6615079"/>
            <a:ext cx="197231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25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RowStart[4]++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86443" y="6659522"/>
            <a:ext cx="2235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400" spc="-5" dirty="0">
                <a:latin typeface="Arial"/>
                <a:cs typeface="Arial"/>
              </a:rPr>
              <a:t>32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50819" y="1515364"/>
            <a:ext cx="20066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0" spc="-5" dirty="0">
                <a:latin typeface="Courier New"/>
                <a:cs typeface="Courier New"/>
              </a:rPr>
              <a:t>row col</a:t>
            </a:r>
            <a:r>
              <a:rPr sz="2000" b="1" i="0" spc="-55" dirty="0">
                <a:latin typeface="Courier New"/>
                <a:cs typeface="Courier New"/>
              </a:rPr>
              <a:t> </a:t>
            </a:r>
            <a:r>
              <a:rPr sz="2000" b="1" i="0" spc="-5" dirty="0"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07146" y="1515364"/>
            <a:ext cx="2006600" cy="334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003365"/>
                </a:solidFill>
                <a:latin typeface="Courier New"/>
                <a:cs typeface="Courier New"/>
              </a:rPr>
              <a:t>row col</a:t>
            </a:r>
            <a:r>
              <a:rPr sz="2000" b="1" spc="-5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000" b="1" spc="-5" dirty="0">
                <a:solidFill>
                  <a:srgbClr val="003365"/>
                </a:solidFill>
                <a:latin typeface="Courier New"/>
                <a:cs typeface="Courier New"/>
              </a:rPr>
              <a:t>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75973" y="3346703"/>
            <a:ext cx="863600" cy="360680"/>
          </a:xfrm>
          <a:custGeom>
            <a:avLst/>
            <a:gdLst/>
            <a:ahLst/>
            <a:cxnLst/>
            <a:rect l="l" t="t" r="r" b="b"/>
            <a:pathLst>
              <a:path w="863600" h="360679">
                <a:moveTo>
                  <a:pt x="215646" y="360425"/>
                </a:moveTo>
                <a:lnTo>
                  <a:pt x="215646" y="0"/>
                </a:lnTo>
                <a:lnTo>
                  <a:pt x="0" y="179832"/>
                </a:lnTo>
                <a:lnTo>
                  <a:pt x="215646" y="360425"/>
                </a:lnTo>
                <a:close/>
              </a:path>
              <a:path w="863600" h="360679">
                <a:moveTo>
                  <a:pt x="863346" y="269747"/>
                </a:moveTo>
                <a:lnTo>
                  <a:pt x="863346" y="89915"/>
                </a:lnTo>
                <a:lnTo>
                  <a:pt x="215646" y="89916"/>
                </a:lnTo>
                <a:lnTo>
                  <a:pt x="215646" y="269748"/>
                </a:lnTo>
                <a:lnTo>
                  <a:pt x="863346" y="269747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66067" y="3332988"/>
            <a:ext cx="879475" cy="387985"/>
          </a:xfrm>
          <a:custGeom>
            <a:avLst/>
            <a:gdLst/>
            <a:ahLst/>
            <a:cxnLst/>
            <a:rect l="l" t="t" r="r" b="b"/>
            <a:pathLst>
              <a:path w="879475" h="387985">
                <a:moveTo>
                  <a:pt x="231648" y="97536"/>
                </a:moveTo>
                <a:lnTo>
                  <a:pt x="231648" y="0"/>
                </a:lnTo>
                <a:lnTo>
                  <a:pt x="0" y="193548"/>
                </a:lnTo>
                <a:lnTo>
                  <a:pt x="13715" y="205053"/>
                </a:lnTo>
                <a:lnTo>
                  <a:pt x="13715" y="188975"/>
                </a:lnTo>
                <a:lnTo>
                  <a:pt x="19642" y="193918"/>
                </a:lnTo>
                <a:lnTo>
                  <a:pt x="219455" y="26583"/>
                </a:lnTo>
                <a:lnTo>
                  <a:pt x="219455" y="13715"/>
                </a:lnTo>
                <a:lnTo>
                  <a:pt x="229362" y="18287"/>
                </a:lnTo>
                <a:lnTo>
                  <a:pt x="229362" y="97536"/>
                </a:lnTo>
                <a:lnTo>
                  <a:pt x="231648" y="97536"/>
                </a:lnTo>
                <a:close/>
              </a:path>
              <a:path w="879475" h="387985">
                <a:moveTo>
                  <a:pt x="19642" y="193918"/>
                </a:moveTo>
                <a:lnTo>
                  <a:pt x="13715" y="188975"/>
                </a:lnTo>
                <a:lnTo>
                  <a:pt x="13715" y="198882"/>
                </a:lnTo>
                <a:lnTo>
                  <a:pt x="19642" y="193918"/>
                </a:lnTo>
                <a:close/>
              </a:path>
              <a:path w="879475" h="387985">
                <a:moveTo>
                  <a:pt x="229362" y="368808"/>
                </a:moveTo>
                <a:lnTo>
                  <a:pt x="19642" y="193918"/>
                </a:lnTo>
                <a:lnTo>
                  <a:pt x="13715" y="198882"/>
                </a:lnTo>
                <a:lnTo>
                  <a:pt x="13715" y="205053"/>
                </a:lnTo>
                <a:lnTo>
                  <a:pt x="219455" y="377631"/>
                </a:lnTo>
                <a:lnTo>
                  <a:pt x="219455" y="374141"/>
                </a:lnTo>
                <a:lnTo>
                  <a:pt x="229362" y="368808"/>
                </a:lnTo>
                <a:close/>
              </a:path>
              <a:path w="879475" h="387985">
                <a:moveTo>
                  <a:pt x="229362" y="18287"/>
                </a:moveTo>
                <a:lnTo>
                  <a:pt x="219455" y="13715"/>
                </a:lnTo>
                <a:lnTo>
                  <a:pt x="219455" y="26583"/>
                </a:lnTo>
                <a:lnTo>
                  <a:pt x="229362" y="18287"/>
                </a:lnTo>
                <a:close/>
              </a:path>
              <a:path w="879475" h="387985">
                <a:moveTo>
                  <a:pt x="229362" y="97536"/>
                </a:moveTo>
                <a:lnTo>
                  <a:pt x="229362" y="18287"/>
                </a:lnTo>
                <a:lnTo>
                  <a:pt x="219455" y="26583"/>
                </a:lnTo>
                <a:lnTo>
                  <a:pt x="219455" y="109727"/>
                </a:lnTo>
                <a:lnTo>
                  <a:pt x="225551" y="109727"/>
                </a:lnTo>
                <a:lnTo>
                  <a:pt x="225551" y="97536"/>
                </a:lnTo>
                <a:lnTo>
                  <a:pt x="229362" y="97536"/>
                </a:lnTo>
                <a:close/>
              </a:path>
              <a:path w="879475" h="387985">
                <a:moveTo>
                  <a:pt x="873251" y="277367"/>
                </a:moveTo>
                <a:lnTo>
                  <a:pt x="219455" y="277367"/>
                </a:lnTo>
                <a:lnTo>
                  <a:pt x="219455" y="360547"/>
                </a:lnTo>
                <a:lnTo>
                  <a:pt x="225551" y="365630"/>
                </a:lnTo>
                <a:lnTo>
                  <a:pt x="225551" y="290322"/>
                </a:lnTo>
                <a:lnTo>
                  <a:pt x="231648" y="283463"/>
                </a:lnTo>
                <a:lnTo>
                  <a:pt x="231648" y="290322"/>
                </a:lnTo>
                <a:lnTo>
                  <a:pt x="867155" y="290321"/>
                </a:lnTo>
                <a:lnTo>
                  <a:pt x="867155" y="283463"/>
                </a:lnTo>
                <a:lnTo>
                  <a:pt x="873251" y="277367"/>
                </a:lnTo>
                <a:close/>
              </a:path>
              <a:path w="879475" h="387985">
                <a:moveTo>
                  <a:pt x="229362" y="385940"/>
                </a:moveTo>
                <a:lnTo>
                  <a:pt x="229362" y="368808"/>
                </a:lnTo>
                <a:lnTo>
                  <a:pt x="219455" y="374141"/>
                </a:lnTo>
                <a:lnTo>
                  <a:pt x="219455" y="377631"/>
                </a:lnTo>
                <a:lnTo>
                  <a:pt x="229362" y="385940"/>
                </a:lnTo>
                <a:close/>
              </a:path>
              <a:path w="879475" h="387985">
                <a:moveTo>
                  <a:pt x="879348" y="290321"/>
                </a:moveTo>
                <a:lnTo>
                  <a:pt x="879348" y="97535"/>
                </a:lnTo>
                <a:lnTo>
                  <a:pt x="225551" y="97536"/>
                </a:lnTo>
                <a:lnTo>
                  <a:pt x="231648" y="103632"/>
                </a:lnTo>
                <a:lnTo>
                  <a:pt x="231648" y="109727"/>
                </a:lnTo>
                <a:lnTo>
                  <a:pt x="867155" y="109727"/>
                </a:lnTo>
                <a:lnTo>
                  <a:pt x="867155" y="103631"/>
                </a:lnTo>
                <a:lnTo>
                  <a:pt x="873251" y="109727"/>
                </a:lnTo>
                <a:lnTo>
                  <a:pt x="873251" y="290321"/>
                </a:lnTo>
                <a:lnTo>
                  <a:pt x="879348" y="290321"/>
                </a:lnTo>
                <a:close/>
              </a:path>
              <a:path w="879475" h="387985">
                <a:moveTo>
                  <a:pt x="231648" y="109727"/>
                </a:moveTo>
                <a:lnTo>
                  <a:pt x="231648" y="103632"/>
                </a:lnTo>
                <a:lnTo>
                  <a:pt x="225551" y="97536"/>
                </a:lnTo>
                <a:lnTo>
                  <a:pt x="225551" y="109727"/>
                </a:lnTo>
                <a:lnTo>
                  <a:pt x="231648" y="109727"/>
                </a:lnTo>
                <a:close/>
              </a:path>
              <a:path w="879475" h="387985">
                <a:moveTo>
                  <a:pt x="231648" y="290322"/>
                </a:moveTo>
                <a:lnTo>
                  <a:pt x="231648" y="283463"/>
                </a:lnTo>
                <a:lnTo>
                  <a:pt x="225551" y="290322"/>
                </a:lnTo>
                <a:lnTo>
                  <a:pt x="231648" y="290322"/>
                </a:lnTo>
                <a:close/>
              </a:path>
              <a:path w="879475" h="387985">
                <a:moveTo>
                  <a:pt x="231648" y="387858"/>
                </a:moveTo>
                <a:lnTo>
                  <a:pt x="231648" y="290322"/>
                </a:lnTo>
                <a:lnTo>
                  <a:pt x="225551" y="290322"/>
                </a:lnTo>
                <a:lnTo>
                  <a:pt x="225551" y="365630"/>
                </a:lnTo>
                <a:lnTo>
                  <a:pt x="229362" y="368808"/>
                </a:lnTo>
                <a:lnTo>
                  <a:pt x="229362" y="385940"/>
                </a:lnTo>
                <a:lnTo>
                  <a:pt x="231648" y="387858"/>
                </a:lnTo>
                <a:close/>
              </a:path>
              <a:path w="879475" h="387985">
                <a:moveTo>
                  <a:pt x="873251" y="109727"/>
                </a:moveTo>
                <a:lnTo>
                  <a:pt x="867155" y="103631"/>
                </a:lnTo>
                <a:lnTo>
                  <a:pt x="867155" y="109727"/>
                </a:lnTo>
                <a:lnTo>
                  <a:pt x="873251" y="109727"/>
                </a:lnTo>
                <a:close/>
              </a:path>
              <a:path w="879475" h="387985">
                <a:moveTo>
                  <a:pt x="873251" y="277367"/>
                </a:moveTo>
                <a:lnTo>
                  <a:pt x="873251" y="109727"/>
                </a:lnTo>
                <a:lnTo>
                  <a:pt x="867155" y="109727"/>
                </a:lnTo>
                <a:lnTo>
                  <a:pt x="867155" y="277367"/>
                </a:lnTo>
                <a:lnTo>
                  <a:pt x="873251" y="277367"/>
                </a:lnTo>
                <a:close/>
              </a:path>
              <a:path w="879475" h="387985">
                <a:moveTo>
                  <a:pt x="873251" y="290321"/>
                </a:moveTo>
                <a:lnTo>
                  <a:pt x="873251" y="277367"/>
                </a:lnTo>
                <a:lnTo>
                  <a:pt x="867155" y="283463"/>
                </a:lnTo>
                <a:lnTo>
                  <a:pt x="867155" y="290321"/>
                </a:lnTo>
                <a:lnTo>
                  <a:pt x="873251" y="2903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4839" y="63497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33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368029" y="2175861"/>
          <a:ext cx="6236430" cy="47355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095"/>
                <a:gridCol w="424914"/>
                <a:gridCol w="415037"/>
                <a:gridCol w="415266"/>
                <a:gridCol w="542918"/>
                <a:gridCol w="627947"/>
                <a:gridCol w="637743"/>
                <a:gridCol w="551740"/>
                <a:gridCol w="521039"/>
                <a:gridCol w="319081"/>
                <a:gridCol w="778650"/>
              </a:tblGrid>
              <a:tr h="454787">
                <a:tc>
                  <a:txBody>
                    <a:bodyPr/>
                    <a:lstStyle/>
                    <a:p>
                      <a:pPr marR="97155" algn="r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7660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857250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b[0]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312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312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956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251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[1]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91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842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620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061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[2]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20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956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251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[3]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pPr marR="9842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4102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6997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[4]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39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14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28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956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315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26719">
                <a:tc>
                  <a:txBody>
                    <a:bodyPr/>
                    <a:lstStyle/>
                    <a:p>
                      <a:pPr marR="9842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91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124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[6]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875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91287">
                <a:tc>
                  <a:txBody>
                    <a:bodyPr/>
                    <a:lstStyle/>
                    <a:p>
                      <a:pPr marR="97790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[7</a:t>
                      </a: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2893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28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073150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[7]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6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47668">
                <a:tc gridSpan="11">
                  <a:txBody>
                    <a:bodyPr/>
                    <a:lstStyle/>
                    <a:p>
                      <a:pPr marL="447040">
                        <a:lnSpc>
                          <a:spcPts val="3065"/>
                        </a:lnSpc>
                        <a:tabLst>
                          <a:tab pos="2146935" algn="l"/>
                        </a:tabLst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index	[0][1][2][3][4][5]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26720">
                <a:tc gridSpan="3">
                  <a:txBody>
                    <a:bodyPr/>
                    <a:lstStyle/>
                    <a:p>
                      <a:pPr marL="2222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RowSize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090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874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4762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4793">
                <a:tc gridSpan="3">
                  <a:txBody>
                    <a:bodyPr/>
                    <a:lstStyle/>
                    <a:p>
                      <a:pPr marL="22225">
                        <a:lnSpc>
                          <a:spcPts val="2900"/>
                        </a:lnSpc>
                      </a:pPr>
                      <a:r>
                        <a:rPr sz="28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RowStart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04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8110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R="47625" algn="ctr">
                        <a:lnSpc>
                          <a:spcPts val="2900"/>
                        </a:lnSpc>
                      </a:pPr>
                      <a:r>
                        <a:rPr sz="28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2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z="4000" dirty="0"/>
              <a:t>Fast Matrix Transposing</a:t>
            </a:r>
            <a:r>
              <a:rPr sz="4000" spc="-100" dirty="0"/>
              <a:t> </a:t>
            </a:r>
            <a:r>
              <a:rPr sz="4000" dirty="0"/>
              <a:t>(cond.)</a:t>
            </a:r>
            <a:endParaRPr sz="4000"/>
          </a:p>
        </p:txBody>
      </p:sp>
      <p:sp>
        <p:nvSpPr>
          <p:cNvPr id="6" name="object 6"/>
          <p:cNvSpPr txBox="1"/>
          <p:nvPr/>
        </p:nvSpPr>
        <p:spPr>
          <a:xfrm>
            <a:off x="1996567" y="2086609"/>
            <a:ext cx="4667250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SparseMatrix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SparseMatrix::Transpose()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29848" y="2330450"/>
            <a:ext cx="1002030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found</a:t>
            </a:r>
            <a:r>
              <a:rPr sz="1600" b="1" spc="-8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96567" y="2379217"/>
            <a:ext cx="6135370" cy="2367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3535">
              <a:lnSpc>
                <a:spcPct val="80000"/>
              </a:lnSpc>
            </a:pPr>
            <a:r>
              <a:rPr sz="1600" b="1" spc="-5" dirty="0">
                <a:latin typeface="Courier New"/>
                <a:cs typeface="Courier New"/>
              </a:rPr>
              <a:t>// The transpose of a(*this) is placed in </a:t>
            </a:r>
            <a:r>
              <a:rPr sz="1600" b="1" dirty="0">
                <a:latin typeface="Courier New"/>
                <a:cs typeface="Courier New"/>
              </a:rPr>
              <a:t>b </a:t>
            </a:r>
            <a:r>
              <a:rPr sz="1600" b="1" spc="-5" dirty="0">
                <a:latin typeface="Courier New"/>
                <a:cs typeface="Courier New"/>
              </a:rPr>
              <a:t>and is  Q(terms </a:t>
            </a:r>
            <a:r>
              <a:rPr sz="1600" b="1" dirty="0">
                <a:latin typeface="Courier New"/>
                <a:cs typeface="Courier New"/>
              </a:rPr>
              <a:t>+ </a:t>
            </a:r>
            <a:r>
              <a:rPr sz="1600" b="1" spc="-5" dirty="0">
                <a:latin typeface="Courier New"/>
                <a:cs typeface="Courier New"/>
              </a:rPr>
              <a:t>columns)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time.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int *Rows </a:t>
            </a: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spc="-5" dirty="0">
                <a:latin typeface="Courier New"/>
                <a:cs typeface="Courier New"/>
              </a:rPr>
              <a:t>new</a:t>
            </a:r>
            <a:r>
              <a:rPr sz="1600" b="1" spc="-3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int[Cols];</a:t>
            </a:r>
            <a:endParaRPr sz="1600">
              <a:latin typeface="Courier New"/>
              <a:cs typeface="Courier New"/>
            </a:endParaRPr>
          </a:p>
          <a:p>
            <a:pPr marL="256540" marR="220789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int *RowStart </a:t>
            </a: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spc="-5" dirty="0">
                <a:latin typeface="Courier New"/>
                <a:cs typeface="Courier New"/>
              </a:rPr>
              <a:t>new int[Cols];  SparseMatrix</a:t>
            </a:r>
            <a:r>
              <a:rPr sz="1600" b="1" spc="-6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b;</a:t>
            </a:r>
            <a:endParaRPr sz="1600">
              <a:latin typeface="Courier New"/>
              <a:cs typeface="Courier New"/>
            </a:endParaRPr>
          </a:p>
          <a:p>
            <a:pPr marL="256540" marR="250190">
              <a:lnSpc>
                <a:spcPct val="100000"/>
              </a:lnSpc>
              <a:tabLst>
                <a:tab pos="2754630" algn="l"/>
              </a:tabLst>
            </a:pPr>
            <a:r>
              <a:rPr sz="1600" b="1" spc="-5" dirty="0">
                <a:latin typeface="Courier New"/>
                <a:cs typeface="Courier New"/>
              </a:rPr>
              <a:t>b.Rows </a:t>
            </a: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spc="-5" dirty="0">
                <a:latin typeface="Courier New"/>
                <a:cs typeface="Courier New"/>
              </a:rPr>
              <a:t>Cols; b.Cols </a:t>
            </a: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spc="-5" dirty="0">
                <a:latin typeface="Courier New"/>
                <a:cs typeface="Courier New"/>
              </a:rPr>
              <a:t>Rows; b.Terms </a:t>
            </a: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spc="-5" dirty="0">
                <a:latin typeface="Courier New"/>
                <a:cs typeface="Courier New"/>
              </a:rPr>
              <a:t>Terms;  if (Terms</a:t>
            </a:r>
            <a:r>
              <a:rPr sz="1600" b="1" spc="3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&gt;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0)	// nonzero</a:t>
            </a:r>
            <a:r>
              <a:rPr sz="1600" b="1" spc="-5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matrix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0101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// compute RowSize[i] </a:t>
            </a: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spc="-5" dirty="0">
                <a:latin typeface="Courier New"/>
                <a:cs typeface="Courier New"/>
              </a:rPr>
              <a:t>number of terms in</a:t>
            </a:r>
            <a:r>
              <a:rPr sz="1600" b="1" spc="8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row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229186" y="4476242"/>
            <a:ext cx="75882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i </a:t>
            </a:r>
            <a:r>
              <a:rPr sz="1600" b="1" spc="-5" dirty="0">
                <a:latin typeface="Courier New"/>
                <a:cs typeface="Courier New"/>
              </a:rPr>
              <a:t>of</a:t>
            </a:r>
            <a:r>
              <a:rPr sz="1600" b="1" spc="-9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b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60625" y="4720082"/>
            <a:ext cx="5647690" cy="513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for (int </a:t>
            </a:r>
            <a:r>
              <a:rPr sz="1600" b="1" dirty="0">
                <a:latin typeface="Courier New"/>
                <a:cs typeface="Courier New"/>
              </a:rPr>
              <a:t>i = </a:t>
            </a:r>
            <a:r>
              <a:rPr sz="1600" b="1" spc="-5" dirty="0">
                <a:latin typeface="Courier New"/>
                <a:cs typeface="Courier New"/>
              </a:rPr>
              <a:t>0; </a:t>
            </a:r>
            <a:r>
              <a:rPr sz="1600" b="1" dirty="0">
                <a:latin typeface="Courier New"/>
                <a:cs typeface="Courier New"/>
              </a:rPr>
              <a:t>i &lt; </a:t>
            </a:r>
            <a:r>
              <a:rPr sz="1600" b="1" spc="-5" dirty="0">
                <a:latin typeface="Courier New"/>
                <a:cs typeface="Courier New"/>
              </a:rPr>
              <a:t>Cols; i++) RowSize[i]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7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  <a:p>
            <a:pPr marL="3683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//</a:t>
            </a:r>
            <a:r>
              <a:rPr sz="1600" b="1" spc="-8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Initialize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149463" y="4780026"/>
            <a:ext cx="1695450" cy="388620"/>
          </a:xfrm>
          <a:custGeom>
            <a:avLst/>
            <a:gdLst/>
            <a:ahLst/>
            <a:cxnLst/>
            <a:rect l="l" t="t" r="r" b="b"/>
            <a:pathLst>
              <a:path w="1695450" h="388620">
                <a:moveTo>
                  <a:pt x="1695450" y="388620"/>
                </a:moveTo>
                <a:lnTo>
                  <a:pt x="1695450" y="0"/>
                </a:lnTo>
                <a:lnTo>
                  <a:pt x="0" y="0"/>
                </a:lnTo>
                <a:lnTo>
                  <a:pt x="0" y="388620"/>
                </a:lnTo>
                <a:lnTo>
                  <a:pt x="6108" y="388620"/>
                </a:lnTo>
                <a:lnTo>
                  <a:pt x="6108" y="12953"/>
                </a:lnTo>
                <a:lnTo>
                  <a:pt x="12204" y="6096"/>
                </a:lnTo>
                <a:lnTo>
                  <a:pt x="12204" y="12953"/>
                </a:lnTo>
                <a:lnTo>
                  <a:pt x="1682508" y="12953"/>
                </a:lnTo>
                <a:lnTo>
                  <a:pt x="1682508" y="6096"/>
                </a:lnTo>
                <a:lnTo>
                  <a:pt x="1688604" y="12953"/>
                </a:lnTo>
                <a:lnTo>
                  <a:pt x="1688604" y="388620"/>
                </a:lnTo>
                <a:lnTo>
                  <a:pt x="1695450" y="388620"/>
                </a:lnTo>
                <a:close/>
              </a:path>
              <a:path w="1695450" h="388620">
                <a:moveTo>
                  <a:pt x="12204" y="12953"/>
                </a:moveTo>
                <a:lnTo>
                  <a:pt x="12204" y="6096"/>
                </a:lnTo>
                <a:lnTo>
                  <a:pt x="6108" y="12953"/>
                </a:lnTo>
                <a:lnTo>
                  <a:pt x="12204" y="12953"/>
                </a:lnTo>
                <a:close/>
              </a:path>
              <a:path w="1695450" h="388620">
                <a:moveTo>
                  <a:pt x="12204" y="376427"/>
                </a:moveTo>
                <a:lnTo>
                  <a:pt x="12204" y="12953"/>
                </a:lnTo>
                <a:lnTo>
                  <a:pt x="6108" y="12953"/>
                </a:lnTo>
                <a:lnTo>
                  <a:pt x="6108" y="376427"/>
                </a:lnTo>
                <a:lnTo>
                  <a:pt x="12204" y="376427"/>
                </a:lnTo>
                <a:close/>
              </a:path>
              <a:path w="1695450" h="388620">
                <a:moveTo>
                  <a:pt x="1688604" y="376427"/>
                </a:moveTo>
                <a:lnTo>
                  <a:pt x="6108" y="376427"/>
                </a:lnTo>
                <a:lnTo>
                  <a:pt x="12204" y="382524"/>
                </a:lnTo>
                <a:lnTo>
                  <a:pt x="12204" y="388620"/>
                </a:lnTo>
                <a:lnTo>
                  <a:pt x="1682508" y="388620"/>
                </a:lnTo>
                <a:lnTo>
                  <a:pt x="1682508" y="382524"/>
                </a:lnTo>
                <a:lnTo>
                  <a:pt x="1688604" y="376427"/>
                </a:lnTo>
                <a:close/>
              </a:path>
              <a:path w="1695450" h="388620">
                <a:moveTo>
                  <a:pt x="12204" y="388620"/>
                </a:moveTo>
                <a:lnTo>
                  <a:pt x="12204" y="382524"/>
                </a:lnTo>
                <a:lnTo>
                  <a:pt x="6108" y="376427"/>
                </a:lnTo>
                <a:lnTo>
                  <a:pt x="6108" y="388620"/>
                </a:lnTo>
                <a:lnTo>
                  <a:pt x="12204" y="388620"/>
                </a:lnTo>
                <a:close/>
              </a:path>
              <a:path w="1695450" h="388620">
                <a:moveTo>
                  <a:pt x="1688604" y="12953"/>
                </a:moveTo>
                <a:lnTo>
                  <a:pt x="1682508" y="6096"/>
                </a:lnTo>
                <a:lnTo>
                  <a:pt x="1682508" y="12953"/>
                </a:lnTo>
                <a:lnTo>
                  <a:pt x="1688604" y="12953"/>
                </a:lnTo>
                <a:close/>
              </a:path>
              <a:path w="1695450" h="388620">
                <a:moveTo>
                  <a:pt x="1688604" y="376427"/>
                </a:moveTo>
                <a:lnTo>
                  <a:pt x="1688604" y="12953"/>
                </a:lnTo>
                <a:lnTo>
                  <a:pt x="1682508" y="12953"/>
                </a:lnTo>
                <a:lnTo>
                  <a:pt x="1682508" y="376427"/>
                </a:lnTo>
                <a:lnTo>
                  <a:pt x="1688604" y="376427"/>
                </a:lnTo>
                <a:close/>
              </a:path>
              <a:path w="1695450" h="388620">
                <a:moveTo>
                  <a:pt x="1688604" y="388620"/>
                </a:moveTo>
                <a:lnTo>
                  <a:pt x="1688604" y="376427"/>
                </a:lnTo>
                <a:lnTo>
                  <a:pt x="1682508" y="382524"/>
                </a:lnTo>
                <a:lnTo>
                  <a:pt x="1682508" y="388620"/>
                </a:lnTo>
                <a:lnTo>
                  <a:pt x="1688604" y="38862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33536" y="4825745"/>
            <a:ext cx="120777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3300"/>
                </a:solidFill>
                <a:latin typeface="Arial"/>
                <a:cs typeface="Arial"/>
              </a:rPr>
              <a:t>O(columns)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61595" y="5212079"/>
            <a:ext cx="1695450" cy="280670"/>
          </a:xfrm>
          <a:custGeom>
            <a:avLst/>
            <a:gdLst/>
            <a:ahLst/>
            <a:cxnLst/>
            <a:rect l="l" t="t" r="r" b="b"/>
            <a:pathLst>
              <a:path w="1695450" h="280670">
                <a:moveTo>
                  <a:pt x="1695449" y="280416"/>
                </a:moveTo>
                <a:lnTo>
                  <a:pt x="1695449" y="0"/>
                </a:lnTo>
                <a:lnTo>
                  <a:pt x="0" y="0"/>
                </a:lnTo>
                <a:lnTo>
                  <a:pt x="0" y="280416"/>
                </a:lnTo>
                <a:lnTo>
                  <a:pt x="6096" y="280416"/>
                </a:lnTo>
                <a:lnTo>
                  <a:pt x="6096" y="12192"/>
                </a:lnTo>
                <a:lnTo>
                  <a:pt x="12953" y="6096"/>
                </a:lnTo>
                <a:lnTo>
                  <a:pt x="12953" y="12192"/>
                </a:lnTo>
                <a:lnTo>
                  <a:pt x="1682495" y="12192"/>
                </a:lnTo>
                <a:lnTo>
                  <a:pt x="1682495" y="6096"/>
                </a:lnTo>
                <a:lnTo>
                  <a:pt x="1689341" y="12192"/>
                </a:lnTo>
                <a:lnTo>
                  <a:pt x="1689341" y="280416"/>
                </a:lnTo>
                <a:lnTo>
                  <a:pt x="1695449" y="280416"/>
                </a:lnTo>
                <a:close/>
              </a:path>
              <a:path w="1695450" h="280670">
                <a:moveTo>
                  <a:pt x="12953" y="12192"/>
                </a:moveTo>
                <a:lnTo>
                  <a:pt x="12953" y="6096"/>
                </a:lnTo>
                <a:lnTo>
                  <a:pt x="6096" y="12192"/>
                </a:lnTo>
                <a:lnTo>
                  <a:pt x="12953" y="12192"/>
                </a:lnTo>
                <a:close/>
              </a:path>
              <a:path w="1695450" h="280670">
                <a:moveTo>
                  <a:pt x="12953" y="280416"/>
                </a:moveTo>
                <a:lnTo>
                  <a:pt x="12953" y="12192"/>
                </a:lnTo>
                <a:lnTo>
                  <a:pt x="6096" y="12192"/>
                </a:lnTo>
                <a:lnTo>
                  <a:pt x="6096" y="280416"/>
                </a:lnTo>
                <a:lnTo>
                  <a:pt x="12953" y="280416"/>
                </a:lnTo>
                <a:close/>
              </a:path>
              <a:path w="1695450" h="280670">
                <a:moveTo>
                  <a:pt x="1689341" y="12192"/>
                </a:moveTo>
                <a:lnTo>
                  <a:pt x="1682495" y="6096"/>
                </a:lnTo>
                <a:lnTo>
                  <a:pt x="1682495" y="12192"/>
                </a:lnTo>
                <a:lnTo>
                  <a:pt x="1689341" y="12192"/>
                </a:lnTo>
                <a:close/>
              </a:path>
              <a:path w="1695450" h="280670">
                <a:moveTo>
                  <a:pt x="1689341" y="280416"/>
                </a:moveTo>
                <a:lnTo>
                  <a:pt x="1689341" y="12192"/>
                </a:lnTo>
                <a:lnTo>
                  <a:pt x="1682495" y="12192"/>
                </a:lnTo>
                <a:lnTo>
                  <a:pt x="1682495" y="280416"/>
                </a:lnTo>
                <a:lnTo>
                  <a:pt x="1689341" y="28041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46419" y="5257800"/>
            <a:ext cx="9271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3300"/>
                </a:solidFill>
                <a:latin typeface="Arial"/>
                <a:cs typeface="Arial"/>
              </a:rPr>
              <a:t>O(terms)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485021" y="5207761"/>
            <a:ext cx="3446779" cy="513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7175" marR="5080" indent="-24511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for </a:t>
            </a:r>
            <a:r>
              <a:rPr sz="1600" b="1" dirty="0">
                <a:latin typeface="Courier New"/>
                <a:cs typeface="Courier New"/>
              </a:rPr>
              <a:t>( i = </a:t>
            </a:r>
            <a:r>
              <a:rPr sz="1600" b="1" spc="-5" dirty="0">
                <a:latin typeface="Courier New"/>
                <a:cs typeface="Courier New"/>
              </a:rPr>
              <a:t>0; </a:t>
            </a:r>
            <a:r>
              <a:rPr sz="1600" b="1" dirty="0">
                <a:latin typeface="Courier New"/>
                <a:cs typeface="Courier New"/>
              </a:rPr>
              <a:t>i &lt; </a:t>
            </a:r>
            <a:r>
              <a:rPr sz="1600" b="1" spc="-5" dirty="0">
                <a:latin typeface="Courier New"/>
                <a:cs typeface="Courier New"/>
              </a:rPr>
              <a:t>Terms; i++)  </a:t>
            </a:r>
            <a:r>
              <a:rPr sz="1600" b="1" dirty="0">
                <a:latin typeface="Courier New"/>
                <a:cs typeface="Courier New"/>
              </a:rPr>
              <a:t>RowSize[smArray[i].col]++;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85021" y="5695442"/>
            <a:ext cx="589216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// RowStart[i] </a:t>
            </a: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spc="-5" dirty="0">
                <a:latin typeface="Courier New"/>
                <a:cs typeface="Courier New"/>
              </a:rPr>
              <a:t>starting position of row </a:t>
            </a:r>
            <a:r>
              <a:rPr sz="1600" b="1" dirty="0">
                <a:latin typeface="Courier New"/>
                <a:cs typeface="Courier New"/>
              </a:rPr>
              <a:t>i </a:t>
            </a:r>
            <a:r>
              <a:rPr sz="1600" b="1" spc="-5" dirty="0">
                <a:latin typeface="Courier New"/>
                <a:cs typeface="Courier New"/>
              </a:rPr>
              <a:t>in</a:t>
            </a:r>
            <a:r>
              <a:rPr sz="1600" b="1" spc="95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b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96301" y="5939282"/>
            <a:ext cx="1490980" cy="513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&lt; </a:t>
            </a:r>
            <a:r>
              <a:rPr sz="1600" b="1" spc="-5" dirty="0">
                <a:latin typeface="Courier New"/>
                <a:cs typeface="Courier New"/>
              </a:rPr>
              <a:t>Cols;</a:t>
            </a:r>
            <a:r>
              <a:rPr sz="1600" b="1" spc="-7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i++)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061595" y="5492496"/>
            <a:ext cx="1695450" cy="108585"/>
          </a:xfrm>
          <a:custGeom>
            <a:avLst/>
            <a:gdLst/>
            <a:ahLst/>
            <a:cxnLst/>
            <a:rect l="l" t="t" r="r" b="b"/>
            <a:pathLst>
              <a:path w="1695450" h="108585">
                <a:moveTo>
                  <a:pt x="12953" y="95250"/>
                </a:moveTo>
                <a:lnTo>
                  <a:pt x="12953" y="0"/>
                </a:lnTo>
                <a:lnTo>
                  <a:pt x="0" y="0"/>
                </a:lnTo>
                <a:lnTo>
                  <a:pt x="0" y="108203"/>
                </a:lnTo>
                <a:lnTo>
                  <a:pt x="6096" y="108203"/>
                </a:lnTo>
                <a:lnTo>
                  <a:pt x="6096" y="95250"/>
                </a:lnTo>
                <a:lnTo>
                  <a:pt x="12953" y="95250"/>
                </a:lnTo>
                <a:close/>
              </a:path>
              <a:path w="1695450" h="108585">
                <a:moveTo>
                  <a:pt x="1689341" y="95250"/>
                </a:moveTo>
                <a:lnTo>
                  <a:pt x="6096" y="95250"/>
                </a:lnTo>
                <a:lnTo>
                  <a:pt x="12953" y="102107"/>
                </a:lnTo>
                <a:lnTo>
                  <a:pt x="12953" y="108203"/>
                </a:lnTo>
                <a:lnTo>
                  <a:pt x="1682495" y="108203"/>
                </a:lnTo>
                <a:lnTo>
                  <a:pt x="1682495" y="102107"/>
                </a:lnTo>
                <a:lnTo>
                  <a:pt x="1689341" y="95250"/>
                </a:lnTo>
                <a:close/>
              </a:path>
              <a:path w="1695450" h="108585">
                <a:moveTo>
                  <a:pt x="12953" y="108203"/>
                </a:moveTo>
                <a:lnTo>
                  <a:pt x="12953" y="102107"/>
                </a:lnTo>
                <a:lnTo>
                  <a:pt x="6096" y="95250"/>
                </a:lnTo>
                <a:lnTo>
                  <a:pt x="6096" y="108203"/>
                </a:lnTo>
                <a:lnTo>
                  <a:pt x="12953" y="108203"/>
                </a:lnTo>
                <a:close/>
              </a:path>
              <a:path w="1695450" h="108585">
                <a:moveTo>
                  <a:pt x="1695449" y="108203"/>
                </a:moveTo>
                <a:lnTo>
                  <a:pt x="1695449" y="0"/>
                </a:lnTo>
                <a:lnTo>
                  <a:pt x="1682495" y="0"/>
                </a:lnTo>
                <a:lnTo>
                  <a:pt x="1682495" y="95250"/>
                </a:lnTo>
                <a:lnTo>
                  <a:pt x="1689341" y="95250"/>
                </a:lnTo>
                <a:lnTo>
                  <a:pt x="1689341" y="108203"/>
                </a:lnTo>
                <a:lnTo>
                  <a:pt x="1695449" y="108203"/>
                </a:lnTo>
                <a:close/>
              </a:path>
              <a:path w="1695450" h="108585">
                <a:moveTo>
                  <a:pt x="1689341" y="108203"/>
                </a:moveTo>
                <a:lnTo>
                  <a:pt x="1689341" y="95250"/>
                </a:lnTo>
                <a:lnTo>
                  <a:pt x="1682495" y="102107"/>
                </a:lnTo>
                <a:lnTo>
                  <a:pt x="1682495" y="108203"/>
                </a:lnTo>
                <a:lnTo>
                  <a:pt x="1689341" y="108203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133223" y="6076950"/>
            <a:ext cx="1695450" cy="273050"/>
          </a:xfrm>
          <a:custGeom>
            <a:avLst/>
            <a:gdLst/>
            <a:ahLst/>
            <a:cxnLst/>
            <a:rect l="l" t="t" r="r" b="b"/>
            <a:pathLst>
              <a:path w="1695450" h="273050">
                <a:moveTo>
                  <a:pt x="1695450" y="272796"/>
                </a:moveTo>
                <a:lnTo>
                  <a:pt x="1695450" y="0"/>
                </a:lnTo>
                <a:lnTo>
                  <a:pt x="0" y="0"/>
                </a:lnTo>
                <a:lnTo>
                  <a:pt x="0" y="272796"/>
                </a:lnTo>
                <a:lnTo>
                  <a:pt x="6096" y="272796"/>
                </a:lnTo>
                <a:lnTo>
                  <a:pt x="6096" y="12953"/>
                </a:lnTo>
                <a:lnTo>
                  <a:pt x="12192" y="6096"/>
                </a:lnTo>
                <a:lnTo>
                  <a:pt x="12192" y="12953"/>
                </a:lnTo>
                <a:lnTo>
                  <a:pt x="1682495" y="12953"/>
                </a:lnTo>
                <a:lnTo>
                  <a:pt x="1682495" y="6096"/>
                </a:lnTo>
                <a:lnTo>
                  <a:pt x="1688591" y="12953"/>
                </a:lnTo>
                <a:lnTo>
                  <a:pt x="1688591" y="272796"/>
                </a:lnTo>
                <a:lnTo>
                  <a:pt x="1695450" y="272796"/>
                </a:lnTo>
                <a:close/>
              </a:path>
              <a:path w="1695450" h="273050">
                <a:moveTo>
                  <a:pt x="12192" y="12953"/>
                </a:moveTo>
                <a:lnTo>
                  <a:pt x="12192" y="6096"/>
                </a:lnTo>
                <a:lnTo>
                  <a:pt x="6096" y="12953"/>
                </a:lnTo>
                <a:lnTo>
                  <a:pt x="12192" y="12953"/>
                </a:lnTo>
                <a:close/>
              </a:path>
              <a:path w="1695450" h="273050">
                <a:moveTo>
                  <a:pt x="12192" y="272796"/>
                </a:moveTo>
                <a:lnTo>
                  <a:pt x="12192" y="12953"/>
                </a:lnTo>
                <a:lnTo>
                  <a:pt x="6096" y="12953"/>
                </a:lnTo>
                <a:lnTo>
                  <a:pt x="6096" y="272796"/>
                </a:lnTo>
                <a:lnTo>
                  <a:pt x="12192" y="272796"/>
                </a:lnTo>
                <a:close/>
              </a:path>
              <a:path w="1695450" h="273050">
                <a:moveTo>
                  <a:pt x="1688591" y="12953"/>
                </a:moveTo>
                <a:lnTo>
                  <a:pt x="1682495" y="6096"/>
                </a:lnTo>
                <a:lnTo>
                  <a:pt x="1682495" y="12953"/>
                </a:lnTo>
                <a:lnTo>
                  <a:pt x="1688591" y="12953"/>
                </a:lnTo>
                <a:close/>
              </a:path>
              <a:path w="1695450" h="273050">
                <a:moveTo>
                  <a:pt x="1688591" y="272796"/>
                </a:moveTo>
                <a:lnTo>
                  <a:pt x="1688591" y="12953"/>
                </a:lnTo>
                <a:lnTo>
                  <a:pt x="1682495" y="12953"/>
                </a:lnTo>
                <a:lnTo>
                  <a:pt x="1682495" y="272796"/>
                </a:lnTo>
                <a:lnTo>
                  <a:pt x="1688591" y="27279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218046" y="6122670"/>
            <a:ext cx="141097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3300"/>
                </a:solidFill>
                <a:latin typeface="Arial"/>
                <a:cs typeface="Arial"/>
              </a:rPr>
              <a:t>O(columns-1)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485008" y="5939282"/>
            <a:ext cx="1614805" cy="757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r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RowStart[0]</a:t>
            </a:r>
            <a:r>
              <a:rPr sz="1600" b="1" spc="-6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=  </a:t>
            </a:r>
            <a:r>
              <a:rPr sz="1600" b="1" spc="-5" dirty="0">
                <a:latin typeface="Courier New"/>
                <a:cs typeface="Courier New"/>
              </a:rPr>
              <a:t>for (i </a:t>
            </a:r>
            <a:r>
              <a:rPr sz="1600" b="1" dirty="0">
                <a:latin typeface="Courier New"/>
                <a:cs typeface="Courier New"/>
              </a:rPr>
              <a:t>=</a:t>
            </a:r>
            <a:r>
              <a:rPr sz="1600" b="1" spc="-4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1;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i  </a:t>
            </a:r>
            <a:r>
              <a:rPr sz="1600" b="1" spc="-5" dirty="0">
                <a:latin typeface="Courier New"/>
                <a:cs typeface="Courier New"/>
              </a:rPr>
              <a:t>RowStart[i]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96616" y="6426961"/>
            <a:ext cx="3810635" cy="269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Courier New"/>
                <a:cs typeface="Courier New"/>
              </a:rPr>
              <a:t>= </a:t>
            </a:r>
            <a:r>
              <a:rPr sz="1600" b="1" spc="-5" dirty="0">
                <a:latin typeface="Courier New"/>
                <a:cs typeface="Courier New"/>
              </a:rPr>
              <a:t>RowStart[i-1] </a:t>
            </a:r>
            <a:r>
              <a:rPr sz="1600" b="1" dirty="0">
                <a:latin typeface="Courier New"/>
                <a:cs typeface="Courier New"/>
              </a:rPr>
              <a:t>+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RowSize[i-1];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133223" y="6349746"/>
            <a:ext cx="1695450" cy="116839"/>
          </a:xfrm>
          <a:custGeom>
            <a:avLst/>
            <a:gdLst/>
            <a:ahLst/>
            <a:cxnLst/>
            <a:rect l="l" t="t" r="r" b="b"/>
            <a:pathLst>
              <a:path w="1695450" h="116839">
                <a:moveTo>
                  <a:pt x="12192" y="103631"/>
                </a:moveTo>
                <a:lnTo>
                  <a:pt x="12192" y="0"/>
                </a:lnTo>
                <a:lnTo>
                  <a:pt x="0" y="0"/>
                </a:lnTo>
                <a:lnTo>
                  <a:pt x="0" y="116586"/>
                </a:lnTo>
                <a:lnTo>
                  <a:pt x="6096" y="116586"/>
                </a:lnTo>
                <a:lnTo>
                  <a:pt x="6096" y="103631"/>
                </a:lnTo>
                <a:lnTo>
                  <a:pt x="12192" y="103631"/>
                </a:lnTo>
                <a:close/>
              </a:path>
              <a:path w="1695450" h="116839">
                <a:moveTo>
                  <a:pt x="1688591" y="103631"/>
                </a:moveTo>
                <a:lnTo>
                  <a:pt x="6096" y="103631"/>
                </a:lnTo>
                <a:lnTo>
                  <a:pt x="12192" y="109727"/>
                </a:lnTo>
                <a:lnTo>
                  <a:pt x="12192" y="116586"/>
                </a:lnTo>
                <a:lnTo>
                  <a:pt x="1682495" y="116586"/>
                </a:lnTo>
                <a:lnTo>
                  <a:pt x="1682495" y="109727"/>
                </a:lnTo>
                <a:lnTo>
                  <a:pt x="1688591" y="103631"/>
                </a:lnTo>
                <a:close/>
              </a:path>
              <a:path w="1695450" h="116839">
                <a:moveTo>
                  <a:pt x="12192" y="116586"/>
                </a:moveTo>
                <a:lnTo>
                  <a:pt x="12192" y="109727"/>
                </a:lnTo>
                <a:lnTo>
                  <a:pt x="6096" y="103631"/>
                </a:lnTo>
                <a:lnTo>
                  <a:pt x="6096" y="116586"/>
                </a:lnTo>
                <a:lnTo>
                  <a:pt x="12192" y="116586"/>
                </a:lnTo>
                <a:close/>
              </a:path>
              <a:path w="1695450" h="116839">
                <a:moveTo>
                  <a:pt x="1695450" y="116586"/>
                </a:moveTo>
                <a:lnTo>
                  <a:pt x="1695450" y="0"/>
                </a:lnTo>
                <a:lnTo>
                  <a:pt x="1682495" y="0"/>
                </a:lnTo>
                <a:lnTo>
                  <a:pt x="1682495" y="103631"/>
                </a:lnTo>
                <a:lnTo>
                  <a:pt x="1688591" y="103631"/>
                </a:lnTo>
                <a:lnTo>
                  <a:pt x="1688591" y="116586"/>
                </a:lnTo>
                <a:lnTo>
                  <a:pt x="1695450" y="116586"/>
                </a:lnTo>
                <a:close/>
              </a:path>
              <a:path w="1695450" h="116839">
                <a:moveTo>
                  <a:pt x="1688591" y="116586"/>
                </a:moveTo>
                <a:lnTo>
                  <a:pt x="1688591" y="103631"/>
                </a:lnTo>
                <a:lnTo>
                  <a:pt x="1682495" y="109727"/>
                </a:lnTo>
                <a:lnTo>
                  <a:pt x="1682495" y="116586"/>
                </a:lnTo>
                <a:lnTo>
                  <a:pt x="1688591" y="11658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z="4000" dirty="0"/>
              <a:t>Fast Matrix Transposing</a:t>
            </a:r>
            <a:r>
              <a:rPr sz="4000" spc="-100" dirty="0"/>
              <a:t> </a:t>
            </a:r>
            <a:r>
              <a:rPr sz="4000" dirty="0"/>
              <a:t>(cont’d)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531130" y="2308097"/>
            <a:ext cx="262001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// move from </a:t>
            </a:r>
            <a:r>
              <a:rPr sz="1800" b="1" dirty="0">
                <a:latin typeface="Courier New"/>
                <a:cs typeface="Courier New"/>
              </a:rPr>
              <a:t>a </a:t>
            </a:r>
            <a:r>
              <a:rPr sz="1800" b="1" spc="-5" dirty="0">
                <a:latin typeface="Courier New"/>
                <a:cs typeface="Courier New"/>
              </a:rPr>
              <a:t>to</a:t>
            </a:r>
            <a:r>
              <a:rPr sz="1800" b="1" spc="-16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b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73401" y="2308097"/>
            <a:ext cx="3576320" cy="5765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for (i =0; </a:t>
            </a:r>
            <a:r>
              <a:rPr sz="1800" b="1" dirty="0">
                <a:latin typeface="Courier New"/>
                <a:cs typeface="Courier New"/>
              </a:rPr>
              <a:t>i &lt; </a:t>
            </a:r>
            <a:r>
              <a:rPr sz="1800" b="1" spc="-5" dirty="0">
                <a:latin typeface="Courier New"/>
                <a:cs typeface="Courier New"/>
              </a:rPr>
              <a:t>Terms;</a:t>
            </a:r>
            <a:r>
              <a:rPr sz="1800" b="1" spc="-19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i++)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33067" y="2692145"/>
            <a:ext cx="1232535" cy="228600"/>
          </a:xfrm>
          <a:custGeom>
            <a:avLst/>
            <a:gdLst/>
            <a:ahLst/>
            <a:cxnLst/>
            <a:rect l="l" t="t" r="r" b="b"/>
            <a:pathLst>
              <a:path w="1232534" h="228600">
                <a:moveTo>
                  <a:pt x="1232153" y="228600"/>
                </a:moveTo>
                <a:lnTo>
                  <a:pt x="1232153" y="0"/>
                </a:lnTo>
                <a:lnTo>
                  <a:pt x="0" y="0"/>
                </a:lnTo>
                <a:lnTo>
                  <a:pt x="0" y="228600"/>
                </a:lnTo>
                <a:lnTo>
                  <a:pt x="6845" y="228600"/>
                </a:lnTo>
                <a:lnTo>
                  <a:pt x="6845" y="12954"/>
                </a:lnTo>
                <a:lnTo>
                  <a:pt x="12954" y="6858"/>
                </a:lnTo>
                <a:lnTo>
                  <a:pt x="12954" y="12954"/>
                </a:lnTo>
                <a:lnTo>
                  <a:pt x="1219200" y="12954"/>
                </a:lnTo>
                <a:lnTo>
                  <a:pt x="1219200" y="6858"/>
                </a:lnTo>
                <a:lnTo>
                  <a:pt x="1226058" y="12954"/>
                </a:lnTo>
                <a:lnTo>
                  <a:pt x="1226058" y="228600"/>
                </a:lnTo>
                <a:lnTo>
                  <a:pt x="1232153" y="228600"/>
                </a:lnTo>
                <a:close/>
              </a:path>
              <a:path w="1232534" h="228600">
                <a:moveTo>
                  <a:pt x="12954" y="12954"/>
                </a:moveTo>
                <a:lnTo>
                  <a:pt x="12954" y="6858"/>
                </a:lnTo>
                <a:lnTo>
                  <a:pt x="6845" y="12954"/>
                </a:lnTo>
                <a:lnTo>
                  <a:pt x="12954" y="12954"/>
                </a:lnTo>
                <a:close/>
              </a:path>
              <a:path w="1232534" h="228600">
                <a:moveTo>
                  <a:pt x="12954" y="228600"/>
                </a:moveTo>
                <a:lnTo>
                  <a:pt x="12954" y="12954"/>
                </a:lnTo>
                <a:lnTo>
                  <a:pt x="6845" y="12954"/>
                </a:lnTo>
                <a:lnTo>
                  <a:pt x="6845" y="228600"/>
                </a:lnTo>
                <a:lnTo>
                  <a:pt x="12954" y="228600"/>
                </a:lnTo>
                <a:close/>
              </a:path>
              <a:path w="1232534" h="228600">
                <a:moveTo>
                  <a:pt x="1226058" y="12954"/>
                </a:moveTo>
                <a:lnTo>
                  <a:pt x="1219200" y="6858"/>
                </a:lnTo>
                <a:lnTo>
                  <a:pt x="1219200" y="12954"/>
                </a:lnTo>
                <a:lnTo>
                  <a:pt x="1226058" y="12954"/>
                </a:lnTo>
                <a:close/>
              </a:path>
              <a:path w="1232534" h="228600">
                <a:moveTo>
                  <a:pt x="1226058" y="228600"/>
                </a:moveTo>
                <a:lnTo>
                  <a:pt x="1226058" y="12954"/>
                </a:lnTo>
                <a:lnTo>
                  <a:pt x="1219200" y="12954"/>
                </a:lnTo>
                <a:lnTo>
                  <a:pt x="1219200" y="228600"/>
                </a:lnTo>
                <a:lnTo>
                  <a:pt x="1226058" y="22860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017891" y="2736341"/>
            <a:ext cx="850900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FF3300"/>
                </a:solidFill>
                <a:latin typeface="Times New Roman"/>
                <a:cs typeface="Times New Roman"/>
              </a:rPr>
              <a:t>O(terms)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6197" y="2856738"/>
            <a:ext cx="4533265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int </a:t>
            </a:r>
            <a:r>
              <a:rPr sz="1800" b="1" dirty="0">
                <a:latin typeface="Courier New"/>
                <a:cs typeface="Courier New"/>
              </a:rPr>
              <a:t>j =</a:t>
            </a:r>
            <a:r>
              <a:rPr sz="1800" b="1" spc="-16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RowStart[smArray[i].col];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933067" y="2920745"/>
            <a:ext cx="1232535" cy="161290"/>
          </a:xfrm>
          <a:custGeom>
            <a:avLst/>
            <a:gdLst/>
            <a:ahLst/>
            <a:cxnLst/>
            <a:rect l="l" t="t" r="r" b="b"/>
            <a:pathLst>
              <a:path w="1232534" h="161289">
                <a:moveTo>
                  <a:pt x="12954" y="147828"/>
                </a:moveTo>
                <a:lnTo>
                  <a:pt x="12954" y="0"/>
                </a:lnTo>
                <a:lnTo>
                  <a:pt x="0" y="0"/>
                </a:lnTo>
                <a:lnTo>
                  <a:pt x="0" y="160781"/>
                </a:lnTo>
                <a:lnTo>
                  <a:pt x="6845" y="160781"/>
                </a:lnTo>
                <a:lnTo>
                  <a:pt x="6845" y="147828"/>
                </a:lnTo>
                <a:lnTo>
                  <a:pt x="12954" y="147828"/>
                </a:lnTo>
                <a:close/>
              </a:path>
              <a:path w="1232534" h="161289">
                <a:moveTo>
                  <a:pt x="1226058" y="147827"/>
                </a:moveTo>
                <a:lnTo>
                  <a:pt x="6845" y="147828"/>
                </a:lnTo>
                <a:lnTo>
                  <a:pt x="12954" y="154686"/>
                </a:lnTo>
                <a:lnTo>
                  <a:pt x="12954" y="160781"/>
                </a:lnTo>
                <a:lnTo>
                  <a:pt x="1219200" y="160781"/>
                </a:lnTo>
                <a:lnTo>
                  <a:pt x="1219200" y="154685"/>
                </a:lnTo>
                <a:lnTo>
                  <a:pt x="1226058" y="147827"/>
                </a:lnTo>
                <a:close/>
              </a:path>
              <a:path w="1232534" h="161289">
                <a:moveTo>
                  <a:pt x="12954" y="160781"/>
                </a:moveTo>
                <a:lnTo>
                  <a:pt x="12954" y="154686"/>
                </a:lnTo>
                <a:lnTo>
                  <a:pt x="6845" y="147828"/>
                </a:lnTo>
                <a:lnTo>
                  <a:pt x="6845" y="160781"/>
                </a:lnTo>
                <a:lnTo>
                  <a:pt x="12954" y="160781"/>
                </a:lnTo>
                <a:close/>
              </a:path>
              <a:path w="1232534" h="161289">
                <a:moveTo>
                  <a:pt x="1232153" y="160781"/>
                </a:moveTo>
                <a:lnTo>
                  <a:pt x="1232153" y="0"/>
                </a:lnTo>
                <a:lnTo>
                  <a:pt x="1219200" y="0"/>
                </a:lnTo>
                <a:lnTo>
                  <a:pt x="1219200" y="147827"/>
                </a:lnTo>
                <a:lnTo>
                  <a:pt x="1226058" y="147827"/>
                </a:lnTo>
                <a:lnTo>
                  <a:pt x="1226058" y="160781"/>
                </a:lnTo>
                <a:lnTo>
                  <a:pt x="1232153" y="160781"/>
                </a:lnTo>
                <a:close/>
              </a:path>
              <a:path w="1232534" h="161289">
                <a:moveTo>
                  <a:pt x="1226058" y="160781"/>
                </a:moveTo>
                <a:lnTo>
                  <a:pt x="1226058" y="147827"/>
                </a:lnTo>
                <a:lnTo>
                  <a:pt x="1219200" y="154685"/>
                </a:lnTo>
                <a:lnTo>
                  <a:pt x="1219200" y="160781"/>
                </a:lnTo>
                <a:lnTo>
                  <a:pt x="1226058" y="160781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846197" y="3131058"/>
            <a:ext cx="2486025" cy="85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b.smArray[j].row</a:t>
            </a:r>
            <a:r>
              <a:rPr sz="1800" b="1" spc="-1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  </a:t>
            </a:r>
            <a:r>
              <a:rPr sz="1800" b="1" spc="-5" dirty="0">
                <a:latin typeface="Courier New"/>
                <a:cs typeface="Courier New"/>
              </a:rPr>
              <a:t>b.smArray[j].col</a:t>
            </a:r>
            <a:r>
              <a:rPr sz="1800" b="1" spc="-1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  </a:t>
            </a:r>
            <a:r>
              <a:rPr sz="1800" b="1" spc="-5" dirty="0">
                <a:latin typeface="Courier New"/>
                <a:cs typeface="Courier New"/>
              </a:rPr>
              <a:t>b.s</a:t>
            </a:r>
            <a:r>
              <a:rPr sz="1800" b="1" dirty="0">
                <a:latin typeface="Courier New"/>
                <a:cs typeface="Courier New"/>
              </a:rPr>
              <a:t>m</a:t>
            </a:r>
            <a:r>
              <a:rPr sz="1800" b="1" spc="-10" dirty="0">
                <a:latin typeface="Courier New"/>
                <a:cs typeface="Courier New"/>
              </a:rPr>
              <a:t>Arra</a:t>
            </a:r>
            <a:r>
              <a:rPr sz="1800" b="1" dirty="0">
                <a:latin typeface="Courier New"/>
                <a:cs typeface="Courier New"/>
              </a:rPr>
              <a:t>y</a:t>
            </a:r>
            <a:r>
              <a:rPr sz="1800" b="1" spc="-10" dirty="0">
                <a:latin typeface="Courier New"/>
                <a:cs typeface="Courier New"/>
              </a:rPr>
              <a:t>[j].v</a:t>
            </a:r>
            <a:r>
              <a:rPr sz="1800" b="1" dirty="0">
                <a:latin typeface="Courier New"/>
                <a:cs typeface="Courier New"/>
              </a:rPr>
              <a:t>a</a:t>
            </a:r>
            <a:r>
              <a:rPr sz="1800" b="1" spc="-10" dirty="0">
                <a:latin typeface="Courier New"/>
                <a:cs typeface="Courier New"/>
              </a:rPr>
              <a:t>l</a:t>
            </a:r>
            <a:r>
              <a:rPr sz="1800" b="1" spc="-5" dirty="0">
                <a:latin typeface="Courier New"/>
                <a:cs typeface="Courier New"/>
              </a:rPr>
              <a:t>ue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39458" y="3131058"/>
            <a:ext cx="2622550" cy="85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50545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smArray[i].col;  smArray[i].row;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7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smArray[i].value;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99842" y="3954017"/>
            <a:ext cx="4260215" cy="850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88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RowStart[smArray[i].col]++;</a:t>
            </a:r>
            <a:endParaRPr sz="1800">
              <a:latin typeface="Courier New"/>
              <a:cs typeface="Courier New"/>
            </a:endParaRPr>
          </a:p>
          <a:p>
            <a:pPr marL="28575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 </a:t>
            </a:r>
            <a:r>
              <a:rPr sz="1800" b="1" spc="-5" dirty="0">
                <a:latin typeface="Courier New"/>
                <a:cs typeface="Courier New"/>
              </a:rPr>
              <a:t>// end of</a:t>
            </a:r>
            <a:r>
              <a:rPr sz="1800" b="1" spc="-14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for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 </a:t>
            </a:r>
            <a:r>
              <a:rPr sz="1800" b="1" spc="-5" dirty="0">
                <a:latin typeface="Courier New"/>
                <a:cs typeface="Courier New"/>
              </a:rPr>
              <a:t>// end of</a:t>
            </a:r>
            <a:r>
              <a:rPr sz="1800" b="1" spc="-15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if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27047" y="4776978"/>
            <a:ext cx="1120140" cy="1125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115" marR="5080" algn="just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delete  delete  return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 </a:t>
            </a:r>
            <a:r>
              <a:rPr sz="1800" b="1" spc="-5" dirty="0">
                <a:latin typeface="Courier New"/>
                <a:cs typeface="Courier New"/>
              </a:rPr>
              <a:t>//</a:t>
            </a:r>
            <a:r>
              <a:rPr sz="1800" b="1" spc="-135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end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53806" y="4776978"/>
            <a:ext cx="1667510" cy="1125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 marR="508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[] RowSize;  []</a:t>
            </a:r>
            <a:r>
              <a:rPr sz="1800" b="1" spc="-120" dirty="0">
                <a:latin typeface="Courier New"/>
                <a:cs typeface="Courier New"/>
              </a:rPr>
              <a:t> </a:t>
            </a:r>
            <a:r>
              <a:rPr sz="1800" b="1" spc="-5" dirty="0">
                <a:latin typeface="Courier New"/>
                <a:cs typeface="Courier New"/>
              </a:rPr>
              <a:t>RowStart;  b;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of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62725" y="5599938"/>
            <a:ext cx="1805939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ourier New"/>
                <a:cs typeface="Courier New"/>
              </a:rPr>
              <a:t>FastTranspose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04089" y="5572505"/>
            <a:ext cx="3326129" cy="541020"/>
          </a:xfrm>
          <a:custGeom>
            <a:avLst/>
            <a:gdLst/>
            <a:ahLst/>
            <a:cxnLst/>
            <a:rect l="l" t="t" r="r" b="b"/>
            <a:pathLst>
              <a:path w="3326129" h="541020">
                <a:moveTo>
                  <a:pt x="3326130" y="541020"/>
                </a:moveTo>
                <a:lnTo>
                  <a:pt x="3326130" y="0"/>
                </a:lnTo>
                <a:lnTo>
                  <a:pt x="0" y="0"/>
                </a:lnTo>
                <a:lnTo>
                  <a:pt x="0" y="541020"/>
                </a:lnTo>
                <a:lnTo>
                  <a:pt x="6858" y="541020"/>
                </a:lnTo>
                <a:lnTo>
                  <a:pt x="6857" y="12192"/>
                </a:lnTo>
                <a:lnTo>
                  <a:pt x="12953" y="6096"/>
                </a:lnTo>
                <a:lnTo>
                  <a:pt x="12953" y="12192"/>
                </a:lnTo>
                <a:lnTo>
                  <a:pt x="3313175" y="12192"/>
                </a:lnTo>
                <a:lnTo>
                  <a:pt x="3313175" y="6096"/>
                </a:lnTo>
                <a:lnTo>
                  <a:pt x="3320034" y="12192"/>
                </a:lnTo>
                <a:lnTo>
                  <a:pt x="3320034" y="541020"/>
                </a:lnTo>
                <a:lnTo>
                  <a:pt x="3326130" y="541020"/>
                </a:lnTo>
                <a:close/>
              </a:path>
              <a:path w="3326129" h="541020">
                <a:moveTo>
                  <a:pt x="12953" y="12192"/>
                </a:moveTo>
                <a:lnTo>
                  <a:pt x="12953" y="6096"/>
                </a:lnTo>
                <a:lnTo>
                  <a:pt x="6857" y="12192"/>
                </a:lnTo>
                <a:lnTo>
                  <a:pt x="12953" y="12192"/>
                </a:lnTo>
                <a:close/>
              </a:path>
              <a:path w="3326129" h="541020">
                <a:moveTo>
                  <a:pt x="12953" y="528066"/>
                </a:moveTo>
                <a:lnTo>
                  <a:pt x="12953" y="12192"/>
                </a:lnTo>
                <a:lnTo>
                  <a:pt x="6857" y="12192"/>
                </a:lnTo>
                <a:lnTo>
                  <a:pt x="6858" y="528066"/>
                </a:lnTo>
                <a:lnTo>
                  <a:pt x="12953" y="528066"/>
                </a:lnTo>
                <a:close/>
              </a:path>
              <a:path w="3326129" h="541020">
                <a:moveTo>
                  <a:pt x="3320034" y="528066"/>
                </a:moveTo>
                <a:lnTo>
                  <a:pt x="6858" y="528066"/>
                </a:lnTo>
                <a:lnTo>
                  <a:pt x="12954" y="534924"/>
                </a:lnTo>
                <a:lnTo>
                  <a:pt x="12953" y="541020"/>
                </a:lnTo>
                <a:lnTo>
                  <a:pt x="3313175" y="541020"/>
                </a:lnTo>
                <a:lnTo>
                  <a:pt x="3313175" y="534924"/>
                </a:lnTo>
                <a:lnTo>
                  <a:pt x="3320034" y="528066"/>
                </a:lnTo>
                <a:close/>
              </a:path>
              <a:path w="3326129" h="541020">
                <a:moveTo>
                  <a:pt x="12953" y="541020"/>
                </a:moveTo>
                <a:lnTo>
                  <a:pt x="12954" y="534924"/>
                </a:lnTo>
                <a:lnTo>
                  <a:pt x="6858" y="528066"/>
                </a:lnTo>
                <a:lnTo>
                  <a:pt x="6858" y="541020"/>
                </a:lnTo>
                <a:lnTo>
                  <a:pt x="12953" y="541020"/>
                </a:lnTo>
                <a:close/>
              </a:path>
              <a:path w="3326129" h="541020">
                <a:moveTo>
                  <a:pt x="3320034" y="12192"/>
                </a:moveTo>
                <a:lnTo>
                  <a:pt x="3313175" y="6096"/>
                </a:lnTo>
                <a:lnTo>
                  <a:pt x="3313175" y="12192"/>
                </a:lnTo>
                <a:lnTo>
                  <a:pt x="3320034" y="12192"/>
                </a:lnTo>
                <a:close/>
              </a:path>
              <a:path w="3326129" h="541020">
                <a:moveTo>
                  <a:pt x="3320034" y="528066"/>
                </a:moveTo>
                <a:lnTo>
                  <a:pt x="3320034" y="12192"/>
                </a:lnTo>
                <a:lnTo>
                  <a:pt x="3313175" y="12192"/>
                </a:lnTo>
                <a:lnTo>
                  <a:pt x="3313175" y="528066"/>
                </a:lnTo>
                <a:lnTo>
                  <a:pt x="3320034" y="528066"/>
                </a:lnTo>
                <a:close/>
              </a:path>
              <a:path w="3326129" h="541020">
                <a:moveTo>
                  <a:pt x="3320034" y="541020"/>
                </a:moveTo>
                <a:lnTo>
                  <a:pt x="3320034" y="528066"/>
                </a:lnTo>
                <a:lnTo>
                  <a:pt x="3313175" y="534924"/>
                </a:lnTo>
                <a:lnTo>
                  <a:pt x="3313175" y="541020"/>
                </a:lnTo>
                <a:lnTo>
                  <a:pt x="3320034" y="54102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288913" y="5614670"/>
            <a:ext cx="296608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O(columns+terms)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74839" y="2920745"/>
            <a:ext cx="824484" cy="4286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35</a:t>
            </a:fld>
            <a:endParaRPr spc="-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Matrix</a:t>
            </a:r>
            <a:r>
              <a:rPr spc="-25" dirty="0"/>
              <a:t> </a:t>
            </a:r>
            <a:r>
              <a:rPr spc="-5" dirty="0"/>
              <a:t>Multiplication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27047" y="2377439"/>
            <a:ext cx="7155815" cy="2334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ts val="336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Definition: </a:t>
            </a:r>
            <a:r>
              <a:rPr sz="2800" dirty="0">
                <a:latin typeface="Arial"/>
                <a:cs typeface="Arial"/>
              </a:rPr>
              <a:t>Given A </a:t>
            </a:r>
            <a:r>
              <a:rPr sz="2800" spc="-5" dirty="0">
                <a:latin typeface="Arial"/>
                <a:cs typeface="Arial"/>
              </a:rPr>
              <a:t>and </a:t>
            </a:r>
            <a:r>
              <a:rPr sz="2800" dirty="0">
                <a:latin typeface="Arial"/>
                <a:cs typeface="Arial"/>
              </a:rPr>
              <a:t>B, </a:t>
            </a:r>
            <a:r>
              <a:rPr sz="2800" spc="-5" dirty="0">
                <a:latin typeface="Arial"/>
                <a:cs typeface="Arial"/>
              </a:rPr>
              <a:t>where </a:t>
            </a:r>
            <a:r>
              <a:rPr sz="2800" dirty="0">
                <a:latin typeface="Arial"/>
                <a:cs typeface="Arial"/>
              </a:rPr>
              <a:t>A </a:t>
            </a:r>
            <a:r>
              <a:rPr sz="2800" spc="-5" dirty="0">
                <a:latin typeface="Arial"/>
                <a:cs typeface="Arial"/>
              </a:rPr>
              <a:t>is </a:t>
            </a:r>
            <a:r>
              <a:rPr sz="2800" i="1" spc="-25" dirty="0">
                <a:latin typeface="Arial"/>
                <a:cs typeface="Arial"/>
              </a:rPr>
              <a:t>m</a:t>
            </a:r>
            <a:r>
              <a:rPr sz="2950" i="1" spc="-25" dirty="0">
                <a:latin typeface="Palatino Linotype"/>
                <a:cs typeface="Palatino Linotype"/>
              </a:rPr>
              <a:t>×</a:t>
            </a:r>
            <a:r>
              <a:rPr sz="2800" i="1" spc="-25" dirty="0">
                <a:latin typeface="Arial"/>
                <a:cs typeface="Arial"/>
              </a:rPr>
              <a:t>n  </a:t>
            </a:r>
            <a:r>
              <a:rPr sz="2800" dirty="0">
                <a:latin typeface="Arial"/>
                <a:cs typeface="Arial"/>
              </a:rPr>
              <a:t>and B is </a:t>
            </a:r>
            <a:r>
              <a:rPr sz="2800" i="1" spc="-20" dirty="0">
                <a:latin typeface="Arial"/>
                <a:cs typeface="Arial"/>
              </a:rPr>
              <a:t>n</a:t>
            </a:r>
            <a:r>
              <a:rPr sz="2950" i="1" spc="-20" dirty="0">
                <a:latin typeface="Palatino Linotype"/>
                <a:cs typeface="Palatino Linotype"/>
              </a:rPr>
              <a:t>×</a:t>
            </a:r>
            <a:r>
              <a:rPr sz="2800" i="1" spc="-20" dirty="0">
                <a:latin typeface="Arial"/>
                <a:cs typeface="Arial"/>
              </a:rPr>
              <a:t>p</a:t>
            </a:r>
            <a:r>
              <a:rPr sz="2800" spc="-20" dirty="0">
                <a:latin typeface="Arial"/>
                <a:cs typeface="Arial"/>
              </a:rPr>
              <a:t>, </a:t>
            </a:r>
            <a:r>
              <a:rPr sz="2800" dirty="0">
                <a:latin typeface="Arial"/>
                <a:cs typeface="Arial"/>
              </a:rPr>
              <a:t>the product matrix Result</a:t>
            </a:r>
            <a:r>
              <a:rPr sz="2800" spc="-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has  dimension </a:t>
            </a:r>
            <a:r>
              <a:rPr sz="2800" i="1" spc="-20" dirty="0">
                <a:latin typeface="Arial"/>
                <a:cs typeface="Arial"/>
              </a:rPr>
              <a:t>m</a:t>
            </a:r>
            <a:r>
              <a:rPr sz="2950" i="1" spc="-20" dirty="0">
                <a:latin typeface="Palatino Linotype"/>
                <a:cs typeface="Palatino Linotype"/>
              </a:rPr>
              <a:t>×</a:t>
            </a:r>
            <a:r>
              <a:rPr sz="2800" i="1" spc="-20" dirty="0">
                <a:latin typeface="Arial"/>
                <a:cs typeface="Arial"/>
              </a:rPr>
              <a:t>p</a:t>
            </a:r>
            <a:r>
              <a:rPr sz="2800" spc="-20" dirty="0">
                <a:latin typeface="Arial"/>
                <a:cs typeface="Arial"/>
              </a:rPr>
              <a:t>. </a:t>
            </a:r>
            <a:r>
              <a:rPr sz="2800" dirty="0">
                <a:latin typeface="Arial"/>
                <a:cs typeface="Arial"/>
              </a:rPr>
              <a:t>Its [i][j] element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endParaRPr sz="2800">
              <a:latin typeface="Arial"/>
              <a:cs typeface="Arial"/>
            </a:endParaRPr>
          </a:p>
          <a:p>
            <a:pPr marL="1339215" algn="ctr">
              <a:lnSpc>
                <a:spcPts val="1360"/>
              </a:lnSpc>
              <a:spcBef>
                <a:spcPts val="1150"/>
              </a:spcBef>
            </a:pPr>
            <a:r>
              <a:rPr sz="1950" i="1" spc="5" dirty="0">
                <a:latin typeface="Times New Roman"/>
                <a:cs typeface="Times New Roman"/>
              </a:rPr>
              <a:t>n</a:t>
            </a:r>
            <a:r>
              <a:rPr sz="1950" spc="5" dirty="0">
                <a:latin typeface="Symbol"/>
                <a:cs typeface="Symbol"/>
              </a:rPr>
              <a:t></a:t>
            </a:r>
            <a:r>
              <a:rPr sz="1950" spc="5" dirty="0">
                <a:latin typeface="Times New Roman"/>
                <a:cs typeface="Times New Roman"/>
              </a:rPr>
              <a:t>1</a:t>
            </a:r>
            <a:endParaRPr sz="1950">
              <a:latin typeface="Times New Roman"/>
              <a:cs typeface="Times New Roman"/>
            </a:endParaRPr>
          </a:p>
          <a:p>
            <a:pPr marL="2447925">
              <a:lnSpc>
                <a:spcPts val="5020"/>
              </a:lnSpc>
            </a:pPr>
            <a:r>
              <a:rPr sz="3350" i="1" spc="-5" dirty="0">
                <a:latin typeface="Times New Roman"/>
                <a:cs typeface="Times New Roman"/>
              </a:rPr>
              <a:t>resul</a:t>
            </a:r>
            <a:r>
              <a:rPr sz="3350" i="1" spc="-114" dirty="0">
                <a:latin typeface="Times New Roman"/>
                <a:cs typeface="Times New Roman"/>
              </a:rPr>
              <a:t>t</a:t>
            </a:r>
            <a:r>
              <a:rPr sz="2925" i="1" baseline="-24216" dirty="0">
                <a:latin typeface="Times New Roman"/>
                <a:cs typeface="Times New Roman"/>
              </a:rPr>
              <a:t>ij</a:t>
            </a:r>
            <a:r>
              <a:rPr sz="2925" i="1" spc="254" baseline="-24216" dirty="0">
                <a:latin typeface="Times New Roman"/>
                <a:cs typeface="Times New Roman"/>
              </a:rPr>
              <a:t> </a:t>
            </a:r>
            <a:r>
              <a:rPr sz="3350" spc="-5" dirty="0">
                <a:latin typeface="Symbol"/>
                <a:cs typeface="Symbol"/>
              </a:rPr>
              <a:t></a:t>
            </a:r>
            <a:r>
              <a:rPr sz="3350" spc="-310" dirty="0">
                <a:latin typeface="Times New Roman"/>
                <a:cs typeface="Times New Roman"/>
              </a:rPr>
              <a:t> </a:t>
            </a:r>
            <a:r>
              <a:rPr sz="7500" spc="450" baseline="-8333" dirty="0">
                <a:latin typeface="Symbol"/>
                <a:cs typeface="Symbol"/>
              </a:rPr>
              <a:t></a:t>
            </a:r>
            <a:r>
              <a:rPr sz="3350" i="1" spc="-40" dirty="0">
                <a:latin typeface="Times New Roman"/>
                <a:cs typeface="Times New Roman"/>
              </a:rPr>
              <a:t>a</a:t>
            </a:r>
            <a:r>
              <a:rPr sz="2925" i="1" baseline="-24216" dirty="0">
                <a:latin typeface="Times New Roman"/>
                <a:cs typeface="Times New Roman"/>
              </a:rPr>
              <a:t>i</a:t>
            </a:r>
            <a:r>
              <a:rPr sz="2925" i="1" spc="165" baseline="-24216" dirty="0">
                <a:latin typeface="Times New Roman"/>
                <a:cs typeface="Times New Roman"/>
              </a:rPr>
              <a:t>k</a:t>
            </a:r>
            <a:r>
              <a:rPr sz="3350" i="1" spc="-200" dirty="0">
                <a:latin typeface="Times New Roman"/>
                <a:cs typeface="Times New Roman"/>
              </a:rPr>
              <a:t>b</a:t>
            </a:r>
            <a:r>
              <a:rPr sz="2925" i="1" baseline="-24216" dirty="0">
                <a:latin typeface="Times New Roman"/>
                <a:cs typeface="Times New Roman"/>
              </a:rPr>
              <a:t>kj</a:t>
            </a:r>
            <a:endParaRPr sz="2925" baseline="-24216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27047" y="4648200"/>
            <a:ext cx="6401435" cy="15678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37965">
              <a:lnSpc>
                <a:spcPct val="100000"/>
              </a:lnSpc>
            </a:pPr>
            <a:r>
              <a:rPr sz="1950" i="1" dirty="0">
                <a:latin typeface="Times New Roman"/>
                <a:cs typeface="Times New Roman"/>
              </a:rPr>
              <a:t>k</a:t>
            </a:r>
            <a:r>
              <a:rPr sz="1950" i="1" spc="-360" dirty="0">
                <a:latin typeface="Times New Roman"/>
                <a:cs typeface="Times New Roman"/>
              </a:rPr>
              <a:t> </a:t>
            </a:r>
            <a:r>
              <a:rPr sz="1950" spc="15" dirty="0">
                <a:latin typeface="Symbol"/>
                <a:cs typeface="Symbol"/>
              </a:rPr>
              <a:t></a:t>
            </a:r>
            <a:r>
              <a:rPr sz="1950" spc="15" dirty="0">
                <a:latin typeface="Times New Roman"/>
                <a:cs typeface="Times New Roman"/>
              </a:rPr>
              <a:t>0</a:t>
            </a: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2800" dirty="0">
                <a:latin typeface="Arial"/>
                <a:cs typeface="Arial"/>
              </a:rPr>
              <a:t>for 0 </a:t>
            </a:r>
            <a:r>
              <a:rPr sz="2800" spc="-5" dirty="0">
                <a:latin typeface="Arial"/>
                <a:cs typeface="Arial"/>
              </a:rPr>
              <a:t>≤ </a:t>
            </a:r>
            <a:r>
              <a:rPr sz="2800" dirty="0">
                <a:latin typeface="Arial"/>
                <a:cs typeface="Arial"/>
              </a:rPr>
              <a:t>i &lt; m and 0 </a:t>
            </a:r>
            <a:r>
              <a:rPr sz="2800" spc="-5" dirty="0">
                <a:latin typeface="Arial"/>
                <a:cs typeface="Arial"/>
              </a:rPr>
              <a:t>≤ </a:t>
            </a:r>
            <a:r>
              <a:rPr sz="2800" dirty="0">
                <a:latin typeface="Arial"/>
                <a:cs typeface="Arial"/>
              </a:rPr>
              <a:t>j &lt;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p.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Please study Section 2.4.4 by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yourself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Representation of</a:t>
            </a:r>
            <a:r>
              <a:rPr spc="-25" dirty="0"/>
              <a:t> </a:t>
            </a:r>
            <a:r>
              <a:rPr spc="-10" dirty="0"/>
              <a:t>Arrays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27047" y="2364994"/>
            <a:ext cx="7332980" cy="3934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Multidimensional </a:t>
            </a:r>
            <a:r>
              <a:rPr sz="3200" spc="-5" dirty="0">
                <a:latin typeface="Arial"/>
                <a:cs typeface="Arial"/>
              </a:rPr>
              <a:t>arrays are </a:t>
            </a:r>
            <a:r>
              <a:rPr sz="3200" spc="-10" dirty="0">
                <a:latin typeface="Arial"/>
                <a:cs typeface="Arial"/>
              </a:rPr>
              <a:t>usually  implemented </a:t>
            </a:r>
            <a:r>
              <a:rPr sz="3200" spc="-5" dirty="0">
                <a:latin typeface="Arial"/>
                <a:cs typeface="Arial"/>
              </a:rPr>
              <a:t>by one </a:t>
            </a:r>
            <a:r>
              <a:rPr sz="3200" spc="-10" dirty="0">
                <a:latin typeface="Arial"/>
                <a:cs typeface="Arial"/>
              </a:rPr>
              <a:t>dimensional array  </a:t>
            </a:r>
            <a:r>
              <a:rPr sz="3200" spc="-5" dirty="0">
                <a:latin typeface="Arial"/>
                <a:cs typeface="Arial"/>
              </a:rPr>
              <a:t>via either </a:t>
            </a: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row major order </a:t>
            </a:r>
            <a:r>
              <a:rPr sz="3200" spc="-5" dirty="0">
                <a:latin typeface="Arial"/>
                <a:cs typeface="Arial"/>
              </a:rPr>
              <a:t>or </a:t>
            </a:r>
            <a:r>
              <a:rPr sz="3200" spc="-10" dirty="0">
                <a:solidFill>
                  <a:srgbClr val="FF3300"/>
                </a:solidFill>
                <a:latin typeface="Arial"/>
                <a:cs typeface="Arial"/>
              </a:rPr>
              <a:t>column  </a:t>
            </a: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major</a:t>
            </a:r>
            <a:r>
              <a:rPr sz="3200" spc="-1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3200" spc="-5" dirty="0">
                <a:solidFill>
                  <a:srgbClr val="FF3300"/>
                </a:solidFill>
                <a:latin typeface="Arial"/>
                <a:cs typeface="Arial"/>
              </a:rPr>
              <a:t>order</a:t>
            </a:r>
            <a:r>
              <a:rPr sz="3200" spc="-5" dirty="0">
                <a:latin typeface="Arial"/>
                <a:cs typeface="Arial"/>
              </a:rPr>
              <a:t>.</a:t>
            </a:r>
            <a:endParaRPr sz="3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Example: </a:t>
            </a:r>
            <a:r>
              <a:rPr sz="3200" spc="-5" dirty="0">
                <a:latin typeface="Arial"/>
                <a:cs typeface="Arial"/>
              </a:rPr>
              <a:t>One </a:t>
            </a:r>
            <a:r>
              <a:rPr sz="3200" spc="-10" dirty="0">
                <a:latin typeface="Arial"/>
                <a:cs typeface="Arial"/>
              </a:rPr>
              <a:t>dimensional</a:t>
            </a:r>
            <a:r>
              <a:rPr sz="3200" spc="1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array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250" dirty="0">
              <a:latin typeface="Times New Roman"/>
              <a:cs typeface="Times New Roman"/>
            </a:endParaRPr>
          </a:p>
          <a:p>
            <a:pPr marL="1443355">
              <a:lnSpc>
                <a:spcPct val="100000"/>
              </a:lnSpc>
              <a:tabLst>
                <a:tab pos="1716405" algn="l"/>
                <a:tab pos="2279015" algn="l"/>
                <a:tab pos="2840990" algn="l"/>
              </a:tabLst>
            </a:pPr>
            <a:r>
              <a:rPr sz="2000" spc="-5" dirty="0">
                <a:latin typeface="Times New Roman"/>
                <a:cs typeface="Times New Roman"/>
              </a:rPr>
              <a:t>α	</a:t>
            </a:r>
            <a:r>
              <a:rPr lang="en-US" sz="2000" spc="-5" dirty="0" smtClean="0">
                <a:latin typeface="Times New Roman"/>
                <a:cs typeface="Times New Roman"/>
              </a:rPr>
              <a:t>        </a:t>
            </a:r>
            <a:r>
              <a:rPr sz="2000" spc="-5" dirty="0" smtClean="0">
                <a:latin typeface="Times New Roman"/>
                <a:cs typeface="Times New Roman"/>
              </a:rPr>
              <a:t>α</a:t>
            </a:r>
            <a:r>
              <a:rPr sz="2000" spc="-5" dirty="0" smtClean="0">
                <a:latin typeface="Arial"/>
                <a:cs typeface="Arial"/>
              </a:rPr>
              <a:t>+1</a:t>
            </a:r>
            <a:r>
              <a:rPr sz="2000" spc="-5" dirty="0">
                <a:latin typeface="Arial"/>
                <a:cs typeface="Arial"/>
              </a:rPr>
              <a:t>	</a:t>
            </a:r>
            <a:r>
              <a:rPr lang="en-US" sz="2000" spc="-5" dirty="0" smtClean="0">
                <a:latin typeface="Arial"/>
                <a:cs typeface="Arial"/>
              </a:rPr>
              <a:t> </a:t>
            </a:r>
            <a:r>
              <a:rPr sz="2000" spc="-5" dirty="0" smtClean="0">
                <a:latin typeface="Times New Roman"/>
                <a:cs typeface="Times New Roman"/>
              </a:rPr>
              <a:t>α</a:t>
            </a:r>
            <a:r>
              <a:rPr sz="2000" spc="-5" dirty="0" smtClean="0">
                <a:latin typeface="Arial"/>
                <a:cs typeface="Arial"/>
              </a:rPr>
              <a:t>+2</a:t>
            </a:r>
            <a:r>
              <a:rPr sz="2000" spc="-5" dirty="0">
                <a:latin typeface="Arial"/>
                <a:cs typeface="Arial"/>
              </a:rPr>
              <a:t>	</a:t>
            </a:r>
            <a:r>
              <a:rPr sz="2000" spc="-5" dirty="0">
                <a:latin typeface="Times New Roman"/>
                <a:cs typeface="Times New Roman"/>
              </a:rPr>
              <a:t>α</a:t>
            </a:r>
            <a:r>
              <a:rPr sz="2000" spc="-5" dirty="0">
                <a:latin typeface="Arial"/>
                <a:cs typeface="Arial"/>
              </a:rPr>
              <a:t>+3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lang="en-US" sz="2000" spc="-100" dirty="0" smtClean="0">
                <a:latin typeface="Arial"/>
                <a:cs typeface="Arial"/>
              </a:rPr>
              <a:t>     </a:t>
            </a:r>
            <a:r>
              <a:rPr sz="2000" spc="-10" dirty="0" smtClean="0">
                <a:latin typeface="Times New Roman"/>
                <a:cs typeface="Times New Roman"/>
              </a:rPr>
              <a:t>α</a:t>
            </a:r>
            <a:r>
              <a:rPr sz="2000" spc="-10" dirty="0" smtClean="0">
                <a:latin typeface="Arial"/>
                <a:cs typeface="Arial"/>
              </a:rPr>
              <a:t>+4</a:t>
            </a:r>
            <a:endParaRPr sz="2000" dirty="0">
              <a:latin typeface="Arial"/>
              <a:cs typeface="Arial"/>
            </a:endParaRPr>
          </a:p>
          <a:p>
            <a:pPr marL="1283970">
              <a:lnSpc>
                <a:spcPct val="100000"/>
              </a:lnSpc>
              <a:spcBef>
                <a:spcPts val="1505"/>
              </a:spcBef>
            </a:pPr>
            <a:r>
              <a:rPr sz="2400" spc="-5" dirty="0">
                <a:latin typeface="Arial"/>
                <a:cs typeface="Arial"/>
              </a:rPr>
              <a:t>A[0] </a:t>
            </a:r>
            <a:r>
              <a:rPr lang="en-US" sz="2400" spc="-5" dirty="0" smtClean="0">
                <a:latin typeface="Arial"/>
                <a:cs typeface="Arial"/>
              </a:rPr>
              <a:t>  </a:t>
            </a:r>
            <a:r>
              <a:rPr sz="2400" spc="-5" dirty="0" smtClean="0">
                <a:latin typeface="Arial"/>
                <a:cs typeface="Arial"/>
              </a:rPr>
              <a:t>A[1</a:t>
            </a:r>
            <a:r>
              <a:rPr sz="2400" spc="-5" dirty="0">
                <a:latin typeface="Arial"/>
                <a:cs typeface="Arial"/>
              </a:rPr>
              <a:t>] </a:t>
            </a:r>
            <a:r>
              <a:rPr lang="en-US" sz="2400" spc="-5" dirty="0" smtClean="0">
                <a:latin typeface="Arial"/>
                <a:cs typeface="Arial"/>
              </a:rPr>
              <a:t>  </a:t>
            </a:r>
            <a:r>
              <a:rPr sz="2400" spc="-5" dirty="0" smtClean="0">
                <a:latin typeface="Arial"/>
                <a:cs typeface="Arial"/>
              </a:rPr>
              <a:t>A[2</a:t>
            </a:r>
            <a:r>
              <a:rPr sz="2400" spc="-5" dirty="0">
                <a:latin typeface="Arial"/>
                <a:cs typeface="Arial"/>
              </a:rPr>
              <a:t>] </a:t>
            </a:r>
            <a:r>
              <a:rPr lang="en-US" sz="2400" spc="-5" dirty="0" smtClean="0">
                <a:latin typeface="Arial"/>
                <a:cs typeface="Arial"/>
              </a:rPr>
              <a:t>   </a:t>
            </a:r>
            <a:r>
              <a:rPr sz="2400" spc="-5" dirty="0" smtClean="0">
                <a:latin typeface="Arial"/>
                <a:cs typeface="Arial"/>
              </a:rPr>
              <a:t>A[3</a:t>
            </a:r>
            <a:r>
              <a:rPr sz="2400" spc="-5" dirty="0">
                <a:latin typeface="Arial"/>
                <a:cs typeface="Arial"/>
              </a:rPr>
              <a:t>]</a:t>
            </a:r>
            <a:r>
              <a:rPr sz="2400" spc="6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A[4]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736473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Two Dimensional Array </a:t>
            </a:r>
            <a:r>
              <a:rPr sz="4000" spc="-5" dirty="0"/>
              <a:t>Row</a:t>
            </a:r>
            <a:r>
              <a:rPr sz="4000" spc="-125" dirty="0"/>
              <a:t> </a:t>
            </a:r>
            <a:r>
              <a:rPr sz="4000" dirty="0"/>
              <a:t>Major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47" y="1360423"/>
            <a:ext cx="126873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Order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672725" y="2678429"/>
            <a:ext cx="3843020" cy="242570"/>
          </a:xfrm>
          <a:custGeom>
            <a:avLst/>
            <a:gdLst/>
            <a:ahLst/>
            <a:cxnLst/>
            <a:rect l="l" t="t" r="r" b="b"/>
            <a:pathLst>
              <a:path w="3843020" h="242569">
                <a:moveTo>
                  <a:pt x="3842766" y="242315"/>
                </a:moveTo>
                <a:lnTo>
                  <a:pt x="3842766" y="0"/>
                </a:lnTo>
                <a:lnTo>
                  <a:pt x="0" y="0"/>
                </a:lnTo>
                <a:lnTo>
                  <a:pt x="0" y="242316"/>
                </a:lnTo>
                <a:lnTo>
                  <a:pt x="6096" y="242316"/>
                </a:lnTo>
                <a:lnTo>
                  <a:pt x="6096" y="12192"/>
                </a:lnTo>
                <a:lnTo>
                  <a:pt x="12192" y="6095"/>
                </a:lnTo>
                <a:lnTo>
                  <a:pt x="12192" y="12192"/>
                </a:lnTo>
                <a:lnTo>
                  <a:pt x="3830561" y="12192"/>
                </a:lnTo>
                <a:lnTo>
                  <a:pt x="3830561" y="6095"/>
                </a:lnTo>
                <a:lnTo>
                  <a:pt x="3836670" y="12192"/>
                </a:lnTo>
                <a:lnTo>
                  <a:pt x="3836670" y="242315"/>
                </a:lnTo>
                <a:lnTo>
                  <a:pt x="3842766" y="242315"/>
                </a:lnTo>
                <a:close/>
              </a:path>
              <a:path w="3843020" h="242569">
                <a:moveTo>
                  <a:pt x="12192" y="12192"/>
                </a:moveTo>
                <a:lnTo>
                  <a:pt x="12192" y="6095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3843020" h="242569">
                <a:moveTo>
                  <a:pt x="12192" y="242316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242316"/>
                </a:lnTo>
                <a:lnTo>
                  <a:pt x="12192" y="242316"/>
                </a:lnTo>
                <a:close/>
              </a:path>
              <a:path w="3843020" h="242569">
                <a:moveTo>
                  <a:pt x="3836670" y="12192"/>
                </a:moveTo>
                <a:lnTo>
                  <a:pt x="3830561" y="6095"/>
                </a:lnTo>
                <a:lnTo>
                  <a:pt x="3830561" y="12192"/>
                </a:lnTo>
                <a:lnTo>
                  <a:pt x="3836670" y="12192"/>
                </a:lnTo>
                <a:close/>
              </a:path>
              <a:path w="3843020" h="242569">
                <a:moveTo>
                  <a:pt x="3836670" y="242315"/>
                </a:moveTo>
                <a:lnTo>
                  <a:pt x="3836670" y="12192"/>
                </a:lnTo>
                <a:lnTo>
                  <a:pt x="3830561" y="12192"/>
                </a:lnTo>
                <a:lnTo>
                  <a:pt x="3830561" y="242315"/>
                </a:lnTo>
                <a:lnTo>
                  <a:pt x="3836670" y="2423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39447" y="2892551"/>
            <a:ext cx="44450" cy="28575"/>
          </a:xfrm>
          <a:custGeom>
            <a:avLst/>
            <a:gdLst/>
            <a:ahLst/>
            <a:cxnLst/>
            <a:rect l="l" t="t" r="r" b="b"/>
            <a:pathLst>
              <a:path w="44450" h="28575">
                <a:moveTo>
                  <a:pt x="44196" y="28193"/>
                </a:moveTo>
                <a:lnTo>
                  <a:pt x="42457" y="17359"/>
                </a:lnTo>
                <a:lnTo>
                  <a:pt x="37719" y="8381"/>
                </a:lnTo>
                <a:lnTo>
                  <a:pt x="30694" y="2262"/>
                </a:lnTo>
                <a:lnTo>
                  <a:pt x="22098" y="0"/>
                </a:lnTo>
                <a:lnTo>
                  <a:pt x="13501" y="2262"/>
                </a:lnTo>
                <a:lnTo>
                  <a:pt x="6477" y="8381"/>
                </a:lnTo>
                <a:lnTo>
                  <a:pt x="1738" y="17359"/>
                </a:lnTo>
                <a:lnTo>
                  <a:pt x="0" y="28193"/>
                </a:lnTo>
                <a:lnTo>
                  <a:pt x="44196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33351" y="2885503"/>
            <a:ext cx="56515" cy="35560"/>
          </a:xfrm>
          <a:custGeom>
            <a:avLst/>
            <a:gdLst/>
            <a:ahLst/>
            <a:cxnLst/>
            <a:rect l="l" t="t" r="r" b="b"/>
            <a:pathLst>
              <a:path w="56514" h="35560">
                <a:moveTo>
                  <a:pt x="56387" y="35242"/>
                </a:moveTo>
                <a:lnTo>
                  <a:pt x="56387" y="28384"/>
                </a:lnTo>
                <a:lnTo>
                  <a:pt x="54863" y="23050"/>
                </a:lnTo>
                <a:lnTo>
                  <a:pt x="54863" y="22288"/>
                </a:lnTo>
                <a:lnTo>
                  <a:pt x="52577" y="16954"/>
                </a:lnTo>
                <a:lnTo>
                  <a:pt x="51815" y="16192"/>
                </a:lnTo>
                <a:lnTo>
                  <a:pt x="49529" y="11620"/>
                </a:lnTo>
                <a:lnTo>
                  <a:pt x="48767" y="11620"/>
                </a:lnTo>
                <a:lnTo>
                  <a:pt x="48767" y="10858"/>
                </a:lnTo>
                <a:lnTo>
                  <a:pt x="44957" y="7810"/>
                </a:lnTo>
                <a:lnTo>
                  <a:pt x="44957" y="7048"/>
                </a:lnTo>
                <a:lnTo>
                  <a:pt x="44087" y="6961"/>
                </a:lnTo>
                <a:lnTo>
                  <a:pt x="40385" y="4000"/>
                </a:lnTo>
                <a:lnTo>
                  <a:pt x="39623" y="3238"/>
                </a:lnTo>
                <a:lnTo>
                  <a:pt x="38861" y="3238"/>
                </a:lnTo>
                <a:lnTo>
                  <a:pt x="35051" y="1714"/>
                </a:lnTo>
                <a:lnTo>
                  <a:pt x="33527" y="1714"/>
                </a:lnTo>
                <a:lnTo>
                  <a:pt x="28232" y="0"/>
                </a:lnTo>
                <a:lnTo>
                  <a:pt x="22440" y="914"/>
                </a:lnTo>
                <a:lnTo>
                  <a:pt x="17525" y="3238"/>
                </a:lnTo>
                <a:lnTo>
                  <a:pt x="16763" y="3238"/>
                </a:lnTo>
                <a:lnTo>
                  <a:pt x="16001" y="4000"/>
                </a:lnTo>
                <a:lnTo>
                  <a:pt x="12300" y="6961"/>
                </a:lnTo>
                <a:lnTo>
                  <a:pt x="11429" y="7048"/>
                </a:lnTo>
                <a:lnTo>
                  <a:pt x="11429" y="7810"/>
                </a:lnTo>
                <a:lnTo>
                  <a:pt x="7619" y="10858"/>
                </a:lnTo>
                <a:lnTo>
                  <a:pt x="7619" y="11620"/>
                </a:lnTo>
                <a:lnTo>
                  <a:pt x="6857" y="11620"/>
                </a:lnTo>
                <a:lnTo>
                  <a:pt x="4571" y="16192"/>
                </a:lnTo>
                <a:lnTo>
                  <a:pt x="3809" y="16954"/>
                </a:lnTo>
                <a:lnTo>
                  <a:pt x="1523" y="22288"/>
                </a:lnTo>
                <a:lnTo>
                  <a:pt x="1523" y="23050"/>
                </a:lnTo>
                <a:lnTo>
                  <a:pt x="0" y="28384"/>
                </a:lnTo>
                <a:lnTo>
                  <a:pt x="0" y="35242"/>
                </a:lnTo>
                <a:lnTo>
                  <a:pt x="12191" y="35242"/>
                </a:lnTo>
                <a:lnTo>
                  <a:pt x="12191" y="31432"/>
                </a:lnTo>
                <a:lnTo>
                  <a:pt x="13715" y="26098"/>
                </a:lnTo>
                <a:lnTo>
                  <a:pt x="13715" y="26860"/>
                </a:lnTo>
                <a:lnTo>
                  <a:pt x="15239" y="23812"/>
                </a:lnTo>
                <a:lnTo>
                  <a:pt x="15239" y="23050"/>
                </a:lnTo>
                <a:lnTo>
                  <a:pt x="17525" y="18478"/>
                </a:lnTo>
                <a:lnTo>
                  <a:pt x="17525" y="19240"/>
                </a:lnTo>
                <a:lnTo>
                  <a:pt x="20573" y="16192"/>
                </a:lnTo>
                <a:lnTo>
                  <a:pt x="20573" y="16382"/>
                </a:lnTo>
                <a:lnTo>
                  <a:pt x="22859" y="14668"/>
                </a:lnTo>
                <a:lnTo>
                  <a:pt x="22859" y="14973"/>
                </a:lnTo>
                <a:lnTo>
                  <a:pt x="25907" y="13144"/>
                </a:lnTo>
                <a:lnTo>
                  <a:pt x="25907" y="13652"/>
                </a:lnTo>
                <a:lnTo>
                  <a:pt x="27431" y="13144"/>
                </a:lnTo>
                <a:lnTo>
                  <a:pt x="29717" y="13144"/>
                </a:lnTo>
                <a:lnTo>
                  <a:pt x="30479" y="13525"/>
                </a:lnTo>
                <a:lnTo>
                  <a:pt x="30479" y="13144"/>
                </a:lnTo>
                <a:lnTo>
                  <a:pt x="33527" y="14973"/>
                </a:lnTo>
                <a:lnTo>
                  <a:pt x="33527" y="14668"/>
                </a:lnTo>
                <a:lnTo>
                  <a:pt x="35813" y="16382"/>
                </a:lnTo>
                <a:lnTo>
                  <a:pt x="35813" y="16192"/>
                </a:lnTo>
                <a:lnTo>
                  <a:pt x="38861" y="19240"/>
                </a:lnTo>
                <a:lnTo>
                  <a:pt x="38861" y="18478"/>
                </a:lnTo>
                <a:lnTo>
                  <a:pt x="41147" y="23050"/>
                </a:lnTo>
                <a:lnTo>
                  <a:pt x="41147" y="23812"/>
                </a:lnTo>
                <a:lnTo>
                  <a:pt x="42671" y="26860"/>
                </a:lnTo>
                <a:lnTo>
                  <a:pt x="42671" y="26098"/>
                </a:lnTo>
                <a:lnTo>
                  <a:pt x="44195" y="31432"/>
                </a:lnTo>
                <a:lnTo>
                  <a:pt x="44195" y="35242"/>
                </a:lnTo>
                <a:lnTo>
                  <a:pt x="56387" y="35242"/>
                </a:lnTo>
                <a:close/>
              </a:path>
              <a:path w="56514" h="35560">
                <a:moveTo>
                  <a:pt x="12953" y="30670"/>
                </a:moveTo>
                <a:lnTo>
                  <a:pt x="12191" y="31432"/>
                </a:lnTo>
                <a:lnTo>
                  <a:pt x="12191" y="35242"/>
                </a:lnTo>
                <a:lnTo>
                  <a:pt x="12953" y="30670"/>
                </a:lnTo>
                <a:close/>
              </a:path>
              <a:path w="56514" h="35560">
                <a:moveTo>
                  <a:pt x="16001" y="22288"/>
                </a:moveTo>
                <a:lnTo>
                  <a:pt x="15239" y="23050"/>
                </a:lnTo>
                <a:lnTo>
                  <a:pt x="15239" y="23812"/>
                </a:lnTo>
                <a:lnTo>
                  <a:pt x="16001" y="22288"/>
                </a:lnTo>
                <a:close/>
              </a:path>
              <a:path w="56514" h="35560">
                <a:moveTo>
                  <a:pt x="17525" y="19240"/>
                </a:moveTo>
                <a:lnTo>
                  <a:pt x="17525" y="18478"/>
                </a:lnTo>
                <a:lnTo>
                  <a:pt x="16763" y="20002"/>
                </a:lnTo>
                <a:lnTo>
                  <a:pt x="17525" y="19240"/>
                </a:lnTo>
                <a:close/>
              </a:path>
              <a:path w="56514" h="35560">
                <a:moveTo>
                  <a:pt x="20573" y="16382"/>
                </a:moveTo>
                <a:lnTo>
                  <a:pt x="20573" y="16192"/>
                </a:lnTo>
                <a:lnTo>
                  <a:pt x="19811" y="16954"/>
                </a:lnTo>
                <a:lnTo>
                  <a:pt x="20573" y="16382"/>
                </a:lnTo>
                <a:close/>
              </a:path>
              <a:path w="56514" h="35560">
                <a:moveTo>
                  <a:pt x="22859" y="14973"/>
                </a:moveTo>
                <a:lnTo>
                  <a:pt x="22859" y="14668"/>
                </a:lnTo>
                <a:lnTo>
                  <a:pt x="22097" y="15430"/>
                </a:lnTo>
                <a:lnTo>
                  <a:pt x="22859" y="14973"/>
                </a:lnTo>
                <a:close/>
              </a:path>
              <a:path w="56514" h="35560">
                <a:moveTo>
                  <a:pt x="25907" y="13652"/>
                </a:moveTo>
                <a:lnTo>
                  <a:pt x="25907" y="13144"/>
                </a:lnTo>
                <a:lnTo>
                  <a:pt x="25145" y="13906"/>
                </a:lnTo>
                <a:lnTo>
                  <a:pt x="25907" y="13652"/>
                </a:lnTo>
                <a:close/>
              </a:path>
              <a:path w="56514" h="35560">
                <a:moveTo>
                  <a:pt x="31241" y="13906"/>
                </a:moveTo>
                <a:lnTo>
                  <a:pt x="30479" y="13144"/>
                </a:lnTo>
                <a:lnTo>
                  <a:pt x="30479" y="13525"/>
                </a:lnTo>
                <a:lnTo>
                  <a:pt x="31241" y="13906"/>
                </a:lnTo>
                <a:close/>
              </a:path>
              <a:path w="56514" h="35560">
                <a:moveTo>
                  <a:pt x="34289" y="15430"/>
                </a:moveTo>
                <a:lnTo>
                  <a:pt x="33527" y="14668"/>
                </a:lnTo>
                <a:lnTo>
                  <a:pt x="33527" y="14973"/>
                </a:lnTo>
                <a:lnTo>
                  <a:pt x="34289" y="15430"/>
                </a:lnTo>
                <a:close/>
              </a:path>
              <a:path w="56514" h="35560">
                <a:moveTo>
                  <a:pt x="36575" y="16954"/>
                </a:moveTo>
                <a:lnTo>
                  <a:pt x="35813" y="16192"/>
                </a:lnTo>
                <a:lnTo>
                  <a:pt x="35813" y="16382"/>
                </a:lnTo>
                <a:lnTo>
                  <a:pt x="36575" y="16954"/>
                </a:lnTo>
                <a:close/>
              </a:path>
              <a:path w="56514" h="35560">
                <a:moveTo>
                  <a:pt x="39623" y="20002"/>
                </a:moveTo>
                <a:lnTo>
                  <a:pt x="38861" y="18478"/>
                </a:lnTo>
                <a:lnTo>
                  <a:pt x="38861" y="19240"/>
                </a:lnTo>
                <a:lnTo>
                  <a:pt x="39623" y="20002"/>
                </a:lnTo>
                <a:close/>
              </a:path>
              <a:path w="56514" h="35560">
                <a:moveTo>
                  <a:pt x="41147" y="23812"/>
                </a:moveTo>
                <a:lnTo>
                  <a:pt x="41147" y="23050"/>
                </a:lnTo>
                <a:lnTo>
                  <a:pt x="40385" y="22288"/>
                </a:lnTo>
                <a:lnTo>
                  <a:pt x="41147" y="23812"/>
                </a:lnTo>
                <a:close/>
              </a:path>
              <a:path w="56514" h="35560">
                <a:moveTo>
                  <a:pt x="44195" y="35242"/>
                </a:moveTo>
                <a:lnTo>
                  <a:pt x="44195" y="31432"/>
                </a:lnTo>
                <a:lnTo>
                  <a:pt x="43433" y="30670"/>
                </a:lnTo>
                <a:lnTo>
                  <a:pt x="44087" y="35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23670" y="2894076"/>
            <a:ext cx="44450" cy="26670"/>
          </a:xfrm>
          <a:custGeom>
            <a:avLst/>
            <a:gdLst/>
            <a:ahLst/>
            <a:cxnLst/>
            <a:rect l="l" t="t" r="r" b="b"/>
            <a:pathLst>
              <a:path w="44450" h="26669">
                <a:moveTo>
                  <a:pt x="44228" y="26669"/>
                </a:moveTo>
                <a:lnTo>
                  <a:pt x="42748" y="17680"/>
                </a:lnTo>
                <a:lnTo>
                  <a:pt x="37747" y="8477"/>
                </a:lnTo>
                <a:lnTo>
                  <a:pt x="30460" y="2274"/>
                </a:lnTo>
                <a:lnTo>
                  <a:pt x="21745" y="0"/>
                </a:lnTo>
                <a:lnTo>
                  <a:pt x="13149" y="2274"/>
                </a:lnTo>
                <a:lnTo>
                  <a:pt x="6124" y="8477"/>
                </a:lnTo>
                <a:lnTo>
                  <a:pt x="1385" y="17680"/>
                </a:lnTo>
                <a:lnTo>
                  <a:pt x="0" y="26669"/>
                </a:lnTo>
                <a:lnTo>
                  <a:pt x="44228" y="266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117221" y="2886748"/>
            <a:ext cx="57150" cy="34290"/>
          </a:xfrm>
          <a:custGeom>
            <a:avLst/>
            <a:gdLst/>
            <a:ahLst/>
            <a:cxnLst/>
            <a:rect l="l" t="t" r="r" b="b"/>
            <a:pathLst>
              <a:path w="57150" h="34289">
                <a:moveTo>
                  <a:pt x="39624" y="20281"/>
                </a:moveTo>
                <a:lnTo>
                  <a:pt x="39624" y="3517"/>
                </a:lnTo>
                <a:lnTo>
                  <a:pt x="34378" y="1676"/>
                </a:lnTo>
                <a:lnTo>
                  <a:pt x="28282" y="0"/>
                </a:lnTo>
                <a:lnTo>
                  <a:pt x="22860" y="1993"/>
                </a:lnTo>
                <a:lnTo>
                  <a:pt x="21336" y="1993"/>
                </a:lnTo>
                <a:lnTo>
                  <a:pt x="17525" y="3517"/>
                </a:lnTo>
                <a:lnTo>
                  <a:pt x="16763" y="4279"/>
                </a:lnTo>
                <a:lnTo>
                  <a:pt x="16001" y="4279"/>
                </a:lnTo>
                <a:lnTo>
                  <a:pt x="12191" y="7327"/>
                </a:lnTo>
                <a:lnTo>
                  <a:pt x="11430" y="7327"/>
                </a:lnTo>
                <a:lnTo>
                  <a:pt x="11430" y="8089"/>
                </a:lnTo>
                <a:lnTo>
                  <a:pt x="7620" y="11899"/>
                </a:lnTo>
                <a:lnTo>
                  <a:pt x="7620" y="12661"/>
                </a:lnTo>
                <a:lnTo>
                  <a:pt x="4572" y="16471"/>
                </a:lnTo>
                <a:lnTo>
                  <a:pt x="4572" y="17233"/>
                </a:lnTo>
                <a:lnTo>
                  <a:pt x="2286" y="22567"/>
                </a:lnTo>
                <a:lnTo>
                  <a:pt x="2286" y="23329"/>
                </a:lnTo>
                <a:lnTo>
                  <a:pt x="1524" y="23329"/>
                </a:lnTo>
                <a:lnTo>
                  <a:pt x="762" y="28663"/>
                </a:lnTo>
                <a:lnTo>
                  <a:pt x="762" y="29425"/>
                </a:lnTo>
                <a:lnTo>
                  <a:pt x="0" y="29425"/>
                </a:lnTo>
                <a:lnTo>
                  <a:pt x="0" y="33997"/>
                </a:lnTo>
                <a:lnTo>
                  <a:pt x="12953" y="33997"/>
                </a:lnTo>
                <a:lnTo>
                  <a:pt x="12953" y="31711"/>
                </a:lnTo>
                <a:lnTo>
                  <a:pt x="13715" y="29044"/>
                </a:lnTo>
                <a:lnTo>
                  <a:pt x="13715" y="27139"/>
                </a:lnTo>
                <a:lnTo>
                  <a:pt x="15239" y="24091"/>
                </a:lnTo>
                <a:lnTo>
                  <a:pt x="15239" y="23329"/>
                </a:lnTo>
                <a:lnTo>
                  <a:pt x="17525" y="20472"/>
                </a:lnTo>
                <a:lnTo>
                  <a:pt x="17525" y="20281"/>
                </a:lnTo>
                <a:lnTo>
                  <a:pt x="19812" y="17424"/>
                </a:lnTo>
                <a:lnTo>
                  <a:pt x="19812" y="17233"/>
                </a:lnTo>
                <a:lnTo>
                  <a:pt x="20574" y="16471"/>
                </a:lnTo>
                <a:lnTo>
                  <a:pt x="20574" y="16776"/>
                </a:lnTo>
                <a:lnTo>
                  <a:pt x="22098" y="15862"/>
                </a:lnTo>
                <a:lnTo>
                  <a:pt x="22098" y="15709"/>
                </a:lnTo>
                <a:lnTo>
                  <a:pt x="23622" y="14947"/>
                </a:lnTo>
                <a:lnTo>
                  <a:pt x="23622" y="15201"/>
                </a:lnTo>
                <a:lnTo>
                  <a:pt x="25146" y="14693"/>
                </a:lnTo>
                <a:lnTo>
                  <a:pt x="25146" y="14185"/>
                </a:lnTo>
                <a:lnTo>
                  <a:pt x="27432" y="13423"/>
                </a:lnTo>
                <a:lnTo>
                  <a:pt x="28956" y="13423"/>
                </a:lnTo>
                <a:lnTo>
                  <a:pt x="30480" y="14185"/>
                </a:lnTo>
                <a:lnTo>
                  <a:pt x="32003" y="14185"/>
                </a:lnTo>
                <a:lnTo>
                  <a:pt x="32003" y="14693"/>
                </a:lnTo>
                <a:lnTo>
                  <a:pt x="33527" y="15201"/>
                </a:lnTo>
                <a:lnTo>
                  <a:pt x="33527" y="14947"/>
                </a:lnTo>
                <a:lnTo>
                  <a:pt x="35051" y="15709"/>
                </a:lnTo>
                <a:lnTo>
                  <a:pt x="35051" y="15862"/>
                </a:lnTo>
                <a:lnTo>
                  <a:pt x="36575" y="16776"/>
                </a:lnTo>
                <a:lnTo>
                  <a:pt x="36575" y="16471"/>
                </a:lnTo>
                <a:lnTo>
                  <a:pt x="37337" y="17233"/>
                </a:lnTo>
                <a:lnTo>
                  <a:pt x="37337" y="17424"/>
                </a:lnTo>
                <a:lnTo>
                  <a:pt x="39624" y="20281"/>
                </a:lnTo>
                <a:close/>
              </a:path>
              <a:path w="57150" h="34289">
                <a:moveTo>
                  <a:pt x="14477" y="26377"/>
                </a:moveTo>
                <a:lnTo>
                  <a:pt x="13715" y="27139"/>
                </a:lnTo>
                <a:lnTo>
                  <a:pt x="13715" y="29044"/>
                </a:lnTo>
                <a:lnTo>
                  <a:pt x="14477" y="26377"/>
                </a:lnTo>
                <a:close/>
              </a:path>
              <a:path w="57150" h="34289">
                <a:moveTo>
                  <a:pt x="16001" y="22567"/>
                </a:moveTo>
                <a:lnTo>
                  <a:pt x="15239" y="23329"/>
                </a:lnTo>
                <a:lnTo>
                  <a:pt x="15239" y="24091"/>
                </a:lnTo>
                <a:lnTo>
                  <a:pt x="16001" y="22567"/>
                </a:lnTo>
                <a:close/>
              </a:path>
              <a:path w="57150" h="34289">
                <a:moveTo>
                  <a:pt x="18287" y="19519"/>
                </a:moveTo>
                <a:lnTo>
                  <a:pt x="17525" y="20281"/>
                </a:lnTo>
                <a:lnTo>
                  <a:pt x="17525" y="20472"/>
                </a:lnTo>
                <a:lnTo>
                  <a:pt x="18287" y="19519"/>
                </a:lnTo>
                <a:close/>
              </a:path>
              <a:path w="57150" h="34289">
                <a:moveTo>
                  <a:pt x="20574" y="16471"/>
                </a:moveTo>
                <a:lnTo>
                  <a:pt x="19812" y="17233"/>
                </a:lnTo>
                <a:lnTo>
                  <a:pt x="20105" y="17058"/>
                </a:lnTo>
                <a:lnTo>
                  <a:pt x="20574" y="16471"/>
                </a:lnTo>
                <a:close/>
              </a:path>
              <a:path w="57150" h="34289">
                <a:moveTo>
                  <a:pt x="20105" y="17058"/>
                </a:moveTo>
                <a:lnTo>
                  <a:pt x="19812" y="17233"/>
                </a:lnTo>
                <a:lnTo>
                  <a:pt x="19812" y="17424"/>
                </a:lnTo>
                <a:lnTo>
                  <a:pt x="20105" y="17058"/>
                </a:lnTo>
                <a:close/>
              </a:path>
              <a:path w="57150" h="34289">
                <a:moveTo>
                  <a:pt x="20574" y="16776"/>
                </a:moveTo>
                <a:lnTo>
                  <a:pt x="20574" y="16471"/>
                </a:lnTo>
                <a:lnTo>
                  <a:pt x="20105" y="17058"/>
                </a:lnTo>
                <a:lnTo>
                  <a:pt x="20574" y="16776"/>
                </a:lnTo>
                <a:close/>
              </a:path>
              <a:path w="57150" h="34289">
                <a:moveTo>
                  <a:pt x="23622" y="14947"/>
                </a:moveTo>
                <a:lnTo>
                  <a:pt x="22098" y="15709"/>
                </a:lnTo>
                <a:lnTo>
                  <a:pt x="22669" y="15519"/>
                </a:lnTo>
                <a:lnTo>
                  <a:pt x="23622" y="14947"/>
                </a:lnTo>
                <a:close/>
              </a:path>
              <a:path w="57150" h="34289">
                <a:moveTo>
                  <a:pt x="22669" y="15519"/>
                </a:moveTo>
                <a:lnTo>
                  <a:pt x="22098" y="15709"/>
                </a:lnTo>
                <a:lnTo>
                  <a:pt x="22098" y="15862"/>
                </a:lnTo>
                <a:lnTo>
                  <a:pt x="22669" y="15519"/>
                </a:lnTo>
                <a:close/>
              </a:path>
              <a:path w="57150" h="34289">
                <a:moveTo>
                  <a:pt x="23622" y="15201"/>
                </a:moveTo>
                <a:lnTo>
                  <a:pt x="23622" y="14947"/>
                </a:lnTo>
                <a:lnTo>
                  <a:pt x="22669" y="15519"/>
                </a:lnTo>
                <a:lnTo>
                  <a:pt x="23622" y="15201"/>
                </a:lnTo>
                <a:close/>
              </a:path>
              <a:path w="57150" h="34289">
                <a:moveTo>
                  <a:pt x="26670" y="14185"/>
                </a:moveTo>
                <a:lnTo>
                  <a:pt x="25146" y="14185"/>
                </a:lnTo>
                <a:lnTo>
                  <a:pt x="25146" y="14693"/>
                </a:lnTo>
                <a:lnTo>
                  <a:pt x="26670" y="14185"/>
                </a:lnTo>
                <a:close/>
              </a:path>
              <a:path w="57150" h="34289">
                <a:moveTo>
                  <a:pt x="32003" y="14693"/>
                </a:moveTo>
                <a:lnTo>
                  <a:pt x="32003" y="14185"/>
                </a:lnTo>
                <a:lnTo>
                  <a:pt x="30480" y="14185"/>
                </a:lnTo>
                <a:lnTo>
                  <a:pt x="32003" y="14693"/>
                </a:lnTo>
                <a:close/>
              </a:path>
              <a:path w="57150" h="34289">
                <a:moveTo>
                  <a:pt x="35051" y="15709"/>
                </a:moveTo>
                <a:lnTo>
                  <a:pt x="33527" y="14947"/>
                </a:lnTo>
                <a:lnTo>
                  <a:pt x="34480" y="15519"/>
                </a:lnTo>
                <a:lnTo>
                  <a:pt x="35051" y="15709"/>
                </a:lnTo>
                <a:close/>
              </a:path>
              <a:path w="57150" h="34289">
                <a:moveTo>
                  <a:pt x="34480" y="15519"/>
                </a:moveTo>
                <a:lnTo>
                  <a:pt x="33527" y="14947"/>
                </a:lnTo>
                <a:lnTo>
                  <a:pt x="33527" y="15201"/>
                </a:lnTo>
                <a:lnTo>
                  <a:pt x="34480" y="15519"/>
                </a:lnTo>
                <a:close/>
              </a:path>
              <a:path w="57150" h="34289">
                <a:moveTo>
                  <a:pt x="35051" y="15862"/>
                </a:moveTo>
                <a:lnTo>
                  <a:pt x="35051" y="15709"/>
                </a:lnTo>
                <a:lnTo>
                  <a:pt x="34480" y="15519"/>
                </a:lnTo>
                <a:lnTo>
                  <a:pt x="35051" y="15862"/>
                </a:lnTo>
                <a:close/>
              </a:path>
              <a:path w="57150" h="34289">
                <a:moveTo>
                  <a:pt x="37337" y="17233"/>
                </a:moveTo>
                <a:lnTo>
                  <a:pt x="36575" y="16471"/>
                </a:lnTo>
                <a:lnTo>
                  <a:pt x="37044" y="17058"/>
                </a:lnTo>
                <a:lnTo>
                  <a:pt x="37337" y="17233"/>
                </a:lnTo>
                <a:close/>
              </a:path>
              <a:path w="57150" h="34289">
                <a:moveTo>
                  <a:pt x="37044" y="17058"/>
                </a:moveTo>
                <a:lnTo>
                  <a:pt x="36575" y="16471"/>
                </a:lnTo>
                <a:lnTo>
                  <a:pt x="36575" y="16776"/>
                </a:lnTo>
                <a:lnTo>
                  <a:pt x="37044" y="17058"/>
                </a:lnTo>
                <a:close/>
              </a:path>
              <a:path w="57150" h="34289">
                <a:moveTo>
                  <a:pt x="37337" y="17424"/>
                </a:moveTo>
                <a:lnTo>
                  <a:pt x="37337" y="17233"/>
                </a:lnTo>
                <a:lnTo>
                  <a:pt x="37044" y="17058"/>
                </a:lnTo>
                <a:lnTo>
                  <a:pt x="37337" y="17424"/>
                </a:lnTo>
                <a:close/>
              </a:path>
              <a:path w="57150" h="34289">
                <a:moveTo>
                  <a:pt x="56663" y="33997"/>
                </a:moveTo>
                <a:lnTo>
                  <a:pt x="56502" y="29692"/>
                </a:lnTo>
                <a:lnTo>
                  <a:pt x="53974" y="20086"/>
                </a:lnTo>
                <a:lnTo>
                  <a:pt x="49530" y="12661"/>
                </a:lnTo>
                <a:lnTo>
                  <a:pt x="49530" y="11899"/>
                </a:lnTo>
                <a:lnTo>
                  <a:pt x="48768" y="11899"/>
                </a:lnTo>
                <a:lnTo>
                  <a:pt x="48768" y="11137"/>
                </a:lnTo>
                <a:lnTo>
                  <a:pt x="44958" y="7327"/>
                </a:lnTo>
                <a:lnTo>
                  <a:pt x="44196" y="7327"/>
                </a:lnTo>
                <a:lnTo>
                  <a:pt x="41148" y="4279"/>
                </a:lnTo>
                <a:lnTo>
                  <a:pt x="39624" y="4279"/>
                </a:lnTo>
                <a:lnTo>
                  <a:pt x="39624" y="20281"/>
                </a:lnTo>
                <a:lnTo>
                  <a:pt x="38862" y="19519"/>
                </a:lnTo>
                <a:lnTo>
                  <a:pt x="41910" y="23329"/>
                </a:lnTo>
                <a:lnTo>
                  <a:pt x="41910" y="24091"/>
                </a:lnTo>
                <a:lnTo>
                  <a:pt x="43434" y="27139"/>
                </a:lnTo>
                <a:lnTo>
                  <a:pt x="43434" y="29044"/>
                </a:lnTo>
                <a:lnTo>
                  <a:pt x="44196" y="31711"/>
                </a:lnTo>
                <a:lnTo>
                  <a:pt x="44196" y="33997"/>
                </a:lnTo>
                <a:lnTo>
                  <a:pt x="56663" y="33997"/>
                </a:lnTo>
                <a:close/>
              </a:path>
              <a:path w="57150" h="34289">
                <a:moveTo>
                  <a:pt x="41910" y="24091"/>
                </a:moveTo>
                <a:lnTo>
                  <a:pt x="41910" y="23329"/>
                </a:lnTo>
                <a:lnTo>
                  <a:pt x="41148" y="22567"/>
                </a:lnTo>
                <a:lnTo>
                  <a:pt x="41910" y="24091"/>
                </a:lnTo>
                <a:close/>
              </a:path>
              <a:path w="57150" h="34289">
                <a:moveTo>
                  <a:pt x="43434" y="29044"/>
                </a:moveTo>
                <a:lnTo>
                  <a:pt x="43434" y="27139"/>
                </a:lnTo>
                <a:lnTo>
                  <a:pt x="42672" y="26377"/>
                </a:lnTo>
                <a:lnTo>
                  <a:pt x="43434" y="290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07936" y="2892551"/>
            <a:ext cx="44450" cy="28575"/>
          </a:xfrm>
          <a:custGeom>
            <a:avLst/>
            <a:gdLst/>
            <a:ahLst/>
            <a:cxnLst/>
            <a:rect l="l" t="t" r="r" b="b"/>
            <a:pathLst>
              <a:path w="44450" h="28575">
                <a:moveTo>
                  <a:pt x="44208" y="28193"/>
                </a:moveTo>
                <a:lnTo>
                  <a:pt x="42468" y="17359"/>
                </a:lnTo>
                <a:lnTo>
                  <a:pt x="37725" y="8381"/>
                </a:lnTo>
                <a:lnTo>
                  <a:pt x="30696" y="2262"/>
                </a:lnTo>
                <a:lnTo>
                  <a:pt x="22098" y="0"/>
                </a:lnTo>
                <a:lnTo>
                  <a:pt x="13507" y="2262"/>
                </a:lnTo>
                <a:lnTo>
                  <a:pt x="6481" y="8381"/>
                </a:lnTo>
                <a:lnTo>
                  <a:pt x="1740" y="17359"/>
                </a:lnTo>
                <a:lnTo>
                  <a:pt x="0" y="28193"/>
                </a:lnTo>
                <a:lnTo>
                  <a:pt x="44208" y="281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01091" y="2886455"/>
            <a:ext cx="57150" cy="34290"/>
          </a:xfrm>
          <a:custGeom>
            <a:avLst/>
            <a:gdLst/>
            <a:ahLst/>
            <a:cxnLst/>
            <a:rect l="l" t="t" r="r" b="b"/>
            <a:pathLst>
              <a:path w="57150" h="34289">
                <a:moveTo>
                  <a:pt x="57150" y="34289"/>
                </a:moveTo>
                <a:lnTo>
                  <a:pt x="57150" y="27431"/>
                </a:lnTo>
                <a:lnTo>
                  <a:pt x="56388" y="27431"/>
                </a:lnTo>
                <a:lnTo>
                  <a:pt x="55625" y="22098"/>
                </a:lnTo>
                <a:lnTo>
                  <a:pt x="55625" y="21336"/>
                </a:lnTo>
                <a:lnTo>
                  <a:pt x="54864" y="21336"/>
                </a:lnTo>
                <a:lnTo>
                  <a:pt x="53340" y="16001"/>
                </a:lnTo>
                <a:lnTo>
                  <a:pt x="52577" y="15239"/>
                </a:lnTo>
                <a:lnTo>
                  <a:pt x="49530" y="10668"/>
                </a:lnTo>
                <a:lnTo>
                  <a:pt x="49530" y="9906"/>
                </a:lnTo>
                <a:lnTo>
                  <a:pt x="45707" y="6857"/>
                </a:lnTo>
                <a:lnTo>
                  <a:pt x="45707" y="6095"/>
                </a:lnTo>
                <a:lnTo>
                  <a:pt x="44836" y="6008"/>
                </a:lnTo>
                <a:lnTo>
                  <a:pt x="41135" y="3048"/>
                </a:lnTo>
                <a:lnTo>
                  <a:pt x="40386" y="3048"/>
                </a:lnTo>
                <a:lnTo>
                  <a:pt x="40386" y="2286"/>
                </a:lnTo>
                <a:lnTo>
                  <a:pt x="39624" y="2286"/>
                </a:lnTo>
                <a:lnTo>
                  <a:pt x="35814" y="762"/>
                </a:lnTo>
                <a:lnTo>
                  <a:pt x="34290" y="762"/>
                </a:lnTo>
                <a:lnTo>
                  <a:pt x="31229" y="0"/>
                </a:lnTo>
                <a:lnTo>
                  <a:pt x="25133" y="0"/>
                </a:lnTo>
                <a:lnTo>
                  <a:pt x="22847" y="762"/>
                </a:lnTo>
                <a:lnTo>
                  <a:pt x="22085" y="762"/>
                </a:lnTo>
                <a:lnTo>
                  <a:pt x="17525" y="2286"/>
                </a:lnTo>
                <a:lnTo>
                  <a:pt x="16764" y="3048"/>
                </a:lnTo>
                <a:lnTo>
                  <a:pt x="13062" y="6008"/>
                </a:lnTo>
                <a:lnTo>
                  <a:pt x="12179" y="6095"/>
                </a:lnTo>
                <a:lnTo>
                  <a:pt x="8369" y="9906"/>
                </a:lnTo>
                <a:lnTo>
                  <a:pt x="8369" y="10668"/>
                </a:lnTo>
                <a:lnTo>
                  <a:pt x="7607" y="10668"/>
                </a:lnTo>
                <a:lnTo>
                  <a:pt x="5321" y="15239"/>
                </a:lnTo>
                <a:lnTo>
                  <a:pt x="4559" y="15239"/>
                </a:lnTo>
                <a:lnTo>
                  <a:pt x="4559" y="16001"/>
                </a:lnTo>
                <a:lnTo>
                  <a:pt x="2286" y="21336"/>
                </a:lnTo>
                <a:lnTo>
                  <a:pt x="2286" y="22098"/>
                </a:lnTo>
                <a:lnTo>
                  <a:pt x="762" y="27431"/>
                </a:lnTo>
                <a:lnTo>
                  <a:pt x="762" y="28193"/>
                </a:lnTo>
                <a:lnTo>
                  <a:pt x="0" y="34289"/>
                </a:lnTo>
                <a:lnTo>
                  <a:pt x="12954" y="34289"/>
                </a:lnTo>
                <a:lnTo>
                  <a:pt x="12954" y="30480"/>
                </a:lnTo>
                <a:lnTo>
                  <a:pt x="14477" y="25145"/>
                </a:lnTo>
                <a:lnTo>
                  <a:pt x="14477" y="25907"/>
                </a:lnTo>
                <a:lnTo>
                  <a:pt x="16001" y="21336"/>
                </a:lnTo>
                <a:lnTo>
                  <a:pt x="16001" y="22098"/>
                </a:lnTo>
                <a:lnTo>
                  <a:pt x="18288" y="17525"/>
                </a:lnTo>
                <a:lnTo>
                  <a:pt x="18288" y="18287"/>
                </a:lnTo>
                <a:lnTo>
                  <a:pt x="19812" y="16763"/>
                </a:lnTo>
                <a:lnTo>
                  <a:pt x="19812" y="16001"/>
                </a:lnTo>
                <a:lnTo>
                  <a:pt x="23609" y="13716"/>
                </a:lnTo>
                <a:lnTo>
                  <a:pt x="23609" y="14020"/>
                </a:lnTo>
                <a:lnTo>
                  <a:pt x="26657" y="12192"/>
                </a:lnTo>
                <a:lnTo>
                  <a:pt x="26657" y="12572"/>
                </a:lnTo>
                <a:lnTo>
                  <a:pt x="27419" y="12192"/>
                </a:lnTo>
                <a:lnTo>
                  <a:pt x="30480" y="12192"/>
                </a:lnTo>
                <a:lnTo>
                  <a:pt x="31229" y="12566"/>
                </a:lnTo>
                <a:lnTo>
                  <a:pt x="31229" y="12192"/>
                </a:lnTo>
                <a:lnTo>
                  <a:pt x="35051" y="14477"/>
                </a:lnTo>
                <a:lnTo>
                  <a:pt x="35051" y="14630"/>
                </a:lnTo>
                <a:lnTo>
                  <a:pt x="36575" y="15544"/>
                </a:lnTo>
                <a:lnTo>
                  <a:pt x="36575" y="15239"/>
                </a:lnTo>
                <a:lnTo>
                  <a:pt x="37338" y="16001"/>
                </a:lnTo>
                <a:lnTo>
                  <a:pt x="37338" y="16192"/>
                </a:lnTo>
                <a:lnTo>
                  <a:pt x="38862" y="18097"/>
                </a:lnTo>
                <a:lnTo>
                  <a:pt x="38862" y="17525"/>
                </a:lnTo>
                <a:lnTo>
                  <a:pt x="41897" y="22098"/>
                </a:lnTo>
                <a:lnTo>
                  <a:pt x="41897" y="22860"/>
                </a:lnTo>
                <a:lnTo>
                  <a:pt x="43421" y="25907"/>
                </a:lnTo>
                <a:lnTo>
                  <a:pt x="43421" y="25145"/>
                </a:lnTo>
                <a:lnTo>
                  <a:pt x="44183" y="30480"/>
                </a:lnTo>
                <a:lnTo>
                  <a:pt x="44183" y="29718"/>
                </a:lnTo>
                <a:lnTo>
                  <a:pt x="44836" y="34289"/>
                </a:lnTo>
                <a:lnTo>
                  <a:pt x="57150" y="34289"/>
                </a:lnTo>
                <a:close/>
              </a:path>
              <a:path w="57150" h="34289">
                <a:moveTo>
                  <a:pt x="13716" y="29718"/>
                </a:moveTo>
                <a:lnTo>
                  <a:pt x="12954" y="30480"/>
                </a:lnTo>
                <a:lnTo>
                  <a:pt x="12954" y="34289"/>
                </a:lnTo>
                <a:lnTo>
                  <a:pt x="13716" y="29718"/>
                </a:lnTo>
                <a:close/>
              </a:path>
              <a:path w="57150" h="34289">
                <a:moveTo>
                  <a:pt x="18288" y="18287"/>
                </a:moveTo>
                <a:lnTo>
                  <a:pt x="18288" y="17525"/>
                </a:lnTo>
                <a:lnTo>
                  <a:pt x="17525" y="19050"/>
                </a:lnTo>
                <a:lnTo>
                  <a:pt x="18288" y="18287"/>
                </a:lnTo>
                <a:close/>
              </a:path>
              <a:path w="57150" h="34289">
                <a:moveTo>
                  <a:pt x="21336" y="15239"/>
                </a:moveTo>
                <a:lnTo>
                  <a:pt x="19812" y="16001"/>
                </a:lnTo>
                <a:lnTo>
                  <a:pt x="19812" y="16763"/>
                </a:lnTo>
                <a:lnTo>
                  <a:pt x="21336" y="15239"/>
                </a:lnTo>
                <a:close/>
              </a:path>
              <a:path w="57150" h="34289">
                <a:moveTo>
                  <a:pt x="23609" y="14020"/>
                </a:moveTo>
                <a:lnTo>
                  <a:pt x="23609" y="13716"/>
                </a:lnTo>
                <a:lnTo>
                  <a:pt x="22847" y="14477"/>
                </a:lnTo>
                <a:lnTo>
                  <a:pt x="23609" y="14020"/>
                </a:lnTo>
                <a:close/>
              </a:path>
              <a:path w="57150" h="34289">
                <a:moveTo>
                  <a:pt x="26657" y="12572"/>
                </a:moveTo>
                <a:lnTo>
                  <a:pt x="26657" y="12192"/>
                </a:lnTo>
                <a:lnTo>
                  <a:pt x="25895" y="12954"/>
                </a:lnTo>
                <a:lnTo>
                  <a:pt x="26657" y="12572"/>
                </a:lnTo>
                <a:close/>
              </a:path>
              <a:path w="57150" h="34289">
                <a:moveTo>
                  <a:pt x="32004" y="12954"/>
                </a:moveTo>
                <a:lnTo>
                  <a:pt x="31229" y="12192"/>
                </a:lnTo>
                <a:lnTo>
                  <a:pt x="31229" y="12566"/>
                </a:lnTo>
                <a:lnTo>
                  <a:pt x="32004" y="12954"/>
                </a:lnTo>
                <a:close/>
              </a:path>
              <a:path w="57150" h="34289">
                <a:moveTo>
                  <a:pt x="35051" y="14630"/>
                </a:moveTo>
                <a:lnTo>
                  <a:pt x="35051" y="14477"/>
                </a:lnTo>
                <a:lnTo>
                  <a:pt x="33527" y="13716"/>
                </a:lnTo>
                <a:lnTo>
                  <a:pt x="35051" y="14630"/>
                </a:lnTo>
                <a:close/>
              </a:path>
              <a:path w="57150" h="34289">
                <a:moveTo>
                  <a:pt x="37338" y="16001"/>
                </a:moveTo>
                <a:lnTo>
                  <a:pt x="36575" y="15239"/>
                </a:lnTo>
                <a:lnTo>
                  <a:pt x="37044" y="15826"/>
                </a:lnTo>
                <a:lnTo>
                  <a:pt x="37338" y="16001"/>
                </a:lnTo>
                <a:close/>
              </a:path>
              <a:path w="57150" h="34289">
                <a:moveTo>
                  <a:pt x="37044" y="15826"/>
                </a:moveTo>
                <a:lnTo>
                  <a:pt x="36575" y="15239"/>
                </a:lnTo>
                <a:lnTo>
                  <a:pt x="36575" y="15544"/>
                </a:lnTo>
                <a:lnTo>
                  <a:pt x="37044" y="15826"/>
                </a:lnTo>
                <a:close/>
              </a:path>
              <a:path w="57150" h="34289">
                <a:moveTo>
                  <a:pt x="37338" y="16192"/>
                </a:moveTo>
                <a:lnTo>
                  <a:pt x="37338" y="16001"/>
                </a:lnTo>
                <a:lnTo>
                  <a:pt x="37044" y="15826"/>
                </a:lnTo>
                <a:lnTo>
                  <a:pt x="37338" y="16192"/>
                </a:lnTo>
                <a:close/>
              </a:path>
              <a:path w="57150" h="34289">
                <a:moveTo>
                  <a:pt x="39624" y="19050"/>
                </a:moveTo>
                <a:lnTo>
                  <a:pt x="38862" y="17525"/>
                </a:lnTo>
                <a:lnTo>
                  <a:pt x="38862" y="18097"/>
                </a:lnTo>
                <a:lnTo>
                  <a:pt x="39624" y="19050"/>
                </a:lnTo>
                <a:close/>
              </a:path>
              <a:path w="57150" h="34289">
                <a:moveTo>
                  <a:pt x="41897" y="22860"/>
                </a:moveTo>
                <a:lnTo>
                  <a:pt x="41897" y="22098"/>
                </a:lnTo>
                <a:lnTo>
                  <a:pt x="41135" y="21336"/>
                </a:lnTo>
                <a:lnTo>
                  <a:pt x="41897" y="22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655953" y="2305050"/>
            <a:ext cx="1074420" cy="327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Col u</a:t>
            </a:r>
            <a:r>
              <a:rPr sz="1800" b="1" spc="-7" baseline="-20833" dirty="0">
                <a:solidFill>
                  <a:srgbClr val="003365"/>
                </a:solidFill>
                <a:latin typeface="Arial"/>
                <a:cs typeface="Arial"/>
              </a:rPr>
              <a:t>2</a:t>
            </a:r>
            <a:r>
              <a:rPr sz="1800" b="1" spc="-127" baseline="-20833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1800" b="1" spc="245" dirty="0">
                <a:solidFill>
                  <a:srgbClr val="003365"/>
                </a:solidFill>
                <a:latin typeface="Arial"/>
                <a:cs typeface="Arial"/>
              </a:rPr>
              <a:t>-1</a:t>
            </a: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17609" y="2665488"/>
            <a:ext cx="6985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Row</a:t>
            </a:r>
            <a:r>
              <a:rPr sz="1800" b="1" spc="-9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06816" y="2911601"/>
            <a:ext cx="56515" cy="9525"/>
          </a:xfrm>
          <a:custGeom>
            <a:avLst/>
            <a:gdLst/>
            <a:ahLst/>
            <a:cxnLst/>
            <a:rect l="l" t="t" r="r" b="b"/>
            <a:pathLst>
              <a:path w="56514" h="9525">
                <a:moveTo>
                  <a:pt x="56316" y="9143"/>
                </a:moveTo>
                <a:lnTo>
                  <a:pt x="55241" y="0"/>
                </a:lnTo>
                <a:lnTo>
                  <a:pt x="9110" y="7658"/>
                </a:lnTo>
                <a:lnTo>
                  <a:pt x="0" y="9143"/>
                </a:lnTo>
                <a:lnTo>
                  <a:pt x="56316" y="9143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78821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09389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49"/>
                </a:lnTo>
              </a:path>
            </a:pathLst>
          </a:custGeom>
          <a:ln w="122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082929" y="2775965"/>
            <a:ext cx="1784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39447" y="2920745"/>
            <a:ext cx="44450" cy="29209"/>
          </a:xfrm>
          <a:custGeom>
            <a:avLst/>
            <a:gdLst/>
            <a:ahLst/>
            <a:cxnLst/>
            <a:rect l="l" t="t" r="r" b="b"/>
            <a:pathLst>
              <a:path w="44450" h="29210">
                <a:moveTo>
                  <a:pt x="44196" y="0"/>
                </a:moveTo>
                <a:lnTo>
                  <a:pt x="0" y="0"/>
                </a:lnTo>
                <a:lnTo>
                  <a:pt x="1738" y="11275"/>
                </a:lnTo>
                <a:lnTo>
                  <a:pt x="6476" y="20478"/>
                </a:lnTo>
                <a:lnTo>
                  <a:pt x="13501" y="26681"/>
                </a:lnTo>
                <a:lnTo>
                  <a:pt x="22098" y="28955"/>
                </a:lnTo>
                <a:lnTo>
                  <a:pt x="30694" y="26681"/>
                </a:lnTo>
                <a:lnTo>
                  <a:pt x="37718" y="20478"/>
                </a:lnTo>
                <a:lnTo>
                  <a:pt x="42457" y="11275"/>
                </a:lnTo>
                <a:lnTo>
                  <a:pt x="441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633351" y="2920745"/>
            <a:ext cx="56515" cy="35560"/>
          </a:xfrm>
          <a:custGeom>
            <a:avLst/>
            <a:gdLst/>
            <a:ahLst/>
            <a:cxnLst/>
            <a:rect l="l" t="t" r="r" b="b"/>
            <a:pathLst>
              <a:path w="56514" h="35560">
                <a:moveTo>
                  <a:pt x="16001" y="13715"/>
                </a:moveTo>
                <a:lnTo>
                  <a:pt x="13715" y="9143"/>
                </a:lnTo>
                <a:lnTo>
                  <a:pt x="13715" y="9905"/>
                </a:lnTo>
                <a:lnTo>
                  <a:pt x="12191" y="4571"/>
                </a:lnTo>
                <a:lnTo>
                  <a:pt x="12191" y="0"/>
                </a:lnTo>
                <a:lnTo>
                  <a:pt x="0" y="0"/>
                </a:lnTo>
                <a:lnTo>
                  <a:pt x="0" y="7619"/>
                </a:lnTo>
                <a:lnTo>
                  <a:pt x="1523" y="12953"/>
                </a:lnTo>
                <a:lnTo>
                  <a:pt x="1523" y="13715"/>
                </a:lnTo>
                <a:lnTo>
                  <a:pt x="3809" y="19049"/>
                </a:lnTo>
                <a:lnTo>
                  <a:pt x="4571" y="19811"/>
                </a:lnTo>
                <a:lnTo>
                  <a:pt x="6857" y="24383"/>
                </a:lnTo>
                <a:lnTo>
                  <a:pt x="7619" y="24383"/>
                </a:lnTo>
                <a:lnTo>
                  <a:pt x="7619" y="25145"/>
                </a:lnTo>
                <a:lnTo>
                  <a:pt x="11429" y="28193"/>
                </a:lnTo>
                <a:lnTo>
                  <a:pt x="11429" y="28955"/>
                </a:lnTo>
                <a:lnTo>
                  <a:pt x="12191" y="28955"/>
                </a:lnTo>
                <a:lnTo>
                  <a:pt x="12191" y="761"/>
                </a:lnTo>
                <a:lnTo>
                  <a:pt x="12246" y="380"/>
                </a:lnTo>
                <a:lnTo>
                  <a:pt x="12246" y="28999"/>
                </a:lnTo>
                <a:lnTo>
                  <a:pt x="15239" y="31394"/>
                </a:lnTo>
                <a:lnTo>
                  <a:pt x="15239" y="12953"/>
                </a:lnTo>
                <a:lnTo>
                  <a:pt x="16001" y="13715"/>
                </a:lnTo>
                <a:close/>
              </a:path>
              <a:path w="56514" h="35560">
                <a:moveTo>
                  <a:pt x="12300" y="0"/>
                </a:moveTo>
                <a:lnTo>
                  <a:pt x="12246" y="380"/>
                </a:lnTo>
                <a:lnTo>
                  <a:pt x="12300" y="0"/>
                </a:lnTo>
                <a:close/>
              </a:path>
              <a:path w="56514" h="35560">
                <a:moveTo>
                  <a:pt x="12953" y="5333"/>
                </a:moveTo>
                <a:lnTo>
                  <a:pt x="12246" y="380"/>
                </a:lnTo>
                <a:lnTo>
                  <a:pt x="12191" y="761"/>
                </a:lnTo>
                <a:lnTo>
                  <a:pt x="12191" y="4571"/>
                </a:lnTo>
                <a:lnTo>
                  <a:pt x="12953" y="5333"/>
                </a:lnTo>
                <a:close/>
              </a:path>
              <a:path w="56514" h="35560">
                <a:moveTo>
                  <a:pt x="17525" y="32765"/>
                </a:moveTo>
                <a:lnTo>
                  <a:pt x="17525" y="17525"/>
                </a:lnTo>
                <a:lnTo>
                  <a:pt x="15239" y="12953"/>
                </a:lnTo>
                <a:lnTo>
                  <a:pt x="15239" y="31394"/>
                </a:lnTo>
                <a:lnTo>
                  <a:pt x="16001" y="32003"/>
                </a:lnTo>
                <a:lnTo>
                  <a:pt x="16763" y="32765"/>
                </a:lnTo>
                <a:lnTo>
                  <a:pt x="17525" y="32765"/>
                </a:lnTo>
                <a:close/>
              </a:path>
              <a:path w="56514" h="35560">
                <a:moveTo>
                  <a:pt x="20573" y="19811"/>
                </a:moveTo>
                <a:lnTo>
                  <a:pt x="16763" y="16001"/>
                </a:lnTo>
                <a:lnTo>
                  <a:pt x="17525" y="17525"/>
                </a:lnTo>
                <a:lnTo>
                  <a:pt x="17525" y="32765"/>
                </a:lnTo>
                <a:lnTo>
                  <a:pt x="19050" y="33375"/>
                </a:lnTo>
                <a:lnTo>
                  <a:pt x="19050" y="19049"/>
                </a:lnTo>
                <a:lnTo>
                  <a:pt x="20573" y="19811"/>
                </a:lnTo>
                <a:close/>
              </a:path>
              <a:path w="56514" h="35560">
                <a:moveTo>
                  <a:pt x="22859" y="34480"/>
                </a:moveTo>
                <a:lnTo>
                  <a:pt x="22859" y="21335"/>
                </a:lnTo>
                <a:lnTo>
                  <a:pt x="19050" y="19049"/>
                </a:lnTo>
                <a:lnTo>
                  <a:pt x="19050" y="33375"/>
                </a:lnTo>
                <a:lnTo>
                  <a:pt x="21335" y="34289"/>
                </a:lnTo>
                <a:lnTo>
                  <a:pt x="22097" y="34289"/>
                </a:lnTo>
                <a:lnTo>
                  <a:pt x="22859" y="34480"/>
                </a:lnTo>
                <a:close/>
              </a:path>
              <a:path w="56514" h="35560">
                <a:moveTo>
                  <a:pt x="25907" y="22097"/>
                </a:moveTo>
                <a:lnTo>
                  <a:pt x="22097" y="20573"/>
                </a:lnTo>
                <a:lnTo>
                  <a:pt x="22859" y="21335"/>
                </a:lnTo>
                <a:lnTo>
                  <a:pt x="22859" y="34480"/>
                </a:lnTo>
                <a:lnTo>
                  <a:pt x="25145" y="35051"/>
                </a:lnTo>
                <a:lnTo>
                  <a:pt x="25145" y="22097"/>
                </a:lnTo>
                <a:lnTo>
                  <a:pt x="25907" y="22097"/>
                </a:lnTo>
                <a:close/>
              </a:path>
              <a:path w="56514" h="35560">
                <a:moveTo>
                  <a:pt x="31241" y="35051"/>
                </a:moveTo>
                <a:lnTo>
                  <a:pt x="31241" y="22097"/>
                </a:lnTo>
                <a:lnTo>
                  <a:pt x="28955" y="22859"/>
                </a:lnTo>
                <a:lnTo>
                  <a:pt x="27431" y="22859"/>
                </a:lnTo>
                <a:lnTo>
                  <a:pt x="25907" y="22097"/>
                </a:lnTo>
                <a:lnTo>
                  <a:pt x="25145" y="22097"/>
                </a:lnTo>
                <a:lnTo>
                  <a:pt x="25145" y="35051"/>
                </a:lnTo>
                <a:lnTo>
                  <a:pt x="31241" y="35051"/>
                </a:lnTo>
                <a:close/>
              </a:path>
              <a:path w="56514" h="35560">
                <a:moveTo>
                  <a:pt x="34289" y="20573"/>
                </a:moveTo>
                <a:lnTo>
                  <a:pt x="30479" y="22097"/>
                </a:lnTo>
                <a:lnTo>
                  <a:pt x="31241" y="22097"/>
                </a:lnTo>
                <a:lnTo>
                  <a:pt x="31241" y="35051"/>
                </a:lnTo>
                <a:lnTo>
                  <a:pt x="32003" y="35051"/>
                </a:lnTo>
                <a:lnTo>
                  <a:pt x="33527" y="34289"/>
                </a:lnTo>
                <a:lnTo>
                  <a:pt x="33527" y="21335"/>
                </a:lnTo>
                <a:lnTo>
                  <a:pt x="34289" y="20573"/>
                </a:lnTo>
                <a:close/>
              </a:path>
              <a:path w="56514" h="35560">
                <a:moveTo>
                  <a:pt x="37337" y="33375"/>
                </a:moveTo>
                <a:lnTo>
                  <a:pt x="37337" y="19049"/>
                </a:lnTo>
                <a:lnTo>
                  <a:pt x="33527" y="21335"/>
                </a:lnTo>
                <a:lnTo>
                  <a:pt x="33527" y="34289"/>
                </a:lnTo>
                <a:lnTo>
                  <a:pt x="35051" y="34289"/>
                </a:lnTo>
                <a:lnTo>
                  <a:pt x="37337" y="33375"/>
                </a:lnTo>
                <a:close/>
              </a:path>
              <a:path w="56514" h="35560">
                <a:moveTo>
                  <a:pt x="39623" y="16001"/>
                </a:moveTo>
                <a:lnTo>
                  <a:pt x="35813" y="19811"/>
                </a:lnTo>
                <a:lnTo>
                  <a:pt x="37337" y="19049"/>
                </a:lnTo>
                <a:lnTo>
                  <a:pt x="37337" y="33375"/>
                </a:lnTo>
                <a:lnTo>
                  <a:pt x="38861" y="32765"/>
                </a:lnTo>
                <a:lnTo>
                  <a:pt x="38861" y="17525"/>
                </a:lnTo>
                <a:lnTo>
                  <a:pt x="39623" y="16001"/>
                </a:lnTo>
                <a:close/>
              </a:path>
              <a:path w="56514" h="35560">
                <a:moveTo>
                  <a:pt x="41147" y="31394"/>
                </a:moveTo>
                <a:lnTo>
                  <a:pt x="41147" y="12953"/>
                </a:lnTo>
                <a:lnTo>
                  <a:pt x="38861" y="17525"/>
                </a:lnTo>
                <a:lnTo>
                  <a:pt x="38861" y="32765"/>
                </a:lnTo>
                <a:lnTo>
                  <a:pt x="39623" y="32765"/>
                </a:lnTo>
                <a:lnTo>
                  <a:pt x="40385" y="32003"/>
                </a:lnTo>
                <a:lnTo>
                  <a:pt x="41147" y="31394"/>
                </a:lnTo>
                <a:close/>
              </a:path>
              <a:path w="56514" h="35560">
                <a:moveTo>
                  <a:pt x="44195" y="28955"/>
                </a:moveTo>
                <a:lnTo>
                  <a:pt x="44195" y="4571"/>
                </a:lnTo>
                <a:lnTo>
                  <a:pt x="42671" y="9905"/>
                </a:lnTo>
                <a:lnTo>
                  <a:pt x="42671" y="9143"/>
                </a:lnTo>
                <a:lnTo>
                  <a:pt x="40385" y="13715"/>
                </a:lnTo>
                <a:lnTo>
                  <a:pt x="41147" y="12953"/>
                </a:lnTo>
                <a:lnTo>
                  <a:pt x="41147" y="31394"/>
                </a:lnTo>
                <a:lnTo>
                  <a:pt x="44195" y="28955"/>
                </a:lnTo>
                <a:close/>
              </a:path>
              <a:path w="56514" h="35560">
                <a:moveTo>
                  <a:pt x="44195" y="4571"/>
                </a:moveTo>
                <a:lnTo>
                  <a:pt x="44195" y="761"/>
                </a:lnTo>
                <a:lnTo>
                  <a:pt x="44141" y="380"/>
                </a:lnTo>
                <a:lnTo>
                  <a:pt x="43433" y="5333"/>
                </a:lnTo>
                <a:lnTo>
                  <a:pt x="44195" y="4571"/>
                </a:lnTo>
                <a:close/>
              </a:path>
              <a:path w="56514" h="35560">
                <a:moveTo>
                  <a:pt x="44195" y="0"/>
                </a:moveTo>
                <a:lnTo>
                  <a:pt x="44141" y="380"/>
                </a:lnTo>
                <a:lnTo>
                  <a:pt x="44195" y="0"/>
                </a:lnTo>
                <a:close/>
              </a:path>
              <a:path w="56514" h="35560">
                <a:moveTo>
                  <a:pt x="56387" y="7619"/>
                </a:moveTo>
                <a:lnTo>
                  <a:pt x="56387" y="0"/>
                </a:lnTo>
                <a:lnTo>
                  <a:pt x="44195" y="0"/>
                </a:lnTo>
                <a:lnTo>
                  <a:pt x="44141" y="380"/>
                </a:lnTo>
                <a:lnTo>
                  <a:pt x="44195" y="761"/>
                </a:lnTo>
                <a:lnTo>
                  <a:pt x="44195" y="28955"/>
                </a:lnTo>
                <a:lnTo>
                  <a:pt x="44957" y="28955"/>
                </a:lnTo>
                <a:lnTo>
                  <a:pt x="44957" y="28193"/>
                </a:lnTo>
                <a:lnTo>
                  <a:pt x="48767" y="25145"/>
                </a:lnTo>
                <a:lnTo>
                  <a:pt x="48767" y="24383"/>
                </a:lnTo>
                <a:lnTo>
                  <a:pt x="49529" y="24383"/>
                </a:lnTo>
                <a:lnTo>
                  <a:pt x="51815" y="19811"/>
                </a:lnTo>
                <a:lnTo>
                  <a:pt x="52577" y="19049"/>
                </a:lnTo>
                <a:lnTo>
                  <a:pt x="54863" y="13715"/>
                </a:lnTo>
                <a:lnTo>
                  <a:pt x="54863" y="12953"/>
                </a:lnTo>
                <a:lnTo>
                  <a:pt x="56387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123317" y="2920745"/>
            <a:ext cx="45085" cy="30480"/>
          </a:xfrm>
          <a:custGeom>
            <a:avLst/>
            <a:gdLst/>
            <a:ahLst/>
            <a:cxnLst/>
            <a:rect l="l" t="t" r="r" b="b"/>
            <a:pathLst>
              <a:path w="45085" h="30480">
                <a:moveTo>
                  <a:pt x="44957" y="2285"/>
                </a:moveTo>
                <a:lnTo>
                  <a:pt x="44581" y="0"/>
                </a:lnTo>
                <a:lnTo>
                  <a:pt x="352" y="0"/>
                </a:lnTo>
                <a:lnTo>
                  <a:pt x="0" y="2285"/>
                </a:lnTo>
                <a:lnTo>
                  <a:pt x="1738" y="13120"/>
                </a:lnTo>
                <a:lnTo>
                  <a:pt x="6476" y="22097"/>
                </a:lnTo>
                <a:lnTo>
                  <a:pt x="13501" y="28217"/>
                </a:lnTo>
                <a:lnTo>
                  <a:pt x="22098" y="30479"/>
                </a:lnTo>
                <a:lnTo>
                  <a:pt x="30813" y="28217"/>
                </a:lnTo>
                <a:lnTo>
                  <a:pt x="38099" y="22097"/>
                </a:lnTo>
                <a:lnTo>
                  <a:pt x="43100" y="13120"/>
                </a:lnTo>
                <a:lnTo>
                  <a:pt x="44957" y="228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17221" y="2920745"/>
            <a:ext cx="57150" cy="36830"/>
          </a:xfrm>
          <a:custGeom>
            <a:avLst/>
            <a:gdLst/>
            <a:ahLst/>
            <a:cxnLst/>
            <a:rect l="l" t="t" r="r" b="b"/>
            <a:pathLst>
              <a:path w="57150" h="36830">
                <a:moveTo>
                  <a:pt x="14477" y="11429"/>
                </a:moveTo>
                <a:lnTo>
                  <a:pt x="12953" y="6095"/>
                </a:lnTo>
                <a:lnTo>
                  <a:pt x="12953" y="0"/>
                </a:lnTo>
                <a:lnTo>
                  <a:pt x="0" y="0"/>
                </a:lnTo>
                <a:lnTo>
                  <a:pt x="0" y="8381"/>
                </a:lnTo>
                <a:lnTo>
                  <a:pt x="762" y="8381"/>
                </a:lnTo>
                <a:lnTo>
                  <a:pt x="762" y="9143"/>
                </a:lnTo>
                <a:lnTo>
                  <a:pt x="1524" y="14477"/>
                </a:lnTo>
                <a:lnTo>
                  <a:pt x="2286" y="15239"/>
                </a:lnTo>
                <a:lnTo>
                  <a:pt x="4572" y="20573"/>
                </a:lnTo>
                <a:lnTo>
                  <a:pt x="4572" y="21335"/>
                </a:lnTo>
                <a:lnTo>
                  <a:pt x="7620" y="25907"/>
                </a:lnTo>
                <a:lnTo>
                  <a:pt x="11430" y="29717"/>
                </a:lnTo>
                <a:lnTo>
                  <a:pt x="11430" y="30479"/>
                </a:lnTo>
                <a:lnTo>
                  <a:pt x="12191" y="30479"/>
                </a:lnTo>
                <a:lnTo>
                  <a:pt x="13715" y="31699"/>
                </a:lnTo>
                <a:lnTo>
                  <a:pt x="13715" y="10667"/>
                </a:lnTo>
                <a:lnTo>
                  <a:pt x="14477" y="11429"/>
                </a:lnTo>
                <a:close/>
              </a:path>
              <a:path w="57150" h="36830">
                <a:moveTo>
                  <a:pt x="16001" y="15239"/>
                </a:moveTo>
                <a:lnTo>
                  <a:pt x="13715" y="10667"/>
                </a:lnTo>
                <a:lnTo>
                  <a:pt x="13715" y="31699"/>
                </a:lnTo>
                <a:lnTo>
                  <a:pt x="15239" y="32918"/>
                </a:lnTo>
                <a:lnTo>
                  <a:pt x="15239" y="14477"/>
                </a:lnTo>
                <a:lnTo>
                  <a:pt x="16001" y="15239"/>
                </a:lnTo>
                <a:close/>
              </a:path>
              <a:path w="57150" h="36830">
                <a:moveTo>
                  <a:pt x="18287" y="34594"/>
                </a:moveTo>
                <a:lnTo>
                  <a:pt x="18287" y="19049"/>
                </a:lnTo>
                <a:lnTo>
                  <a:pt x="15239" y="14477"/>
                </a:lnTo>
                <a:lnTo>
                  <a:pt x="15239" y="32918"/>
                </a:lnTo>
                <a:lnTo>
                  <a:pt x="16001" y="33527"/>
                </a:lnTo>
                <a:lnTo>
                  <a:pt x="16763" y="33527"/>
                </a:lnTo>
                <a:lnTo>
                  <a:pt x="16763" y="34289"/>
                </a:lnTo>
                <a:lnTo>
                  <a:pt x="17525" y="34289"/>
                </a:lnTo>
                <a:lnTo>
                  <a:pt x="18287" y="34594"/>
                </a:lnTo>
                <a:close/>
              </a:path>
              <a:path w="57150" h="36830">
                <a:moveTo>
                  <a:pt x="20105" y="20749"/>
                </a:moveTo>
                <a:lnTo>
                  <a:pt x="17525" y="17525"/>
                </a:lnTo>
                <a:lnTo>
                  <a:pt x="18287" y="19049"/>
                </a:lnTo>
                <a:lnTo>
                  <a:pt x="18287" y="34594"/>
                </a:lnTo>
                <a:lnTo>
                  <a:pt x="19812" y="35204"/>
                </a:lnTo>
                <a:lnTo>
                  <a:pt x="19812" y="20573"/>
                </a:lnTo>
                <a:lnTo>
                  <a:pt x="20105" y="20749"/>
                </a:lnTo>
                <a:close/>
              </a:path>
              <a:path w="57150" h="36830">
                <a:moveTo>
                  <a:pt x="20574" y="21335"/>
                </a:moveTo>
                <a:lnTo>
                  <a:pt x="20105" y="20749"/>
                </a:lnTo>
                <a:lnTo>
                  <a:pt x="19812" y="20573"/>
                </a:lnTo>
                <a:lnTo>
                  <a:pt x="20574" y="21335"/>
                </a:lnTo>
                <a:close/>
              </a:path>
              <a:path w="57150" h="36830">
                <a:moveTo>
                  <a:pt x="20574" y="35509"/>
                </a:moveTo>
                <a:lnTo>
                  <a:pt x="20574" y="21335"/>
                </a:lnTo>
                <a:lnTo>
                  <a:pt x="19812" y="20573"/>
                </a:lnTo>
                <a:lnTo>
                  <a:pt x="19812" y="35204"/>
                </a:lnTo>
                <a:lnTo>
                  <a:pt x="20574" y="35509"/>
                </a:lnTo>
                <a:close/>
              </a:path>
              <a:path w="57150" h="36830">
                <a:moveTo>
                  <a:pt x="23622" y="22859"/>
                </a:moveTo>
                <a:lnTo>
                  <a:pt x="20105" y="20749"/>
                </a:lnTo>
                <a:lnTo>
                  <a:pt x="20574" y="21335"/>
                </a:lnTo>
                <a:lnTo>
                  <a:pt x="20574" y="35509"/>
                </a:lnTo>
                <a:lnTo>
                  <a:pt x="21336" y="35813"/>
                </a:lnTo>
                <a:lnTo>
                  <a:pt x="22098" y="35813"/>
                </a:lnTo>
                <a:lnTo>
                  <a:pt x="22098" y="22097"/>
                </a:lnTo>
                <a:lnTo>
                  <a:pt x="23622" y="22859"/>
                </a:lnTo>
                <a:close/>
              </a:path>
              <a:path w="57150" h="36830">
                <a:moveTo>
                  <a:pt x="32003" y="23621"/>
                </a:moveTo>
                <a:lnTo>
                  <a:pt x="29718" y="24383"/>
                </a:lnTo>
                <a:lnTo>
                  <a:pt x="26670" y="24383"/>
                </a:lnTo>
                <a:lnTo>
                  <a:pt x="22098" y="22097"/>
                </a:lnTo>
                <a:lnTo>
                  <a:pt x="22098" y="35813"/>
                </a:lnTo>
                <a:lnTo>
                  <a:pt x="22860" y="36575"/>
                </a:lnTo>
                <a:lnTo>
                  <a:pt x="30480" y="36575"/>
                </a:lnTo>
                <a:lnTo>
                  <a:pt x="30480" y="24383"/>
                </a:lnTo>
                <a:lnTo>
                  <a:pt x="32003" y="23621"/>
                </a:lnTo>
                <a:close/>
              </a:path>
              <a:path w="57150" h="36830">
                <a:moveTo>
                  <a:pt x="35051" y="35813"/>
                </a:moveTo>
                <a:lnTo>
                  <a:pt x="35051" y="22097"/>
                </a:lnTo>
                <a:lnTo>
                  <a:pt x="30480" y="24383"/>
                </a:lnTo>
                <a:lnTo>
                  <a:pt x="30480" y="36575"/>
                </a:lnTo>
                <a:lnTo>
                  <a:pt x="34289" y="36575"/>
                </a:lnTo>
                <a:lnTo>
                  <a:pt x="34289" y="35813"/>
                </a:lnTo>
                <a:lnTo>
                  <a:pt x="35051" y="35813"/>
                </a:lnTo>
                <a:close/>
              </a:path>
              <a:path w="57150" h="36830">
                <a:moveTo>
                  <a:pt x="37044" y="20749"/>
                </a:moveTo>
                <a:lnTo>
                  <a:pt x="33527" y="22859"/>
                </a:lnTo>
                <a:lnTo>
                  <a:pt x="35051" y="22097"/>
                </a:lnTo>
                <a:lnTo>
                  <a:pt x="35051" y="35813"/>
                </a:lnTo>
                <a:lnTo>
                  <a:pt x="36575" y="35305"/>
                </a:lnTo>
                <a:lnTo>
                  <a:pt x="36575" y="21335"/>
                </a:lnTo>
                <a:lnTo>
                  <a:pt x="37044" y="20749"/>
                </a:lnTo>
                <a:close/>
              </a:path>
              <a:path w="57150" h="36830">
                <a:moveTo>
                  <a:pt x="37337" y="20573"/>
                </a:moveTo>
                <a:lnTo>
                  <a:pt x="37044" y="20749"/>
                </a:lnTo>
                <a:lnTo>
                  <a:pt x="36575" y="21335"/>
                </a:lnTo>
                <a:lnTo>
                  <a:pt x="37337" y="20573"/>
                </a:lnTo>
                <a:close/>
              </a:path>
              <a:path w="57150" h="36830">
                <a:moveTo>
                  <a:pt x="37337" y="35051"/>
                </a:moveTo>
                <a:lnTo>
                  <a:pt x="37337" y="20573"/>
                </a:lnTo>
                <a:lnTo>
                  <a:pt x="36575" y="21335"/>
                </a:lnTo>
                <a:lnTo>
                  <a:pt x="36575" y="35305"/>
                </a:lnTo>
                <a:lnTo>
                  <a:pt x="37337" y="35051"/>
                </a:lnTo>
                <a:close/>
              </a:path>
              <a:path w="57150" h="36830">
                <a:moveTo>
                  <a:pt x="39624" y="17525"/>
                </a:moveTo>
                <a:lnTo>
                  <a:pt x="37044" y="20749"/>
                </a:lnTo>
                <a:lnTo>
                  <a:pt x="37337" y="20573"/>
                </a:lnTo>
                <a:lnTo>
                  <a:pt x="37337" y="35051"/>
                </a:lnTo>
                <a:lnTo>
                  <a:pt x="38862" y="34543"/>
                </a:lnTo>
                <a:lnTo>
                  <a:pt x="38862" y="19049"/>
                </a:lnTo>
                <a:lnTo>
                  <a:pt x="39624" y="17525"/>
                </a:lnTo>
                <a:close/>
              </a:path>
              <a:path w="57150" h="36830">
                <a:moveTo>
                  <a:pt x="41910" y="32918"/>
                </a:moveTo>
                <a:lnTo>
                  <a:pt x="41910" y="14477"/>
                </a:lnTo>
                <a:lnTo>
                  <a:pt x="38862" y="19049"/>
                </a:lnTo>
                <a:lnTo>
                  <a:pt x="38862" y="34543"/>
                </a:lnTo>
                <a:lnTo>
                  <a:pt x="39624" y="34289"/>
                </a:lnTo>
                <a:lnTo>
                  <a:pt x="40386" y="33527"/>
                </a:lnTo>
                <a:lnTo>
                  <a:pt x="41148" y="33527"/>
                </a:lnTo>
                <a:lnTo>
                  <a:pt x="41910" y="32918"/>
                </a:lnTo>
                <a:close/>
              </a:path>
              <a:path w="57150" h="36830">
                <a:moveTo>
                  <a:pt x="43434" y="31699"/>
                </a:moveTo>
                <a:lnTo>
                  <a:pt x="43434" y="10667"/>
                </a:lnTo>
                <a:lnTo>
                  <a:pt x="41148" y="15239"/>
                </a:lnTo>
                <a:lnTo>
                  <a:pt x="41910" y="14477"/>
                </a:lnTo>
                <a:lnTo>
                  <a:pt x="41910" y="32918"/>
                </a:lnTo>
                <a:lnTo>
                  <a:pt x="43434" y="31699"/>
                </a:lnTo>
                <a:close/>
              </a:path>
              <a:path w="57150" h="36830">
                <a:moveTo>
                  <a:pt x="56877" y="5738"/>
                </a:moveTo>
                <a:lnTo>
                  <a:pt x="56663" y="0"/>
                </a:lnTo>
                <a:lnTo>
                  <a:pt x="44196" y="0"/>
                </a:lnTo>
                <a:lnTo>
                  <a:pt x="44196" y="6095"/>
                </a:lnTo>
                <a:lnTo>
                  <a:pt x="42672" y="11429"/>
                </a:lnTo>
                <a:lnTo>
                  <a:pt x="43434" y="10667"/>
                </a:lnTo>
                <a:lnTo>
                  <a:pt x="43434" y="31699"/>
                </a:lnTo>
                <a:lnTo>
                  <a:pt x="44958" y="30479"/>
                </a:lnTo>
                <a:lnTo>
                  <a:pt x="48768" y="26669"/>
                </a:lnTo>
                <a:lnTo>
                  <a:pt x="48768" y="25907"/>
                </a:lnTo>
                <a:lnTo>
                  <a:pt x="49530" y="25907"/>
                </a:lnTo>
                <a:lnTo>
                  <a:pt x="52577" y="21335"/>
                </a:lnTo>
                <a:lnTo>
                  <a:pt x="52577" y="20573"/>
                </a:lnTo>
                <a:lnTo>
                  <a:pt x="54863" y="15239"/>
                </a:lnTo>
                <a:lnTo>
                  <a:pt x="54863" y="14477"/>
                </a:lnTo>
                <a:lnTo>
                  <a:pt x="56877" y="573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07936" y="2920745"/>
            <a:ext cx="44450" cy="29209"/>
          </a:xfrm>
          <a:custGeom>
            <a:avLst/>
            <a:gdLst/>
            <a:ahLst/>
            <a:cxnLst/>
            <a:rect l="l" t="t" r="r" b="b"/>
            <a:pathLst>
              <a:path w="44450" h="29210">
                <a:moveTo>
                  <a:pt x="44208" y="0"/>
                </a:moveTo>
                <a:lnTo>
                  <a:pt x="0" y="0"/>
                </a:lnTo>
                <a:lnTo>
                  <a:pt x="1740" y="11275"/>
                </a:lnTo>
                <a:lnTo>
                  <a:pt x="6481" y="20478"/>
                </a:lnTo>
                <a:lnTo>
                  <a:pt x="13507" y="26681"/>
                </a:lnTo>
                <a:lnTo>
                  <a:pt x="22098" y="28955"/>
                </a:lnTo>
                <a:lnTo>
                  <a:pt x="30696" y="26681"/>
                </a:lnTo>
                <a:lnTo>
                  <a:pt x="37725" y="20478"/>
                </a:lnTo>
                <a:lnTo>
                  <a:pt x="42468" y="11275"/>
                </a:lnTo>
                <a:lnTo>
                  <a:pt x="442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601091" y="2920745"/>
            <a:ext cx="57150" cy="35560"/>
          </a:xfrm>
          <a:custGeom>
            <a:avLst/>
            <a:gdLst/>
            <a:ahLst/>
            <a:cxnLst/>
            <a:rect l="l" t="t" r="r" b="b"/>
            <a:pathLst>
              <a:path w="57150" h="35560">
                <a:moveTo>
                  <a:pt x="18288" y="33020"/>
                </a:moveTo>
                <a:lnTo>
                  <a:pt x="18288" y="17525"/>
                </a:lnTo>
                <a:lnTo>
                  <a:pt x="16001" y="12953"/>
                </a:lnTo>
                <a:lnTo>
                  <a:pt x="16001" y="13715"/>
                </a:lnTo>
                <a:lnTo>
                  <a:pt x="14477" y="9143"/>
                </a:lnTo>
                <a:lnTo>
                  <a:pt x="14477" y="9905"/>
                </a:lnTo>
                <a:lnTo>
                  <a:pt x="12954" y="4571"/>
                </a:lnTo>
                <a:lnTo>
                  <a:pt x="12954" y="0"/>
                </a:lnTo>
                <a:lnTo>
                  <a:pt x="0" y="0"/>
                </a:lnTo>
                <a:lnTo>
                  <a:pt x="0" y="761"/>
                </a:lnTo>
                <a:lnTo>
                  <a:pt x="762" y="6857"/>
                </a:lnTo>
                <a:lnTo>
                  <a:pt x="762" y="7619"/>
                </a:lnTo>
                <a:lnTo>
                  <a:pt x="2286" y="12953"/>
                </a:lnTo>
                <a:lnTo>
                  <a:pt x="2286" y="13715"/>
                </a:lnTo>
                <a:lnTo>
                  <a:pt x="4559" y="19049"/>
                </a:lnTo>
                <a:lnTo>
                  <a:pt x="4559" y="19811"/>
                </a:lnTo>
                <a:lnTo>
                  <a:pt x="5321" y="19811"/>
                </a:lnTo>
                <a:lnTo>
                  <a:pt x="7607" y="24383"/>
                </a:lnTo>
                <a:lnTo>
                  <a:pt x="8369" y="24383"/>
                </a:lnTo>
                <a:lnTo>
                  <a:pt x="8369" y="25145"/>
                </a:lnTo>
                <a:lnTo>
                  <a:pt x="12179" y="28955"/>
                </a:lnTo>
                <a:lnTo>
                  <a:pt x="12954" y="28955"/>
                </a:lnTo>
                <a:lnTo>
                  <a:pt x="12954" y="761"/>
                </a:lnTo>
                <a:lnTo>
                  <a:pt x="13008" y="380"/>
                </a:lnTo>
                <a:lnTo>
                  <a:pt x="13008" y="28999"/>
                </a:lnTo>
                <a:lnTo>
                  <a:pt x="16764" y="32003"/>
                </a:lnTo>
                <a:lnTo>
                  <a:pt x="17525" y="32765"/>
                </a:lnTo>
                <a:lnTo>
                  <a:pt x="18288" y="33020"/>
                </a:lnTo>
                <a:close/>
              </a:path>
              <a:path w="57150" h="35560">
                <a:moveTo>
                  <a:pt x="13062" y="0"/>
                </a:moveTo>
                <a:lnTo>
                  <a:pt x="13008" y="380"/>
                </a:lnTo>
                <a:lnTo>
                  <a:pt x="13062" y="0"/>
                </a:lnTo>
                <a:close/>
              </a:path>
              <a:path w="57150" h="35560">
                <a:moveTo>
                  <a:pt x="13716" y="5333"/>
                </a:moveTo>
                <a:lnTo>
                  <a:pt x="13008" y="380"/>
                </a:lnTo>
                <a:lnTo>
                  <a:pt x="12954" y="761"/>
                </a:lnTo>
                <a:lnTo>
                  <a:pt x="12954" y="4571"/>
                </a:lnTo>
                <a:lnTo>
                  <a:pt x="13716" y="5333"/>
                </a:lnTo>
                <a:close/>
              </a:path>
              <a:path w="57150" h="35560">
                <a:moveTo>
                  <a:pt x="21336" y="19811"/>
                </a:moveTo>
                <a:lnTo>
                  <a:pt x="17525" y="16001"/>
                </a:lnTo>
                <a:lnTo>
                  <a:pt x="18288" y="17525"/>
                </a:lnTo>
                <a:lnTo>
                  <a:pt x="18288" y="33020"/>
                </a:lnTo>
                <a:lnTo>
                  <a:pt x="19812" y="33530"/>
                </a:lnTo>
                <a:lnTo>
                  <a:pt x="19812" y="19049"/>
                </a:lnTo>
                <a:lnTo>
                  <a:pt x="21336" y="19811"/>
                </a:lnTo>
                <a:close/>
              </a:path>
              <a:path w="57150" h="35560">
                <a:moveTo>
                  <a:pt x="23609" y="34480"/>
                </a:moveTo>
                <a:lnTo>
                  <a:pt x="23609" y="21335"/>
                </a:lnTo>
                <a:lnTo>
                  <a:pt x="19812" y="19049"/>
                </a:lnTo>
                <a:lnTo>
                  <a:pt x="19812" y="33530"/>
                </a:lnTo>
                <a:lnTo>
                  <a:pt x="22085" y="34289"/>
                </a:lnTo>
                <a:lnTo>
                  <a:pt x="22847" y="34289"/>
                </a:lnTo>
                <a:lnTo>
                  <a:pt x="23609" y="34480"/>
                </a:lnTo>
                <a:close/>
              </a:path>
              <a:path w="57150" h="35560">
                <a:moveTo>
                  <a:pt x="26657" y="22097"/>
                </a:moveTo>
                <a:lnTo>
                  <a:pt x="22847" y="20573"/>
                </a:lnTo>
                <a:lnTo>
                  <a:pt x="23609" y="21335"/>
                </a:lnTo>
                <a:lnTo>
                  <a:pt x="23609" y="34480"/>
                </a:lnTo>
                <a:lnTo>
                  <a:pt x="25895" y="35051"/>
                </a:lnTo>
                <a:lnTo>
                  <a:pt x="25895" y="22097"/>
                </a:lnTo>
                <a:lnTo>
                  <a:pt x="26657" y="22097"/>
                </a:lnTo>
                <a:close/>
              </a:path>
              <a:path w="57150" h="35560">
                <a:moveTo>
                  <a:pt x="32004" y="35051"/>
                </a:moveTo>
                <a:lnTo>
                  <a:pt x="32004" y="22097"/>
                </a:lnTo>
                <a:lnTo>
                  <a:pt x="29705" y="22859"/>
                </a:lnTo>
                <a:lnTo>
                  <a:pt x="28181" y="22859"/>
                </a:lnTo>
                <a:lnTo>
                  <a:pt x="26657" y="22097"/>
                </a:lnTo>
                <a:lnTo>
                  <a:pt x="25895" y="22097"/>
                </a:lnTo>
                <a:lnTo>
                  <a:pt x="25895" y="35051"/>
                </a:lnTo>
                <a:lnTo>
                  <a:pt x="32004" y="35051"/>
                </a:lnTo>
                <a:close/>
              </a:path>
              <a:path w="57150" h="35560">
                <a:moveTo>
                  <a:pt x="34295" y="20875"/>
                </a:moveTo>
                <a:lnTo>
                  <a:pt x="31229" y="22097"/>
                </a:lnTo>
                <a:lnTo>
                  <a:pt x="32004" y="22097"/>
                </a:lnTo>
                <a:lnTo>
                  <a:pt x="32004" y="35051"/>
                </a:lnTo>
                <a:lnTo>
                  <a:pt x="33527" y="34543"/>
                </a:lnTo>
                <a:lnTo>
                  <a:pt x="33527" y="21335"/>
                </a:lnTo>
                <a:lnTo>
                  <a:pt x="34295" y="20875"/>
                </a:lnTo>
                <a:close/>
              </a:path>
              <a:path w="57150" h="35560">
                <a:moveTo>
                  <a:pt x="35051" y="20573"/>
                </a:moveTo>
                <a:lnTo>
                  <a:pt x="34290" y="20878"/>
                </a:lnTo>
                <a:lnTo>
                  <a:pt x="33527" y="21335"/>
                </a:lnTo>
                <a:lnTo>
                  <a:pt x="35051" y="20573"/>
                </a:lnTo>
                <a:close/>
              </a:path>
              <a:path w="57150" h="35560">
                <a:moveTo>
                  <a:pt x="35051" y="34289"/>
                </a:moveTo>
                <a:lnTo>
                  <a:pt x="35051" y="20573"/>
                </a:lnTo>
                <a:lnTo>
                  <a:pt x="33527" y="21335"/>
                </a:lnTo>
                <a:lnTo>
                  <a:pt x="33527" y="34543"/>
                </a:lnTo>
                <a:lnTo>
                  <a:pt x="34290" y="34289"/>
                </a:lnTo>
                <a:lnTo>
                  <a:pt x="35051" y="34289"/>
                </a:lnTo>
                <a:close/>
              </a:path>
              <a:path w="57150" h="35560">
                <a:moveTo>
                  <a:pt x="37044" y="19225"/>
                </a:moveTo>
                <a:lnTo>
                  <a:pt x="34295" y="20875"/>
                </a:lnTo>
                <a:lnTo>
                  <a:pt x="35051" y="20573"/>
                </a:lnTo>
                <a:lnTo>
                  <a:pt x="35051" y="34289"/>
                </a:lnTo>
                <a:lnTo>
                  <a:pt x="35814" y="34289"/>
                </a:lnTo>
                <a:lnTo>
                  <a:pt x="36575" y="33985"/>
                </a:lnTo>
                <a:lnTo>
                  <a:pt x="36575" y="19811"/>
                </a:lnTo>
                <a:lnTo>
                  <a:pt x="37044" y="19225"/>
                </a:lnTo>
                <a:close/>
              </a:path>
              <a:path w="57150" h="35560">
                <a:moveTo>
                  <a:pt x="37338" y="19049"/>
                </a:moveTo>
                <a:lnTo>
                  <a:pt x="37044" y="19225"/>
                </a:lnTo>
                <a:lnTo>
                  <a:pt x="36575" y="19811"/>
                </a:lnTo>
                <a:lnTo>
                  <a:pt x="37338" y="19049"/>
                </a:lnTo>
                <a:close/>
              </a:path>
              <a:path w="57150" h="35560">
                <a:moveTo>
                  <a:pt x="37338" y="33680"/>
                </a:moveTo>
                <a:lnTo>
                  <a:pt x="37338" y="19049"/>
                </a:lnTo>
                <a:lnTo>
                  <a:pt x="36575" y="19811"/>
                </a:lnTo>
                <a:lnTo>
                  <a:pt x="36575" y="33985"/>
                </a:lnTo>
                <a:lnTo>
                  <a:pt x="37338" y="33680"/>
                </a:lnTo>
                <a:close/>
              </a:path>
              <a:path w="57150" h="35560">
                <a:moveTo>
                  <a:pt x="39624" y="16001"/>
                </a:moveTo>
                <a:lnTo>
                  <a:pt x="37044" y="19225"/>
                </a:lnTo>
                <a:lnTo>
                  <a:pt x="37338" y="19049"/>
                </a:lnTo>
                <a:lnTo>
                  <a:pt x="37338" y="33680"/>
                </a:lnTo>
                <a:lnTo>
                  <a:pt x="38862" y="33070"/>
                </a:lnTo>
                <a:lnTo>
                  <a:pt x="38862" y="17525"/>
                </a:lnTo>
                <a:lnTo>
                  <a:pt x="39624" y="16001"/>
                </a:lnTo>
                <a:close/>
              </a:path>
              <a:path w="57150" h="35560">
                <a:moveTo>
                  <a:pt x="41897" y="31394"/>
                </a:moveTo>
                <a:lnTo>
                  <a:pt x="41897" y="12953"/>
                </a:lnTo>
                <a:lnTo>
                  <a:pt x="38862" y="17525"/>
                </a:lnTo>
                <a:lnTo>
                  <a:pt x="38862" y="33070"/>
                </a:lnTo>
                <a:lnTo>
                  <a:pt x="39624" y="32765"/>
                </a:lnTo>
                <a:lnTo>
                  <a:pt x="40386" y="32765"/>
                </a:lnTo>
                <a:lnTo>
                  <a:pt x="40386" y="32003"/>
                </a:lnTo>
                <a:lnTo>
                  <a:pt x="41135" y="32003"/>
                </a:lnTo>
                <a:lnTo>
                  <a:pt x="41897" y="31394"/>
                </a:lnTo>
                <a:close/>
              </a:path>
              <a:path w="57150" h="35560">
                <a:moveTo>
                  <a:pt x="44945" y="28955"/>
                </a:moveTo>
                <a:lnTo>
                  <a:pt x="44945" y="761"/>
                </a:lnTo>
                <a:lnTo>
                  <a:pt x="44890" y="380"/>
                </a:lnTo>
                <a:lnTo>
                  <a:pt x="44183" y="5333"/>
                </a:lnTo>
                <a:lnTo>
                  <a:pt x="44183" y="4571"/>
                </a:lnTo>
                <a:lnTo>
                  <a:pt x="43421" y="9905"/>
                </a:lnTo>
                <a:lnTo>
                  <a:pt x="43421" y="9143"/>
                </a:lnTo>
                <a:lnTo>
                  <a:pt x="41135" y="13715"/>
                </a:lnTo>
                <a:lnTo>
                  <a:pt x="41897" y="12953"/>
                </a:lnTo>
                <a:lnTo>
                  <a:pt x="41897" y="31394"/>
                </a:lnTo>
                <a:lnTo>
                  <a:pt x="44945" y="28955"/>
                </a:lnTo>
                <a:close/>
              </a:path>
              <a:path w="57150" h="35560">
                <a:moveTo>
                  <a:pt x="44945" y="0"/>
                </a:moveTo>
                <a:lnTo>
                  <a:pt x="44890" y="380"/>
                </a:lnTo>
                <a:lnTo>
                  <a:pt x="44945" y="0"/>
                </a:lnTo>
                <a:close/>
              </a:path>
              <a:path w="57150" h="35560">
                <a:moveTo>
                  <a:pt x="57150" y="7619"/>
                </a:moveTo>
                <a:lnTo>
                  <a:pt x="57150" y="0"/>
                </a:lnTo>
                <a:lnTo>
                  <a:pt x="44945" y="0"/>
                </a:lnTo>
                <a:lnTo>
                  <a:pt x="44890" y="380"/>
                </a:lnTo>
                <a:lnTo>
                  <a:pt x="44945" y="761"/>
                </a:lnTo>
                <a:lnTo>
                  <a:pt x="44945" y="28955"/>
                </a:lnTo>
                <a:lnTo>
                  <a:pt x="45707" y="28955"/>
                </a:lnTo>
                <a:lnTo>
                  <a:pt x="45707" y="28193"/>
                </a:lnTo>
                <a:lnTo>
                  <a:pt x="49530" y="25145"/>
                </a:lnTo>
                <a:lnTo>
                  <a:pt x="49530" y="24383"/>
                </a:lnTo>
                <a:lnTo>
                  <a:pt x="52577" y="19811"/>
                </a:lnTo>
                <a:lnTo>
                  <a:pt x="53340" y="19049"/>
                </a:lnTo>
                <a:lnTo>
                  <a:pt x="54864" y="13715"/>
                </a:lnTo>
                <a:lnTo>
                  <a:pt x="55625" y="13715"/>
                </a:lnTo>
                <a:lnTo>
                  <a:pt x="55625" y="12953"/>
                </a:lnTo>
                <a:lnTo>
                  <a:pt x="56388" y="7619"/>
                </a:lnTo>
                <a:lnTo>
                  <a:pt x="57150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609721" y="2305050"/>
            <a:ext cx="1830070" cy="1306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Col 0 Col 1 Col</a:t>
            </a:r>
            <a:r>
              <a:rPr sz="1800" b="1" spc="-4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19050" algn="ctr">
              <a:lnSpc>
                <a:spcPct val="100000"/>
              </a:lnSpc>
              <a:spcBef>
                <a:spcPts val="1545"/>
              </a:spcBef>
              <a:tabLst>
                <a:tab pos="611505" algn="l"/>
                <a:tab pos="1233170" algn="l"/>
              </a:tabLst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X	X	X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50">
              <a:latin typeface="Times New Roman"/>
              <a:cs typeface="Times New Roman"/>
            </a:endParaRPr>
          </a:p>
          <a:p>
            <a:pPr marL="15875" algn="ctr">
              <a:lnSpc>
                <a:spcPct val="100000"/>
              </a:lnSpc>
              <a:tabLst>
                <a:tab pos="608330" algn="l"/>
                <a:tab pos="1229995" algn="l"/>
              </a:tabLst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X	X	X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81385" y="3326891"/>
            <a:ext cx="1784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631065" y="3437382"/>
            <a:ext cx="57150" cy="693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15697" y="3437674"/>
            <a:ext cx="56918" cy="705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99567" y="3437382"/>
            <a:ext cx="57150" cy="705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757042" y="3358896"/>
            <a:ext cx="6985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Row</a:t>
            </a:r>
            <a:r>
              <a:rPr sz="1800" b="1" spc="-9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208760" y="2920745"/>
            <a:ext cx="1455420" cy="857250"/>
          </a:xfrm>
          <a:custGeom>
            <a:avLst/>
            <a:gdLst/>
            <a:ahLst/>
            <a:cxnLst/>
            <a:rect l="l" t="t" r="r" b="b"/>
            <a:pathLst>
              <a:path w="1455420" h="857250">
                <a:moveTo>
                  <a:pt x="1454820" y="3809"/>
                </a:moveTo>
                <a:lnTo>
                  <a:pt x="1454372" y="0"/>
                </a:lnTo>
                <a:lnTo>
                  <a:pt x="1398055" y="0"/>
                </a:lnTo>
                <a:lnTo>
                  <a:pt x="1360149" y="6179"/>
                </a:lnTo>
                <a:lnTo>
                  <a:pt x="1312362" y="13924"/>
                </a:lnTo>
                <a:lnTo>
                  <a:pt x="1263922" y="21820"/>
                </a:lnTo>
                <a:lnTo>
                  <a:pt x="1214944" y="29941"/>
                </a:lnTo>
                <a:lnTo>
                  <a:pt x="1165544" y="38361"/>
                </a:lnTo>
                <a:lnTo>
                  <a:pt x="1115838" y="47150"/>
                </a:lnTo>
                <a:lnTo>
                  <a:pt x="1065942" y="56384"/>
                </a:lnTo>
                <a:lnTo>
                  <a:pt x="1015972" y="66134"/>
                </a:lnTo>
                <a:lnTo>
                  <a:pt x="966044" y="76473"/>
                </a:lnTo>
                <a:lnTo>
                  <a:pt x="916275" y="87474"/>
                </a:lnTo>
                <a:lnTo>
                  <a:pt x="866779" y="99210"/>
                </a:lnTo>
                <a:lnTo>
                  <a:pt x="817674" y="111754"/>
                </a:lnTo>
                <a:lnTo>
                  <a:pt x="769074" y="125179"/>
                </a:lnTo>
                <a:lnTo>
                  <a:pt x="721097" y="139558"/>
                </a:lnTo>
                <a:lnTo>
                  <a:pt x="673857" y="154963"/>
                </a:lnTo>
                <a:lnTo>
                  <a:pt x="627472" y="171467"/>
                </a:lnTo>
                <a:lnTo>
                  <a:pt x="582057" y="189144"/>
                </a:lnTo>
                <a:lnTo>
                  <a:pt x="537727" y="208065"/>
                </a:lnTo>
                <a:lnTo>
                  <a:pt x="494600" y="228305"/>
                </a:lnTo>
                <a:lnTo>
                  <a:pt x="452790" y="249935"/>
                </a:lnTo>
                <a:lnTo>
                  <a:pt x="408525" y="275965"/>
                </a:lnTo>
                <a:lnTo>
                  <a:pt x="366608" y="304508"/>
                </a:lnTo>
                <a:lnTo>
                  <a:pt x="326976" y="335463"/>
                </a:lnTo>
                <a:lnTo>
                  <a:pt x="289563" y="368728"/>
                </a:lnTo>
                <a:lnTo>
                  <a:pt x="254304" y="404202"/>
                </a:lnTo>
                <a:lnTo>
                  <a:pt x="221134" y="441785"/>
                </a:lnTo>
                <a:lnTo>
                  <a:pt x="189989" y="481373"/>
                </a:lnTo>
                <a:lnTo>
                  <a:pt x="160803" y="522867"/>
                </a:lnTo>
                <a:lnTo>
                  <a:pt x="133512" y="566165"/>
                </a:lnTo>
                <a:lnTo>
                  <a:pt x="108243" y="610844"/>
                </a:lnTo>
                <a:lnTo>
                  <a:pt x="84566" y="656504"/>
                </a:lnTo>
                <a:lnTo>
                  <a:pt x="62384" y="703018"/>
                </a:lnTo>
                <a:lnTo>
                  <a:pt x="41599" y="750258"/>
                </a:lnTo>
                <a:lnTo>
                  <a:pt x="22113" y="798097"/>
                </a:lnTo>
                <a:lnTo>
                  <a:pt x="3829" y="846407"/>
                </a:lnTo>
                <a:lnTo>
                  <a:pt x="0" y="857250"/>
                </a:lnTo>
                <a:lnTo>
                  <a:pt x="13616" y="857250"/>
                </a:lnTo>
                <a:lnTo>
                  <a:pt x="15767" y="851179"/>
                </a:lnTo>
                <a:lnTo>
                  <a:pt x="33781" y="803361"/>
                </a:lnTo>
                <a:lnTo>
                  <a:pt x="52913" y="756020"/>
                </a:lnTo>
                <a:lnTo>
                  <a:pt x="73340" y="709235"/>
                </a:lnTo>
                <a:lnTo>
                  <a:pt x="95241" y="663088"/>
                </a:lnTo>
                <a:lnTo>
                  <a:pt x="118795" y="617657"/>
                </a:lnTo>
                <a:lnTo>
                  <a:pt x="144180" y="573024"/>
                </a:lnTo>
                <a:lnTo>
                  <a:pt x="170722" y="530937"/>
                </a:lnTo>
                <a:lnTo>
                  <a:pt x="199396" y="490151"/>
                </a:lnTo>
                <a:lnTo>
                  <a:pt x="230190" y="450906"/>
                </a:lnTo>
                <a:lnTo>
                  <a:pt x="263095" y="413445"/>
                </a:lnTo>
                <a:lnTo>
                  <a:pt x="298099" y="378009"/>
                </a:lnTo>
                <a:lnTo>
                  <a:pt x="335191" y="344841"/>
                </a:lnTo>
                <a:lnTo>
                  <a:pt x="374360" y="314183"/>
                </a:lnTo>
                <a:lnTo>
                  <a:pt x="415596" y="286277"/>
                </a:lnTo>
                <a:lnTo>
                  <a:pt x="458886" y="261365"/>
                </a:lnTo>
                <a:lnTo>
                  <a:pt x="500285" y="239867"/>
                </a:lnTo>
                <a:lnTo>
                  <a:pt x="543060" y="219746"/>
                </a:lnTo>
                <a:lnTo>
                  <a:pt x="587090" y="200931"/>
                </a:lnTo>
                <a:lnTo>
                  <a:pt x="632252" y="183349"/>
                </a:lnTo>
                <a:lnTo>
                  <a:pt x="678424" y="166929"/>
                </a:lnTo>
                <a:lnTo>
                  <a:pt x="725484" y="151600"/>
                </a:lnTo>
                <a:lnTo>
                  <a:pt x="773310" y="137289"/>
                </a:lnTo>
                <a:lnTo>
                  <a:pt x="821780" y="123926"/>
                </a:lnTo>
                <a:lnTo>
                  <a:pt x="870770" y="111439"/>
                </a:lnTo>
                <a:lnTo>
                  <a:pt x="920160" y="99755"/>
                </a:lnTo>
                <a:lnTo>
                  <a:pt x="969826" y="88804"/>
                </a:lnTo>
                <a:lnTo>
                  <a:pt x="1019647" y="78513"/>
                </a:lnTo>
                <a:lnTo>
                  <a:pt x="1069501" y="68812"/>
                </a:lnTo>
                <a:lnTo>
                  <a:pt x="1119264" y="59627"/>
                </a:lnTo>
                <a:lnTo>
                  <a:pt x="1168815" y="50889"/>
                </a:lnTo>
                <a:lnTo>
                  <a:pt x="1218032" y="42525"/>
                </a:lnTo>
                <a:lnTo>
                  <a:pt x="1266792" y="34463"/>
                </a:lnTo>
                <a:lnTo>
                  <a:pt x="1314973" y="26633"/>
                </a:lnTo>
                <a:lnTo>
                  <a:pt x="1362453" y="18961"/>
                </a:lnTo>
                <a:lnTo>
                  <a:pt x="1409109" y="11377"/>
                </a:lnTo>
                <a:lnTo>
                  <a:pt x="1454820" y="380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15587" y="3419855"/>
            <a:ext cx="264160" cy="358140"/>
          </a:xfrm>
          <a:custGeom>
            <a:avLst/>
            <a:gdLst/>
            <a:ahLst/>
            <a:cxnLst/>
            <a:rect l="l" t="t" r="r" b="b"/>
            <a:pathLst>
              <a:path w="264160" h="358139">
                <a:moveTo>
                  <a:pt x="263996" y="12192"/>
                </a:moveTo>
                <a:lnTo>
                  <a:pt x="262472" y="0"/>
                </a:lnTo>
                <a:lnTo>
                  <a:pt x="212142" y="6178"/>
                </a:lnTo>
                <a:lnTo>
                  <a:pt x="169769" y="18683"/>
                </a:lnTo>
                <a:lnTo>
                  <a:pt x="134287" y="37707"/>
                </a:lnTo>
                <a:lnTo>
                  <a:pt x="104630" y="63445"/>
                </a:lnTo>
                <a:lnTo>
                  <a:pt x="79735" y="96090"/>
                </a:lnTo>
                <a:lnTo>
                  <a:pt x="58536" y="135837"/>
                </a:lnTo>
                <a:lnTo>
                  <a:pt x="39968" y="182880"/>
                </a:lnTo>
                <a:lnTo>
                  <a:pt x="25576" y="230895"/>
                </a:lnTo>
                <a:lnTo>
                  <a:pt x="13710" y="281073"/>
                </a:lnTo>
                <a:lnTo>
                  <a:pt x="4010" y="332236"/>
                </a:lnTo>
                <a:lnTo>
                  <a:pt x="0" y="358140"/>
                </a:lnTo>
                <a:lnTo>
                  <a:pt x="12855" y="358140"/>
                </a:lnTo>
                <a:lnTo>
                  <a:pt x="16517" y="334329"/>
                </a:lnTo>
                <a:lnTo>
                  <a:pt x="25816" y="284177"/>
                </a:lnTo>
                <a:lnTo>
                  <a:pt x="37444" y="234756"/>
                </a:lnTo>
                <a:lnTo>
                  <a:pt x="52160" y="186690"/>
                </a:lnTo>
                <a:lnTo>
                  <a:pt x="73639" y="134215"/>
                </a:lnTo>
                <a:lnTo>
                  <a:pt x="97965" y="91973"/>
                </a:lnTo>
                <a:lnTo>
                  <a:pt x="127150" y="59307"/>
                </a:lnTo>
                <a:lnTo>
                  <a:pt x="163209" y="35560"/>
                </a:lnTo>
                <a:lnTo>
                  <a:pt x="208153" y="20073"/>
                </a:lnTo>
                <a:lnTo>
                  <a:pt x="263996" y="12192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672725" y="3777996"/>
            <a:ext cx="3843020" cy="756285"/>
          </a:xfrm>
          <a:custGeom>
            <a:avLst/>
            <a:gdLst/>
            <a:ahLst/>
            <a:cxnLst/>
            <a:rect l="l" t="t" r="r" b="b"/>
            <a:pathLst>
              <a:path w="3843020" h="756285">
                <a:moveTo>
                  <a:pt x="12192" y="742950"/>
                </a:moveTo>
                <a:lnTo>
                  <a:pt x="12192" y="0"/>
                </a:lnTo>
                <a:lnTo>
                  <a:pt x="0" y="0"/>
                </a:lnTo>
                <a:lnTo>
                  <a:pt x="0" y="755904"/>
                </a:lnTo>
                <a:lnTo>
                  <a:pt x="6095" y="755904"/>
                </a:lnTo>
                <a:lnTo>
                  <a:pt x="6096" y="742950"/>
                </a:lnTo>
                <a:lnTo>
                  <a:pt x="12192" y="742950"/>
                </a:lnTo>
                <a:close/>
              </a:path>
              <a:path w="3843020" h="756285">
                <a:moveTo>
                  <a:pt x="3836670" y="742950"/>
                </a:moveTo>
                <a:lnTo>
                  <a:pt x="6096" y="742950"/>
                </a:lnTo>
                <a:lnTo>
                  <a:pt x="12192" y="749808"/>
                </a:lnTo>
                <a:lnTo>
                  <a:pt x="12191" y="755904"/>
                </a:lnTo>
                <a:lnTo>
                  <a:pt x="3830561" y="755903"/>
                </a:lnTo>
                <a:lnTo>
                  <a:pt x="3830561" y="749807"/>
                </a:lnTo>
                <a:lnTo>
                  <a:pt x="3836670" y="742950"/>
                </a:lnTo>
                <a:close/>
              </a:path>
              <a:path w="3843020" h="756285">
                <a:moveTo>
                  <a:pt x="12191" y="755904"/>
                </a:moveTo>
                <a:lnTo>
                  <a:pt x="12192" y="749808"/>
                </a:lnTo>
                <a:lnTo>
                  <a:pt x="6096" y="742950"/>
                </a:lnTo>
                <a:lnTo>
                  <a:pt x="6095" y="755904"/>
                </a:lnTo>
                <a:lnTo>
                  <a:pt x="12191" y="755904"/>
                </a:lnTo>
                <a:close/>
              </a:path>
              <a:path w="3843020" h="756285">
                <a:moveTo>
                  <a:pt x="3842766" y="755903"/>
                </a:moveTo>
                <a:lnTo>
                  <a:pt x="3842766" y="0"/>
                </a:lnTo>
                <a:lnTo>
                  <a:pt x="3830561" y="0"/>
                </a:lnTo>
                <a:lnTo>
                  <a:pt x="3830561" y="742950"/>
                </a:lnTo>
                <a:lnTo>
                  <a:pt x="3836670" y="742950"/>
                </a:lnTo>
                <a:lnTo>
                  <a:pt x="3836670" y="755903"/>
                </a:lnTo>
                <a:lnTo>
                  <a:pt x="3842766" y="755903"/>
                </a:lnTo>
                <a:close/>
              </a:path>
              <a:path w="3843020" h="756285">
                <a:moveTo>
                  <a:pt x="3836670" y="755903"/>
                </a:moveTo>
                <a:lnTo>
                  <a:pt x="3836670" y="742950"/>
                </a:lnTo>
                <a:lnTo>
                  <a:pt x="3830561" y="749807"/>
                </a:lnTo>
                <a:lnTo>
                  <a:pt x="3830561" y="755903"/>
                </a:lnTo>
                <a:lnTo>
                  <a:pt x="3836670" y="7559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848989" y="4168140"/>
            <a:ext cx="1784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41063" y="4168140"/>
            <a:ext cx="1784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63609" y="4168140"/>
            <a:ext cx="1784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094332" y="4168140"/>
            <a:ext cx="1784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3365"/>
                </a:solidFill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644019" y="4277499"/>
            <a:ext cx="56877" cy="704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134747" y="4286250"/>
            <a:ext cx="44450" cy="57150"/>
          </a:xfrm>
          <a:custGeom>
            <a:avLst/>
            <a:gdLst/>
            <a:ahLst/>
            <a:cxnLst/>
            <a:rect l="l" t="t" r="r" b="b"/>
            <a:pathLst>
              <a:path w="44450" h="57150">
                <a:moveTo>
                  <a:pt x="44196" y="28955"/>
                </a:moveTo>
                <a:lnTo>
                  <a:pt x="42457" y="17680"/>
                </a:lnTo>
                <a:lnTo>
                  <a:pt x="37719" y="8477"/>
                </a:lnTo>
                <a:lnTo>
                  <a:pt x="30694" y="2274"/>
                </a:lnTo>
                <a:lnTo>
                  <a:pt x="22098" y="0"/>
                </a:lnTo>
                <a:lnTo>
                  <a:pt x="13501" y="2274"/>
                </a:lnTo>
                <a:lnTo>
                  <a:pt x="6477" y="8477"/>
                </a:lnTo>
                <a:lnTo>
                  <a:pt x="1738" y="17680"/>
                </a:lnTo>
                <a:lnTo>
                  <a:pt x="0" y="28955"/>
                </a:lnTo>
                <a:lnTo>
                  <a:pt x="1738" y="39790"/>
                </a:lnTo>
                <a:lnTo>
                  <a:pt x="6476" y="48767"/>
                </a:lnTo>
                <a:lnTo>
                  <a:pt x="13501" y="54887"/>
                </a:lnTo>
                <a:lnTo>
                  <a:pt x="22098" y="57150"/>
                </a:lnTo>
                <a:lnTo>
                  <a:pt x="30694" y="54887"/>
                </a:lnTo>
                <a:lnTo>
                  <a:pt x="37718" y="48768"/>
                </a:lnTo>
                <a:lnTo>
                  <a:pt x="42457" y="39790"/>
                </a:lnTo>
                <a:lnTo>
                  <a:pt x="44196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128651" y="4279327"/>
            <a:ext cx="56515" cy="70485"/>
          </a:xfrm>
          <a:custGeom>
            <a:avLst/>
            <a:gdLst/>
            <a:ahLst/>
            <a:cxnLst/>
            <a:rect l="l" t="t" r="r" b="b"/>
            <a:pathLst>
              <a:path w="56514" h="70485">
                <a:moveTo>
                  <a:pt x="1523" y="48070"/>
                </a:moveTo>
                <a:lnTo>
                  <a:pt x="1523" y="22924"/>
                </a:lnTo>
                <a:lnTo>
                  <a:pt x="0" y="28258"/>
                </a:lnTo>
                <a:lnTo>
                  <a:pt x="0" y="42736"/>
                </a:lnTo>
                <a:lnTo>
                  <a:pt x="1523" y="48070"/>
                </a:lnTo>
                <a:close/>
              </a:path>
              <a:path w="56514" h="70485">
                <a:moveTo>
                  <a:pt x="7619" y="59500"/>
                </a:moveTo>
                <a:lnTo>
                  <a:pt x="7619" y="11494"/>
                </a:lnTo>
                <a:lnTo>
                  <a:pt x="6857" y="12256"/>
                </a:lnTo>
                <a:lnTo>
                  <a:pt x="4571" y="16066"/>
                </a:lnTo>
                <a:lnTo>
                  <a:pt x="4571" y="16828"/>
                </a:lnTo>
                <a:lnTo>
                  <a:pt x="3809" y="16828"/>
                </a:lnTo>
                <a:lnTo>
                  <a:pt x="1523" y="22162"/>
                </a:lnTo>
                <a:lnTo>
                  <a:pt x="1523" y="49594"/>
                </a:lnTo>
                <a:lnTo>
                  <a:pt x="3809" y="54166"/>
                </a:lnTo>
                <a:lnTo>
                  <a:pt x="4571" y="54928"/>
                </a:lnTo>
                <a:lnTo>
                  <a:pt x="6857" y="59500"/>
                </a:lnTo>
                <a:lnTo>
                  <a:pt x="7619" y="59500"/>
                </a:lnTo>
                <a:close/>
              </a:path>
              <a:path w="56514" h="70485">
                <a:moveTo>
                  <a:pt x="48767" y="60262"/>
                </a:moveTo>
                <a:lnTo>
                  <a:pt x="48767" y="10732"/>
                </a:lnTo>
                <a:lnTo>
                  <a:pt x="44957" y="7684"/>
                </a:lnTo>
                <a:lnTo>
                  <a:pt x="44957" y="6922"/>
                </a:lnTo>
                <a:lnTo>
                  <a:pt x="44145" y="6881"/>
                </a:lnTo>
                <a:lnTo>
                  <a:pt x="40385" y="3874"/>
                </a:lnTo>
                <a:lnTo>
                  <a:pt x="39623" y="3874"/>
                </a:lnTo>
                <a:lnTo>
                  <a:pt x="38861" y="3112"/>
                </a:lnTo>
                <a:lnTo>
                  <a:pt x="35051" y="1588"/>
                </a:lnTo>
                <a:lnTo>
                  <a:pt x="33527" y="1588"/>
                </a:lnTo>
                <a:lnTo>
                  <a:pt x="28955" y="108"/>
                </a:lnTo>
                <a:lnTo>
                  <a:pt x="27431" y="0"/>
                </a:lnTo>
                <a:lnTo>
                  <a:pt x="22440" y="788"/>
                </a:lnTo>
                <a:lnTo>
                  <a:pt x="17525" y="3112"/>
                </a:lnTo>
                <a:lnTo>
                  <a:pt x="16763" y="3874"/>
                </a:lnTo>
                <a:lnTo>
                  <a:pt x="16001" y="3874"/>
                </a:lnTo>
                <a:lnTo>
                  <a:pt x="12242" y="6881"/>
                </a:lnTo>
                <a:lnTo>
                  <a:pt x="11429" y="6922"/>
                </a:lnTo>
                <a:lnTo>
                  <a:pt x="11429" y="7684"/>
                </a:lnTo>
                <a:lnTo>
                  <a:pt x="7619" y="10732"/>
                </a:lnTo>
                <a:lnTo>
                  <a:pt x="7619" y="60262"/>
                </a:lnTo>
                <a:lnTo>
                  <a:pt x="12191" y="64834"/>
                </a:lnTo>
                <a:lnTo>
                  <a:pt x="12191" y="31306"/>
                </a:lnTo>
                <a:lnTo>
                  <a:pt x="13715" y="25972"/>
                </a:lnTo>
                <a:lnTo>
                  <a:pt x="13715" y="26734"/>
                </a:lnTo>
                <a:lnTo>
                  <a:pt x="15239" y="23686"/>
                </a:lnTo>
                <a:lnTo>
                  <a:pt x="15239" y="22924"/>
                </a:lnTo>
                <a:lnTo>
                  <a:pt x="16763" y="20384"/>
                </a:lnTo>
                <a:lnTo>
                  <a:pt x="16763" y="19876"/>
                </a:lnTo>
                <a:lnTo>
                  <a:pt x="20573" y="16066"/>
                </a:lnTo>
                <a:lnTo>
                  <a:pt x="20573" y="16256"/>
                </a:lnTo>
                <a:lnTo>
                  <a:pt x="22859" y="14542"/>
                </a:lnTo>
                <a:lnTo>
                  <a:pt x="22859" y="14999"/>
                </a:lnTo>
                <a:lnTo>
                  <a:pt x="25145" y="14084"/>
                </a:lnTo>
                <a:lnTo>
                  <a:pt x="25145" y="13780"/>
                </a:lnTo>
                <a:lnTo>
                  <a:pt x="27431" y="13780"/>
                </a:lnTo>
                <a:lnTo>
                  <a:pt x="28193" y="13018"/>
                </a:lnTo>
                <a:lnTo>
                  <a:pt x="29717" y="13780"/>
                </a:lnTo>
                <a:lnTo>
                  <a:pt x="31241" y="13780"/>
                </a:lnTo>
                <a:lnTo>
                  <a:pt x="31241" y="14084"/>
                </a:lnTo>
                <a:lnTo>
                  <a:pt x="33527" y="14999"/>
                </a:lnTo>
                <a:lnTo>
                  <a:pt x="33527" y="14542"/>
                </a:lnTo>
                <a:lnTo>
                  <a:pt x="35813" y="16256"/>
                </a:lnTo>
                <a:lnTo>
                  <a:pt x="35813" y="16066"/>
                </a:lnTo>
                <a:lnTo>
                  <a:pt x="39623" y="19876"/>
                </a:lnTo>
                <a:lnTo>
                  <a:pt x="39623" y="20384"/>
                </a:lnTo>
                <a:lnTo>
                  <a:pt x="41147" y="22924"/>
                </a:lnTo>
                <a:lnTo>
                  <a:pt x="41147" y="23686"/>
                </a:lnTo>
                <a:lnTo>
                  <a:pt x="42671" y="26734"/>
                </a:lnTo>
                <a:lnTo>
                  <a:pt x="42671" y="25972"/>
                </a:lnTo>
                <a:lnTo>
                  <a:pt x="44195" y="31306"/>
                </a:lnTo>
                <a:lnTo>
                  <a:pt x="44195" y="64834"/>
                </a:lnTo>
                <a:lnTo>
                  <a:pt x="48767" y="60262"/>
                </a:lnTo>
                <a:close/>
              </a:path>
              <a:path w="56514" h="70485">
                <a:moveTo>
                  <a:pt x="12953" y="30544"/>
                </a:moveTo>
                <a:lnTo>
                  <a:pt x="12191" y="31306"/>
                </a:lnTo>
                <a:lnTo>
                  <a:pt x="12191" y="35116"/>
                </a:lnTo>
                <a:lnTo>
                  <a:pt x="12242" y="35522"/>
                </a:lnTo>
                <a:lnTo>
                  <a:pt x="12953" y="30544"/>
                </a:lnTo>
                <a:close/>
              </a:path>
              <a:path w="56514" h="70485">
                <a:moveTo>
                  <a:pt x="12242" y="35522"/>
                </a:moveTo>
                <a:lnTo>
                  <a:pt x="12191" y="35116"/>
                </a:lnTo>
                <a:lnTo>
                  <a:pt x="12191" y="35878"/>
                </a:lnTo>
                <a:lnTo>
                  <a:pt x="12242" y="35522"/>
                </a:lnTo>
                <a:close/>
              </a:path>
              <a:path w="56514" h="70485">
                <a:moveTo>
                  <a:pt x="12953" y="41212"/>
                </a:moveTo>
                <a:lnTo>
                  <a:pt x="12242" y="35522"/>
                </a:lnTo>
                <a:lnTo>
                  <a:pt x="12191" y="35878"/>
                </a:lnTo>
                <a:lnTo>
                  <a:pt x="12191" y="39688"/>
                </a:lnTo>
                <a:lnTo>
                  <a:pt x="12953" y="41212"/>
                </a:lnTo>
                <a:close/>
              </a:path>
              <a:path w="56514" h="70485">
                <a:moveTo>
                  <a:pt x="16001" y="48832"/>
                </a:moveTo>
                <a:lnTo>
                  <a:pt x="13715" y="44260"/>
                </a:lnTo>
                <a:lnTo>
                  <a:pt x="13715" y="45022"/>
                </a:lnTo>
                <a:lnTo>
                  <a:pt x="12191" y="39688"/>
                </a:lnTo>
                <a:lnTo>
                  <a:pt x="12191" y="64834"/>
                </a:lnTo>
                <a:lnTo>
                  <a:pt x="15239" y="66662"/>
                </a:lnTo>
                <a:lnTo>
                  <a:pt x="15239" y="48070"/>
                </a:lnTo>
                <a:lnTo>
                  <a:pt x="16001" y="48832"/>
                </a:lnTo>
                <a:close/>
              </a:path>
              <a:path w="56514" h="70485">
                <a:moveTo>
                  <a:pt x="16001" y="22162"/>
                </a:moveTo>
                <a:lnTo>
                  <a:pt x="15239" y="22924"/>
                </a:lnTo>
                <a:lnTo>
                  <a:pt x="15239" y="23686"/>
                </a:lnTo>
                <a:lnTo>
                  <a:pt x="16001" y="22162"/>
                </a:lnTo>
                <a:close/>
              </a:path>
              <a:path w="56514" h="70485">
                <a:moveTo>
                  <a:pt x="17525" y="67882"/>
                </a:moveTo>
                <a:lnTo>
                  <a:pt x="17525" y="52642"/>
                </a:lnTo>
                <a:lnTo>
                  <a:pt x="15239" y="48070"/>
                </a:lnTo>
                <a:lnTo>
                  <a:pt x="15239" y="66662"/>
                </a:lnTo>
                <a:lnTo>
                  <a:pt x="16001" y="67120"/>
                </a:lnTo>
                <a:lnTo>
                  <a:pt x="16763" y="67882"/>
                </a:lnTo>
                <a:lnTo>
                  <a:pt x="17525" y="67882"/>
                </a:lnTo>
                <a:close/>
              </a:path>
              <a:path w="56514" h="70485">
                <a:moveTo>
                  <a:pt x="17525" y="19114"/>
                </a:moveTo>
                <a:lnTo>
                  <a:pt x="16763" y="19876"/>
                </a:lnTo>
                <a:lnTo>
                  <a:pt x="16763" y="20384"/>
                </a:lnTo>
                <a:lnTo>
                  <a:pt x="17525" y="19114"/>
                </a:lnTo>
                <a:close/>
              </a:path>
              <a:path w="56514" h="70485">
                <a:moveTo>
                  <a:pt x="20573" y="54928"/>
                </a:moveTo>
                <a:lnTo>
                  <a:pt x="16763" y="51118"/>
                </a:lnTo>
                <a:lnTo>
                  <a:pt x="17525" y="52642"/>
                </a:lnTo>
                <a:lnTo>
                  <a:pt x="17525" y="67882"/>
                </a:lnTo>
                <a:lnTo>
                  <a:pt x="19050" y="68491"/>
                </a:lnTo>
                <a:lnTo>
                  <a:pt x="19050" y="54166"/>
                </a:lnTo>
                <a:lnTo>
                  <a:pt x="20573" y="54928"/>
                </a:lnTo>
                <a:close/>
              </a:path>
              <a:path w="56514" h="70485">
                <a:moveTo>
                  <a:pt x="22859" y="70168"/>
                </a:moveTo>
                <a:lnTo>
                  <a:pt x="22859" y="56452"/>
                </a:lnTo>
                <a:lnTo>
                  <a:pt x="19050" y="54166"/>
                </a:lnTo>
                <a:lnTo>
                  <a:pt x="19050" y="68491"/>
                </a:lnTo>
                <a:lnTo>
                  <a:pt x="21335" y="69406"/>
                </a:lnTo>
                <a:lnTo>
                  <a:pt x="22097" y="69406"/>
                </a:lnTo>
                <a:lnTo>
                  <a:pt x="22097" y="70168"/>
                </a:lnTo>
                <a:lnTo>
                  <a:pt x="22859" y="70168"/>
                </a:lnTo>
                <a:close/>
              </a:path>
              <a:path w="56514" h="70485">
                <a:moveTo>
                  <a:pt x="20573" y="16256"/>
                </a:moveTo>
                <a:lnTo>
                  <a:pt x="20573" y="16066"/>
                </a:lnTo>
                <a:lnTo>
                  <a:pt x="19811" y="16828"/>
                </a:lnTo>
                <a:lnTo>
                  <a:pt x="20573" y="16256"/>
                </a:lnTo>
                <a:close/>
              </a:path>
              <a:path w="56514" h="70485">
                <a:moveTo>
                  <a:pt x="22859" y="14999"/>
                </a:moveTo>
                <a:lnTo>
                  <a:pt x="22859" y="14542"/>
                </a:lnTo>
                <a:lnTo>
                  <a:pt x="22097" y="15304"/>
                </a:lnTo>
                <a:lnTo>
                  <a:pt x="22859" y="14999"/>
                </a:lnTo>
                <a:close/>
              </a:path>
              <a:path w="56514" h="70485">
                <a:moveTo>
                  <a:pt x="31241" y="57214"/>
                </a:moveTo>
                <a:lnTo>
                  <a:pt x="28955" y="57976"/>
                </a:lnTo>
                <a:lnTo>
                  <a:pt x="25907" y="57976"/>
                </a:lnTo>
                <a:lnTo>
                  <a:pt x="22097" y="55690"/>
                </a:lnTo>
                <a:lnTo>
                  <a:pt x="22859" y="56452"/>
                </a:lnTo>
                <a:lnTo>
                  <a:pt x="22859" y="70168"/>
                </a:lnTo>
                <a:lnTo>
                  <a:pt x="30479" y="70168"/>
                </a:lnTo>
                <a:lnTo>
                  <a:pt x="30479" y="57976"/>
                </a:lnTo>
                <a:lnTo>
                  <a:pt x="31241" y="57214"/>
                </a:lnTo>
                <a:close/>
              </a:path>
              <a:path w="56514" h="70485">
                <a:moveTo>
                  <a:pt x="25907" y="13780"/>
                </a:moveTo>
                <a:lnTo>
                  <a:pt x="25145" y="13780"/>
                </a:lnTo>
                <a:lnTo>
                  <a:pt x="25145" y="14084"/>
                </a:lnTo>
                <a:lnTo>
                  <a:pt x="25907" y="13780"/>
                </a:lnTo>
                <a:close/>
              </a:path>
              <a:path w="56514" h="70485">
                <a:moveTo>
                  <a:pt x="31241" y="14084"/>
                </a:moveTo>
                <a:lnTo>
                  <a:pt x="31241" y="13780"/>
                </a:lnTo>
                <a:lnTo>
                  <a:pt x="30479" y="13780"/>
                </a:lnTo>
                <a:lnTo>
                  <a:pt x="31241" y="14084"/>
                </a:lnTo>
                <a:close/>
              </a:path>
              <a:path w="56514" h="70485">
                <a:moveTo>
                  <a:pt x="34289" y="55690"/>
                </a:moveTo>
                <a:lnTo>
                  <a:pt x="30479" y="57976"/>
                </a:lnTo>
                <a:lnTo>
                  <a:pt x="30479" y="70168"/>
                </a:lnTo>
                <a:lnTo>
                  <a:pt x="33527" y="70168"/>
                </a:lnTo>
                <a:lnTo>
                  <a:pt x="33527" y="56452"/>
                </a:lnTo>
                <a:lnTo>
                  <a:pt x="34289" y="55690"/>
                </a:lnTo>
                <a:close/>
              </a:path>
              <a:path w="56514" h="70485">
                <a:moveTo>
                  <a:pt x="34289" y="15304"/>
                </a:moveTo>
                <a:lnTo>
                  <a:pt x="33527" y="14542"/>
                </a:lnTo>
                <a:lnTo>
                  <a:pt x="33527" y="14999"/>
                </a:lnTo>
                <a:lnTo>
                  <a:pt x="34289" y="15304"/>
                </a:lnTo>
                <a:close/>
              </a:path>
              <a:path w="56514" h="70485">
                <a:moveTo>
                  <a:pt x="37337" y="68491"/>
                </a:moveTo>
                <a:lnTo>
                  <a:pt x="37337" y="54166"/>
                </a:lnTo>
                <a:lnTo>
                  <a:pt x="33527" y="56452"/>
                </a:lnTo>
                <a:lnTo>
                  <a:pt x="33527" y="70168"/>
                </a:lnTo>
                <a:lnTo>
                  <a:pt x="34289" y="69406"/>
                </a:lnTo>
                <a:lnTo>
                  <a:pt x="35051" y="69406"/>
                </a:lnTo>
                <a:lnTo>
                  <a:pt x="37337" y="68491"/>
                </a:lnTo>
                <a:close/>
              </a:path>
              <a:path w="56514" h="70485">
                <a:moveTo>
                  <a:pt x="36575" y="16828"/>
                </a:moveTo>
                <a:lnTo>
                  <a:pt x="35813" y="16066"/>
                </a:lnTo>
                <a:lnTo>
                  <a:pt x="35813" y="16256"/>
                </a:lnTo>
                <a:lnTo>
                  <a:pt x="36575" y="16828"/>
                </a:lnTo>
                <a:close/>
              </a:path>
              <a:path w="56514" h="70485">
                <a:moveTo>
                  <a:pt x="39623" y="51118"/>
                </a:moveTo>
                <a:lnTo>
                  <a:pt x="35813" y="54928"/>
                </a:lnTo>
                <a:lnTo>
                  <a:pt x="37337" y="54166"/>
                </a:lnTo>
                <a:lnTo>
                  <a:pt x="37337" y="68491"/>
                </a:lnTo>
                <a:lnTo>
                  <a:pt x="38861" y="67882"/>
                </a:lnTo>
                <a:lnTo>
                  <a:pt x="38861" y="52642"/>
                </a:lnTo>
                <a:lnTo>
                  <a:pt x="39623" y="51118"/>
                </a:lnTo>
                <a:close/>
              </a:path>
              <a:path w="56514" h="70485">
                <a:moveTo>
                  <a:pt x="39623" y="20384"/>
                </a:moveTo>
                <a:lnTo>
                  <a:pt x="39623" y="19876"/>
                </a:lnTo>
                <a:lnTo>
                  <a:pt x="38861" y="19114"/>
                </a:lnTo>
                <a:lnTo>
                  <a:pt x="39623" y="20384"/>
                </a:lnTo>
                <a:close/>
              </a:path>
              <a:path w="56514" h="70485">
                <a:moveTo>
                  <a:pt x="41147" y="66662"/>
                </a:moveTo>
                <a:lnTo>
                  <a:pt x="41147" y="48070"/>
                </a:lnTo>
                <a:lnTo>
                  <a:pt x="38861" y="52642"/>
                </a:lnTo>
                <a:lnTo>
                  <a:pt x="38861" y="67882"/>
                </a:lnTo>
                <a:lnTo>
                  <a:pt x="39623" y="67882"/>
                </a:lnTo>
                <a:lnTo>
                  <a:pt x="40385" y="67120"/>
                </a:lnTo>
                <a:lnTo>
                  <a:pt x="41147" y="66662"/>
                </a:lnTo>
                <a:close/>
              </a:path>
              <a:path w="56514" h="70485">
                <a:moveTo>
                  <a:pt x="41147" y="23686"/>
                </a:moveTo>
                <a:lnTo>
                  <a:pt x="41147" y="22924"/>
                </a:lnTo>
                <a:lnTo>
                  <a:pt x="40385" y="22162"/>
                </a:lnTo>
                <a:lnTo>
                  <a:pt x="41147" y="23686"/>
                </a:lnTo>
                <a:close/>
              </a:path>
              <a:path w="56514" h="70485">
                <a:moveTo>
                  <a:pt x="44195" y="64834"/>
                </a:moveTo>
                <a:lnTo>
                  <a:pt x="44195" y="39688"/>
                </a:lnTo>
                <a:lnTo>
                  <a:pt x="42671" y="45022"/>
                </a:lnTo>
                <a:lnTo>
                  <a:pt x="42671" y="44260"/>
                </a:lnTo>
                <a:lnTo>
                  <a:pt x="40385" y="48832"/>
                </a:lnTo>
                <a:lnTo>
                  <a:pt x="41147" y="48070"/>
                </a:lnTo>
                <a:lnTo>
                  <a:pt x="41147" y="66662"/>
                </a:lnTo>
                <a:lnTo>
                  <a:pt x="44195" y="64834"/>
                </a:lnTo>
                <a:close/>
              </a:path>
              <a:path w="56514" h="70485">
                <a:moveTo>
                  <a:pt x="44195" y="35116"/>
                </a:moveTo>
                <a:lnTo>
                  <a:pt x="44195" y="31306"/>
                </a:lnTo>
                <a:lnTo>
                  <a:pt x="43433" y="30544"/>
                </a:lnTo>
                <a:lnTo>
                  <a:pt x="44145" y="35522"/>
                </a:lnTo>
                <a:lnTo>
                  <a:pt x="44195" y="35116"/>
                </a:lnTo>
                <a:close/>
              </a:path>
              <a:path w="56514" h="70485">
                <a:moveTo>
                  <a:pt x="44195" y="39688"/>
                </a:moveTo>
                <a:lnTo>
                  <a:pt x="44195" y="35878"/>
                </a:lnTo>
                <a:lnTo>
                  <a:pt x="44145" y="35522"/>
                </a:lnTo>
                <a:lnTo>
                  <a:pt x="43433" y="41212"/>
                </a:lnTo>
                <a:lnTo>
                  <a:pt x="44195" y="39688"/>
                </a:lnTo>
                <a:close/>
              </a:path>
              <a:path w="56514" h="70485">
                <a:moveTo>
                  <a:pt x="44195" y="35878"/>
                </a:moveTo>
                <a:lnTo>
                  <a:pt x="44195" y="35116"/>
                </a:lnTo>
                <a:lnTo>
                  <a:pt x="44145" y="35522"/>
                </a:lnTo>
                <a:lnTo>
                  <a:pt x="44195" y="35878"/>
                </a:lnTo>
                <a:close/>
              </a:path>
              <a:path w="56514" h="70485">
                <a:moveTo>
                  <a:pt x="54863" y="49594"/>
                </a:moveTo>
                <a:lnTo>
                  <a:pt x="54863" y="22162"/>
                </a:lnTo>
                <a:lnTo>
                  <a:pt x="52577" y="16828"/>
                </a:lnTo>
                <a:lnTo>
                  <a:pt x="51815" y="16828"/>
                </a:lnTo>
                <a:lnTo>
                  <a:pt x="51815" y="16066"/>
                </a:lnTo>
                <a:lnTo>
                  <a:pt x="49529" y="12256"/>
                </a:lnTo>
                <a:lnTo>
                  <a:pt x="48767" y="11494"/>
                </a:lnTo>
                <a:lnTo>
                  <a:pt x="48767" y="59500"/>
                </a:lnTo>
                <a:lnTo>
                  <a:pt x="49529" y="59500"/>
                </a:lnTo>
                <a:lnTo>
                  <a:pt x="51815" y="54928"/>
                </a:lnTo>
                <a:lnTo>
                  <a:pt x="52577" y="54166"/>
                </a:lnTo>
                <a:lnTo>
                  <a:pt x="54863" y="49594"/>
                </a:lnTo>
                <a:close/>
              </a:path>
              <a:path w="56514" h="70485">
                <a:moveTo>
                  <a:pt x="56387" y="42736"/>
                </a:moveTo>
                <a:lnTo>
                  <a:pt x="56387" y="28258"/>
                </a:lnTo>
                <a:lnTo>
                  <a:pt x="54863" y="22924"/>
                </a:lnTo>
                <a:lnTo>
                  <a:pt x="54863" y="48070"/>
                </a:lnTo>
                <a:lnTo>
                  <a:pt x="56387" y="42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612521" y="4277385"/>
            <a:ext cx="56871" cy="705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104523" y="3827526"/>
            <a:ext cx="57150" cy="701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257170" y="4154423"/>
            <a:ext cx="1188720" cy="327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Row u</a:t>
            </a:r>
            <a:r>
              <a:rPr sz="1800" b="1" spc="-7" baseline="-20833" dirty="0">
                <a:solidFill>
                  <a:srgbClr val="003365"/>
                </a:solidFill>
                <a:latin typeface="Arial"/>
                <a:cs typeface="Arial"/>
              </a:rPr>
              <a:t>1</a:t>
            </a:r>
            <a:r>
              <a:rPr sz="1800" b="1" spc="-135" baseline="-20833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1800" b="1" spc="245" dirty="0">
                <a:solidFill>
                  <a:srgbClr val="003365"/>
                </a:solidFill>
                <a:latin typeface="Arial"/>
                <a:cs typeface="Arial"/>
              </a:rPr>
              <a:t>-1</a:t>
            </a: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095289" y="3777996"/>
            <a:ext cx="127635" cy="857250"/>
          </a:xfrm>
          <a:custGeom>
            <a:avLst/>
            <a:gdLst/>
            <a:ahLst/>
            <a:cxnLst/>
            <a:rect l="l" t="t" r="r" b="b"/>
            <a:pathLst>
              <a:path w="127635" h="857250">
                <a:moveTo>
                  <a:pt x="127088" y="0"/>
                </a:moveTo>
                <a:lnTo>
                  <a:pt x="113471" y="0"/>
                </a:lnTo>
                <a:lnTo>
                  <a:pt x="100119" y="37810"/>
                </a:lnTo>
                <a:lnTo>
                  <a:pt x="83943" y="86679"/>
                </a:lnTo>
                <a:lnTo>
                  <a:pt x="68676" y="135636"/>
                </a:lnTo>
                <a:lnTo>
                  <a:pt x="53027" y="183859"/>
                </a:lnTo>
                <a:lnTo>
                  <a:pt x="39727" y="232194"/>
                </a:lnTo>
                <a:lnTo>
                  <a:pt x="28627" y="280640"/>
                </a:lnTo>
                <a:lnTo>
                  <a:pt x="19581" y="329197"/>
                </a:lnTo>
                <a:lnTo>
                  <a:pt x="12441" y="377864"/>
                </a:lnTo>
                <a:lnTo>
                  <a:pt x="7060" y="426643"/>
                </a:lnTo>
                <a:lnTo>
                  <a:pt x="3291" y="475532"/>
                </a:lnTo>
                <a:lnTo>
                  <a:pt x="986" y="524532"/>
                </a:lnTo>
                <a:lnTo>
                  <a:pt x="0" y="573642"/>
                </a:lnTo>
                <a:lnTo>
                  <a:pt x="183" y="622862"/>
                </a:lnTo>
                <a:lnTo>
                  <a:pt x="1390" y="672193"/>
                </a:lnTo>
                <a:lnTo>
                  <a:pt x="3473" y="721634"/>
                </a:lnTo>
                <a:lnTo>
                  <a:pt x="6285" y="771184"/>
                </a:lnTo>
                <a:lnTo>
                  <a:pt x="12478" y="857250"/>
                </a:lnTo>
                <a:lnTo>
                  <a:pt x="12681" y="857250"/>
                </a:lnTo>
                <a:lnTo>
                  <a:pt x="12681" y="574543"/>
                </a:lnTo>
                <a:lnTo>
                  <a:pt x="13797" y="525846"/>
                </a:lnTo>
                <a:lnTo>
                  <a:pt x="16212" y="477255"/>
                </a:lnTo>
                <a:lnTo>
                  <a:pt x="20052" y="428761"/>
                </a:lnTo>
                <a:lnTo>
                  <a:pt x="25444" y="380357"/>
                </a:lnTo>
                <a:lnTo>
                  <a:pt x="32513" y="332037"/>
                </a:lnTo>
                <a:lnTo>
                  <a:pt x="41388" y="283794"/>
                </a:lnTo>
                <a:lnTo>
                  <a:pt x="52193" y="235618"/>
                </a:lnTo>
                <a:lnTo>
                  <a:pt x="65057" y="187505"/>
                </a:lnTo>
                <a:lnTo>
                  <a:pt x="95843" y="90676"/>
                </a:lnTo>
                <a:lnTo>
                  <a:pt x="112161" y="42144"/>
                </a:lnTo>
                <a:lnTo>
                  <a:pt x="127088" y="0"/>
                </a:lnTo>
                <a:close/>
              </a:path>
              <a:path w="127635" h="857250">
                <a:moveTo>
                  <a:pt x="25170" y="857250"/>
                </a:moveTo>
                <a:lnTo>
                  <a:pt x="18663" y="770526"/>
                </a:lnTo>
                <a:lnTo>
                  <a:pt x="15853" y="721336"/>
                </a:lnTo>
                <a:lnTo>
                  <a:pt x="13835" y="672281"/>
                </a:lnTo>
                <a:lnTo>
                  <a:pt x="12735" y="623352"/>
                </a:lnTo>
                <a:lnTo>
                  <a:pt x="12681" y="574543"/>
                </a:lnTo>
                <a:lnTo>
                  <a:pt x="12681" y="857250"/>
                </a:lnTo>
                <a:lnTo>
                  <a:pt x="25170" y="85725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322967" y="3777996"/>
            <a:ext cx="106045" cy="857250"/>
          </a:xfrm>
          <a:custGeom>
            <a:avLst/>
            <a:gdLst/>
            <a:ahLst/>
            <a:cxnLst/>
            <a:rect l="l" t="t" r="r" b="b"/>
            <a:pathLst>
              <a:path w="106045" h="857250">
                <a:moveTo>
                  <a:pt x="31794" y="849377"/>
                </a:moveTo>
                <a:lnTo>
                  <a:pt x="0" y="848105"/>
                </a:lnTo>
                <a:lnTo>
                  <a:pt x="4123" y="857250"/>
                </a:lnTo>
                <a:lnTo>
                  <a:pt x="31445" y="857250"/>
                </a:lnTo>
                <a:lnTo>
                  <a:pt x="31794" y="849377"/>
                </a:lnTo>
                <a:close/>
              </a:path>
              <a:path w="106045" h="857250">
                <a:moveTo>
                  <a:pt x="44691" y="849893"/>
                </a:moveTo>
                <a:lnTo>
                  <a:pt x="31794" y="849377"/>
                </a:lnTo>
                <a:lnTo>
                  <a:pt x="31445" y="857250"/>
                </a:lnTo>
                <a:lnTo>
                  <a:pt x="44403" y="857250"/>
                </a:lnTo>
                <a:lnTo>
                  <a:pt x="44691" y="849893"/>
                </a:lnTo>
                <a:close/>
              </a:path>
              <a:path w="106045" h="857250">
                <a:moveTo>
                  <a:pt x="105474" y="0"/>
                </a:moveTo>
                <a:lnTo>
                  <a:pt x="92619" y="0"/>
                </a:lnTo>
                <a:lnTo>
                  <a:pt x="88738" y="25069"/>
                </a:lnTo>
                <a:lnTo>
                  <a:pt x="82295" y="74675"/>
                </a:lnTo>
                <a:lnTo>
                  <a:pt x="76482" y="123325"/>
                </a:lnTo>
                <a:lnTo>
                  <a:pt x="71233" y="172152"/>
                </a:lnTo>
                <a:lnTo>
                  <a:pt x="66501" y="221135"/>
                </a:lnTo>
                <a:lnTo>
                  <a:pt x="58408" y="319474"/>
                </a:lnTo>
                <a:lnTo>
                  <a:pt x="49006" y="467587"/>
                </a:lnTo>
                <a:lnTo>
                  <a:pt x="31794" y="849377"/>
                </a:lnTo>
                <a:lnTo>
                  <a:pt x="44691" y="849893"/>
                </a:lnTo>
                <a:lnTo>
                  <a:pt x="59020" y="518141"/>
                </a:lnTo>
                <a:lnTo>
                  <a:pt x="67844" y="370260"/>
                </a:lnTo>
                <a:lnTo>
                  <a:pt x="75182" y="271886"/>
                </a:lnTo>
                <a:lnTo>
                  <a:pt x="83979" y="173826"/>
                </a:lnTo>
                <a:lnTo>
                  <a:pt x="94487" y="76200"/>
                </a:lnTo>
                <a:lnTo>
                  <a:pt x="101406" y="26450"/>
                </a:lnTo>
                <a:lnTo>
                  <a:pt x="105474" y="0"/>
                </a:lnTo>
                <a:close/>
              </a:path>
              <a:path w="106045" h="857250">
                <a:moveTo>
                  <a:pt x="76200" y="851153"/>
                </a:moveTo>
                <a:lnTo>
                  <a:pt x="44691" y="849893"/>
                </a:lnTo>
                <a:lnTo>
                  <a:pt x="44403" y="857250"/>
                </a:lnTo>
                <a:lnTo>
                  <a:pt x="72840" y="857250"/>
                </a:lnTo>
                <a:lnTo>
                  <a:pt x="76200" y="851153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507871" y="4277105"/>
            <a:ext cx="843915" cy="358140"/>
          </a:xfrm>
          <a:custGeom>
            <a:avLst/>
            <a:gdLst/>
            <a:ahLst/>
            <a:cxnLst/>
            <a:rect l="l" t="t" r="r" b="b"/>
            <a:pathLst>
              <a:path w="843915" h="358139">
                <a:moveTo>
                  <a:pt x="843419" y="358140"/>
                </a:moveTo>
                <a:lnTo>
                  <a:pt x="814843" y="330598"/>
                </a:lnTo>
                <a:lnTo>
                  <a:pt x="779943" y="301850"/>
                </a:lnTo>
                <a:lnTo>
                  <a:pt x="742191" y="274846"/>
                </a:lnTo>
                <a:lnTo>
                  <a:pt x="701897" y="249487"/>
                </a:lnTo>
                <a:lnTo>
                  <a:pt x="659371" y="225676"/>
                </a:lnTo>
                <a:lnTo>
                  <a:pt x="614923" y="203315"/>
                </a:lnTo>
                <a:lnTo>
                  <a:pt x="568862" y="182306"/>
                </a:lnTo>
                <a:lnTo>
                  <a:pt x="521497" y="162550"/>
                </a:lnTo>
                <a:lnTo>
                  <a:pt x="473139" y="143951"/>
                </a:lnTo>
                <a:lnTo>
                  <a:pt x="424097" y="126410"/>
                </a:lnTo>
                <a:lnTo>
                  <a:pt x="374681" y="109829"/>
                </a:lnTo>
                <a:lnTo>
                  <a:pt x="325201" y="94111"/>
                </a:lnTo>
                <a:lnTo>
                  <a:pt x="275966" y="79156"/>
                </a:lnTo>
                <a:lnTo>
                  <a:pt x="227285" y="64869"/>
                </a:lnTo>
                <a:lnTo>
                  <a:pt x="179470" y="51149"/>
                </a:lnTo>
                <a:lnTo>
                  <a:pt x="132829" y="37901"/>
                </a:lnTo>
                <a:lnTo>
                  <a:pt x="87671" y="25025"/>
                </a:lnTo>
                <a:lnTo>
                  <a:pt x="44308" y="12424"/>
                </a:lnTo>
                <a:lnTo>
                  <a:pt x="3047" y="0"/>
                </a:lnTo>
                <a:lnTo>
                  <a:pt x="0" y="12192"/>
                </a:lnTo>
                <a:lnTo>
                  <a:pt x="39002" y="23856"/>
                </a:lnTo>
                <a:lnTo>
                  <a:pt x="81084" y="36012"/>
                </a:lnTo>
                <a:lnTo>
                  <a:pt x="172759" y="62071"/>
                </a:lnTo>
                <a:lnTo>
                  <a:pt x="221488" y="76111"/>
                </a:lnTo>
                <a:lnTo>
                  <a:pt x="271568" y="90915"/>
                </a:lnTo>
                <a:lnTo>
                  <a:pt x="322566" y="106552"/>
                </a:lnTo>
                <a:lnTo>
                  <a:pt x="374051" y="123090"/>
                </a:lnTo>
                <a:lnTo>
                  <a:pt x="425590" y="140598"/>
                </a:lnTo>
                <a:lnTo>
                  <a:pt x="476751" y="159144"/>
                </a:lnTo>
                <a:lnTo>
                  <a:pt x="527101" y="178797"/>
                </a:lnTo>
                <a:lnTo>
                  <a:pt x="576209" y="199624"/>
                </a:lnTo>
                <a:lnTo>
                  <a:pt x="623642" y="221694"/>
                </a:lnTo>
                <a:lnTo>
                  <a:pt x="668967" y="245076"/>
                </a:lnTo>
                <a:lnTo>
                  <a:pt x="711753" y="269837"/>
                </a:lnTo>
                <a:lnTo>
                  <a:pt x="751567" y="296046"/>
                </a:lnTo>
                <a:lnTo>
                  <a:pt x="787977" y="323773"/>
                </a:lnTo>
                <a:lnTo>
                  <a:pt x="820550" y="353083"/>
                </a:lnTo>
                <a:lnTo>
                  <a:pt x="825172" y="358140"/>
                </a:lnTo>
                <a:lnTo>
                  <a:pt x="843419" y="35814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857641" y="5334000"/>
            <a:ext cx="1232535" cy="158750"/>
          </a:xfrm>
          <a:custGeom>
            <a:avLst/>
            <a:gdLst/>
            <a:ahLst/>
            <a:cxnLst/>
            <a:rect l="l" t="t" r="r" b="b"/>
            <a:pathLst>
              <a:path w="1232535" h="158750">
                <a:moveTo>
                  <a:pt x="1232154" y="158496"/>
                </a:moveTo>
                <a:lnTo>
                  <a:pt x="1232154" y="0"/>
                </a:lnTo>
                <a:lnTo>
                  <a:pt x="0" y="0"/>
                </a:lnTo>
                <a:lnTo>
                  <a:pt x="0" y="158496"/>
                </a:lnTo>
                <a:lnTo>
                  <a:pt x="6858" y="158496"/>
                </a:lnTo>
                <a:lnTo>
                  <a:pt x="6858" y="12953"/>
                </a:lnTo>
                <a:lnTo>
                  <a:pt x="12954" y="6096"/>
                </a:lnTo>
                <a:lnTo>
                  <a:pt x="12954" y="12953"/>
                </a:lnTo>
                <a:lnTo>
                  <a:pt x="1219200" y="12953"/>
                </a:lnTo>
                <a:lnTo>
                  <a:pt x="1219200" y="6096"/>
                </a:lnTo>
                <a:lnTo>
                  <a:pt x="1226058" y="12953"/>
                </a:lnTo>
                <a:lnTo>
                  <a:pt x="1226058" y="158496"/>
                </a:lnTo>
                <a:lnTo>
                  <a:pt x="1232154" y="158496"/>
                </a:lnTo>
                <a:close/>
              </a:path>
              <a:path w="1232535" h="158750">
                <a:moveTo>
                  <a:pt x="12954" y="12953"/>
                </a:moveTo>
                <a:lnTo>
                  <a:pt x="12954" y="6096"/>
                </a:lnTo>
                <a:lnTo>
                  <a:pt x="6858" y="12953"/>
                </a:lnTo>
                <a:lnTo>
                  <a:pt x="12954" y="12953"/>
                </a:lnTo>
                <a:close/>
              </a:path>
              <a:path w="1232535" h="158750">
                <a:moveTo>
                  <a:pt x="12954" y="158496"/>
                </a:moveTo>
                <a:lnTo>
                  <a:pt x="12954" y="12953"/>
                </a:lnTo>
                <a:lnTo>
                  <a:pt x="6858" y="12953"/>
                </a:lnTo>
                <a:lnTo>
                  <a:pt x="6858" y="158496"/>
                </a:lnTo>
                <a:lnTo>
                  <a:pt x="12954" y="158496"/>
                </a:lnTo>
                <a:close/>
              </a:path>
              <a:path w="1232535" h="158750">
                <a:moveTo>
                  <a:pt x="1226058" y="12953"/>
                </a:moveTo>
                <a:lnTo>
                  <a:pt x="1219200" y="6096"/>
                </a:lnTo>
                <a:lnTo>
                  <a:pt x="1219200" y="12953"/>
                </a:lnTo>
                <a:lnTo>
                  <a:pt x="1226058" y="12953"/>
                </a:lnTo>
                <a:close/>
              </a:path>
              <a:path w="1232535" h="158750">
                <a:moveTo>
                  <a:pt x="1226058" y="158496"/>
                </a:moveTo>
                <a:lnTo>
                  <a:pt x="1226058" y="12953"/>
                </a:lnTo>
                <a:lnTo>
                  <a:pt x="1219200" y="12953"/>
                </a:lnTo>
                <a:lnTo>
                  <a:pt x="1219200" y="158496"/>
                </a:lnTo>
                <a:lnTo>
                  <a:pt x="1226058" y="158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083699" y="5334000"/>
            <a:ext cx="1231900" cy="158750"/>
          </a:xfrm>
          <a:custGeom>
            <a:avLst/>
            <a:gdLst/>
            <a:ahLst/>
            <a:cxnLst/>
            <a:rect l="l" t="t" r="r" b="b"/>
            <a:pathLst>
              <a:path w="1231900" h="158750">
                <a:moveTo>
                  <a:pt x="1231391" y="158496"/>
                </a:moveTo>
                <a:lnTo>
                  <a:pt x="1231391" y="0"/>
                </a:lnTo>
                <a:lnTo>
                  <a:pt x="0" y="0"/>
                </a:lnTo>
                <a:lnTo>
                  <a:pt x="0" y="158496"/>
                </a:lnTo>
                <a:lnTo>
                  <a:pt x="6095" y="158496"/>
                </a:lnTo>
                <a:lnTo>
                  <a:pt x="6095" y="12953"/>
                </a:lnTo>
                <a:lnTo>
                  <a:pt x="12191" y="6096"/>
                </a:lnTo>
                <a:lnTo>
                  <a:pt x="12191" y="12953"/>
                </a:lnTo>
                <a:lnTo>
                  <a:pt x="1219199" y="12953"/>
                </a:lnTo>
                <a:lnTo>
                  <a:pt x="1219199" y="6096"/>
                </a:lnTo>
                <a:lnTo>
                  <a:pt x="1225295" y="12953"/>
                </a:lnTo>
                <a:lnTo>
                  <a:pt x="1225295" y="158496"/>
                </a:lnTo>
                <a:lnTo>
                  <a:pt x="1231391" y="158496"/>
                </a:lnTo>
                <a:close/>
              </a:path>
              <a:path w="1231900" h="158750">
                <a:moveTo>
                  <a:pt x="12191" y="12953"/>
                </a:moveTo>
                <a:lnTo>
                  <a:pt x="12191" y="6096"/>
                </a:lnTo>
                <a:lnTo>
                  <a:pt x="6095" y="12953"/>
                </a:lnTo>
                <a:lnTo>
                  <a:pt x="12191" y="12953"/>
                </a:lnTo>
                <a:close/>
              </a:path>
              <a:path w="1231900" h="158750">
                <a:moveTo>
                  <a:pt x="12191" y="158496"/>
                </a:moveTo>
                <a:lnTo>
                  <a:pt x="12191" y="12953"/>
                </a:lnTo>
                <a:lnTo>
                  <a:pt x="6095" y="12953"/>
                </a:lnTo>
                <a:lnTo>
                  <a:pt x="6095" y="158496"/>
                </a:lnTo>
                <a:lnTo>
                  <a:pt x="12191" y="158496"/>
                </a:lnTo>
                <a:close/>
              </a:path>
              <a:path w="1231900" h="158750">
                <a:moveTo>
                  <a:pt x="1225295" y="12953"/>
                </a:moveTo>
                <a:lnTo>
                  <a:pt x="1219199" y="6096"/>
                </a:lnTo>
                <a:lnTo>
                  <a:pt x="1219199" y="12953"/>
                </a:lnTo>
                <a:lnTo>
                  <a:pt x="1225295" y="12953"/>
                </a:lnTo>
                <a:close/>
              </a:path>
              <a:path w="1231900" h="158750">
                <a:moveTo>
                  <a:pt x="1225295" y="158496"/>
                </a:moveTo>
                <a:lnTo>
                  <a:pt x="1225295" y="12953"/>
                </a:lnTo>
                <a:lnTo>
                  <a:pt x="1219199" y="12953"/>
                </a:lnTo>
                <a:lnTo>
                  <a:pt x="1219199" y="158496"/>
                </a:lnTo>
                <a:lnTo>
                  <a:pt x="1225295" y="158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69343" y="5340096"/>
            <a:ext cx="1219200" cy="152400"/>
          </a:xfrm>
          <a:custGeom>
            <a:avLst/>
            <a:gdLst/>
            <a:ahLst/>
            <a:cxnLst/>
            <a:rect l="l" t="t" r="r" b="b"/>
            <a:pathLst>
              <a:path w="1219200" h="152400">
                <a:moveTo>
                  <a:pt x="0" y="0"/>
                </a:moveTo>
                <a:lnTo>
                  <a:pt x="0" y="152400"/>
                </a:lnTo>
                <a:lnTo>
                  <a:pt x="1219199" y="152400"/>
                </a:lnTo>
                <a:lnTo>
                  <a:pt x="12191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563247" y="5334000"/>
            <a:ext cx="1231900" cy="158750"/>
          </a:xfrm>
          <a:custGeom>
            <a:avLst/>
            <a:gdLst/>
            <a:ahLst/>
            <a:cxnLst/>
            <a:rect l="l" t="t" r="r" b="b"/>
            <a:pathLst>
              <a:path w="1231900" h="158750">
                <a:moveTo>
                  <a:pt x="1231391" y="158496"/>
                </a:moveTo>
                <a:lnTo>
                  <a:pt x="1231391" y="0"/>
                </a:lnTo>
                <a:lnTo>
                  <a:pt x="0" y="0"/>
                </a:lnTo>
                <a:lnTo>
                  <a:pt x="0" y="158496"/>
                </a:lnTo>
                <a:lnTo>
                  <a:pt x="6096" y="158496"/>
                </a:lnTo>
                <a:lnTo>
                  <a:pt x="6096" y="12954"/>
                </a:lnTo>
                <a:lnTo>
                  <a:pt x="12192" y="6096"/>
                </a:lnTo>
                <a:lnTo>
                  <a:pt x="12192" y="12954"/>
                </a:lnTo>
                <a:lnTo>
                  <a:pt x="1219187" y="12953"/>
                </a:lnTo>
                <a:lnTo>
                  <a:pt x="1219187" y="6096"/>
                </a:lnTo>
                <a:lnTo>
                  <a:pt x="1225295" y="12953"/>
                </a:lnTo>
                <a:lnTo>
                  <a:pt x="1225295" y="158496"/>
                </a:lnTo>
                <a:lnTo>
                  <a:pt x="1231391" y="158496"/>
                </a:lnTo>
                <a:close/>
              </a:path>
              <a:path w="1231900" h="158750">
                <a:moveTo>
                  <a:pt x="12192" y="12954"/>
                </a:moveTo>
                <a:lnTo>
                  <a:pt x="12192" y="6096"/>
                </a:lnTo>
                <a:lnTo>
                  <a:pt x="6096" y="12954"/>
                </a:lnTo>
                <a:lnTo>
                  <a:pt x="12192" y="12954"/>
                </a:lnTo>
                <a:close/>
              </a:path>
              <a:path w="1231900" h="158750">
                <a:moveTo>
                  <a:pt x="12192" y="158496"/>
                </a:moveTo>
                <a:lnTo>
                  <a:pt x="12192" y="12954"/>
                </a:lnTo>
                <a:lnTo>
                  <a:pt x="6096" y="12954"/>
                </a:lnTo>
                <a:lnTo>
                  <a:pt x="6096" y="158496"/>
                </a:lnTo>
                <a:lnTo>
                  <a:pt x="12192" y="158496"/>
                </a:lnTo>
                <a:close/>
              </a:path>
              <a:path w="1231900" h="158750">
                <a:moveTo>
                  <a:pt x="1225295" y="12953"/>
                </a:moveTo>
                <a:lnTo>
                  <a:pt x="1219187" y="6096"/>
                </a:lnTo>
                <a:lnTo>
                  <a:pt x="1219187" y="12953"/>
                </a:lnTo>
                <a:lnTo>
                  <a:pt x="1225295" y="12953"/>
                </a:lnTo>
                <a:close/>
              </a:path>
              <a:path w="1231900" h="158750">
                <a:moveTo>
                  <a:pt x="1225295" y="158496"/>
                </a:moveTo>
                <a:lnTo>
                  <a:pt x="1225295" y="12953"/>
                </a:lnTo>
                <a:lnTo>
                  <a:pt x="1219187" y="12953"/>
                </a:lnTo>
                <a:lnTo>
                  <a:pt x="1219187" y="158496"/>
                </a:lnTo>
                <a:lnTo>
                  <a:pt x="1225295" y="158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808086" y="5338571"/>
            <a:ext cx="1219200" cy="154305"/>
          </a:xfrm>
          <a:custGeom>
            <a:avLst/>
            <a:gdLst/>
            <a:ahLst/>
            <a:cxnLst/>
            <a:rect l="l" t="t" r="r" b="b"/>
            <a:pathLst>
              <a:path w="1219200" h="154304">
                <a:moveTo>
                  <a:pt x="0" y="0"/>
                </a:moveTo>
                <a:lnTo>
                  <a:pt x="0" y="153924"/>
                </a:lnTo>
                <a:lnTo>
                  <a:pt x="1219200" y="153924"/>
                </a:lnTo>
                <a:lnTo>
                  <a:pt x="1219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801241" y="5332476"/>
            <a:ext cx="1232535" cy="160020"/>
          </a:xfrm>
          <a:custGeom>
            <a:avLst/>
            <a:gdLst/>
            <a:ahLst/>
            <a:cxnLst/>
            <a:rect l="l" t="t" r="r" b="b"/>
            <a:pathLst>
              <a:path w="1232534" h="160020">
                <a:moveTo>
                  <a:pt x="1232153" y="160020"/>
                </a:moveTo>
                <a:lnTo>
                  <a:pt x="1232153" y="0"/>
                </a:lnTo>
                <a:lnTo>
                  <a:pt x="0" y="0"/>
                </a:lnTo>
                <a:lnTo>
                  <a:pt x="0" y="160020"/>
                </a:lnTo>
                <a:lnTo>
                  <a:pt x="6845" y="160020"/>
                </a:lnTo>
                <a:lnTo>
                  <a:pt x="6845" y="12953"/>
                </a:lnTo>
                <a:lnTo>
                  <a:pt x="12954" y="6096"/>
                </a:lnTo>
                <a:lnTo>
                  <a:pt x="12954" y="12953"/>
                </a:lnTo>
                <a:lnTo>
                  <a:pt x="1219200" y="12953"/>
                </a:lnTo>
                <a:lnTo>
                  <a:pt x="1219200" y="6096"/>
                </a:lnTo>
                <a:lnTo>
                  <a:pt x="1226058" y="12953"/>
                </a:lnTo>
                <a:lnTo>
                  <a:pt x="1226058" y="160020"/>
                </a:lnTo>
                <a:lnTo>
                  <a:pt x="1232153" y="160020"/>
                </a:lnTo>
                <a:close/>
              </a:path>
              <a:path w="1232534" h="160020">
                <a:moveTo>
                  <a:pt x="12954" y="12953"/>
                </a:moveTo>
                <a:lnTo>
                  <a:pt x="12954" y="6096"/>
                </a:lnTo>
                <a:lnTo>
                  <a:pt x="6845" y="12953"/>
                </a:lnTo>
                <a:lnTo>
                  <a:pt x="12954" y="12953"/>
                </a:lnTo>
                <a:close/>
              </a:path>
              <a:path w="1232534" h="160020">
                <a:moveTo>
                  <a:pt x="12954" y="160020"/>
                </a:moveTo>
                <a:lnTo>
                  <a:pt x="12954" y="12953"/>
                </a:lnTo>
                <a:lnTo>
                  <a:pt x="6845" y="12953"/>
                </a:lnTo>
                <a:lnTo>
                  <a:pt x="6845" y="160020"/>
                </a:lnTo>
                <a:lnTo>
                  <a:pt x="12954" y="160020"/>
                </a:lnTo>
                <a:close/>
              </a:path>
              <a:path w="1232534" h="160020">
                <a:moveTo>
                  <a:pt x="1226058" y="12953"/>
                </a:moveTo>
                <a:lnTo>
                  <a:pt x="1219200" y="6096"/>
                </a:lnTo>
                <a:lnTo>
                  <a:pt x="1219200" y="12953"/>
                </a:lnTo>
                <a:lnTo>
                  <a:pt x="1226058" y="12953"/>
                </a:lnTo>
                <a:close/>
              </a:path>
              <a:path w="1232534" h="160020">
                <a:moveTo>
                  <a:pt x="1226058" y="160020"/>
                </a:moveTo>
                <a:lnTo>
                  <a:pt x="1226058" y="12953"/>
                </a:lnTo>
                <a:lnTo>
                  <a:pt x="1219200" y="12953"/>
                </a:lnTo>
                <a:lnTo>
                  <a:pt x="1219200" y="160020"/>
                </a:lnTo>
                <a:lnTo>
                  <a:pt x="1226058" y="1600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562866" y="4787646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562866" y="4876800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556389" y="4991100"/>
            <a:ext cx="13335" cy="0"/>
          </a:xfrm>
          <a:custGeom>
            <a:avLst/>
            <a:gdLst/>
            <a:ahLst/>
            <a:cxnLst/>
            <a:rect l="l" t="t" r="r" b="b"/>
            <a:pathLst>
              <a:path w="13335">
                <a:moveTo>
                  <a:pt x="0" y="0"/>
                </a:moveTo>
                <a:lnTo>
                  <a:pt x="12953" y="0"/>
                </a:lnTo>
              </a:path>
            </a:pathLst>
          </a:custGeom>
          <a:ln w="50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562866" y="5054346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5562866" y="5143500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556389" y="5257800"/>
            <a:ext cx="13335" cy="0"/>
          </a:xfrm>
          <a:custGeom>
            <a:avLst/>
            <a:gdLst/>
            <a:ahLst/>
            <a:cxnLst/>
            <a:rect l="l" t="t" r="r" b="b"/>
            <a:pathLst>
              <a:path w="13335">
                <a:moveTo>
                  <a:pt x="0" y="0"/>
                </a:moveTo>
                <a:lnTo>
                  <a:pt x="12953" y="0"/>
                </a:lnTo>
              </a:path>
            </a:pathLst>
          </a:custGeom>
          <a:ln w="50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562866" y="5321046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562866" y="5410200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080145" y="4635246"/>
            <a:ext cx="76200" cy="125730"/>
          </a:xfrm>
          <a:custGeom>
            <a:avLst/>
            <a:gdLst/>
            <a:ahLst/>
            <a:cxnLst/>
            <a:rect l="l" t="t" r="r" b="b"/>
            <a:pathLst>
              <a:path w="76200" h="125729">
                <a:moveTo>
                  <a:pt x="45719" y="121956"/>
                </a:moveTo>
                <a:lnTo>
                  <a:pt x="45719" y="61721"/>
                </a:lnTo>
                <a:lnTo>
                  <a:pt x="32766" y="63245"/>
                </a:lnTo>
                <a:lnTo>
                  <a:pt x="31713" y="50485"/>
                </a:lnTo>
                <a:lnTo>
                  <a:pt x="0" y="53339"/>
                </a:lnTo>
                <a:lnTo>
                  <a:pt x="44195" y="125729"/>
                </a:lnTo>
                <a:lnTo>
                  <a:pt x="45719" y="121956"/>
                </a:lnTo>
                <a:close/>
              </a:path>
              <a:path w="76200" h="125729">
                <a:moveTo>
                  <a:pt x="44614" y="49324"/>
                </a:moveTo>
                <a:lnTo>
                  <a:pt x="40314" y="0"/>
                </a:lnTo>
                <a:lnTo>
                  <a:pt x="27622" y="0"/>
                </a:lnTo>
                <a:lnTo>
                  <a:pt x="31713" y="50485"/>
                </a:lnTo>
                <a:lnTo>
                  <a:pt x="44614" y="49324"/>
                </a:lnTo>
                <a:close/>
              </a:path>
              <a:path w="76200" h="125729">
                <a:moveTo>
                  <a:pt x="45719" y="61721"/>
                </a:moveTo>
                <a:lnTo>
                  <a:pt x="44614" y="49324"/>
                </a:lnTo>
                <a:lnTo>
                  <a:pt x="31713" y="50485"/>
                </a:lnTo>
                <a:lnTo>
                  <a:pt x="32766" y="63245"/>
                </a:lnTo>
                <a:lnTo>
                  <a:pt x="45719" y="61721"/>
                </a:lnTo>
                <a:close/>
              </a:path>
              <a:path w="76200" h="125729">
                <a:moveTo>
                  <a:pt x="76200" y="46481"/>
                </a:moveTo>
                <a:lnTo>
                  <a:pt x="44614" y="49324"/>
                </a:lnTo>
                <a:lnTo>
                  <a:pt x="45719" y="61721"/>
                </a:lnTo>
                <a:lnTo>
                  <a:pt x="45719" y="121956"/>
                </a:lnTo>
                <a:lnTo>
                  <a:pt x="76200" y="46481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327091" y="4635246"/>
            <a:ext cx="69215" cy="68580"/>
          </a:xfrm>
          <a:custGeom>
            <a:avLst/>
            <a:gdLst/>
            <a:ahLst/>
            <a:cxnLst/>
            <a:rect l="l" t="t" r="r" b="b"/>
            <a:pathLst>
              <a:path w="69214" h="68579">
                <a:moveTo>
                  <a:pt x="27321" y="0"/>
                </a:moveTo>
                <a:lnTo>
                  <a:pt x="0" y="0"/>
                </a:lnTo>
                <a:lnTo>
                  <a:pt x="27118" y="60131"/>
                </a:lnTo>
                <a:lnTo>
                  <a:pt x="27118" y="4571"/>
                </a:lnTo>
                <a:lnTo>
                  <a:pt x="27321" y="0"/>
                </a:lnTo>
                <a:close/>
              </a:path>
              <a:path w="69214" h="68579">
                <a:moveTo>
                  <a:pt x="40279" y="0"/>
                </a:moveTo>
                <a:lnTo>
                  <a:pt x="27321" y="0"/>
                </a:lnTo>
                <a:lnTo>
                  <a:pt x="27118" y="4571"/>
                </a:lnTo>
                <a:lnTo>
                  <a:pt x="40072" y="5333"/>
                </a:lnTo>
                <a:lnTo>
                  <a:pt x="40279" y="0"/>
                </a:lnTo>
                <a:close/>
              </a:path>
              <a:path w="69214" h="68579">
                <a:moveTo>
                  <a:pt x="68717" y="0"/>
                </a:moveTo>
                <a:lnTo>
                  <a:pt x="40279" y="0"/>
                </a:lnTo>
                <a:lnTo>
                  <a:pt x="40072" y="5333"/>
                </a:lnTo>
                <a:lnTo>
                  <a:pt x="27118" y="4571"/>
                </a:lnTo>
                <a:lnTo>
                  <a:pt x="27118" y="60131"/>
                </a:lnTo>
                <a:lnTo>
                  <a:pt x="30928" y="68579"/>
                </a:lnTo>
                <a:lnTo>
                  <a:pt x="68717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333044" y="4635246"/>
            <a:ext cx="184785" cy="489584"/>
          </a:xfrm>
          <a:custGeom>
            <a:avLst/>
            <a:gdLst/>
            <a:ahLst/>
            <a:cxnLst/>
            <a:rect l="l" t="t" r="r" b="b"/>
            <a:pathLst>
              <a:path w="184784" h="489585">
                <a:moveTo>
                  <a:pt x="152574" y="412756"/>
                </a:moveTo>
                <a:lnTo>
                  <a:pt x="150505" y="373813"/>
                </a:lnTo>
                <a:lnTo>
                  <a:pt x="146291" y="323221"/>
                </a:lnTo>
                <a:lnTo>
                  <a:pt x="139951" y="273560"/>
                </a:lnTo>
                <a:lnTo>
                  <a:pt x="130845" y="224972"/>
                </a:lnTo>
                <a:lnTo>
                  <a:pt x="118334" y="177598"/>
                </a:lnTo>
                <a:lnTo>
                  <a:pt x="101775" y="131577"/>
                </a:lnTo>
                <a:lnTo>
                  <a:pt x="80528" y="87051"/>
                </a:lnTo>
                <a:lnTo>
                  <a:pt x="53953" y="44161"/>
                </a:lnTo>
                <a:lnTo>
                  <a:pt x="21409" y="3048"/>
                </a:lnTo>
                <a:lnTo>
                  <a:pt x="18247" y="0"/>
                </a:lnTo>
                <a:lnTo>
                  <a:pt x="0" y="0"/>
                </a:lnTo>
                <a:lnTo>
                  <a:pt x="23682" y="25907"/>
                </a:lnTo>
                <a:lnTo>
                  <a:pt x="52451" y="64869"/>
                </a:lnTo>
                <a:lnTo>
                  <a:pt x="75978" y="105810"/>
                </a:lnTo>
                <a:lnTo>
                  <a:pt x="94825" y="148471"/>
                </a:lnTo>
                <a:lnTo>
                  <a:pt x="109552" y="192591"/>
                </a:lnTo>
                <a:lnTo>
                  <a:pt x="120721" y="237910"/>
                </a:lnTo>
                <a:lnTo>
                  <a:pt x="128892" y="284166"/>
                </a:lnTo>
                <a:lnTo>
                  <a:pt x="134627" y="331100"/>
                </a:lnTo>
                <a:lnTo>
                  <a:pt x="138486" y="378451"/>
                </a:lnTo>
                <a:lnTo>
                  <a:pt x="140349" y="413245"/>
                </a:lnTo>
                <a:lnTo>
                  <a:pt x="152574" y="412756"/>
                </a:lnTo>
                <a:close/>
              </a:path>
              <a:path w="184784" h="489585">
                <a:moveTo>
                  <a:pt x="153235" y="480755"/>
                </a:moveTo>
                <a:lnTo>
                  <a:pt x="153235" y="425195"/>
                </a:lnTo>
                <a:lnTo>
                  <a:pt x="141030" y="425957"/>
                </a:lnTo>
                <a:lnTo>
                  <a:pt x="140349" y="413245"/>
                </a:lnTo>
                <a:lnTo>
                  <a:pt x="108277" y="414527"/>
                </a:lnTo>
                <a:lnTo>
                  <a:pt x="149425" y="489203"/>
                </a:lnTo>
                <a:lnTo>
                  <a:pt x="153235" y="480755"/>
                </a:lnTo>
                <a:close/>
              </a:path>
              <a:path w="184784" h="489585">
                <a:moveTo>
                  <a:pt x="153235" y="425195"/>
                </a:moveTo>
                <a:lnTo>
                  <a:pt x="152574" y="412756"/>
                </a:lnTo>
                <a:lnTo>
                  <a:pt x="140349" y="413245"/>
                </a:lnTo>
                <a:lnTo>
                  <a:pt x="141030" y="425957"/>
                </a:lnTo>
                <a:lnTo>
                  <a:pt x="153235" y="425195"/>
                </a:lnTo>
                <a:close/>
              </a:path>
              <a:path w="184784" h="489585">
                <a:moveTo>
                  <a:pt x="184477" y="411479"/>
                </a:moveTo>
                <a:lnTo>
                  <a:pt x="152574" y="412756"/>
                </a:lnTo>
                <a:lnTo>
                  <a:pt x="153235" y="425195"/>
                </a:lnTo>
                <a:lnTo>
                  <a:pt x="153235" y="480755"/>
                </a:lnTo>
                <a:lnTo>
                  <a:pt x="184477" y="411479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857641" y="5492496"/>
            <a:ext cx="1232535" cy="260985"/>
          </a:xfrm>
          <a:custGeom>
            <a:avLst/>
            <a:gdLst/>
            <a:ahLst/>
            <a:cxnLst/>
            <a:rect l="l" t="t" r="r" b="b"/>
            <a:pathLst>
              <a:path w="1232535" h="260985">
                <a:moveTo>
                  <a:pt x="12954" y="247650"/>
                </a:moveTo>
                <a:lnTo>
                  <a:pt x="12954" y="0"/>
                </a:lnTo>
                <a:lnTo>
                  <a:pt x="0" y="0"/>
                </a:lnTo>
                <a:lnTo>
                  <a:pt x="0" y="260603"/>
                </a:lnTo>
                <a:lnTo>
                  <a:pt x="6857" y="260603"/>
                </a:lnTo>
                <a:lnTo>
                  <a:pt x="6858" y="247650"/>
                </a:lnTo>
                <a:lnTo>
                  <a:pt x="12954" y="247650"/>
                </a:lnTo>
                <a:close/>
              </a:path>
              <a:path w="1232535" h="260985">
                <a:moveTo>
                  <a:pt x="1226058" y="247650"/>
                </a:moveTo>
                <a:lnTo>
                  <a:pt x="6858" y="247650"/>
                </a:lnTo>
                <a:lnTo>
                  <a:pt x="12954" y="254507"/>
                </a:lnTo>
                <a:lnTo>
                  <a:pt x="12954" y="260603"/>
                </a:lnTo>
                <a:lnTo>
                  <a:pt x="1219200" y="260603"/>
                </a:lnTo>
                <a:lnTo>
                  <a:pt x="1219200" y="254507"/>
                </a:lnTo>
                <a:lnTo>
                  <a:pt x="1226058" y="247650"/>
                </a:lnTo>
                <a:close/>
              </a:path>
              <a:path w="1232535" h="260985">
                <a:moveTo>
                  <a:pt x="12954" y="260603"/>
                </a:moveTo>
                <a:lnTo>
                  <a:pt x="12954" y="254507"/>
                </a:lnTo>
                <a:lnTo>
                  <a:pt x="6858" y="247650"/>
                </a:lnTo>
                <a:lnTo>
                  <a:pt x="6857" y="260603"/>
                </a:lnTo>
                <a:lnTo>
                  <a:pt x="12954" y="260603"/>
                </a:lnTo>
                <a:close/>
              </a:path>
              <a:path w="1232535" h="260985">
                <a:moveTo>
                  <a:pt x="1232154" y="260603"/>
                </a:moveTo>
                <a:lnTo>
                  <a:pt x="1232154" y="0"/>
                </a:lnTo>
                <a:lnTo>
                  <a:pt x="1219200" y="0"/>
                </a:lnTo>
                <a:lnTo>
                  <a:pt x="1219200" y="247650"/>
                </a:lnTo>
                <a:lnTo>
                  <a:pt x="1226058" y="247650"/>
                </a:lnTo>
                <a:lnTo>
                  <a:pt x="1226058" y="260603"/>
                </a:lnTo>
                <a:lnTo>
                  <a:pt x="1232154" y="260603"/>
                </a:lnTo>
                <a:close/>
              </a:path>
              <a:path w="1232535" h="260985">
                <a:moveTo>
                  <a:pt x="1226058" y="260603"/>
                </a:moveTo>
                <a:lnTo>
                  <a:pt x="1226058" y="247650"/>
                </a:lnTo>
                <a:lnTo>
                  <a:pt x="1219200" y="254507"/>
                </a:lnTo>
                <a:lnTo>
                  <a:pt x="1219200" y="260603"/>
                </a:lnTo>
                <a:lnTo>
                  <a:pt x="1226058" y="260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083699" y="5492496"/>
            <a:ext cx="1231900" cy="260985"/>
          </a:xfrm>
          <a:custGeom>
            <a:avLst/>
            <a:gdLst/>
            <a:ahLst/>
            <a:cxnLst/>
            <a:rect l="l" t="t" r="r" b="b"/>
            <a:pathLst>
              <a:path w="1231900" h="260985">
                <a:moveTo>
                  <a:pt x="12191" y="247650"/>
                </a:moveTo>
                <a:lnTo>
                  <a:pt x="12191" y="0"/>
                </a:lnTo>
                <a:lnTo>
                  <a:pt x="0" y="0"/>
                </a:lnTo>
                <a:lnTo>
                  <a:pt x="0" y="260603"/>
                </a:lnTo>
                <a:lnTo>
                  <a:pt x="6095" y="260603"/>
                </a:lnTo>
                <a:lnTo>
                  <a:pt x="6095" y="247650"/>
                </a:lnTo>
                <a:lnTo>
                  <a:pt x="12191" y="247650"/>
                </a:lnTo>
                <a:close/>
              </a:path>
              <a:path w="1231900" h="260985">
                <a:moveTo>
                  <a:pt x="1225295" y="247650"/>
                </a:moveTo>
                <a:lnTo>
                  <a:pt x="6095" y="247650"/>
                </a:lnTo>
                <a:lnTo>
                  <a:pt x="12191" y="254507"/>
                </a:lnTo>
                <a:lnTo>
                  <a:pt x="12192" y="260603"/>
                </a:lnTo>
                <a:lnTo>
                  <a:pt x="1219199" y="260603"/>
                </a:lnTo>
                <a:lnTo>
                  <a:pt x="1219199" y="254507"/>
                </a:lnTo>
                <a:lnTo>
                  <a:pt x="1225295" y="247650"/>
                </a:lnTo>
                <a:close/>
              </a:path>
              <a:path w="1231900" h="260985">
                <a:moveTo>
                  <a:pt x="12192" y="260603"/>
                </a:moveTo>
                <a:lnTo>
                  <a:pt x="12191" y="254507"/>
                </a:lnTo>
                <a:lnTo>
                  <a:pt x="6095" y="247650"/>
                </a:lnTo>
                <a:lnTo>
                  <a:pt x="6095" y="260603"/>
                </a:lnTo>
                <a:lnTo>
                  <a:pt x="12192" y="260603"/>
                </a:lnTo>
                <a:close/>
              </a:path>
              <a:path w="1231900" h="260985">
                <a:moveTo>
                  <a:pt x="1231391" y="260603"/>
                </a:moveTo>
                <a:lnTo>
                  <a:pt x="1231391" y="0"/>
                </a:lnTo>
                <a:lnTo>
                  <a:pt x="1219199" y="0"/>
                </a:lnTo>
                <a:lnTo>
                  <a:pt x="1219199" y="247650"/>
                </a:lnTo>
                <a:lnTo>
                  <a:pt x="1225295" y="247650"/>
                </a:lnTo>
                <a:lnTo>
                  <a:pt x="1225295" y="260603"/>
                </a:lnTo>
                <a:lnTo>
                  <a:pt x="1231391" y="260603"/>
                </a:lnTo>
                <a:close/>
              </a:path>
              <a:path w="1231900" h="260985">
                <a:moveTo>
                  <a:pt x="1225295" y="260603"/>
                </a:moveTo>
                <a:lnTo>
                  <a:pt x="1225295" y="247650"/>
                </a:lnTo>
                <a:lnTo>
                  <a:pt x="1219199" y="254507"/>
                </a:lnTo>
                <a:lnTo>
                  <a:pt x="1219199" y="260603"/>
                </a:lnTo>
                <a:lnTo>
                  <a:pt x="1225295" y="260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895983" y="5763755"/>
            <a:ext cx="1188720" cy="327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Row u</a:t>
            </a:r>
            <a:r>
              <a:rPr sz="1800" b="1" spc="-7" baseline="-20833" dirty="0">
                <a:solidFill>
                  <a:srgbClr val="003365"/>
                </a:solidFill>
                <a:latin typeface="Arial"/>
                <a:cs typeface="Arial"/>
              </a:rPr>
              <a:t>1</a:t>
            </a:r>
            <a:r>
              <a:rPr sz="1800" b="1" spc="-135" baseline="-20833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1800" b="1" spc="245" dirty="0">
                <a:solidFill>
                  <a:srgbClr val="003365"/>
                </a:solidFill>
                <a:latin typeface="Arial"/>
                <a:cs typeface="Arial"/>
              </a:rPr>
              <a:t>-1</a:t>
            </a: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endParaRPr sz="18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802007" y="5778233"/>
            <a:ext cx="63500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3365"/>
                </a:solidFill>
                <a:latin typeface="Arial"/>
                <a:cs typeface="Arial"/>
              </a:rPr>
              <a:t>Row</a:t>
            </a:r>
            <a:r>
              <a:rPr sz="1800" b="1" spc="-100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3365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72" name="object 72"/>
          <p:cNvGraphicFramePr>
            <a:graphicFrameLocks noGrp="1"/>
          </p:cNvGraphicFramePr>
          <p:nvPr/>
        </p:nvGraphicFramePr>
        <p:xfrm>
          <a:off x="1857641" y="4711827"/>
          <a:ext cx="2449829" cy="15521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2154"/>
                <a:gridCol w="1217675"/>
              </a:tblGrid>
              <a:tr h="621792">
                <a:tc>
                  <a:txBody>
                    <a:bodyPr/>
                    <a:lstStyle/>
                    <a:p>
                      <a:pPr marL="123825" marR="15938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dirty="0">
                          <a:solidFill>
                            <a:srgbClr val="003365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800" baseline="-20833" dirty="0">
                          <a:solidFill>
                            <a:srgbClr val="003365"/>
                          </a:solidFill>
                          <a:latin typeface="Arial"/>
                          <a:cs typeface="Arial"/>
                        </a:rPr>
                        <a:t>2  </a:t>
                      </a:r>
                      <a:r>
                        <a:rPr sz="1800" dirty="0">
                          <a:solidFill>
                            <a:srgbClr val="003365"/>
                          </a:solidFill>
                          <a:latin typeface="Arial"/>
                          <a:cs typeface="Arial"/>
                        </a:rPr>
                        <a:t>elements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4">
                      <a:solidFill>
                        <a:srgbClr val="000000"/>
                      </a:solidFill>
                      <a:prstDash val="solid"/>
                    </a:lnL>
                    <a:lnR w="12954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9375" marR="18923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solidFill>
                            <a:srgbClr val="003365"/>
                          </a:solidFill>
                          <a:latin typeface="Arial"/>
                          <a:cs typeface="Arial"/>
                        </a:rPr>
                        <a:t>u</a:t>
                      </a:r>
                      <a:r>
                        <a:rPr sz="1800" baseline="-20833" dirty="0">
                          <a:solidFill>
                            <a:srgbClr val="003365"/>
                          </a:solidFill>
                          <a:latin typeface="Arial"/>
                          <a:cs typeface="Arial"/>
                        </a:rPr>
                        <a:t>2  </a:t>
                      </a:r>
                      <a:r>
                        <a:rPr sz="1800" dirty="0">
                          <a:solidFill>
                            <a:srgbClr val="003365"/>
                          </a:solidFill>
                          <a:latin typeface="Arial"/>
                          <a:cs typeface="Arial"/>
                        </a:rPr>
                        <a:t>elements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406908"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4">
                      <a:solidFill>
                        <a:srgbClr val="000000"/>
                      </a:solidFill>
                      <a:prstDash val="solid"/>
                    </a:ln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4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solidFill>
                      <a:srgbClr val="0099CC"/>
                    </a:solidFill>
                  </a:tcPr>
                </a:tc>
              </a:tr>
              <a:tr h="523493">
                <a:tc gridSpan="2">
                  <a:txBody>
                    <a:bodyPr/>
                    <a:lstStyle/>
                    <a:p>
                      <a:pPr marL="215900">
                        <a:lnSpc>
                          <a:spcPts val="2020"/>
                        </a:lnSpc>
                        <a:spcBef>
                          <a:spcPts val="270"/>
                        </a:spcBef>
                        <a:tabLst>
                          <a:tab pos="1462405" algn="l"/>
                        </a:tabLst>
                      </a:pPr>
                      <a:r>
                        <a:rPr sz="1800" b="1" spc="-5" dirty="0">
                          <a:solidFill>
                            <a:srgbClr val="003365"/>
                          </a:solidFill>
                          <a:latin typeface="Arial"/>
                          <a:cs typeface="Arial"/>
                        </a:rPr>
                        <a:t>Row 0	Row</a:t>
                      </a:r>
                      <a:r>
                        <a:rPr sz="1800" b="1" spc="-90" dirty="0">
                          <a:solidFill>
                            <a:srgbClr val="00336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003365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1244600">
                        <a:lnSpc>
                          <a:spcPts val="2020"/>
                        </a:lnSpc>
                      </a:pPr>
                      <a:r>
                        <a:rPr sz="1800" dirty="0">
                          <a:solidFill>
                            <a:srgbClr val="3333FF"/>
                          </a:solidFill>
                          <a:latin typeface="Arial"/>
                          <a:cs typeface="Arial"/>
                        </a:rPr>
                        <a:t>i * u</a:t>
                      </a:r>
                      <a:r>
                        <a:rPr sz="1800" baseline="-20833" dirty="0">
                          <a:solidFill>
                            <a:srgbClr val="3333FF"/>
                          </a:solidFill>
                          <a:latin typeface="Arial"/>
                          <a:cs typeface="Arial"/>
                        </a:rPr>
                        <a:t>2</a:t>
                      </a:r>
                      <a:r>
                        <a:rPr sz="1800" spc="-337" baseline="-20833" dirty="0">
                          <a:solidFill>
                            <a:srgbClr val="3333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solidFill>
                            <a:srgbClr val="3333FF"/>
                          </a:solidFill>
                          <a:latin typeface="Arial"/>
                          <a:cs typeface="Arial"/>
                        </a:rPr>
                        <a:t>eleme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3" name="object 73"/>
          <p:cNvSpPr/>
          <p:nvPr/>
        </p:nvSpPr>
        <p:spPr>
          <a:xfrm>
            <a:off x="4642751" y="5522313"/>
            <a:ext cx="56387" cy="7076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912499" y="5522976"/>
            <a:ext cx="57150" cy="701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180723" y="5522976"/>
            <a:ext cx="57150" cy="701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569343" y="5492496"/>
            <a:ext cx="1219200" cy="254635"/>
          </a:xfrm>
          <a:custGeom>
            <a:avLst/>
            <a:gdLst/>
            <a:ahLst/>
            <a:cxnLst/>
            <a:rect l="l" t="t" r="r" b="b"/>
            <a:pathLst>
              <a:path w="1219200" h="254635">
                <a:moveTo>
                  <a:pt x="0" y="0"/>
                </a:moveTo>
                <a:lnTo>
                  <a:pt x="0" y="254508"/>
                </a:lnTo>
                <a:lnTo>
                  <a:pt x="1219199" y="254508"/>
                </a:lnTo>
                <a:lnTo>
                  <a:pt x="121919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563247" y="5492496"/>
            <a:ext cx="1231900" cy="260985"/>
          </a:xfrm>
          <a:custGeom>
            <a:avLst/>
            <a:gdLst/>
            <a:ahLst/>
            <a:cxnLst/>
            <a:rect l="l" t="t" r="r" b="b"/>
            <a:pathLst>
              <a:path w="1231900" h="260985">
                <a:moveTo>
                  <a:pt x="12192" y="247650"/>
                </a:moveTo>
                <a:lnTo>
                  <a:pt x="12192" y="0"/>
                </a:lnTo>
                <a:lnTo>
                  <a:pt x="0" y="0"/>
                </a:lnTo>
                <a:lnTo>
                  <a:pt x="0" y="260604"/>
                </a:lnTo>
                <a:lnTo>
                  <a:pt x="6096" y="260604"/>
                </a:lnTo>
                <a:lnTo>
                  <a:pt x="6096" y="247650"/>
                </a:lnTo>
                <a:lnTo>
                  <a:pt x="12192" y="247650"/>
                </a:lnTo>
                <a:close/>
              </a:path>
              <a:path w="1231900" h="260985">
                <a:moveTo>
                  <a:pt x="1225295" y="247650"/>
                </a:moveTo>
                <a:lnTo>
                  <a:pt x="6096" y="247650"/>
                </a:lnTo>
                <a:lnTo>
                  <a:pt x="12192" y="254508"/>
                </a:lnTo>
                <a:lnTo>
                  <a:pt x="12192" y="260604"/>
                </a:lnTo>
                <a:lnTo>
                  <a:pt x="1219187" y="260603"/>
                </a:lnTo>
                <a:lnTo>
                  <a:pt x="1219187" y="254507"/>
                </a:lnTo>
                <a:lnTo>
                  <a:pt x="1225295" y="247650"/>
                </a:lnTo>
                <a:close/>
              </a:path>
              <a:path w="1231900" h="260985">
                <a:moveTo>
                  <a:pt x="12192" y="260604"/>
                </a:moveTo>
                <a:lnTo>
                  <a:pt x="12192" y="254508"/>
                </a:lnTo>
                <a:lnTo>
                  <a:pt x="6096" y="247650"/>
                </a:lnTo>
                <a:lnTo>
                  <a:pt x="6096" y="260604"/>
                </a:lnTo>
                <a:lnTo>
                  <a:pt x="12192" y="260604"/>
                </a:lnTo>
                <a:close/>
              </a:path>
              <a:path w="1231900" h="260985">
                <a:moveTo>
                  <a:pt x="1231391" y="260603"/>
                </a:moveTo>
                <a:lnTo>
                  <a:pt x="1231391" y="0"/>
                </a:lnTo>
                <a:lnTo>
                  <a:pt x="1219187" y="0"/>
                </a:lnTo>
                <a:lnTo>
                  <a:pt x="1219187" y="247650"/>
                </a:lnTo>
                <a:lnTo>
                  <a:pt x="1225295" y="247650"/>
                </a:lnTo>
                <a:lnTo>
                  <a:pt x="1225295" y="260603"/>
                </a:lnTo>
                <a:lnTo>
                  <a:pt x="1231391" y="260603"/>
                </a:lnTo>
                <a:close/>
              </a:path>
              <a:path w="1231900" h="260985">
                <a:moveTo>
                  <a:pt x="1225295" y="260603"/>
                </a:moveTo>
                <a:lnTo>
                  <a:pt x="1225295" y="247650"/>
                </a:lnTo>
                <a:lnTo>
                  <a:pt x="1219187" y="254507"/>
                </a:lnTo>
                <a:lnTo>
                  <a:pt x="1219187" y="260603"/>
                </a:lnTo>
                <a:lnTo>
                  <a:pt x="1225295" y="260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995045" y="5506973"/>
            <a:ext cx="57150" cy="7105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263269" y="5506973"/>
            <a:ext cx="57150" cy="701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531493" y="5506973"/>
            <a:ext cx="57150" cy="7010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808086" y="5492496"/>
            <a:ext cx="1219200" cy="253365"/>
          </a:xfrm>
          <a:custGeom>
            <a:avLst/>
            <a:gdLst/>
            <a:ahLst/>
            <a:cxnLst/>
            <a:rect l="l" t="t" r="r" b="b"/>
            <a:pathLst>
              <a:path w="1219200" h="253364">
                <a:moveTo>
                  <a:pt x="0" y="0"/>
                </a:moveTo>
                <a:lnTo>
                  <a:pt x="0" y="252984"/>
                </a:lnTo>
                <a:lnTo>
                  <a:pt x="1219200" y="252984"/>
                </a:lnTo>
                <a:lnTo>
                  <a:pt x="1219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801241" y="5492496"/>
            <a:ext cx="1232535" cy="259079"/>
          </a:xfrm>
          <a:custGeom>
            <a:avLst/>
            <a:gdLst/>
            <a:ahLst/>
            <a:cxnLst/>
            <a:rect l="l" t="t" r="r" b="b"/>
            <a:pathLst>
              <a:path w="1232534" h="259079">
                <a:moveTo>
                  <a:pt x="12954" y="246125"/>
                </a:moveTo>
                <a:lnTo>
                  <a:pt x="12954" y="0"/>
                </a:lnTo>
                <a:lnTo>
                  <a:pt x="0" y="0"/>
                </a:lnTo>
                <a:lnTo>
                  <a:pt x="0" y="259079"/>
                </a:lnTo>
                <a:lnTo>
                  <a:pt x="6845" y="259079"/>
                </a:lnTo>
                <a:lnTo>
                  <a:pt x="6845" y="246125"/>
                </a:lnTo>
                <a:lnTo>
                  <a:pt x="12954" y="246125"/>
                </a:lnTo>
                <a:close/>
              </a:path>
              <a:path w="1232534" h="259079">
                <a:moveTo>
                  <a:pt x="1226058" y="246125"/>
                </a:moveTo>
                <a:lnTo>
                  <a:pt x="6845" y="246125"/>
                </a:lnTo>
                <a:lnTo>
                  <a:pt x="12954" y="252983"/>
                </a:lnTo>
                <a:lnTo>
                  <a:pt x="12954" y="259079"/>
                </a:lnTo>
                <a:lnTo>
                  <a:pt x="1219200" y="259079"/>
                </a:lnTo>
                <a:lnTo>
                  <a:pt x="1219200" y="252983"/>
                </a:lnTo>
                <a:lnTo>
                  <a:pt x="1226058" y="246125"/>
                </a:lnTo>
                <a:close/>
              </a:path>
              <a:path w="1232534" h="259079">
                <a:moveTo>
                  <a:pt x="12954" y="259079"/>
                </a:moveTo>
                <a:lnTo>
                  <a:pt x="12954" y="252983"/>
                </a:lnTo>
                <a:lnTo>
                  <a:pt x="6845" y="246125"/>
                </a:lnTo>
                <a:lnTo>
                  <a:pt x="6845" y="259079"/>
                </a:lnTo>
                <a:lnTo>
                  <a:pt x="12954" y="259079"/>
                </a:lnTo>
                <a:close/>
              </a:path>
              <a:path w="1232534" h="259079">
                <a:moveTo>
                  <a:pt x="1232153" y="259079"/>
                </a:moveTo>
                <a:lnTo>
                  <a:pt x="1232153" y="0"/>
                </a:lnTo>
                <a:lnTo>
                  <a:pt x="1219200" y="0"/>
                </a:lnTo>
                <a:lnTo>
                  <a:pt x="1219200" y="246125"/>
                </a:lnTo>
                <a:lnTo>
                  <a:pt x="1226058" y="246125"/>
                </a:lnTo>
                <a:lnTo>
                  <a:pt x="1226058" y="259079"/>
                </a:lnTo>
                <a:lnTo>
                  <a:pt x="1232153" y="259079"/>
                </a:lnTo>
                <a:close/>
              </a:path>
              <a:path w="1232534" h="259079">
                <a:moveTo>
                  <a:pt x="1226058" y="259079"/>
                </a:moveTo>
                <a:lnTo>
                  <a:pt x="1226058" y="246125"/>
                </a:lnTo>
                <a:lnTo>
                  <a:pt x="1219200" y="252983"/>
                </a:lnTo>
                <a:lnTo>
                  <a:pt x="1219200" y="259079"/>
                </a:lnTo>
                <a:lnTo>
                  <a:pt x="1226058" y="2590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556389" y="5524500"/>
            <a:ext cx="13335" cy="0"/>
          </a:xfrm>
          <a:custGeom>
            <a:avLst/>
            <a:gdLst/>
            <a:ahLst/>
            <a:cxnLst/>
            <a:rect l="l" t="t" r="r" b="b"/>
            <a:pathLst>
              <a:path w="13335">
                <a:moveTo>
                  <a:pt x="0" y="0"/>
                </a:moveTo>
                <a:lnTo>
                  <a:pt x="12953" y="0"/>
                </a:lnTo>
              </a:path>
            </a:pathLst>
          </a:custGeom>
          <a:ln w="50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5562866" y="5587746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562866" y="5676900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5556389" y="5791200"/>
            <a:ext cx="13335" cy="0"/>
          </a:xfrm>
          <a:custGeom>
            <a:avLst/>
            <a:gdLst/>
            <a:ahLst/>
            <a:cxnLst/>
            <a:rect l="l" t="t" r="r" b="b"/>
            <a:pathLst>
              <a:path w="13335">
                <a:moveTo>
                  <a:pt x="0" y="0"/>
                </a:moveTo>
                <a:lnTo>
                  <a:pt x="12953" y="0"/>
                </a:lnTo>
              </a:path>
            </a:pathLst>
          </a:custGeom>
          <a:ln w="50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562866" y="5854446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562866" y="5943600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556389" y="6057900"/>
            <a:ext cx="13335" cy="0"/>
          </a:xfrm>
          <a:custGeom>
            <a:avLst/>
            <a:gdLst/>
            <a:ahLst/>
            <a:cxnLst/>
            <a:rect l="l" t="t" r="r" b="b"/>
            <a:pathLst>
              <a:path w="13335">
                <a:moveTo>
                  <a:pt x="0" y="0"/>
                </a:moveTo>
                <a:lnTo>
                  <a:pt x="12953" y="0"/>
                </a:lnTo>
              </a:path>
            </a:pathLst>
          </a:custGeom>
          <a:ln w="502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562866" y="6121146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5562866" y="6210300"/>
            <a:ext cx="0" cy="51435"/>
          </a:xfrm>
          <a:custGeom>
            <a:avLst/>
            <a:gdLst/>
            <a:ahLst/>
            <a:cxnLst/>
            <a:rect l="l" t="t" r="r" b="b"/>
            <a:pathLst>
              <a:path h="51435">
                <a:moveTo>
                  <a:pt x="0" y="0"/>
                </a:moveTo>
                <a:lnTo>
                  <a:pt x="0" y="51053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5562866" y="6299453"/>
            <a:ext cx="0" cy="50800"/>
          </a:xfrm>
          <a:custGeom>
            <a:avLst/>
            <a:gdLst/>
            <a:ahLst/>
            <a:cxnLst/>
            <a:rect l="l" t="t" r="r" b="b"/>
            <a:pathLst>
              <a:path h="50800">
                <a:moveTo>
                  <a:pt x="0" y="0"/>
                </a:moveTo>
                <a:lnTo>
                  <a:pt x="0" y="50292"/>
                </a:lnTo>
              </a:path>
            </a:pathLst>
          </a:custGeom>
          <a:ln w="129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864499" y="6167628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76200" y="32004"/>
                </a:moveTo>
                <a:lnTo>
                  <a:pt x="76200" y="0"/>
                </a:lnTo>
                <a:lnTo>
                  <a:pt x="0" y="38100"/>
                </a:lnTo>
                <a:lnTo>
                  <a:pt x="63245" y="69723"/>
                </a:lnTo>
                <a:lnTo>
                  <a:pt x="63245" y="32004"/>
                </a:lnTo>
                <a:lnTo>
                  <a:pt x="76200" y="32004"/>
                </a:lnTo>
                <a:close/>
              </a:path>
              <a:path w="609600" h="76200">
                <a:moveTo>
                  <a:pt x="609600" y="44196"/>
                </a:moveTo>
                <a:lnTo>
                  <a:pt x="609600" y="32004"/>
                </a:lnTo>
                <a:lnTo>
                  <a:pt x="63245" y="32004"/>
                </a:lnTo>
                <a:lnTo>
                  <a:pt x="63245" y="44196"/>
                </a:lnTo>
                <a:lnTo>
                  <a:pt x="609600" y="44196"/>
                </a:lnTo>
                <a:close/>
              </a:path>
              <a:path w="609600" h="76200">
                <a:moveTo>
                  <a:pt x="76200" y="76200"/>
                </a:moveTo>
                <a:lnTo>
                  <a:pt x="76200" y="44196"/>
                </a:lnTo>
                <a:lnTo>
                  <a:pt x="63245" y="44196"/>
                </a:lnTo>
                <a:lnTo>
                  <a:pt x="63245" y="69723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983365" y="6167628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46353" y="44196"/>
                </a:moveTo>
                <a:lnTo>
                  <a:pt x="546353" y="32003"/>
                </a:lnTo>
                <a:lnTo>
                  <a:pt x="0" y="32003"/>
                </a:lnTo>
                <a:lnTo>
                  <a:pt x="0" y="44196"/>
                </a:lnTo>
                <a:lnTo>
                  <a:pt x="546353" y="44196"/>
                </a:lnTo>
                <a:close/>
              </a:path>
              <a:path w="609600" h="76200">
                <a:moveTo>
                  <a:pt x="609600" y="38100"/>
                </a:moveTo>
                <a:lnTo>
                  <a:pt x="533400" y="0"/>
                </a:lnTo>
                <a:lnTo>
                  <a:pt x="533400" y="32003"/>
                </a:lnTo>
                <a:lnTo>
                  <a:pt x="546353" y="32003"/>
                </a:lnTo>
                <a:lnTo>
                  <a:pt x="546353" y="69723"/>
                </a:lnTo>
                <a:lnTo>
                  <a:pt x="609600" y="38100"/>
                </a:lnTo>
                <a:close/>
              </a:path>
              <a:path w="609600" h="76200">
                <a:moveTo>
                  <a:pt x="546353" y="69723"/>
                </a:moveTo>
                <a:lnTo>
                  <a:pt x="546353" y="44196"/>
                </a:lnTo>
                <a:lnTo>
                  <a:pt x="533400" y="44196"/>
                </a:lnTo>
                <a:lnTo>
                  <a:pt x="533400" y="76200"/>
                </a:lnTo>
                <a:lnTo>
                  <a:pt x="546353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4245664" y="6019800"/>
            <a:ext cx="216535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3333FF"/>
                </a:solidFill>
                <a:latin typeface="Arial"/>
                <a:cs typeface="Arial"/>
              </a:rPr>
              <a:t>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774839" y="2920745"/>
            <a:ext cx="824484" cy="428625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38</a:t>
            </a:fld>
            <a:endParaRPr spc="-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39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z="4000" dirty="0"/>
              <a:t>Generalizing Array</a:t>
            </a:r>
            <a:r>
              <a:rPr sz="4000" spc="-105" dirty="0"/>
              <a:t> </a:t>
            </a:r>
            <a:r>
              <a:rPr sz="4000" dirty="0"/>
              <a:t>Representation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4286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027047" y="1360423"/>
            <a:ext cx="7597140" cy="1403460"/>
          </a:xfrm>
          <a:prstGeom prst="rect">
            <a:avLst/>
          </a:prstGeom>
        </p:spPr>
        <p:txBody>
          <a:bodyPr vert="horz" wrap="square" lIns="0" tIns="963167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The address indexing of Array A[i</a:t>
            </a:r>
            <a:r>
              <a:rPr sz="2775" baseline="-21021" dirty="0"/>
              <a:t>1</a:t>
            </a:r>
            <a:r>
              <a:rPr sz="2800" dirty="0"/>
              <a:t>][i</a:t>
            </a:r>
            <a:r>
              <a:rPr sz="2775" baseline="-21021" dirty="0"/>
              <a:t>2</a:t>
            </a:r>
            <a:r>
              <a:rPr sz="2800" dirty="0"/>
              <a:t>],…,[i</a:t>
            </a:r>
            <a:r>
              <a:rPr sz="2775" baseline="-21021" dirty="0"/>
              <a:t>n</a:t>
            </a:r>
            <a:r>
              <a:rPr sz="2800" dirty="0"/>
              <a:t>]</a:t>
            </a:r>
            <a:r>
              <a:rPr sz="2800" spc="-80" dirty="0"/>
              <a:t> </a:t>
            </a:r>
            <a:r>
              <a:rPr sz="2800" spc="-5" dirty="0" smtClean="0"/>
              <a:t>is</a:t>
            </a:r>
            <a:endParaRPr sz="2800" dirty="0"/>
          </a:p>
        </p:txBody>
      </p:sp>
      <p:sp>
        <p:nvSpPr>
          <p:cNvPr id="21" name="object 21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500" y="2891719"/>
            <a:ext cx="6698171" cy="3971003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String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7047" y="2364994"/>
            <a:ext cx="7513955" cy="2544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1153795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Usually </a:t>
            </a:r>
            <a:r>
              <a:rPr sz="3200" spc="-5" dirty="0">
                <a:latin typeface="Arial"/>
                <a:cs typeface="Arial"/>
              </a:rPr>
              <a:t>string is </a:t>
            </a:r>
            <a:r>
              <a:rPr sz="3200" spc="-10" dirty="0">
                <a:latin typeface="Arial"/>
                <a:cs typeface="Arial"/>
              </a:rPr>
              <a:t>represented </a:t>
            </a:r>
            <a:r>
              <a:rPr sz="3200" spc="-5" dirty="0">
                <a:latin typeface="Arial"/>
                <a:cs typeface="Arial"/>
              </a:rPr>
              <a:t>as a  </a:t>
            </a:r>
            <a:r>
              <a:rPr sz="3200" spc="-10" dirty="0">
                <a:latin typeface="Arial"/>
                <a:cs typeface="Arial"/>
              </a:rPr>
              <a:t>character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array.</a:t>
            </a:r>
            <a:endParaRPr sz="3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General </a:t>
            </a:r>
            <a:r>
              <a:rPr sz="3200" spc="-5" dirty="0">
                <a:latin typeface="Arial"/>
                <a:cs typeface="Arial"/>
              </a:rPr>
              <a:t>string </a:t>
            </a:r>
            <a:r>
              <a:rPr sz="3200" spc="-10" dirty="0">
                <a:latin typeface="Arial"/>
                <a:cs typeface="Arial"/>
              </a:rPr>
              <a:t>operations include  comparison, </a:t>
            </a:r>
            <a:r>
              <a:rPr sz="3200" spc="-5" dirty="0">
                <a:latin typeface="Arial"/>
                <a:cs typeface="Arial"/>
              </a:rPr>
              <a:t>string </a:t>
            </a:r>
            <a:r>
              <a:rPr sz="3200" spc="-10" dirty="0">
                <a:latin typeface="Arial"/>
                <a:cs typeface="Arial"/>
              </a:rPr>
              <a:t>concatenation, copy,  </a:t>
            </a:r>
            <a:r>
              <a:rPr sz="3200" spc="-5" dirty="0">
                <a:latin typeface="Arial"/>
                <a:cs typeface="Arial"/>
              </a:rPr>
              <a:t>insertion, string </a:t>
            </a:r>
            <a:r>
              <a:rPr sz="3200" spc="-10" dirty="0">
                <a:latin typeface="Arial"/>
                <a:cs typeface="Arial"/>
              </a:rPr>
              <a:t>matching, </a:t>
            </a:r>
            <a:r>
              <a:rPr sz="3200" spc="-5" dirty="0">
                <a:latin typeface="Arial"/>
                <a:cs typeface="Arial"/>
              </a:rPr>
              <a:t>printing,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etc.</a:t>
            </a:r>
            <a:endParaRPr sz="3200">
              <a:latin typeface="Arial"/>
              <a:cs typeface="Arial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524391" y="5564123"/>
          <a:ext cx="6408797" cy="5474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399"/>
                <a:gridCol w="534923"/>
                <a:gridCol w="533400"/>
                <a:gridCol w="535305"/>
                <a:gridCol w="533400"/>
                <a:gridCol w="534924"/>
                <a:gridCol w="533387"/>
                <a:gridCol w="533412"/>
                <a:gridCol w="534923"/>
                <a:gridCol w="534924"/>
                <a:gridCol w="533400"/>
                <a:gridCol w="533400"/>
              </a:tblGrid>
              <a:tr h="547497"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H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955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l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191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l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191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o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W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o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r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l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d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12953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\0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953">
                      <a:solidFill>
                        <a:srgbClr val="000000"/>
                      </a:solidFill>
                      <a:prstDash val="solid"/>
                    </a:lnL>
                    <a:lnR w="28194">
                      <a:solidFill>
                        <a:srgbClr val="000000"/>
                      </a:solidFill>
                      <a:prstDash val="solid"/>
                    </a:lnR>
                    <a:lnT w="28956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86443" y="6659522"/>
            <a:ext cx="2235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400" spc="-5" dirty="0">
                <a:latin typeface="Arial"/>
                <a:cs typeface="Arial"/>
              </a:rPr>
              <a:t>40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91832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String Matching:</a:t>
            </a:r>
            <a:r>
              <a:rPr sz="4000" spc="-95" dirty="0"/>
              <a:t> </a:t>
            </a:r>
            <a:r>
              <a:rPr sz="4000" dirty="0"/>
              <a:t>Straightforward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59" y="1360423"/>
            <a:ext cx="172085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Solution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2920745"/>
            <a:ext cx="824484" cy="1714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02371" y="4425696"/>
            <a:ext cx="8310372" cy="2095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027047" y="2330958"/>
            <a:ext cx="7445375" cy="169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ts val="2735"/>
              </a:lnSpc>
              <a:buClr>
                <a:srgbClr val="009ACC"/>
              </a:buClr>
              <a:buSzPct val="68750"/>
              <a:buFont typeface="Arial"/>
              <a:buChar char="■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Algorithm: Simple string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matching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2590"/>
              </a:lnSpc>
              <a:spcBef>
                <a:spcPts val="180"/>
              </a:spcBef>
              <a:buClr>
                <a:srgbClr val="009ACC"/>
              </a:buClr>
              <a:buSzPct val="68750"/>
              <a:buFont typeface="Arial"/>
              <a:buChar char="■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Input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2400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and T, the pattern and text strings; </a:t>
            </a:r>
            <a:r>
              <a:rPr sz="2400" dirty="0">
                <a:latin typeface="Arial"/>
                <a:cs typeface="Arial"/>
              </a:rPr>
              <a:t>m, </a:t>
            </a:r>
            <a:r>
              <a:rPr sz="2400" spc="-5" dirty="0">
                <a:latin typeface="Arial"/>
                <a:cs typeface="Arial"/>
              </a:rPr>
              <a:t>the  length of P. The pattern is assumed to be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nonempty.</a:t>
            </a:r>
            <a:endParaRPr sz="2400">
              <a:latin typeface="Arial"/>
              <a:cs typeface="Arial"/>
            </a:endParaRPr>
          </a:p>
          <a:p>
            <a:pPr marL="355600" marR="307340" indent="-342900">
              <a:lnSpc>
                <a:spcPts val="2590"/>
              </a:lnSpc>
              <a:buClr>
                <a:srgbClr val="009ACC"/>
              </a:buClr>
              <a:buSzPct val="68750"/>
              <a:buFont typeface="Arial"/>
              <a:buChar char="■"/>
              <a:tabLst>
                <a:tab pos="354965" algn="l"/>
                <a:tab pos="355600" algn="l"/>
              </a:tabLst>
            </a:pPr>
            <a:r>
              <a:rPr sz="2400" b="1" spc="-5" dirty="0">
                <a:latin typeface="Arial"/>
                <a:cs typeface="Arial"/>
              </a:rPr>
              <a:t>Output</a:t>
            </a:r>
            <a:r>
              <a:rPr sz="2400" spc="-5" dirty="0">
                <a:latin typeface="Arial"/>
                <a:cs typeface="Arial"/>
              </a:rPr>
              <a:t>: The return value is the index in </a:t>
            </a:r>
            <a:r>
              <a:rPr sz="2400" dirty="0">
                <a:latin typeface="Arial"/>
                <a:cs typeface="Arial"/>
              </a:rPr>
              <a:t>T </a:t>
            </a:r>
            <a:r>
              <a:rPr sz="2400" spc="-5" dirty="0">
                <a:latin typeface="Arial"/>
                <a:cs typeface="Arial"/>
              </a:rPr>
              <a:t>where </a:t>
            </a:r>
            <a:r>
              <a:rPr sz="2400" dirty="0">
                <a:latin typeface="Arial"/>
                <a:cs typeface="Arial"/>
              </a:rPr>
              <a:t>a  </a:t>
            </a:r>
            <a:r>
              <a:rPr sz="2400" spc="-5" dirty="0">
                <a:latin typeface="Arial"/>
                <a:cs typeface="Arial"/>
              </a:rPr>
              <a:t>copy of </a:t>
            </a:r>
            <a:r>
              <a:rPr sz="2400" dirty="0">
                <a:latin typeface="Arial"/>
                <a:cs typeface="Arial"/>
              </a:rPr>
              <a:t>P </a:t>
            </a:r>
            <a:r>
              <a:rPr sz="2400" spc="-5" dirty="0">
                <a:latin typeface="Arial"/>
                <a:cs typeface="Arial"/>
              </a:rPr>
              <a:t>begins, or -1 </a:t>
            </a:r>
            <a:r>
              <a:rPr sz="2400" dirty="0">
                <a:latin typeface="Arial"/>
                <a:cs typeface="Arial"/>
              </a:rPr>
              <a:t>if </a:t>
            </a:r>
            <a:r>
              <a:rPr sz="2400" spc="-5" dirty="0">
                <a:latin typeface="Arial"/>
                <a:cs typeface="Arial"/>
              </a:rPr>
              <a:t>no match for </a:t>
            </a:r>
            <a:r>
              <a:rPr sz="2400" dirty="0">
                <a:latin typeface="Arial"/>
                <a:cs typeface="Arial"/>
              </a:rPr>
              <a:t>P is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found.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4839" y="4635246"/>
            <a:ext cx="913790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4839" y="5492496"/>
            <a:ext cx="913790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027047" y="5671058"/>
            <a:ext cx="532066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Worst-case complexity is</a:t>
            </a:r>
            <a:r>
              <a:rPr sz="2800" spc="-114" dirty="0"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3300"/>
                </a:solidFill>
                <a:latin typeface="Symbol"/>
                <a:cs typeface="Symbol"/>
              </a:rPr>
              <a:t></a:t>
            </a:r>
            <a:r>
              <a:rPr sz="2800" dirty="0">
                <a:solidFill>
                  <a:srgbClr val="FF3300"/>
                </a:solidFill>
                <a:latin typeface="Arial"/>
                <a:cs typeface="Arial"/>
              </a:rPr>
              <a:t>(mn)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602371" y="6349746"/>
            <a:ext cx="8310372" cy="152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KMP</a:t>
            </a:r>
            <a:r>
              <a:rPr spc="-65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58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dirty="0"/>
              <a:t>KMP</a:t>
            </a:r>
            <a:r>
              <a:rPr spc="-100" dirty="0"/>
              <a:t> </a:t>
            </a:r>
            <a:r>
              <a:rPr dirty="0"/>
              <a:t>algorithm</a:t>
            </a:r>
          </a:p>
          <a:p>
            <a:pPr marL="755650" lvl="1" indent="-285750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Proposed by Knuth, Morris and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Pratt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dirty="0"/>
              <a:t>Concept</a:t>
            </a:r>
          </a:p>
          <a:p>
            <a:pPr marL="755015" lvl="1" indent="-28511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Use the characteristic of the pattern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string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dirty="0"/>
              <a:t>Phase</a:t>
            </a:r>
            <a:r>
              <a:rPr spc="-105" dirty="0"/>
              <a:t> </a:t>
            </a:r>
            <a:r>
              <a:rPr dirty="0"/>
              <a:t>1:</a:t>
            </a:r>
          </a:p>
          <a:p>
            <a:pPr marL="755015" lvl="1" indent="-28511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Generate an array </a:t>
            </a:r>
            <a:r>
              <a:rPr sz="2400" dirty="0">
                <a:latin typeface="Arial"/>
                <a:cs typeface="Arial"/>
              </a:rPr>
              <a:t>to </a:t>
            </a:r>
            <a:r>
              <a:rPr sz="2400" spc="-5" dirty="0">
                <a:latin typeface="Arial"/>
                <a:cs typeface="Arial"/>
              </a:rPr>
              <a:t>indicate </a:t>
            </a:r>
            <a:r>
              <a:rPr sz="2400" dirty="0">
                <a:latin typeface="Arial"/>
                <a:cs typeface="Arial"/>
              </a:rPr>
              <a:t>the moving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direction.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dirty="0"/>
              <a:t>Phase</a:t>
            </a:r>
            <a:r>
              <a:rPr spc="-105" dirty="0"/>
              <a:t> </a:t>
            </a:r>
            <a:r>
              <a:rPr dirty="0"/>
              <a:t>2:</a:t>
            </a:r>
          </a:p>
          <a:p>
            <a:pPr marL="755015" lvl="1" indent="-285115">
              <a:lnSpc>
                <a:spcPct val="100000"/>
              </a:lnSpc>
              <a:spcBef>
                <a:spcPts val="5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Use the array to move and match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string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571500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The </a:t>
            </a:r>
            <a:r>
              <a:rPr sz="4000" spc="-5" dirty="0"/>
              <a:t>First </a:t>
            </a:r>
            <a:r>
              <a:rPr sz="4000" dirty="0"/>
              <a:t>Case for </a:t>
            </a:r>
            <a:r>
              <a:rPr sz="4000" spc="-5" dirty="0"/>
              <a:t>the</a:t>
            </a:r>
            <a:r>
              <a:rPr sz="4000" spc="-75" dirty="0"/>
              <a:t> </a:t>
            </a:r>
            <a:r>
              <a:rPr sz="4000" dirty="0"/>
              <a:t>KMP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59" y="1360423"/>
            <a:ext cx="208788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Algorithm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51977" y="2615438"/>
            <a:ext cx="338899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0 1 2 3 4 5 6 7 8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9…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44596" y="2540562"/>
            <a:ext cx="436880" cy="380365"/>
          </a:xfrm>
          <a:custGeom>
            <a:avLst/>
            <a:gdLst/>
            <a:ahLst/>
            <a:cxnLst/>
            <a:rect l="l" t="t" r="r" b="b"/>
            <a:pathLst>
              <a:path w="436880" h="380364">
                <a:moveTo>
                  <a:pt x="436388" y="380183"/>
                </a:moveTo>
                <a:lnTo>
                  <a:pt x="421673" y="313407"/>
                </a:lnTo>
                <a:lnTo>
                  <a:pt x="402547" y="243878"/>
                </a:lnTo>
                <a:lnTo>
                  <a:pt x="381610" y="183057"/>
                </a:lnTo>
                <a:lnTo>
                  <a:pt x="359101" y="130943"/>
                </a:lnTo>
                <a:lnTo>
                  <a:pt x="335264" y="87535"/>
                </a:lnTo>
                <a:lnTo>
                  <a:pt x="310339" y="52831"/>
                </a:lnTo>
                <a:lnTo>
                  <a:pt x="271443" y="17089"/>
                </a:lnTo>
                <a:lnTo>
                  <a:pt x="231460" y="920"/>
                </a:lnTo>
                <a:lnTo>
                  <a:pt x="216599" y="0"/>
                </a:lnTo>
                <a:lnTo>
                  <a:pt x="204605" y="1011"/>
                </a:lnTo>
                <a:lnTo>
                  <a:pt x="164626" y="17449"/>
                </a:lnTo>
                <a:lnTo>
                  <a:pt x="125737" y="53443"/>
                </a:lnTo>
                <a:lnTo>
                  <a:pt x="100775" y="88376"/>
                </a:lnTo>
                <a:lnTo>
                  <a:pt x="76990" y="131845"/>
                </a:lnTo>
                <a:lnTo>
                  <a:pt x="54492" y="184074"/>
                </a:lnTo>
                <a:lnTo>
                  <a:pt x="33566" y="244986"/>
                </a:lnTo>
                <a:lnTo>
                  <a:pt x="14455" y="314580"/>
                </a:lnTo>
                <a:lnTo>
                  <a:pt x="5655" y="352632"/>
                </a:lnTo>
                <a:lnTo>
                  <a:pt x="0" y="380183"/>
                </a:lnTo>
                <a:lnTo>
                  <a:pt x="29471" y="380183"/>
                </a:lnTo>
                <a:lnTo>
                  <a:pt x="29909" y="377897"/>
                </a:lnTo>
                <a:lnTo>
                  <a:pt x="29909" y="378659"/>
                </a:lnTo>
                <a:lnTo>
                  <a:pt x="37529" y="344369"/>
                </a:lnTo>
                <a:lnTo>
                  <a:pt x="37529" y="345131"/>
                </a:lnTo>
                <a:lnTo>
                  <a:pt x="45149" y="312365"/>
                </a:lnTo>
                <a:lnTo>
                  <a:pt x="53531" y="281123"/>
                </a:lnTo>
                <a:lnTo>
                  <a:pt x="53531" y="281885"/>
                </a:lnTo>
                <a:lnTo>
                  <a:pt x="61913" y="251405"/>
                </a:lnTo>
                <a:lnTo>
                  <a:pt x="61913" y="252167"/>
                </a:lnTo>
                <a:lnTo>
                  <a:pt x="71057" y="223973"/>
                </a:lnTo>
                <a:lnTo>
                  <a:pt x="80201" y="199355"/>
                </a:lnTo>
                <a:lnTo>
                  <a:pt x="80201" y="198065"/>
                </a:lnTo>
                <a:lnTo>
                  <a:pt x="90107" y="172919"/>
                </a:lnTo>
                <a:lnTo>
                  <a:pt x="100013" y="151692"/>
                </a:lnTo>
                <a:lnTo>
                  <a:pt x="100013" y="150059"/>
                </a:lnTo>
                <a:lnTo>
                  <a:pt x="110681" y="128723"/>
                </a:lnTo>
                <a:lnTo>
                  <a:pt x="110681" y="129485"/>
                </a:lnTo>
                <a:lnTo>
                  <a:pt x="120587" y="111088"/>
                </a:lnTo>
                <a:lnTo>
                  <a:pt x="120587" y="110435"/>
                </a:lnTo>
                <a:lnTo>
                  <a:pt x="131255" y="93366"/>
                </a:lnTo>
                <a:lnTo>
                  <a:pt x="131255" y="92909"/>
                </a:lnTo>
                <a:lnTo>
                  <a:pt x="142685" y="76907"/>
                </a:lnTo>
                <a:lnTo>
                  <a:pt x="142685" y="77669"/>
                </a:lnTo>
                <a:lnTo>
                  <a:pt x="153353" y="64156"/>
                </a:lnTo>
                <a:lnTo>
                  <a:pt x="153353" y="63953"/>
                </a:lnTo>
                <a:lnTo>
                  <a:pt x="154115" y="63191"/>
                </a:lnTo>
                <a:lnTo>
                  <a:pt x="164021" y="53952"/>
                </a:lnTo>
                <a:lnTo>
                  <a:pt x="164021" y="53285"/>
                </a:lnTo>
                <a:lnTo>
                  <a:pt x="174689" y="44618"/>
                </a:lnTo>
                <a:lnTo>
                  <a:pt x="174689" y="44141"/>
                </a:lnTo>
                <a:lnTo>
                  <a:pt x="185357" y="37866"/>
                </a:lnTo>
                <a:lnTo>
                  <a:pt x="185357" y="37283"/>
                </a:lnTo>
                <a:lnTo>
                  <a:pt x="196025" y="32263"/>
                </a:lnTo>
                <a:lnTo>
                  <a:pt x="196025" y="31949"/>
                </a:lnTo>
                <a:lnTo>
                  <a:pt x="198311" y="31187"/>
                </a:lnTo>
                <a:lnTo>
                  <a:pt x="198311" y="31411"/>
                </a:lnTo>
                <a:lnTo>
                  <a:pt x="206693" y="29439"/>
                </a:lnTo>
                <a:lnTo>
                  <a:pt x="206693" y="28901"/>
                </a:lnTo>
                <a:lnTo>
                  <a:pt x="216599" y="28319"/>
                </a:lnTo>
                <a:lnTo>
                  <a:pt x="216599" y="28139"/>
                </a:lnTo>
                <a:lnTo>
                  <a:pt x="219647" y="28139"/>
                </a:lnTo>
                <a:lnTo>
                  <a:pt x="219647" y="28319"/>
                </a:lnTo>
                <a:lnTo>
                  <a:pt x="229553" y="28901"/>
                </a:lnTo>
                <a:lnTo>
                  <a:pt x="229553" y="29439"/>
                </a:lnTo>
                <a:lnTo>
                  <a:pt x="237935" y="31411"/>
                </a:lnTo>
                <a:lnTo>
                  <a:pt x="237935" y="31187"/>
                </a:lnTo>
                <a:lnTo>
                  <a:pt x="240221" y="31949"/>
                </a:lnTo>
                <a:lnTo>
                  <a:pt x="240221" y="32263"/>
                </a:lnTo>
                <a:lnTo>
                  <a:pt x="250889" y="37283"/>
                </a:lnTo>
                <a:lnTo>
                  <a:pt x="250889" y="37866"/>
                </a:lnTo>
                <a:lnTo>
                  <a:pt x="261557" y="44141"/>
                </a:lnTo>
                <a:lnTo>
                  <a:pt x="261557" y="44618"/>
                </a:lnTo>
                <a:lnTo>
                  <a:pt x="271463" y="52666"/>
                </a:lnTo>
                <a:lnTo>
                  <a:pt x="271463" y="52523"/>
                </a:lnTo>
                <a:lnTo>
                  <a:pt x="282893" y="63953"/>
                </a:lnTo>
                <a:lnTo>
                  <a:pt x="282893" y="64096"/>
                </a:lnTo>
                <a:lnTo>
                  <a:pt x="294323" y="77669"/>
                </a:lnTo>
                <a:lnTo>
                  <a:pt x="294323" y="77974"/>
                </a:lnTo>
                <a:lnTo>
                  <a:pt x="304991" y="92909"/>
                </a:lnTo>
                <a:lnTo>
                  <a:pt x="304991" y="93366"/>
                </a:lnTo>
                <a:lnTo>
                  <a:pt x="315659" y="110435"/>
                </a:lnTo>
                <a:lnTo>
                  <a:pt x="315659" y="110994"/>
                </a:lnTo>
                <a:lnTo>
                  <a:pt x="326327" y="129485"/>
                </a:lnTo>
                <a:lnTo>
                  <a:pt x="326327" y="130302"/>
                </a:lnTo>
                <a:lnTo>
                  <a:pt x="336233" y="150821"/>
                </a:lnTo>
                <a:lnTo>
                  <a:pt x="336233" y="150059"/>
                </a:lnTo>
                <a:lnTo>
                  <a:pt x="346139" y="172919"/>
                </a:lnTo>
                <a:lnTo>
                  <a:pt x="356045" y="198065"/>
                </a:lnTo>
                <a:lnTo>
                  <a:pt x="356045" y="197303"/>
                </a:lnTo>
                <a:lnTo>
                  <a:pt x="365189" y="223973"/>
                </a:lnTo>
                <a:lnTo>
                  <a:pt x="374333" y="252167"/>
                </a:lnTo>
                <a:lnTo>
                  <a:pt x="374333" y="251405"/>
                </a:lnTo>
                <a:lnTo>
                  <a:pt x="382715" y="281885"/>
                </a:lnTo>
                <a:lnTo>
                  <a:pt x="382715" y="281123"/>
                </a:lnTo>
                <a:lnTo>
                  <a:pt x="391097" y="312365"/>
                </a:lnTo>
                <a:lnTo>
                  <a:pt x="399479" y="345131"/>
                </a:lnTo>
                <a:lnTo>
                  <a:pt x="399479" y="347798"/>
                </a:lnTo>
                <a:lnTo>
                  <a:pt x="406337" y="378659"/>
                </a:lnTo>
                <a:lnTo>
                  <a:pt x="406337" y="377897"/>
                </a:lnTo>
                <a:lnTo>
                  <a:pt x="406775" y="380183"/>
                </a:lnTo>
                <a:lnTo>
                  <a:pt x="436388" y="380183"/>
                </a:lnTo>
                <a:close/>
              </a:path>
              <a:path w="436880" h="380364">
                <a:moveTo>
                  <a:pt x="80963" y="197303"/>
                </a:moveTo>
                <a:lnTo>
                  <a:pt x="80201" y="198065"/>
                </a:lnTo>
                <a:lnTo>
                  <a:pt x="80201" y="199355"/>
                </a:lnTo>
                <a:lnTo>
                  <a:pt x="80963" y="197303"/>
                </a:lnTo>
                <a:close/>
              </a:path>
              <a:path w="436880" h="380364">
                <a:moveTo>
                  <a:pt x="100775" y="150059"/>
                </a:moveTo>
                <a:lnTo>
                  <a:pt x="100013" y="150059"/>
                </a:lnTo>
                <a:lnTo>
                  <a:pt x="100013" y="151692"/>
                </a:lnTo>
                <a:lnTo>
                  <a:pt x="100775" y="150059"/>
                </a:lnTo>
                <a:close/>
              </a:path>
              <a:path w="436880" h="380364">
                <a:moveTo>
                  <a:pt x="121349" y="109673"/>
                </a:moveTo>
                <a:lnTo>
                  <a:pt x="120587" y="110435"/>
                </a:lnTo>
                <a:lnTo>
                  <a:pt x="120587" y="111088"/>
                </a:lnTo>
                <a:lnTo>
                  <a:pt x="121349" y="109673"/>
                </a:lnTo>
                <a:close/>
              </a:path>
              <a:path w="436880" h="380364">
                <a:moveTo>
                  <a:pt x="132017" y="92147"/>
                </a:moveTo>
                <a:lnTo>
                  <a:pt x="131255" y="92909"/>
                </a:lnTo>
                <a:lnTo>
                  <a:pt x="131255" y="93366"/>
                </a:lnTo>
                <a:lnTo>
                  <a:pt x="132017" y="92147"/>
                </a:lnTo>
                <a:close/>
              </a:path>
              <a:path w="436880" h="380364">
                <a:moveTo>
                  <a:pt x="154115" y="63191"/>
                </a:moveTo>
                <a:lnTo>
                  <a:pt x="153353" y="63953"/>
                </a:lnTo>
                <a:lnTo>
                  <a:pt x="153970" y="63375"/>
                </a:lnTo>
                <a:lnTo>
                  <a:pt x="154115" y="63191"/>
                </a:lnTo>
                <a:close/>
              </a:path>
              <a:path w="436880" h="380364">
                <a:moveTo>
                  <a:pt x="153970" y="63375"/>
                </a:moveTo>
                <a:lnTo>
                  <a:pt x="153353" y="63953"/>
                </a:lnTo>
                <a:lnTo>
                  <a:pt x="153353" y="64156"/>
                </a:lnTo>
                <a:lnTo>
                  <a:pt x="153970" y="63375"/>
                </a:lnTo>
                <a:close/>
              </a:path>
              <a:path w="436880" h="380364">
                <a:moveTo>
                  <a:pt x="154115" y="63239"/>
                </a:moveTo>
                <a:lnTo>
                  <a:pt x="153970" y="63375"/>
                </a:lnTo>
                <a:lnTo>
                  <a:pt x="154115" y="63239"/>
                </a:lnTo>
                <a:close/>
              </a:path>
              <a:path w="436880" h="380364">
                <a:moveTo>
                  <a:pt x="165545" y="52523"/>
                </a:moveTo>
                <a:lnTo>
                  <a:pt x="164021" y="53285"/>
                </a:lnTo>
                <a:lnTo>
                  <a:pt x="164021" y="53952"/>
                </a:lnTo>
                <a:lnTo>
                  <a:pt x="165545" y="52523"/>
                </a:lnTo>
                <a:close/>
              </a:path>
              <a:path w="436880" h="380364">
                <a:moveTo>
                  <a:pt x="176213" y="43379"/>
                </a:moveTo>
                <a:lnTo>
                  <a:pt x="174689" y="44141"/>
                </a:lnTo>
                <a:lnTo>
                  <a:pt x="174689" y="44618"/>
                </a:lnTo>
                <a:lnTo>
                  <a:pt x="176213" y="43379"/>
                </a:lnTo>
                <a:close/>
              </a:path>
              <a:path w="436880" h="380364">
                <a:moveTo>
                  <a:pt x="187643" y="36521"/>
                </a:moveTo>
                <a:lnTo>
                  <a:pt x="185357" y="37283"/>
                </a:lnTo>
                <a:lnTo>
                  <a:pt x="185357" y="37866"/>
                </a:lnTo>
                <a:lnTo>
                  <a:pt x="187643" y="36521"/>
                </a:lnTo>
                <a:close/>
              </a:path>
              <a:path w="436880" h="380364">
                <a:moveTo>
                  <a:pt x="198311" y="31187"/>
                </a:moveTo>
                <a:lnTo>
                  <a:pt x="196025" y="31949"/>
                </a:lnTo>
                <a:lnTo>
                  <a:pt x="197359" y="31636"/>
                </a:lnTo>
                <a:lnTo>
                  <a:pt x="198311" y="31187"/>
                </a:lnTo>
                <a:close/>
              </a:path>
              <a:path w="436880" h="380364">
                <a:moveTo>
                  <a:pt x="197359" y="31636"/>
                </a:moveTo>
                <a:lnTo>
                  <a:pt x="196025" y="31949"/>
                </a:lnTo>
                <a:lnTo>
                  <a:pt x="196025" y="32263"/>
                </a:lnTo>
                <a:lnTo>
                  <a:pt x="197359" y="31636"/>
                </a:lnTo>
                <a:close/>
              </a:path>
              <a:path w="436880" h="380364">
                <a:moveTo>
                  <a:pt x="198311" y="31411"/>
                </a:moveTo>
                <a:lnTo>
                  <a:pt x="198311" y="31187"/>
                </a:lnTo>
                <a:lnTo>
                  <a:pt x="197359" y="31636"/>
                </a:lnTo>
                <a:lnTo>
                  <a:pt x="198311" y="31411"/>
                </a:lnTo>
                <a:close/>
              </a:path>
              <a:path w="436880" h="380364">
                <a:moveTo>
                  <a:pt x="208979" y="28901"/>
                </a:moveTo>
                <a:lnTo>
                  <a:pt x="206693" y="28901"/>
                </a:lnTo>
                <a:lnTo>
                  <a:pt x="206693" y="29439"/>
                </a:lnTo>
                <a:lnTo>
                  <a:pt x="208979" y="28901"/>
                </a:lnTo>
                <a:close/>
              </a:path>
              <a:path w="436880" h="380364">
                <a:moveTo>
                  <a:pt x="218123" y="28229"/>
                </a:moveTo>
                <a:lnTo>
                  <a:pt x="216599" y="28139"/>
                </a:lnTo>
                <a:lnTo>
                  <a:pt x="216599" y="28319"/>
                </a:lnTo>
                <a:lnTo>
                  <a:pt x="218123" y="28229"/>
                </a:lnTo>
                <a:close/>
              </a:path>
              <a:path w="436880" h="380364">
                <a:moveTo>
                  <a:pt x="219647" y="28319"/>
                </a:moveTo>
                <a:lnTo>
                  <a:pt x="219647" y="28139"/>
                </a:lnTo>
                <a:lnTo>
                  <a:pt x="218123" y="28229"/>
                </a:lnTo>
                <a:lnTo>
                  <a:pt x="219647" y="28319"/>
                </a:lnTo>
                <a:close/>
              </a:path>
              <a:path w="436880" h="380364">
                <a:moveTo>
                  <a:pt x="229553" y="29439"/>
                </a:moveTo>
                <a:lnTo>
                  <a:pt x="229553" y="28901"/>
                </a:lnTo>
                <a:lnTo>
                  <a:pt x="227267" y="28901"/>
                </a:lnTo>
                <a:lnTo>
                  <a:pt x="229553" y="29439"/>
                </a:lnTo>
                <a:close/>
              </a:path>
              <a:path w="436880" h="380364">
                <a:moveTo>
                  <a:pt x="240221" y="31949"/>
                </a:moveTo>
                <a:lnTo>
                  <a:pt x="237935" y="31187"/>
                </a:lnTo>
                <a:lnTo>
                  <a:pt x="238888" y="31636"/>
                </a:lnTo>
                <a:lnTo>
                  <a:pt x="240221" y="31949"/>
                </a:lnTo>
                <a:close/>
              </a:path>
              <a:path w="436880" h="380364">
                <a:moveTo>
                  <a:pt x="238888" y="31636"/>
                </a:moveTo>
                <a:lnTo>
                  <a:pt x="237935" y="31187"/>
                </a:lnTo>
                <a:lnTo>
                  <a:pt x="237935" y="31411"/>
                </a:lnTo>
                <a:lnTo>
                  <a:pt x="238888" y="31636"/>
                </a:lnTo>
                <a:close/>
              </a:path>
              <a:path w="436880" h="380364">
                <a:moveTo>
                  <a:pt x="240221" y="32263"/>
                </a:moveTo>
                <a:lnTo>
                  <a:pt x="240221" y="31949"/>
                </a:lnTo>
                <a:lnTo>
                  <a:pt x="238888" y="31636"/>
                </a:lnTo>
                <a:lnTo>
                  <a:pt x="240221" y="32263"/>
                </a:lnTo>
                <a:close/>
              </a:path>
              <a:path w="436880" h="380364">
                <a:moveTo>
                  <a:pt x="250889" y="37866"/>
                </a:moveTo>
                <a:lnTo>
                  <a:pt x="250889" y="37283"/>
                </a:lnTo>
                <a:lnTo>
                  <a:pt x="248603" y="36521"/>
                </a:lnTo>
                <a:lnTo>
                  <a:pt x="250889" y="37866"/>
                </a:lnTo>
                <a:close/>
              </a:path>
              <a:path w="436880" h="380364">
                <a:moveTo>
                  <a:pt x="261557" y="44618"/>
                </a:moveTo>
                <a:lnTo>
                  <a:pt x="261557" y="44141"/>
                </a:lnTo>
                <a:lnTo>
                  <a:pt x="260033" y="43379"/>
                </a:lnTo>
                <a:lnTo>
                  <a:pt x="261557" y="44618"/>
                </a:lnTo>
                <a:close/>
              </a:path>
              <a:path w="436880" h="380364">
                <a:moveTo>
                  <a:pt x="272225" y="53285"/>
                </a:moveTo>
                <a:lnTo>
                  <a:pt x="271463" y="52523"/>
                </a:lnTo>
                <a:lnTo>
                  <a:pt x="271463" y="52666"/>
                </a:lnTo>
                <a:lnTo>
                  <a:pt x="272225" y="53285"/>
                </a:lnTo>
                <a:close/>
              </a:path>
              <a:path w="436880" h="380364">
                <a:moveTo>
                  <a:pt x="282893" y="64096"/>
                </a:moveTo>
                <a:lnTo>
                  <a:pt x="282893" y="63953"/>
                </a:lnTo>
                <a:lnTo>
                  <a:pt x="282131" y="63191"/>
                </a:lnTo>
                <a:lnTo>
                  <a:pt x="282893" y="64096"/>
                </a:lnTo>
                <a:close/>
              </a:path>
              <a:path w="436880" h="380364">
                <a:moveTo>
                  <a:pt x="294323" y="77974"/>
                </a:moveTo>
                <a:lnTo>
                  <a:pt x="294323" y="77669"/>
                </a:lnTo>
                <a:lnTo>
                  <a:pt x="293561" y="76907"/>
                </a:lnTo>
                <a:lnTo>
                  <a:pt x="294323" y="77974"/>
                </a:lnTo>
                <a:close/>
              </a:path>
              <a:path w="436880" h="380364">
                <a:moveTo>
                  <a:pt x="304991" y="93366"/>
                </a:moveTo>
                <a:lnTo>
                  <a:pt x="304991" y="92909"/>
                </a:lnTo>
                <a:lnTo>
                  <a:pt x="304229" y="92147"/>
                </a:lnTo>
                <a:lnTo>
                  <a:pt x="304991" y="93366"/>
                </a:lnTo>
                <a:close/>
              </a:path>
              <a:path w="436880" h="380364">
                <a:moveTo>
                  <a:pt x="315659" y="110994"/>
                </a:moveTo>
                <a:lnTo>
                  <a:pt x="315659" y="110435"/>
                </a:lnTo>
                <a:lnTo>
                  <a:pt x="314897" y="109673"/>
                </a:lnTo>
                <a:lnTo>
                  <a:pt x="315659" y="110994"/>
                </a:lnTo>
                <a:close/>
              </a:path>
              <a:path w="436880" h="380364">
                <a:moveTo>
                  <a:pt x="326327" y="130302"/>
                </a:moveTo>
                <a:lnTo>
                  <a:pt x="326327" y="129485"/>
                </a:lnTo>
                <a:lnTo>
                  <a:pt x="325565" y="128723"/>
                </a:lnTo>
                <a:lnTo>
                  <a:pt x="326327" y="130302"/>
                </a:lnTo>
                <a:close/>
              </a:path>
              <a:path w="436880" h="380364">
                <a:moveTo>
                  <a:pt x="399479" y="347798"/>
                </a:moveTo>
                <a:lnTo>
                  <a:pt x="399479" y="345131"/>
                </a:lnTo>
                <a:lnTo>
                  <a:pt x="398717" y="344369"/>
                </a:lnTo>
                <a:lnTo>
                  <a:pt x="399479" y="34779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98683" y="2920745"/>
            <a:ext cx="8680704" cy="46253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07065" y="3562350"/>
            <a:ext cx="2314194" cy="2156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596019" y="2920745"/>
            <a:ext cx="534035" cy="857250"/>
          </a:xfrm>
          <a:custGeom>
            <a:avLst/>
            <a:gdLst/>
            <a:ahLst/>
            <a:cxnLst/>
            <a:rect l="l" t="t" r="r" b="b"/>
            <a:pathLst>
              <a:path w="534035" h="857250">
                <a:moveTo>
                  <a:pt x="78048" y="0"/>
                </a:moveTo>
                <a:lnTo>
                  <a:pt x="48576" y="0"/>
                </a:lnTo>
                <a:lnTo>
                  <a:pt x="45975" y="12669"/>
                </a:lnTo>
                <a:lnTo>
                  <a:pt x="38294" y="55060"/>
                </a:lnTo>
                <a:lnTo>
                  <a:pt x="31218" y="99620"/>
                </a:lnTo>
                <a:lnTo>
                  <a:pt x="24776" y="146349"/>
                </a:lnTo>
                <a:lnTo>
                  <a:pt x="18999" y="195246"/>
                </a:lnTo>
                <a:lnTo>
                  <a:pt x="13918" y="246312"/>
                </a:lnTo>
                <a:lnTo>
                  <a:pt x="9562" y="299547"/>
                </a:lnTo>
                <a:lnTo>
                  <a:pt x="5962" y="354949"/>
                </a:lnTo>
                <a:lnTo>
                  <a:pt x="3149" y="412519"/>
                </a:lnTo>
                <a:lnTo>
                  <a:pt x="1151" y="472257"/>
                </a:lnTo>
                <a:lnTo>
                  <a:pt x="0" y="534162"/>
                </a:lnTo>
                <a:lnTo>
                  <a:pt x="1524" y="626363"/>
                </a:lnTo>
                <a:lnTo>
                  <a:pt x="1524" y="649952"/>
                </a:lnTo>
                <a:lnTo>
                  <a:pt x="4211" y="715657"/>
                </a:lnTo>
                <a:lnTo>
                  <a:pt x="7071" y="757129"/>
                </a:lnTo>
                <a:lnTo>
                  <a:pt x="11032" y="803036"/>
                </a:lnTo>
                <a:lnTo>
                  <a:pt x="16164" y="852530"/>
                </a:lnTo>
                <a:lnTo>
                  <a:pt x="16740" y="857250"/>
                </a:lnTo>
                <a:lnTo>
                  <a:pt x="28956" y="857250"/>
                </a:lnTo>
                <a:lnTo>
                  <a:pt x="28956" y="533400"/>
                </a:lnTo>
                <a:lnTo>
                  <a:pt x="28959" y="533780"/>
                </a:lnTo>
                <a:lnTo>
                  <a:pt x="29718" y="441959"/>
                </a:lnTo>
                <a:lnTo>
                  <a:pt x="31242" y="397001"/>
                </a:lnTo>
                <a:lnTo>
                  <a:pt x="31242" y="397763"/>
                </a:lnTo>
                <a:lnTo>
                  <a:pt x="33527" y="352805"/>
                </a:lnTo>
                <a:lnTo>
                  <a:pt x="33527" y="353567"/>
                </a:lnTo>
                <a:lnTo>
                  <a:pt x="36575" y="309371"/>
                </a:lnTo>
                <a:lnTo>
                  <a:pt x="36575" y="310133"/>
                </a:lnTo>
                <a:lnTo>
                  <a:pt x="40386" y="264247"/>
                </a:lnTo>
                <a:lnTo>
                  <a:pt x="44867" y="217703"/>
                </a:lnTo>
                <a:lnTo>
                  <a:pt x="50125" y="170892"/>
                </a:lnTo>
                <a:lnTo>
                  <a:pt x="56266" y="124206"/>
                </a:lnTo>
                <a:lnTo>
                  <a:pt x="63398" y="78033"/>
                </a:lnTo>
                <a:lnTo>
                  <a:pt x="71627" y="32765"/>
                </a:lnTo>
                <a:lnTo>
                  <a:pt x="71627" y="33527"/>
                </a:lnTo>
                <a:lnTo>
                  <a:pt x="78048" y="0"/>
                </a:lnTo>
                <a:close/>
              </a:path>
              <a:path w="534035" h="857250">
                <a:moveTo>
                  <a:pt x="1524" y="649952"/>
                </a:moveTo>
                <a:lnTo>
                  <a:pt x="1524" y="626363"/>
                </a:lnTo>
                <a:lnTo>
                  <a:pt x="1508" y="649425"/>
                </a:lnTo>
                <a:lnTo>
                  <a:pt x="1524" y="649952"/>
                </a:lnTo>
                <a:close/>
              </a:path>
              <a:path w="534035" h="857250">
                <a:moveTo>
                  <a:pt x="28959" y="533780"/>
                </a:moveTo>
                <a:lnTo>
                  <a:pt x="28956" y="533400"/>
                </a:lnTo>
                <a:lnTo>
                  <a:pt x="28956" y="534162"/>
                </a:lnTo>
                <a:lnTo>
                  <a:pt x="28959" y="533780"/>
                </a:lnTo>
                <a:close/>
              </a:path>
              <a:path w="534035" h="857250">
                <a:moveTo>
                  <a:pt x="45698" y="857250"/>
                </a:moveTo>
                <a:lnTo>
                  <a:pt x="44867" y="849852"/>
                </a:lnTo>
                <a:lnTo>
                  <a:pt x="40386" y="803310"/>
                </a:lnTo>
                <a:lnTo>
                  <a:pt x="36575" y="757427"/>
                </a:lnTo>
                <a:lnTo>
                  <a:pt x="36575" y="758189"/>
                </a:lnTo>
                <a:lnTo>
                  <a:pt x="33527" y="713993"/>
                </a:lnTo>
                <a:lnTo>
                  <a:pt x="33527" y="714755"/>
                </a:lnTo>
                <a:lnTo>
                  <a:pt x="31242" y="669798"/>
                </a:lnTo>
                <a:lnTo>
                  <a:pt x="31242" y="670559"/>
                </a:lnTo>
                <a:lnTo>
                  <a:pt x="29718" y="625601"/>
                </a:lnTo>
                <a:lnTo>
                  <a:pt x="28959" y="533780"/>
                </a:lnTo>
                <a:lnTo>
                  <a:pt x="28956" y="534162"/>
                </a:lnTo>
                <a:lnTo>
                  <a:pt x="28956" y="857250"/>
                </a:lnTo>
                <a:lnTo>
                  <a:pt x="45698" y="857250"/>
                </a:lnTo>
                <a:close/>
              </a:path>
              <a:path w="534035" h="857250">
                <a:moveTo>
                  <a:pt x="533917" y="560626"/>
                </a:moveTo>
                <a:lnTo>
                  <a:pt x="532236" y="471397"/>
                </a:lnTo>
                <a:lnTo>
                  <a:pt x="530226" y="411576"/>
                </a:lnTo>
                <a:lnTo>
                  <a:pt x="527401" y="353934"/>
                </a:lnTo>
                <a:lnTo>
                  <a:pt x="523790" y="298472"/>
                </a:lnTo>
                <a:lnTo>
                  <a:pt x="519424" y="245190"/>
                </a:lnTo>
                <a:lnTo>
                  <a:pt x="514333" y="194087"/>
                </a:lnTo>
                <a:lnTo>
                  <a:pt x="508546" y="145163"/>
                </a:lnTo>
                <a:lnTo>
                  <a:pt x="502095" y="98419"/>
                </a:lnTo>
                <a:lnTo>
                  <a:pt x="495010" y="53852"/>
                </a:lnTo>
                <a:lnTo>
                  <a:pt x="487320" y="11465"/>
                </a:lnTo>
                <a:lnTo>
                  <a:pt x="484964" y="0"/>
                </a:lnTo>
                <a:lnTo>
                  <a:pt x="455351" y="0"/>
                </a:lnTo>
                <a:lnTo>
                  <a:pt x="461771" y="33527"/>
                </a:lnTo>
                <a:lnTo>
                  <a:pt x="461771" y="32765"/>
                </a:lnTo>
                <a:lnTo>
                  <a:pt x="470004" y="78314"/>
                </a:lnTo>
                <a:lnTo>
                  <a:pt x="477305" y="124434"/>
                </a:lnTo>
                <a:lnTo>
                  <a:pt x="483655" y="170902"/>
                </a:lnTo>
                <a:lnTo>
                  <a:pt x="489037" y="217491"/>
                </a:lnTo>
                <a:lnTo>
                  <a:pt x="493432" y="263977"/>
                </a:lnTo>
                <a:lnTo>
                  <a:pt x="496824" y="310133"/>
                </a:lnTo>
                <a:lnTo>
                  <a:pt x="496824" y="309371"/>
                </a:lnTo>
                <a:lnTo>
                  <a:pt x="499871" y="353567"/>
                </a:lnTo>
                <a:lnTo>
                  <a:pt x="499871" y="352805"/>
                </a:lnTo>
                <a:lnTo>
                  <a:pt x="502157" y="397763"/>
                </a:lnTo>
                <a:lnTo>
                  <a:pt x="502157" y="397001"/>
                </a:lnTo>
                <a:lnTo>
                  <a:pt x="503681" y="441959"/>
                </a:lnTo>
                <a:lnTo>
                  <a:pt x="505199" y="533780"/>
                </a:lnTo>
                <a:lnTo>
                  <a:pt x="505206" y="533400"/>
                </a:lnTo>
                <a:lnTo>
                  <a:pt x="505206" y="857250"/>
                </a:lnTo>
                <a:lnTo>
                  <a:pt x="516157" y="857250"/>
                </a:lnTo>
                <a:lnTo>
                  <a:pt x="523999" y="777985"/>
                </a:lnTo>
                <a:lnTo>
                  <a:pt x="527927" y="726208"/>
                </a:lnTo>
                <a:lnTo>
                  <a:pt x="530799" y="677826"/>
                </a:lnTo>
                <a:lnTo>
                  <a:pt x="532700" y="633597"/>
                </a:lnTo>
                <a:lnTo>
                  <a:pt x="533711" y="594278"/>
                </a:lnTo>
                <a:lnTo>
                  <a:pt x="533917" y="560626"/>
                </a:lnTo>
                <a:close/>
              </a:path>
              <a:path w="534035" h="857250">
                <a:moveTo>
                  <a:pt x="505206" y="857250"/>
                </a:moveTo>
                <a:lnTo>
                  <a:pt x="505199" y="533780"/>
                </a:lnTo>
                <a:lnTo>
                  <a:pt x="503681" y="625601"/>
                </a:lnTo>
                <a:lnTo>
                  <a:pt x="502157" y="670559"/>
                </a:lnTo>
                <a:lnTo>
                  <a:pt x="502157" y="669798"/>
                </a:lnTo>
                <a:lnTo>
                  <a:pt x="499871" y="714755"/>
                </a:lnTo>
                <a:lnTo>
                  <a:pt x="499871" y="713993"/>
                </a:lnTo>
                <a:lnTo>
                  <a:pt x="496824" y="758189"/>
                </a:lnTo>
                <a:lnTo>
                  <a:pt x="496824" y="757427"/>
                </a:lnTo>
                <a:lnTo>
                  <a:pt x="493432" y="803584"/>
                </a:lnTo>
                <a:lnTo>
                  <a:pt x="489037" y="850070"/>
                </a:lnTo>
                <a:lnTo>
                  <a:pt x="488208" y="857250"/>
                </a:lnTo>
                <a:lnTo>
                  <a:pt x="505206" y="85725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107065" y="3777996"/>
            <a:ext cx="2314194" cy="23393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12759" y="3777996"/>
            <a:ext cx="499745" cy="589915"/>
          </a:xfrm>
          <a:custGeom>
            <a:avLst/>
            <a:gdLst/>
            <a:ahLst/>
            <a:cxnLst/>
            <a:rect l="l" t="t" r="r" b="b"/>
            <a:pathLst>
              <a:path w="499744" h="589914">
                <a:moveTo>
                  <a:pt x="112799" y="393191"/>
                </a:moveTo>
                <a:lnTo>
                  <a:pt x="102893" y="366521"/>
                </a:lnTo>
                <a:lnTo>
                  <a:pt x="93749" y="338327"/>
                </a:lnTo>
                <a:lnTo>
                  <a:pt x="93749" y="339089"/>
                </a:lnTo>
                <a:lnTo>
                  <a:pt x="85367" y="308609"/>
                </a:lnTo>
                <a:lnTo>
                  <a:pt x="85367" y="309371"/>
                </a:lnTo>
                <a:lnTo>
                  <a:pt x="76985" y="278129"/>
                </a:lnTo>
                <a:lnTo>
                  <a:pt x="69365" y="245363"/>
                </a:lnTo>
                <a:lnTo>
                  <a:pt x="69365" y="246125"/>
                </a:lnTo>
                <a:lnTo>
                  <a:pt x="61745" y="211836"/>
                </a:lnTo>
                <a:lnTo>
                  <a:pt x="61745" y="212598"/>
                </a:lnTo>
                <a:lnTo>
                  <a:pt x="54887" y="176783"/>
                </a:lnTo>
                <a:lnTo>
                  <a:pt x="54887" y="177545"/>
                </a:lnTo>
                <a:lnTo>
                  <a:pt x="46658" y="132277"/>
                </a:lnTo>
                <a:lnTo>
                  <a:pt x="39526" y="86103"/>
                </a:lnTo>
                <a:lnTo>
                  <a:pt x="33385" y="39414"/>
                </a:lnTo>
                <a:lnTo>
                  <a:pt x="28958" y="0"/>
                </a:lnTo>
                <a:lnTo>
                  <a:pt x="0" y="0"/>
                </a:lnTo>
                <a:lnTo>
                  <a:pt x="5798" y="47509"/>
                </a:lnTo>
                <a:lnTo>
                  <a:pt x="13485" y="101623"/>
                </a:lnTo>
                <a:lnTo>
                  <a:pt x="22556" y="156772"/>
                </a:lnTo>
                <a:lnTo>
                  <a:pt x="33083" y="212106"/>
                </a:lnTo>
                <a:lnTo>
                  <a:pt x="45135" y="266775"/>
                </a:lnTo>
                <a:lnTo>
                  <a:pt x="58785" y="319928"/>
                </a:lnTo>
                <a:lnTo>
                  <a:pt x="74102" y="370714"/>
                </a:lnTo>
                <a:lnTo>
                  <a:pt x="91159" y="418284"/>
                </a:lnTo>
                <a:lnTo>
                  <a:pt x="110025" y="461787"/>
                </a:lnTo>
                <a:lnTo>
                  <a:pt x="112037" y="465530"/>
                </a:lnTo>
                <a:lnTo>
                  <a:pt x="112037" y="392429"/>
                </a:lnTo>
                <a:lnTo>
                  <a:pt x="112799" y="393191"/>
                </a:lnTo>
                <a:close/>
              </a:path>
              <a:path w="499744" h="589914">
                <a:moveTo>
                  <a:pt x="132611" y="440436"/>
                </a:moveTo>
                <a:lnTo>
                  <a:pt x="121943" y="417575"/>
                </a:lnTo>
                <a:lnTo>
                  <a:pt x="112037" y="392429"/>
                </a:lnTo>
                <a:lnTo>
                  <a:pt x="112037" y="465530"/>
                </a:lnTo>
                <a:lnTo>
                  <a:pt x="130771" y="500373"/>
                </a:lnTo>
                <a:lnTo>
                  <a:pt x="131849" y="501932"/>
                </a:lnTo>
                <a:lnTo>
                  <a:pt x="131849" y="439674"/>
                </a:lnTo>
                <a:lnTo>
                  <a:pt x="132611" y="440436"/>
                </a:lnTo>
                <a:close/>
              </a:path>
              <a:path w="499744" h="589914">
                <a:moveTo>
                  <a:pt x="153185" y="480821"/>
                </a:moveTo>
                <a:lnTo>
                  <a:pt x="142517" y="461009"/>
                </a:lnTo>
                <a:lnTo>
                  <a:pt x="142517" y="461771"/>
                </a:lnTo>
                <a:lnTo>
                  <a:pt x="131849" y="439674"/>
                </a:lnTo>
                <a:lnTo>
                  <a:pt x="131849" y="501932"/>
                </a:lnTo>
                <a:lnTo>
                  <a:pt x="152423" y="531679"/>
                </a:lnTo>
                <a:lnTo>
                  <a:pt x="152423" y="480059"/>
                </a:lnTo>
                <a:lnTo>
                  <a:pt x="153185" y="480821"/>
                </a:lnTo>
                <a:close/>
              </a:path>
              <a:path w="499744" h="589914">
                <a:moveTo>
                  <a:pt x="163853" y="498348"/>
                </a:moveTo>
                <a:lnTo>
                  <a:pt x="152423" y="480059"/>
                </a:lnTo>
                <a:lnTo>
                  <a:pt x="152423" y="531679"/>
                </a:lnTo>
                <a:lnTo>
                  <a:pt x="153470" y="533192"/>
                </a:lnTo>
                <a:lnTo>
                  <a:pt x="163091" y="543389"/>
                </a:lnTo>
                <a:lnTo>
                  <a:pt x="163091" y="497586"/>
                </a:lnTo>
                <a:lnTo>
                  <a:pt x="163853" y="498348"/>
                </a:lnTo>
                <a:close/>
              </a:path>
              <a:path w="499744" h="589914">
                <a:moveTo>
                  <a:pt x="175283" y="513588"/>
                </a:moveTo>
                <a:lnTo>
                  <a:pt x="163091" y="497586"/>
                </a:lnTo>
                <a:lnTo>
                  <a:pt x="163091" y="543389"/>
                </a:lnTo>
                <a:lnTo>
                  <a:pt x="174521" y="555504"/>
                </a:lnTo>
                <a:lnTo>
                  <a:pt x="174521" y="512825"/>
                </a:lnTo>
                <a:lnTo>
                  <a:pt x="175283" y="513588"/>
                </a:lnTo>
                <a:close/>
              </a:path>
              <a:path w="499744" h="589914">
                <a:moveTo>
                  <a:pt x="185807" y="527120"/>
                </a:moveTo>
                <a:lnTo>
                  <a:pt x="174521" y="512825"/>
                </a:lnTo>
                <a:lnTo>
                  <a:pt x="174521" y="555504"/>
                </a:lnTo>
                <a:lnTo>
                  <a:pt x="178191" y="559393"/>
                </a:lnTo>
                <a:lnTo>
                  <a:pt x="185189" y="564282"/>
                </a:lnTo>
                <a:lnTo>
                  <a:pt x="185189" y="526541"/>
                </a:lnTo>
                <a:lnTo>
                  <a:pt x="185807" y="527120"/>
                </a:lnTo>
                <a:close/>
              </a:path>
              <a:path w="499744" h="589914">
                <a:moveTo>
                  <a:pt x="185951" y="527303"/>
                </a:moveTo>
                <a:lnTo>
                  <a:pt x="185807" y="527120"/>
                </a:lnTo>
                <a:lnTo>
                  <a:pt x="185189" y="526541"/>
                </a:lnTo>
                <a:lnTo>
                  <a:pt x="185951" y="527303"/>
                </a:lnTo>
                <a:close/>
              </a:path>
              <a:path w="499744" h="589914">
                <a:moveTo>
                  <a:pt x="185951" y="564815"/>
                </a:moveTo>
                <a:lnTo>
                  <a:pt x="185951" y="527303"/>
                </a:lnTo>
                <a:lnTo>
                  <a:pt x="185189" y="526541"/>
                </a:lnTo>
                <a:lnTo>
                  <a:pt x="185189" y="564282"/>
                </a:lnTo>
                <a:lnTo>
                  <a:pt x="185951" y="564815"/>
                </a:lnTo>
                <a:close/>
              </a:path>
              <a:path w="499744" h="589914">
                <a:moveTo>
                  <a:pt x="197381" y="537971"/>
                </a:moveTo>
                <a:lnTo>
                  <a:pt x="185807" y="527120"/>
                </a:lnTo>
                <a:lnTo>
                  <a:pt x="185951" y="527303"/>
                </a:lnTo>
                <a:lnTo>
                  <a:pt x="185951" y="564815"/>
                </a:lnTo>
                <a:lnTo>
                  <a:pt x="195857" y="571735"/>
                </a:lnTo>
                <a:lnTo>
                  <a:pt x="195857" y="537209"/>
                </a:lnTo>
                <a:lnTo>
                  <a:pt x="197381" y="537971"/>
                </a:lnTo>
                <a:close/>
              </a:path>
              <a:path w="499744" h="589914">
                <a:moveTo>
                  <a:pt x="208049" y="547115"/>
                </a:moveTo>
                <a:lnTo>
                  <a:pt x="195857" y="537209"/>
                </a:lnTo>
                <a:lnTo>
                  <a:pt x="195857" y="571735"/>
                </a:lnTo>
                <a:lnTo>
                  <a:pt x="205006" y="578126"/>
                </a:lnTo>
                <a:lnTo>
                  <a:pt x="206525" y="578672"/>
                </a:lnTo>
                <a:lnTo>
                  <a:pt x="206525" y="546353"/>
                </a:lnTo>
                <a:lnTo>
                  <a:pt x="208049" y="547115"/>
                </a:lnTo>
                <a:close/>
              </a:path>
              <a:path w="499744" h="589914">
                <a:moveTo>
                  <a:pt x="219479" y="553974"/>
                </a:moveTo>
                <a:lnTo>
                  <a:pt x="206525" y="546353"/>
                </a:lnTo>
                <a:lnTo>
                  <a:pt x="206525" y="578672"/>
                </a:lnTo>
                <a:lnTo>
                  <a:pt x="217193" y="582506"/>
                </a:lnTo>
                <a:lnTo>
                  <a:pt x="217193" y="553212"/>
                </a:lnTo>
                <a:lnTo>
                  <a:pt x="219479" y="553974"/>
                </a:lnTo>
                <a:close/>
              </a:path>
              <a:path w="499744" h="589914">
                <a:moveTo>
                  <a:pt x="229195" y="558859"/>
                </a:moveTo>
                <a:lnTo>
                  <a:pt x="217193" y="553212"/>
                </a:lnTo>
                <a:lnTo>
                  <a:pt x="217193" y="582506"/>
                </a:lnTo>
                <a:lnTo>
                  <a:pt x="227861" y="586340"/>
                </a:lnTo>
                <a:lnTo>
                  <a:pt x="227861" y="558545"/>
                </a:lnTo>
                <a:lnTo>
                  <a:pt x="229195" y="558859"/>
                </a:lnTo>
                <a:close/>
              </a:path>
              <a:path w="499744" h="589914">
                <a:moveTo>
                  <a:pt x="230147" y="559307"/>
                </a:moveTo>
                <a:lnTo>
                  <a:pt x="229195" y="558859"/>
                </a:lnTo>
                <a:lnTo>
                  <a:pt x="227861" y="558545"/>
                </a:lnTo>
                <a:lnTo>
                  <a:pt x="230147" y="559307"/>
                </a:lnTo>
                <a:close/>
              </a:path>
              <a:path w="499744" h="589914">
                <a:moveTo>
                  <a:pt x="230147" y="587162"/>
                </a:moveTo>
                <a:lnTo>
                  <a:pt x="230147" y="559307"/>
                </a:lnTo>
                <a:lnTo>
                  <a:pt x="227861" y="558545"/>
                </a:lnTo>
                <a:lnTo>
                  <a:pt x="227861" y="586340"/>
                </a:lnTo>
                <a:lnTo>
                  <a:pt x="230147" y="587162"/>
                </a:lnTo>
                <a:close/>
              </a:path>
              <a:path w="499744" h="589914">
                <a:moveTo>
                  <a:pt x="240815" y="561593"/>
                </a:moveTo>
                <a:lnTo>
                  <a:pt x="229195" y="558859"/>
                </a:lnTo>
                <a:lnTo>
                  <a:pt x="230147" y="559307"/>
                </a:lnTo>
                <a:lnTo>
                  <a:pt x="230147" y="587162"/>
                </a:lnTo>
                <a:lnTo>
                  <a:pt x="233985" y="588541"/>
                </a:lnTo>
                <a:lnTo>
                  <a:pt x="238529" y="588723"/>
                </a:lnTo>
                <a:lnTo>
                  <a:pt x="238529" y="561593"/>
                </a:lnTo>
                <a:lnTo>
                  <a:pt x="240815" y="561593"/>
                </a:lnTo>
                <a:close/>
              </a:path>
              <a:path w="499744" h="589914">
                <a:moveTo>
                  <a:pt x="251483" y="589240"/>
                </a:moveTo>
                <a:lnTo>
                  <a:pt x="251483" y="562355"/>
                </a:lnTo>
                <a:lnTo>
                  <a:pt x="248435" y="562355"/>
                </a:lnTo>
                <a:lnTo>
                  <a:pt x="248435" y="562176"/>
                </a:lnTo>
                <a:lnTo>
                  <a:pt x="238529" y="561593"/>
                </a:lnTo>
                <a:lnTo>
                  <a:pt x="238529" y="588723"/>
                </a:lnTo>
                <a:lnTo>
                  <a:pt x="248435" y="589118"/>
                </a:lnTo>
                <a:lnTo>
                  <a:pt x="248435" y="562355"/>
                </a:lnTo>
                <a:lnTo>
                  <a:pt x="249959" y="562266"/>
                </a:lnTo>
                <a:lnTo>
                  <a:pt x="249959" y="589179"/>
                </a:lnTo>
                <a:lnTo>
                  <a:pt x="251483" y="589240"/>
                </a:lnTo>
                <a:close/>
              </a:path>
              <a:path w="499744" h="589914">
                <a:moveTo>
                  <a:pt x="261389" y="589635"/>
                </a:moveTo>
                <a:lnTo>
                  <a:pt x="261389" y="561593"/>
                </a:lnTo>
                <a:lnTo>
                  <a:pt x="249959" y="562266"/>
                </a:lnTo>
                <a:lnTo>
                  <a:pt x="251483" y="562355"/>
                </a:lnTo>
                <a:lnTo>
                  <a:pt x="251483" y="589240"/>
                </a:lnTo>
                <a:lnTo>
                  <a:pt x="261389" y="589635"/>
                </a:lnTo>
                <a:close/>
              </a:path>
              <a:path w="499744" h="589914">
                <a:moveTo>
                  <a:pt x="270724" y="558859"/>
                </a:moveTo>
                <a:lnTo>
                  <a:pt x="259103" y="561593"/>
                </a:lnTo>
                <a:lnTo>
                  <a:pt x="261389" y="561593"/>
                </a:lnTo>
                <a:lnTo>
                  <a:pt x="261389" y="589635"/>
                </a:lnTo>
                <a:lnTo>
                  <a:pt x="265199" y="589788"/>
                </a:lnTo>
                <a:lnTo>
                  <a:pt x="269771" y="587970"/>
                </a:lnTo>
                <a:lnTo>
                  <a:pt x="269771" y="559307"/>
                </a:lnTo>
                <a:lnTo>
                  <a:pt x="270724" y="558859"/>
                </a:lnTo>
                <a:close/>
              </a:path>
              <a:path w="499744" h="589914">
                <a:moveTo>
                  <a:pt x="272057" y="558545"/>
                </a:moveTo>
                <a:lnTo>
                  <a:pt x="270724" y="558859"/>
                </a:lnTo>
                <a:lnTo>
                  <a:pt x="269771" y="559307"/>
                </a:lnTo>
                <a:lnTo>
                  <a:pt x="272057" y="558545"/>
                </a:lnTo>
                <a:close/>
              </a:path>
              <a:path w="499744" h="589914">
                <a:moveTo>
                  <a:pt x="272057" y="587061"/>
                </a:moveTo>
                <a:lnTo>
                  <a:pt x="272057" y="558545"/>
                </a:lnTo>
                <a:lnTo>
                  <a:pt x="269771" y="559307"/>
                </a:lnTo>
                <a:lnTo>
                  <a:pt x="269771" y="587970"/>
                </a:lnTo>
                <a:lnTo>
                  <a:pt x="272057" y="587061"/>
                </a:lnTo>
                <a:close/>
              </a:path>
              <a:path w="499744" h="589914">
                <a:moveTo>
                  <a:pt x="282725" y="582821"/>
                </a:moveTo>
                <a:lnTo>
                  <a:pt x="282725" y="553212"/>
                </a:lnTo>
                <a:lnTo>
                  <a:pt x="270724" y="558859"/>
                </a:lnTo>
                <a:lnTo>
                  <a:pt x="272057" y="558545"/>
                </a:lnTo>
                <a:lnTo>
                  <a:pt x="272057" y="587061"/>
                </a:lnTo>
                <a:lnTo>
                  <a:pt x="282725" y="582821"/>
                </a:lnTo>
                <a:close/>
              </a:path>
              <a:path w="499744" h="589914">
                <a:moveTo>
                  <a:pt x="293393" y="578581"/>
                </a:moveTo>
                <a:lnTo>
                  <a:pt x="293393" y="546353"/>
                </a:lnTo>
                <a:lnTo>
                  <a:pt x="280439" y="553974"/>
                </a:lnTo>
                <a:lnTo>
                  <a:pt x="282725" y="553212"/>
                </a:lnTo>
                <a:lnTo>
                  <a:pt x="282725" y="582821"/>
                </a:lnTo>
                <a:lnTo>
                  <a:pt x="293393" y="578581"/>
                </a:lnTo>
                <a:close/>
              </a:path>
              <a:path w="499744" h="589914">
                <a:moveTo>
                  <a:pt x="304061" y="537209"/>
                </a:moveTo>
                <a:lnTo>
                  <a:pt x="291869" y="547115"/>
                </a:lnTo>
                <a:lnTo>
                  <a:pt x="293393" y="546353"/>
                </a:lnTo>
                <a:lnTo>
                  <a:pt x="293393" y="578581"/>
                </a:lnTo>
                <a:lnTo>
                  <a:pt x="294929" y="577970"/>
                </a:lnTo>
                <a:lnTo>
                  <a:pt x="303299" y="571933"/>
                </a:lnTo>
                <a:lnTo>
                  <a:pt x="303299" y="537971"/>
                </a:lnTo>
                <a:lnTo>
                  <a:pt x="304061" y="537209"/>
                </a:lnTo>
                <a:close/>
              </a:path>
              <a:path w="499744" h="589914">
                <a:moveTo>
                  <a:pt x="314729" y="563688"/>
                </a:moveTo>
                <a:lnTo>
                  <a:pt x="314729" y="526541"/>
                </a:lnTo>
                <a:lnTo>
                  <a:pt x="303299" y="537971"/>
                </a:lnTo>
                <a:lnTo>
                  <a:pt x="303299" y="571933"/>
                </a:lnTo>
                <a:lnTo>
                  <a:pt x="314729" y="563688"/>
                </a:lnTo>
                <a:close/>
              </a:path>
              <a:path w="499744" h="589914">
                <a:moveTo>
                  <a:pt x="326159" y="554115"/>
                </a:moveTo>
                <a:lnTo>
                  <a:pt x="326159" y="512825"/>
                </a:lnTo>
                <a:lnTo>
                  <a:pt x="313967" y="527303"/>
                </a:lnTo>
                <a:lnTo>
                  <a:pt x="314729" y="526541"/>
                </a:lnTo>
                <a:lnTo>
                  <a:pt x="314729" y="563688"/>
                </a:lnTo>
                <a:lnTo>
                  <a:pt x="322356" y="558187"/>
                </a:lnTo>
                <a:lnTo>
                  <a:pt x="326159" y="554115"/>
                </a:lnTo>
                <a:close/>
              </a:path>
              <a:path w="499744" h="589914">
                <a:moveTo>
                  <a:pt x="336827" y="542693"/>
                </a:moveTo>
                <a:lnTo>
                  <a:pt x="336827" y="497586"/>
                </a:lnTo>
                <a:lnTo>
                  <a:pt x="325397" y="513588"/>
                </a:lnTo>
                <a:lnTo>
                  <a:pt x="326159" y="512825"/>
                </a:lnTo>
                <a:lnTo>
                  <a:pt x="326159" y="554115"/>
                </a:lnTo>
                <a:lnTo>
                  <a:pt x="336827" y="542693"/>
                </a:lnTo>
                <a:close/>
              </a:path>
              <a:path w="499744" h="589914">
                <a:moveTo>
                  <a:pt x="347495" y="531270"/>
                </a:moveTo>
                <a:lnTo>
                  <a:pt x="347495" y="480059"/>
                </a:lnTo>
                <a:lnTo>
                  <a:pt x="336065" y="498348"/>
                </a:lnTo>
                <a:lnTo>
                  <a:pt x="336827" y="497586"/>
                </a:lnTo>
                <a:lnTo>
                  <a:pt x="336827" y="542693"/>
                </a:lnTo>
                <a:lnTo>
                  <a:pt x="347495" y="531270"/>
                </a:lnTo>
                <a:close/>
              </a:path>
              <a:path w="499744" h="589914">
                <a:moveTo>
                  <a:pt x="358163" y="515835"/>
                </a:moveTo>
                <a:lnTo>
                  <a:pt x="358163" y="461009"/>
                </a:lnTo>
                <a:lnTo>
                  <a:pt x="346733" y="480821"/>
                </a:lnTo>
                <a:lnTo>
                  <a:pt x="347495" y="480059"/>
                </a:lnTo>
                <a:lnTo>
                  <a:pt x="347495" y="531270"/>
                </a:lnTo>
                <a:lnTo>
                  <a:pt x="358163" y="515835"/>
                </a:lnTo>
                <a:close/>
              </a:path>
              <a:path w="499744" h="589914">
                <a:moveTo>
                  <a:pt x="431315" y="354721"/>
                </a:moveTo>
                <a:lnTo>
                  <a:pt x="431315" y="245363"/>
                </a:lnTo>
                <a:lnTo>
                  <a:pt x="422933" y="278129"/>
                </a:lnTo>
                <a:lnTo>
                  <a:pt x="414551" y="309371"/>
                </a:lnTo>
                <a:lnTo>
                  <a:pt x="414551" y="308609"/>
                </a:lnTo>
                <a:lnTo>
                  <a:pt x="406169" y="339089"/>
                </a:lnTo>
                <a:lnTo>
                  <a:pt x="406169" y="338327"/>
                </a:lnTo>
                <a:lnTo>
                  <a:pt x="397025" y="366521"/>
                </a:lnTo>
                <a:lnTo>
                  <a:pt x="387881" y="393191"/>
                </a:lnTo>
                <a:lnTo>
                  <a:pt x="387881" y="392429"/>
                </a:lnTo>
                <a:lnTo>
                  <a:pt x="377975" y="417575"/>
                </a:lnTo>
                <a:lnTo>
                  <a:pt x="368069" y="440436"/>
                </a:lnTo>
                <a:lnTo>
                  <a:pt x="357401" y="461771"/>
                </a:lnTo>
                <a:lnTo>
                  <a:pt x="358163" y="461009"/>
                </a:lnTo>
                <a:lnTo>
                  <a:pt x="358163" y="515835"/>
                </a:lnTo>
                <a:lnTo>
                  <a:pt x="370638" y="497753"/>
                </a:lnTo>
                <a:lnTo>
                  <a:pt x="391659" y="458617"/>
                </a:lnTo>
                <a:lnTo>
                  <a:pt x="410710" y="414544"/>
                </a:lnTo>
                <a:lnTo>
                  <a:pt x="427875" y="366293"/>
                </a:lnTo>
                <a:lnTo>
                  <a:pt x="431315" y="354721"/>
                </a:lnTo>
                <a:close/>
              </a:path>
              <a:path w="499744" h="589914">
                <a:moveTo>
                  <a:pt x="499417" y="0"/>
                </a:moveTo>
                <a:lnTo>
                  <a:pt x="471467" y="0"/>
                </a:lnTo>
                <a:lnTo>
                  <a:pt x="466915" y="39409"/>
                </a:lnTo>
                <a:lnTo>
                  <a:pt x="460565" y="85877"/>
                </a:lnTo>
                <a:lnTo>
                  <a:pt x="453264" y="131997"/>
                </a:lnTo>
                <a:lnTo>
                  <a:pt x="445031" y="177545"/>
                </a:lnTo>
                <a:lnTo>
                  <a:pt x="445031" y="176783"/>
                </a:lnTo>
                <a:lnTo>
                  <a:pt x="438173" y="212598"/>
                </a:lnTo>
                <a:lnTo>
                  <a:pt x="438173" y="211836"/>
                </a:lnTo>
                <a:lnTo>
                  <a:pt x="430553" y="246125"/>
                </a:lnTo>
                <a:lnTo>
                  <a:pt x="431315" y="245363"/>
                </a:lnTo>
                <a:lnTo>
                  <a:pt x="431315" y="354721"/>
                </a:lnTo>
                <a:lnTo>
                  <a:pt x="443237" y="314620"/>
                </a:lnTo>
                <a:lnTo>
                  <a:pt x="456878" y="260284"/>
                </a:lnTo>
                <a:lnTo>
                  <a:pt x="468883" y="204040"/>
                </a:lnTo>
                <a:lnTo>
                  <a:pt x="479333" y="146648"/>
                </a:lnTo>
                <a:lnTo>
                  <a:pt x="488313" y="88864"/>
                </a:lnTo>
                <a:lnTo>
                  <a:pt x="495905" y="31445"/>
                </a:lnTo>
                <a:lnTo>
                  <a:pt x="499417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753489" y="3939794"/>
            <a:ext cx="4662805" cy="1634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</a:t>
            </a:r>
            <a:r>
              <a:rPr sz="2200" b="1" spc="-7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4</a:t>
            </a:r>
            <a:endParaRPr sz="2200">
              <a:latin typeface="Courier New"/>
              <a:cs typeface="Courier New"/>
            </a:endParaRPr>
          </a:p>
          <a:p>
            <a:pPr marL="1668145">
              <a:lnSpc>
                <a:spcPct val="100000"/>
              </a:lnSpc>
              <a:spcBef>
                <a:spcPts val="1480"/>
              </a:spcBef>
            </a:pPr>
            <a:r>
              <a:rPr sz="2400" spc="-5" dirty="0">
                <a:latin typeface="Arial"/>
                <a:cs typeface="Arial"/>
              </a:rPr>
              <a:t>Restart scanning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here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0 1 2 3 4 5 6 7 8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9…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117989" y="4788408"/>
            <a:ext cx="1155700" cy="447040"/>
          </a:xfrm>
          <a:custGeom>
            <a:avLst/>
            <a:gdLst/>
            <a:ahLst/>
            <a:cxnLst/>
            <a:rect l="l" t="t" r="r" b="b"/>
            <a:pathLst>
              <a:path w="1155700" h="447039">
                <a:moveTo>
                  <a:pt x="69639" y="404802"/>
                </a:moveTo>
                <a:lnTo>
                  <a:pt x="58674" y="375665"/>
                </a:lnTo>
                <a:lnTo>
                  <a:pt x="0" y="437388"/>
                </a:lnTo>
                <a:lnTo>
                  <a:pt x="57912" y="443592"/>
                </a:lnTo>
                <a:lnTo>
                  <a:pt x="57912" y="409193"/>
                </a:lnTo>
                <a:lnTo>
                  <a:pt x="69639" y="404802"/>
                </a:lnTo>
                <a:close/>
              </a:path>
              <a:path w="1155700" h="447039">
                <a:moveTo>
                  <a:pt x="74132" y="416741"/>
                </a:moveTo>
                <a:lnTo>
                  <a:pt x="69639" y="404802"/>
                </a:lnTo>
                <a:lnTo>
                  <a:pt x="57912" y="409193"/>
                </a:lnTo>
                <a:lnTo>
                  <a:pt x="61722" y="421386"/>
                </a:lnTo>
                <a:lnTo>
                  <a:pt x="74132" y="416741"/>
                </a:lnTo>
                <a:close/>
              </a:path>
              <a:path w="1155700" h="447039">
                <a:moveTo>
                  <a:pt x="85343" y="446531"/>
                </a:moveTo>
                <a:lnTo>
                  <a:pt x="74132" y="416741"/>
                </a:lnTo>
                <a:lnTo>
                  <a:pt x="61722" y="421386"/>
                </a:lnTo>
                <a:lnTo>
                  <a:pt x="57912" y="409193"/>
                </a:lnTo>
                <a:lnTo>
                  <a:pt x="57912" y="443592"/>
                </a:lnTo>
                <a:lnTo>
                  <a:pt x="85343" y="446531"/>
                </a:lnTo>
                <a:close/>
              </a:path>
              <a:path w="1155700" h="447039">
                <a:moveTo>
                  <a:pt x="1155191" y="12191"/>
                </a:moveTo>
                <a:lnTo>
                  <a:pt x="1150619" y="0"/>
                </a:lnTo>
                <a:lnTo>
                  <a:pt x="69639" y="404802"/>
                </a:lnTo>
                <a:lnTo>
                  <a:pt x="74132" y="416741"/>
                </a:lnTo>
                <a:lnTo>
                  <a:pt x="1155191" y="12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39069" y="5506973"/>
            <a:ext cx="8672321" cy="4686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115197" y="6154673"/>
            <a:ext cx="2314194" cy="4495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790570" y="6532118"/>
            <a:ext cx="153924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</a:t>
            </a:r>
            <a:r>
              <a:rPr sz="2200" b="1" spc="-7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4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713623" y="6658356"/>
            <a:ext cx="936625" cy="360680"/>
          </a:xfrm>
          <a:custGeom>
            <a:avLst/>
            <a:gdLst/>
            <a:ahLst/>
            <a:cxnLst/>
            <a:rect l="l" t="t" r="r" b="b"/>
            <a:pathLst>
              <a:path w="936625" h="360679">
                <a:moveTo>
                  <a:pt x="702563" y="269748"/>
                </a:moveTo>
                <a:lnTo>
                  <a:pt x="702563" y="89916"/>
                </a:lnTo>
                <a:lnTo>
                  <a:pt x="0" y="89916"/>
                </a:lnTo>
                <a:lnTo>
                  <a:pt x="0" y="269748"/>
                </a:lnTo>
                <a:lnTo>
                  <a:pt x="702563" y="269748"/>
                </a:lnTo>
                <a:close/>
              </a:path>
              <a:path w="936625" h="360679">
                <a:moveTo>
                  <a:pt x="936497" y="179832"/>
                </a:moveTo>
                <a:lnTo>
                  <a:pt x="702563" y="0"/>
                </a:lnTo>
                <a:lnTo>
                  <a:pt x="702563" y="360425"/>
                </a:lnTo>
                <a:lnTo>
                  <a:pt x="936497" y="179832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706765" y="6645402"/>
            <a:ext cx="954405" cy="386080"/>
          </a:xfrm>
          <a:custGeom>
            <a:avLst/>
            <a:gdLst/>
            <a:ahLst/>
            <a:cxnLst/>
            <a:rect l="l" t="t" r="r" b="b"/>
            <a:pathLst>
              <a:path w="954405" h="386079">
                <a:moveTo>
                  <a:pt x="709422" y="96774"/>
                </a:moveTo>
                <a:lnTo>
                  <a:pt x="0" y="96774"/>
                </a:lnTo>
                <a:lnTo>
                  <a:pt x="0" y="289559"/>
                </a:lnTo>
                <a:lnTo>
                  <a:pt x="6858" y="289559"/>
                </a:lnTo>
                <a:lnTo>
                  <a:pt x="6858" y="108966"/>
                </a:lnTo>
                <a:lnTo>
                  <a:pt x="12954" y="102870"/>
                </a:lnTo>
                <a:lnTo>
                  <a:pt x="12954" y="108966"/>
                </a:lnTo>
                <a:lnTo>
                  <a:pt x="702564" y="108966"/>
                </a:lnTo>
                <a:lnTo>
                  <a:pt x="702564" y="102870"/>
                </a:lnTo>
                <a:lnTo>
                  <a:pt x="709422" y="96774"/>
                </a:lnTo>
                <a:close/>
              </a:path>
              <a:path w="954405" h="386079">
                <a:moveTo>
                  <a:pt x="12954" y="108966"/>
                </a:moveTo>
                <a:lnTo>
                  <a:pt x="12954" y="102870"/>
                </a:lnTo>
                <a:lnTo>
                  <a:pt x="6858" y="108966"/>
                </a:lnTo>
                <a:lnTo>
                  <a:pt x="12954" y="108966"/>
                </a:lnTo>
                <a:close/>
              </a:path>
              <a:path w="954405" h="386079">
                <a:moveTo>
                  <a:pt x="12954" y="276605"/>
                </a:moveTo>
                <a:lnTo>
                  <a:pt x="12954" y="108966"/>
                </a:lnTo>
                <a:lnTo>
                  <a:pt x="6858" y="108966"/>
                </a:lnTo>
                <a:lnTo>
                  <a:pt x="6858" y="276605"/>
                </a:lnTo>
                <a:lnTo>
                  <a:pt x="12954" y="276605"/>
                </a:lnTo>
                <a:close/>
              </a:path>
              <a:path w="954405" h="386079">
                <a:moveTo>
                  <a:pt x="715518" y="360398"/>
                </a:moveTo>
                <a:lnTo>
                  <a:pt x="715518" y="276605"/>
                </a:lnTo>
                <a:lnTo>
                  <a:pt x="6858" y="276605"/>
                </a:lnTo>
                <a:lnTo>
                  <a:pt x="12954" y="282701"/>
                </a:lnTo>
                <a:lnTo>
                  <a:pt x="12954" y="289559"/>
                </a:lnTo>
                <a:lnTo>
                  <a:pt x="702564" y="289559"/>
                </a:lnTo>
                <a:lnTo>
                  <a:pt x="702564" y="282701"/>
                </a:lnTo>
                <a:lnTo>
                  <a:pt x="709422" y="289559"/>
                </a:lnTo>
                <a:lnTo>
                  <a:pt x="709422" y="365104"/>
                </a:lnTo>
                <a:lnTo>
                  <a:pt x="715518" y="360398"/>
                </a:lnTo>
                <a:close/>
              </a:path>
              <a:path w="954405" h="386079">
                <a:moveTo>
                  <a:pt x="12954" y="289559"/>
                </a:moveTo>
                <a:lnTo>
                  <a:pt x="12954" y="282701"/>
                </a:lnTo>
                <a:lnTo>
                  <a:pt x="6858" y="276605"/>
                </a:lnTo>
                <a:lnTo>
                  <a:pt x="6858" y="289559"/>
                </a:lnTo>
                <a:lnTo>
                  <a:pt x="12954" y="289559"/>
                </a:lnTo>
                <a:close/>
              </a:path>
              <a:path w="954405" h="386079">
                <a:moveTo>
                  <a:pt x="954024" y="192786"/>
                </a:moveTo>
                <a:lnTo>
                  <a:pt x="702564" y="0"/>
                </a:lnTo>
                <a:lnTo>
                  <a:pt x="702564" y="96774"/>
                </a:lnTo>
                <a:lnTo>
                  <a:pt x="705612" y="96774"/>
                </a:lnTo>
                <a:lnTo>
                  <a:pt x="705612" y="17525"/>
                </a:lnTo>
                <a:lnTo>
                  <a:pt x="715518" y="12953"/>
                </a:lnTo>
                <a:lnTo>
                  <a:pt x="715518" y="25173"/>
                </a:lnTo>
                <a:lnTo>
                  <a:pt x="932636" y="192786"/>
                </a:lnTo>
                <a:lnTo>
                  <a:pt x="939546" y="187451"/>
                </a:lnTo>
                <a:lnTo>
                  <a:pt x="939546" y="203885"/>
                </a:lnTo>
                <a:lnTo>
                  <a:pt x="954024" y="192786"/>
                </a:lnTo>
                <a:close/>
              </a:path>
              <a:path w="954405" h="386079">
                <a:moveTo>
                  <a:pt x="709422" y="108966"/>
                </a:moveTo>
                <a:lnTo>
                  <a:pt x="709422" y="96774"/>
                </a:lnTo>
                <a:lnTo>
                  <a:pt x="702564" y="102870"/>
                </a:lnTo>
                <a:lnTo>
                  <a:pt x="702564" y="108966"/>
                </a:lnTo>
                <a:lnTo>
                  <a:pt x="709422" y="108966"/>
                </a:lnTo>
                <a:close/>
              </a:path>
              <a:path w="954405" h="386079">
                <a:moveTo>
                  <a:pt x="709422" y="289559"/>
                </a:moveTo>
                <a:lnTo>
                  <a:pt x="702564" y="282701"/>
                </a:lnTo>
                <a:lnTo>
                  <a:pt x="702564" y="289559"/>
                </a:lnTo>
                <a:lnTo>
                  <a:pt x="709422" y="289559"/>
                </a:lnTo>
                <a:close/>
              </a:path>
              <a:path w="954405" h="386079">
                <a:moveTo>
                  <a:pt x="709422" y="365104"/>
                </a:moveTo>
                <a:lnTo>
                  <a:pt x="709422" y="289559"/>
                </a:lnTo>
                <a:lnTo>
                  <a:pt x="702564" y="289559"/>
                </a:lnTo>
                <a:lnTo>
                  <a:pt x="702564" y="385572"/>
                </a:lnTo>
                <a:lnTo>
                  <a:pt x="705612" y="383235"/>
                </a:lnTo>
                <a:lnTo>
                  <a:pt x="705612" y="368046"/>
                </a:lnTo>
                <a:lnTo>
                  <a:pt x="709422" y="365104"/>
                </a:lnTo>
                <a:close/>
              </a:path>
              <a:path w="954405" h="386079">
                <a:moveTo>
                  <a:pt x="715518" y="25173"/>
                </a:moveTo>
                <a:lnTo>
                  <a:pt x="715518" y="12953"/>
                </a:lnTo>
                <a:lnTo>
                  <a:pt x="705612" y="17525"/>
                </a:lnTo>
                <a:lnTo>
                  <a:pt x="715518" y="25173"/>
                </a:lnTo>
                <a:close/>
              </a:path>
              <a:path w="954405" h="386079">
                <a:moveTo>
                  <a:pt x="715518" y="108966"/>
                </a:moveTo>
                <a:lnTo>
                  <a:pt x="715518" y="25173"/>
                </a:lnTo>
                <a:lnTo>
                  <a:pt x="705612" y="17525"/>
                </a:lnTo>
                <a:lnTo>
                  <a:pt x="705612" y="96774"/>
                </a:lnTo>
                <a:lnTo>
                  <a:pt x="709422" y="96774"/>
                </a:lnTo>
                <a:lnTo>
                  <a:pt x="709422" y="108966"/>
                </a:lnTo>
                <a:lnTo>
                  <a:pt x="715518" y="108966"/>
                </a:lnTo>
                <a:close/>
              </a:path>
              <a:path w="954405" h="386079">
                <a:moveTo>
                  <a:pt x="939546" y="203885"/>
                </a:moveTo>
                <a:lnTo>
                  <a:pt x="939546" y="198120"/>
                </a:lnTo>
                <a:lnTo>
                  <a:pt x="932636" y="192785"/>
                </a:lnTo>
                <a:lnTo>
                  <a:pt x="705612" y="368046"/>
                </a:lnTo>
                <a:lnTo>
                  <a:pt x="715518" y="373379"/>
                </a:lnTo>
                <a:lnTo>
                  <a:pt x="715518" y="375640"/>
                </a:lnTo>
                <a:lnTo>
                  <a:pt x="939546" y="203885"/>
                </a:lnTo>
                <a:close/>
              </a:path>
              <a:path w="954405" h="386079">
                <a:moveTo>
                  <a:pt x="715518" y="375640"/>
                </a:moveTo>
                <a:lnTo>
                  <a:pt x="715518" y="373379"/>
                </a:lnTo>
                <a:lnTo>
                  <a:pt x="705612" y="368046"/>
                </a:lnTo>
                <a:lnTo>
                  <a:pt x="705612" y="383235"/>
                </a:lnTo>
                <a:lnTo>
                  <a:pt x="715518" y="375640"/>
                </a:lnTo>
                <a:close/>
              </a:path>
              <a:path w="954405" h="386079">
                <a:moveTo>
                  <a:pt x="939546" y="198120"/>
                </a:moveTo>
                <a:lnTo>
                  <a:pt x="939546" y="187451"/>
                </a:lnTo>
                <a:lnTo>
                  <a:pt x="932636" y="192785"/>
                </a:lnTo>
                <a:lnTo>
                  <a:pt x="939546" y="198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19315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The Second Case for </a:t>
            </a:r>
            <a:r>
              <a:rPr sz="4000" spc="-5" dirty="0"/>
              <a:t>the</a:t>
            </a:r>
            <a:r>
              <a:rPr sz="4000" spc="-120" dirty="0"/>
              <a:t> </a:t>
            </a:r>
            <a:r>
              <a:rPr sz="4000" dirty="0"/>
              <a:t>KMP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72" y="1360423"/>
            <a:ext cx="208788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Algorithm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318145" y="2770632"/>
            <a:ext cx="8547354" cy="1501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32736" y="2495041"/>
            <a:ext cx="338899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0 1 2 3 4 5 6 7 8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9…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50242" y="2397251"/>
            <a:ext cx="483234" cy="523875"/>
          </a:xfrm>
          <a:custGeom>
            <a:avLst/>
            <a:gdLst/>
            <a:ahLst/>
            <a:cxnLst/>
            <a:rect l="l" t="t" r="r" b="b"/>
            <a:pathLst>
              <a:path w="483235" h="523875">
                <a:moveTo>
                  <a:pt x="482739" y="523493"/>
                </a:moveTo>
                <a:lnTo>
                  <a:pt x="468550" y="432668"/>
                </a:lnTo>
                <a:lnTo>
                  <a:pt x="457968" y="377104"/>
                </a:lnTo>
                <a:lnTo>
                  <a:pt x="445865" y="322211"/>
                </a:lnTo>
                <a:lnTo>
                  <a:pt x="432172" y="268853"/>
                </a:lnTo>
                <a:lnTo>
                  <a:pt x="416818" y="217892"/>
                </a:lnTo>
                <a:lnTo>
                  <a:pt x="399732" y="170191"/>
                </a:lnTo>
                <a:lnTo>
                  <a:pt x="380845" y="126611"/>
                </a:lnTo>
                <a:lnTo>
                  <a:pt x="360086" y="88017"/>
                </a:lnTo>
                <a:lnTo>
                  <a:pt x="337385" y="55269"/>
                </a:lnTo>
                <a:lnTo>
                  <a:pt x="285877" y="10765"/>
                </a:lnTo>
                <a:lnTo>
                  <a:pt x="225759" y="0"/>
                </a:lnTo>
                <a:lnTo>
                  <a:pt x="196276" y="11537"/>
                </a:lnTo>
                <a:lnTo>
                  <a:pt x="143975" y="57965"/>
                </a:lnTo>
                <a:lnTo>
                  <a:pt x="120999" y="91325"/>
                </a:lnTo>
                <a:lnTo>
                  <a:pt x="100036" y="130429"/>
                </a:lnTo>
                <a:lnTo>
                  <a:pt x="81006" y="174512"/>
                </a:lnTo>
                <a:lnTo>
                  <a:pt x="63831" y="222808"/>
                </a:lnTo>
                <a:lnTo>
                  <a:pt x="48434" y="274553"/>
                </a:lnTo>
                <a:lnTo>
                  <a:pt x="34735" y="328981"/>
                </a:lnTo>
                <a:lnTo>
                  <a:pt x="22656" y="385327"/>
                </a:lnTo>
                <a:lnTo>
                  <a:pt x="12119" y="442825"/>
                </a:lnTo>
                <a:lnTo>
                  <a:pt x="3045" y="500712"/>
                </a:lnTo>
                <a:lnTo>
                  <a:pt x="0" y="523493"/>
                </a:lnTo>
                <a:lnTo>
                  <a:pt x="28267" y="523493"/>
                </a:lnTo>
                <a:lnTo>
                  <a:pt x="31333" y="500878"/>
                </a:lnTo>
                <a:lnTo>
                  <a:pt x="39069" y="452792"/>
                </a:lnTo>
                <a:lnTo>
                  <a:pt x="39069" y="448817"/>
                </a:lnTo>
                <a:lnTo>
                  <a:pt x="47039" y="406235"/>
                </a:lnTo>
                <a:lnTo>
                  <a:pt x="55757" y="363793"/>
                </a:lnTo>
                <a:lnTo>
                  <a:pt x="65465" y="321571"/>
                </a:lnTo>
                <a:lnTo>
                  <a:pt x="76407" y="279653"/>
                </a:lnTo>
                <a:lnTo>
                  <a:pt x="76407" y="280415"/>
                </a:lnTo>
                <a:lnTo>
                  <a:pt x="84789" y="253174"/>
                </a:lnTo>
                <a:lnTo>
                  <a:pt x="84789" y="250697"/>
                </a:lnTo>
                <a:lnTo>
                  <a:pt x="93933" y="222503"/>
                </a:lnTo>
                <a:lnTo>
                  <a:pt x="93933" y="223265"/>
                </a:lnTo>
                <a:lnTo>
                  <a:pt x="103839" y="196595"/>
                </a:lnTo>
                <a:lnTo>
                  <a:pt x="112983" y="173384"/>
                </a:lnTo>
                <a:lnTo>
                  <a:pt x="112983" y="172211"/>
                </a:lnTo>
                <a:lnTo>
                  <a:pt x="122889" y="150277"/>
                </a:lnTo>
                <a:lnTo>
                  <a:pt x="122889" y="149351"/>
                </a:lnTo>
                <a:lnTo>
                  <a:pt x="133557" y="127253"/>
                </a:lnTo>
                <a:lnTo>
                  <a:pt x="133557" y="128015"/>
                </a:lnTo>
                <a:lnTo>
                  <a:pt x="144225" y="108203"/>
                </a:lnTo>
                <a:lnTo>
                  <a:pt x="144225" y="108965"/>
                </a:lnTo>
                <a:lnTo>
                  <a:pt x="154893" y="90677"/>
                </a:lnTo>
                <a:lnTo>
                  <a:pt x="154893" y="91439"/>
                </a:lnTo>
                <a:lnTo>
                  <a:pt x="165561" y="76504"/>
                </a:lnTo>
                <a:lnTo>
                  <a:pt x="165561" y="76199"/>
                </a:lnTo>
                <a:lnTo>
                  <a:pt x="176229" y="63398"/>
                </a:lnTo>
                <a:lnTo>
                  <a:pt x="176229" y="63245"/>
                </a:lnTo>
                <a:lnTo>
                  <a:pt x="186897" y="52577"/>
                </a:lnTo>
                <a:lnTo>
                  <a:pt x="186897" y="51815"/>
                </a:lnTo>
                <a:lnTo>
                  <a:pt x="199089" y="41909"/>
                </a:lnTo>
                <a:lnTo>
                  <a:pt x="199089" y="42195"/>
                </a:lnTo>
                <a:lnTo>
                  <a:pt x="208995" y="36004"/>
                </a:lnTo>
                <a:lnTo>
                  <a:pt x="208995" y="35813"/>
                </a:lnTo>
                <a:lnTo>
                  <a:pt x="210519" y="35051"/>
                </a:lnTo>
                <a:lnTo>
                  <a:pt x="218901" y="31480"/>
                </a:lnTo>
                <a:lnTo>
                  <a:pt x="218901" y="31241"/>
                </a:lnTo>
                <a:lnTo>
                  <a:pt x="221187" y="30479"/>
                </a:lnTo>
                <a:lnTo>
                  <a:pt x="231855" y="27431"/>
                </a:lnTo>
                <a:lnTo>
                  <a:pt x="231855" y="27925"/>
                </a:lnTo>
                <a:lnTo>
                  <a:pt x="240237" y="26938"/>
                </a:lnTo>
                <a:lnTo>
                  <a:pt x="240237" y="26669"/>
                </a:lnTo>
                <a:lnTo>
                  <a:pt x="242523" y="26669"/>
                </a:lnTo>
                <a:lnTo>
                  <a:pt x="242523" y="26938"/>
                </a:lnTo>
                <a:lnTo>
                  <a:pt x="250143" y="27835"/>
                </a:lnTo>
                <a:lnTo>
                  <a:pt x="250143" y="27431"/>
                </a:lnTo>
                <a:lnTo>
                  <a:pt x="253191" y="28193"/>
                </a:lnTo>
                <a:lnTo>
                  <a:pt x="253191" y="28328"/>
                </a:lnTo>
                <a:lnTo>
                  <a:pt x="260811" y="30569"/>
                </a:lnTo>
                <a:lnTo>
                  <a:pt x="263097" y="31241"/>
                </a:lnTo>
                <a:lnTo>
                  <a:pt x="263097" y="31421"/>
                </a:lnTo>
                <a:lnTo>
                  <a:pt x="272241" y="35186"/>
                </a:lnTo>
                <a:lnTo>
                  <a:pt x="272241" y="35051"/>
                </a:lnTo>
                <a:lnTo>
                  <a:pt x="273765" y="35813"/>
                </a:lnTo>
                <a:lnTo>
                  <a:pt x="273765" y="36004"/>
                </a:lnTo>
                <a:lnTo>
                  <a:pt x="284433" y="42671"/>
                </a:lnTo>
                <a:lnTo>
                  <a:pt x="284433" y="43148"/>
                </a:lnTo>
                <a:lnTo>
                  <a:pt x="294339" y="51196"/>
                </a:lnTo>
                <a:lnTo>
                  <a:pt x="294339" y="51053"/>
                </a:lnTo>
                <a:lnTo>
                  <a:pt x="295101" y="51815"/>
                </a:lnTo>
                <a:lnTo>
                  <a:pt x="305769" y="63245"/>
                </a:lnTo>
                <a:lnTo>
                  <a:pt x="317199" y="76199"/>
                </a:lnTo>
                <a:lnTo>
                  <a:pt x="317199" y="76504"/>
                </a:lnTo>
                <a:lnTo>
                  <a:pt x="327867" y="91439"/>
                </a:lnTo>
                <a:lnTo>
                  <a:pt x="327867" y="91897"/>
                </a:lnTo>
                <a:lnTo>
                  <a:pt x="338535" y="108965"/>
                </a:lnTo>
                <a:lnTo>
                  <a:pt x="338535" y="108203"/>
                </a:lnTo>
                <a:lnTo>
                  <a:pt x="349203" y="128015"/>
                </a:lnTo>
                <a:lnTo>
                  <a:pt x="349203" y="128832"/>
                </a:lnTo>
                <a:lnTo>
                  <a:pt x="359109" y="149351"/>
                </a:lnTo>
                <a:lnTo>
                  <a:pt x="359109" y="148589"/>
                </a:lnTo>
                <a:lnTo>
                  <a:pt x="369015" y="172211"/>
                </a:lnTo>
                <a:lnTo>
                  <a:pt x="369015" y="171449"/>
                </a:lnTo>
                <a:lnTo>
                  <a:pt x="378921" y="196595"/>
                </a:lnTo>
                <a:lnTo>
                  <a:pt x="388065" y="223265"/>
                </a:lnTo>
                <a:lnTo>
                  <a:pt x="388065" y="222503"/>
                </a:lnTo>
                <a:lnTo>
                  <a:pt x="397209" y="250697"/>
                </a:lnTo>
                <a:lnTo>
                  <a:pt x="406353" y="280415"/>
                </a:lnTo>
                <a:lnTo>
                  <a:pt x="406353" y="282518"/>
                </a:lnTo>
                <a:lnTo>
                  <a:pt x="416660" y="321268"/>
                </a:lnTo>
                <a:lnTo>
                  <a:pt x="426675" y="363716"/>
                </a:lnTo>
                <a:lnTo>
                  <a:pt x="435482" y="406425"/>
                </a:lnTo>
                <a:lnTo>
                  <a:pt x="442929" y="448817"/>
                </a:lnTo>
                <a:lnTo>
                  <a:pt x="442929" y="448055"/>
                </a:lnTo>
                <a:lnTo>
                  <a:pt x="451278" y="501026"/>
                </a:lnTo>
                <a:lnTo>
                  <a:pt x="454289" y="523493"/>
                </a:lnTo>
                <a:lnTo>
                  <a:pt x="482739" y="523493"/>
                </a:lnTo>
                <a:close/>
              </a:path>
              <a:path w="483235" h="523875">
                <a:moveTo>
                  <a:pt x="39831" y="448055"/>
                </a:moveTo>
                <a:lnTo>
                  <a:pt x="39069" y="448817"/>
                </a:lnTo>
                <a:lnTo>
                  <a:pt x="39069" y="452792"/>
                </a:lnTo>
                <a:lnTo>
                  <a:pt x="39831" y="448055"/>
                </a:lnTo>
                <a:close/>
              </a:path>
              <a:path w="483235" h="523875">
                <a:moveTo>
                  <a:pt x="85551" y="250697"/>
                </a:moveTo>
                <a:lnTo>
                  <a:pt x="84789" y="250697"/>
                </a:lnTo>
                <a:lnTo>
                  <a:pt x="84789" y="253174"/>
                </a:lnTo>
                <a:lnTo>
                  <a:pt x="85551" y="250697"/>
                </a:lnTo>
                <a:close/>
              </a:path>
              <a:path w="483235" h="523875">
                <a:moveTo>
                  <a:pt x="113745" y="171449"/>
                </a:moveTo>
                <a:lnTo>
                  <a:pt x="112983" y="172211"/>
                </a:lnTo>
                <a:lnTo>
                  <a:pt x="112983" y="173384"/>
                </a:lnTo>
                <a:lnTo>
                  <a:pt x="113745" y="171449"/>
                </a:lnTo>
                <a:close/>
              </a:path>
              <a:path w="483235" h="523875">
                <a:moveTo>
                  <a:pt x="123651" y="148589"/>
                </a:moveTo>
                <a:lnTo>
                  <a:pt x="122889" y="149351"/>
                </a:lnTo>
                <a:lnTo>
                  <a:pt x="122889" y="150277"/>
                </a:lnTo>
                <a:lnTo>
                  <a:pt x="123651" y="148589"/>
                </a:lnTo>
                <a:close/>
              </a:path>
              <a:path w="483235" h="523875">
                <a:moveTo>
                  <a:pt x="166323" y="75437"/>
                </a:moveTo>
                <a:lnTo>
                  <a:pt x="165561" y="76199"/>
                </a:lnTo>
                <a:lnTo>
                  <a:pt x="165561" y="76504"/>
                </a:lnTo>
                <a:lnTo>
                  <a:pt x="166323" y="75437"/>
                </a:lnTo>
                <a:close/>
              </a:path>
              <a:path w="483235" h="523875">
                <a:moveTo>
                  <a:pt x="176991" y="62483"/>
                </a:moveTo>
                <a:lnTo>
                  <a:pt x="176229" y="63245"/>
                </a:lnTo>
                <a:lnTo>
                  <a:pt x="176229" y="63398"/>
                </a:lnTo>
                <a:lnTo>
                  <a:pt x="176991" y="62483"/>
                </a:lnTo>
                <a:close/>
              </a:path>
              <a:path w="483235" h="523875">
                <a:moveTo>
                  <a:pt x="188421" y="51053"/>
                </a:moveTo>
                <a:lnTo>
                  <a:pt x="186897" y="51815"/>
                </a:lnTo>
                <a:lnTo>
                  <a:pt x="186897" y="52577"/>
                </a:lnTo>
                <a:lnTo>
                  <a:pt x="188421" y="51053"/>
                </a:lnTo>
                <a:close/>
              </a:path>
              <a:path w="483235" h="523875">
                <a:moveTo>
                  <a:pt x="199089" y="42195"/>
                </a:moveTo>
                <a:lnTo>
                  <a:pt x="199089" y="41909"/>
                </a:lnTo>
                <a:lnTo>
                  <a:pt x="198327" y="42671"/>
                </a:lnTo>
                <a:lnTo>
                  <a:pt x="199089" y="42195"/>
                </a:lnTo>
                <a:close/>
              </a:path>
              <a:path w="483235" h="523875">
                <a:moveTo>
                  <a:pt x="210519" y="35051"/>
                </a:moveTo>
                <a:lnTo>
                  <a:pt x="208995" y="35813"/>
                </a:lnTo>
                <a:lnTo>
                  <a:pt x="210011" y="35369"/>
                </a:lnTo>
                <a:lnTo>
                  <a:pt x="210519" y="35051"/>
                </a:lnTo>
                <a:close/>
              </a:path>
              <a:path w="483235" h="523875">
                <a:moveTo>
                  <a:pt x="210011" y="35369"/>
                </a:moveTo>
                <a:lnTo>
                  <a:pt x="208995" y="35813"/>
                </a:lnTo>
                <a:lnTo>
                  <a:pt x="208995" y="36004"/>
                </a:lnTo>
                <a:lnTo>
                  <a:pt x="210011" y="35369"/>
                </a:lnTo>
                <a:close/>
              </a:path>
              <a:path w="483235" h="523875">
                <a:moveTo>
                  <a:pt x="210519" y="35147"/>
                </a:moveTo>
                <a:lnTo>
                  <a:pt x="210011" y="35369"/>
                </a:lnTo>
                <a:lnTo>
                  <a:pt x="210519" y="35147"/>
                </a:lnTo>
                <a:close/>
              </a:path>
              <a:path w="483235" h="523875">
                <a:moveTo>
                  <a:pt x="221187" y="30479"/>
                </a:moveTo>
                <a:lnTo>
                  <a:pt x="218901" y="31241"/>
                </a:lnTo>
                <a:lnTo>
                  <a:pt x="220562" y="30753"/>
                </a:lnTo>
                <a:lnTo>
                  <a:pt x="221187" y="30479"/>
                </a:lnTo>
                <a:close/>
              </a:path>
              <a:path w="483235" h="523875">
                <a:moveTo>
                  <a:pt x="220562" y="30753"/>
                </a:moveTo>
                <a:lnTo>
                  <a:pt x="218901" y="31241"/>
                </a:lnTo>
                <a:lnTo>
                  <a:pt x="218901" y="31480"/>
                </a:lnTo>
                <a:lnTo>
                  <a:pt x="220562" y="30753"/>
                </a:lnTo>
                <a:close/>
              </a:path>
              <a:path w="483235" h="523875">
                <a:moveTo>
                  <a:pt x="221187" y="30569"/>
                </a:moveTo>
                <a:lnTo>
                  <a:pt x="220562" y="30753"/>
                </a:lnTo>
                <a:lnTo>
                  <a:pt x="221187" y="30569"/>
                </a:lnTo>
                <a:close/>
              </a:path>
              <a:path w="483235" h="523875">
                <a:moveTo>
                  <a:pt x="231855" y="27925"/>
                </a:moveTo>
                <a:lnTo>
                  <a:pt x="231855" y="27431"/>
                </a:lnTo>
                <a:lnTo>
                  <a:pt x="229569" y="28193"/>
                </a:lnTo>
                <a:lnTo>
                  <a:pt x="231855" y="27925"/>
                </a:lnTo>
                <a:close/>
              </a:path>
              <a:path w="483235" h="523875">
                <a:moveTo>
                  <a:pt x="242523" y="26669"/>
                </a:moveTo>
                <a:lnTo>
                  <a:pt x="240237" y="26669"/>
                </a:lnTo>
                <a:lnTo>
                  <a:pt x="241380" y="26804"/>
                </a:lnTo>
                <a:lnTo>
                  <a:pt x="242523" y="26669"/>
                </a:lnTo>
                <a:close/>
              </a:path>
              <a:path w="483235" h="523875">
                <a:moveTo>
                  <a:pt x="241380" y="26804"/>
                </a:moveTo>
                <a:lnTo>
                  <a:pt x="240237" y="26669"/>
                </a:lnTo>
                <a:lnTo>
                  <a:pt x="240237" y="26938"/>
                </a:lnTo>
                <a:lnTo>
                  <a:pt x="241380" y="26804"/>
                </a:lnTo>
                <a:close/>
              </a:path>
              <a:path w="483235" h="523875">
                <a:moveTo>
                  <a:pt x="242523" y="26938"/>
                </a:moveTo>
                <a:lnTo>
                  <a:pt x="242523" y="26669"/>
                </a:lnTo>
                <a:lnTo>
                  <a:pt x="241380" y="26804"/>
                </a:lnTo>
                <a:lnTo>
                  <a:pt x="242523" y="26938"/>
                </a:lnTo>
                <a:close/>
              </a:path>
              <a:path w="483235" h="523875">
                <a:moveTo>
                  <a:pt x="253191" y="28193"/>
                </a:moveTo>
                <a:lnTo>
                  <a:pt x="250143" y="27431"/>
                </a:lnTo>
                <a:lnTo>
                  <a:pt x="252429" y="28104"/>
                </a:lnTo>
                <a:lnTo>
                  <a:pt x="253191" y="28193"/>
                </a:lnTo>
                <a:close/>
              </a:path>
              <a:path w="483235" h="523875">
                <a:moveTo>
                  <a:pt x="252429" y="28104"/>
                </a:moveTo>
                <a:lnTo>
                  <a:pt x="250143" y="27431"/>
                </a:lnTo>
                <a:lnTo>
                  <a:pt x="250143" y="27835"/>
                </a:lnTo>
                <a:lnTo>
                  <a:pt x="252429" y="28104"/>
                </a:lnTo>
                <a:close/>
              </a:path>
              <a:path w="483235" h="523875">
                <a:moveTo>
                  <a:pt x="253191" y="28328"/>
                </a:moveTo>
                <a:lnTo>
                  <a:pt x="253191" y="28193"/>
                </a:lnTo>
                <a:lnTo>
                  <a:pt x="252429" y="28104"/>
                </a:lnTo>
                <a:lnTo>
                  <a:pt x="253191" y="28328"/>
                </a:lnTo>
                <a:close/>
              </a:path>
              <a:path w="483235" h="523875">
                <a:moveTo>
                  <a:pt x="263097" y="31241"/>
                </a:moveTo>
                <a:lnTo>
                  <a:pt x="260811" y="30479"/>
                </a:lnTo>
                <a:lnTo>
                  <a:pt x="261573" y="30793"/>
                </a:lnTo>
                <a:lnTo>
                  <a:pt x="263097" y="31241"/>
                </a:lnTo>
                <a:close/>
              </a:path>
              <a:path w="483235" h="523875">
                <a:moveTo>
                  <a:pt x="261573" y="30793"/>
                </a:moveTo>
                <a:lnTo>
                  <a:pt x="260811" y="30479"/>
                </a:lnTo>
                <a:lnTo>
                  <a:pt x="261573" y="30793"/>
                </a:lnTo>
                <a:close/>
              </a:path>
              <a:path w="483235" h="523875">
                <a:moveTo>
                  <a:pt x="263097" y="31421"/>
                </a:moveTo>
                <a:lnTo>
                  <a:pt x="263097" y="31241"/>
                </a:lnTo>
                <a:lnTo>
                  <a:pt x="261573" y="30793"/>
                </a:lnTo>
                <a:lnTo>
                  <a:pt x="263097" y="31421"/>
                </a:lnTo>
                <a:close/>
              </a:path>
              <a:path w="483235" h="523875">
                <a:moveTo>
                  <a:pt x="273765" y="35813"/>
                </a:moveTo>
                <a:lnTo>
                  <a:pt x="272241" y="35051"/>
                </a:lnTo>
                <a:lnTo>
                  <a:pt x="272872" y="35446"/>
                </a:lnTo>
                <a:lnTo>
                  <a:pt x="273765" y="35813"/>
                </a:lnTo>
                <a:close/>
              </a:path>
              <a:path w="483235" h="523875">
                <a:moveTo>
                  <a:pt x="272872" y="35446"/>
                </a:moveTo>
                <a:lnTo>
                  <a:pt x="272241" y="35051"/>
                </a:lnTo>
                <a:lnTo>
                  <a:pt x="272241" y="35186"/>
                </a:lnTo>
                <a:lnTo>
                  <a:pt x="272872" y="35446"/>
                </a:lnTo>
                <a:close/>
              </a:path>
              <a:path w="483235" h="523875">
                <a:moveTo>
                  <a:pt x="273765" y="36004"/>
                </a:moveTo>
                <a:lnTo>
                  <a:pt x="273765" y="35813"/>
                </a:lnTo>
                <a:lnTo>
                  <a:pt x="272872" y="35446"/>
                </a:lnTo>
                <a:lnTo>
                  <a:pt x="273765" y="36004"/>
                </a:lnTo>
                <a:close/>
              </a:path>
              <a:path w="483235" h="523875">
                <a:moveTo>
                  <a:pt x="284433" y="43148"/>
                </a:moveTo>
                <a:lnTo>
                  <a:pt x="284433" y="42671"/>
                </a:lnTo>
                <a:lnTo>
                  <a:pt x="282909" y="41909"/>
                </a:lnTo>
                <a:lnTo>
                  <a:pt x="284433" y="43148"/>
                </a:lnTo>
                <a:close/>
              </a:path>
              <a:path w="483235" h="523875">
                <a:moveTo>
                  <a:pt x="295101" y="51815"/>
                </a:moveTo>
                <a:lnTo>
                  <a:pt x="294339" y="51053"/>
                </a:lnTo>
                <a:lnTo>
                  <a:pt x="294901" y="51653"/>
                </a:lnTo>
                <a:lnTo>
                  <a:pt x="295101" y="51815"/>
                </a:lnTo>
                <a:close/>
              </a:path>
              <a:path w="483235" h="523875">
                <a:moveTo>
                  <a:pt x="294901" y="51653"/>
                </a:moveTo>
                <a:lnTo>
                  <a:pt x="294339" y="51053"/>
                </a:lnTo>
                <a:lnTo>
                  <a:pt x="294339" y="51196"/>
                </a:lnTo>
                <a:lnTo>
                  <a:pt x="294901" y="51653"/>
                </a:lnTo>
                <a:close/>
              </a:path>
              <a:path w="483235" h="523875">
                <a:moveTo>
                  <a:pt x="295101" y="51866"/>
                </a:moveTo>
                <a:lnTo>
                  <a:pt x="294901" y="51653"/>
                </a:lnTo>
                <a:lnTo>
                  <a:pt x="295101" y="51866"/>
                </a:lnTo>
                <a:close/>
              </a:path>
              <a:path w="483235" h="523875">
                <a:moveTo>
                  <a:pt x="305769" y="63341"/>
                </a:moveTo>
                <a:lnTo>
                  <a:pt x="305007" y="62483"/>
                </a:lnTo>
                <a:lnTo>
                  <a:pt x="305769" y="63341"/>
                </a:lnTo>
                <a:close/>
              </a:path>
              <a:path w="483235" h="523875">
                <a:moveTo>
                  <a:pt x="317199" y="76504"/>
                </a:moveTo>
                <a:lnTo>
                  <a:pt x="317199" y="76199"/>
                </a:lnTo>
                <a:lnTo>
                  <a:pt x="316437" y="75437"/>
                </a:lnTo>
                <a:lnTo>
                  <a:pt x="317199" y="76504"/>
                </a:lnTo>
                <a:close/>
              </a:path>
              <a:path w="483235" h="523875">
                <a:moveTo>
                  <a:pt x="327867" y="91897"/>
                </a:moveTo>
                <a:lnTo>
                  <a:pt x="327867" y="91439"/>
                </a:lnTo>
                <a:lnTo>
                  <a:pt x="327105" y="90677"/>
                </a:lnTo>
                <a:lnTo>
                  <a:pt x="327867" y="91897"/>
                </a:lnTo>
                <a:close/>
              </a:path>
              <a:path w="483235" h="523875">
                <a:moveTo>
                  <a:pt x="349203" y="128832"/>
                </a:moveTo>
                <a:lnTo>
                  <a:pt x="349203" y="128015"/>
                </a:lnTo>
                <a:lnTo>
                  <a:pt x="348441" y="127253"/>
                </a:lnTo>
                <a:lnTo>
                  <a:pt x="349203" y="128832"/>
                </a:lnTo>
                <a:close/>
              </a:path>
              <a:path w="483235" h="523875">
                <a:moveTo>
                  <a:pt x="406353" y="282518"/>
                </a:moveTo>
                <a:lnTo>
                  <a:pt x="406353" y="280415"/>
                </a:lnTo>
                <a:lnTo>
                  <a:pt x="405591" y="279653"/>
                </a:lnTo>
                <a:lnTo>
                  <a:pt x="406353" y="282518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73843" y="2841498"/>
            <a:ext cx="360425" cy="79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18145" y="2920745"/>
            <a:ext cx="8547354" cy="3017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43463" y="3418332"/>
            <a:ext cx="2954273" cy="3596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23972" y="2920745"/>
            <a:ext cx="534670" cy="857250"/>
          </a:xfrm>
          <a:custGeom>
            <a:avLst/>
            <a:gdLst/>
            <a:ahLst/>
            <a:cxnLst/>
            <a:rect l="l" t="t" r="r" b="b"/>
            <a:pathLst>
              <a:path w="534670" h="857250">
                <a:moveTo>
                  <a:pt x="54536" y="0"/>
                </a:moveTo>
                <a:lnTo>
                  <a:pt x="26269" y="0"/>
                </a:lnTo>
                <a:lnTo>
                  <a:pt x="21626" y="34726"/>
                </a:lnTo>
                <a:lnTo>
                  <a:pt x="15244" y="91092"/>
                </a:lnTo>
                <a:lnTo>
                  <a:pt x="10090" y="145550"/>
                </a:lnTo>
                <a:lnTo>
                  <a:pt x="6086" y="197335"/>
                </a:lnTo>
                <a:lnTo>
                  <a:pt x="3153" y="245682"/>
                </a:lnTo>
                <a:lnTo>
                  <a:pt x="1214" y="289825"/>
                </a:lnTo>
                <a:lnTo>
                  <a:pt x="188" y="328999"/>
                </a:lnTo>
                <a:lnTo>
                  <a:pt x="0" y="362440"/>
                </a:lnTo>
                <a:lnTo>
                  <a:pt x="2092" y="481583"/>
                </a:lnTo>
                <a:lnTo>
                  <a:pt x="2092" y="505034"/>
                </a:lnTo>
                <a:lnTo>
                  <a:pt x="4816" y="570477"/>
                </a:lnTo>
                <a:lnTo>
                  <a:pt x="7714" y="611960"/>
                </a:lnTo>
                <a:lnTo>
                  <a:pt x="11723" y="657935"/>
                </a:lnTo>
                <a:lnTo>
                  <a:pt x="16910" y="707542"/>
                </a:lnTo>
                <a:lnTo>
                  <a:pt x="23347" y="759920"/>
                </a:lnTo>
                <a:lnTo>
                  <a:pt x="29524" y="803173"/>
                </a:lnTo>
                <a:lnTo>
                  <a:pt x="29524" y="389381"/>
                </a:lnTo>
                <a:lnTo>
                  <a:pt x="31048" y="297179"/>
                </a:lnTo>
                <a:lnTo>
                  <a:pt x="31048" y="297941"/>
                </a:lnTo>
                <a:lnTo>
                  <a:pt x="32959" y="244484"/>
                </a:lnTo>
                <a:lnTo>
                  <a:pt x="35770" y="190933"/>
                </a:lnTo>
                <a:lnTo>
                  <a:pt x="39562" y="137367"/>
                </a:lnTo>
                <a:lnTo>
                  <a:pt x="44412" y="83867"/>
                </a:lnTo>
                <a:lnTo>
                  <a:pt x="50399" y="30513"/>
                </a:lnTo>
                <a:lnTo>
                  <a:pt x="54536" y="0"/>
                </a:lnTo>
                <a:close/>
              </a:path>
              <a:path w="534670" h="857250">
                <a:moveTo>
                  <a:pt x="2092" y="505034"/>
                </a:moveTo>
                <a:lnTo>
                  <a:pt x="2092" y="481583"/>
                </a:lnTo>
                <a:lnTo>
                  <a:pt x="2074" y="504428"/>
                </a:lnTo>
                <a:lnTo>
                  <a:pt x="2092" y="505034"/>
                </a:lnTo>
                <a:close/>
              </a:path>
              <a:path w="534670" h="857250">
                <a:moveTo>
                  <a:pt x="66100" y="853439"/>
                </a:moveTo>
                <a:lnTo>
                  <a:pt x="53908" y="777239"/>
                </a:lnTo>
                <a:lnTo>
                  <a:pt x="53908" y="778001"/>
                </a:lnTo>
                <a:lnTo>
                  <a:pt x="49336" y="737615"/>
                </a:lnTo>
                <a:lnTo>
                  <a:pt x="49336" y="738377"/>
                </a:lnTo>
                <a:lnTo>
                  <a:pt x="44764" y="697229"/>
                </a:lnTo>
                <a:lnTo>
                  <a:pt x="40954" y="655319"/>
                </a:lnTo>
                <a:lnTo>
                  <a:pt x="40954" y="656081"/>
                </a:lnTo>
                <a:lnTo>
                  <a:pt x="37144" y="613409"/>
                </a:lnTo>
                <a:lnTo>
                  <a:pt x="32572" y="525779"/>
                </a:lnTo>
                <a:lnTo>
                  <a:pt x="31048" y="480821"/>
                </a:lnTo>
                <a:lnTo>
                  <a:pt x="29524" y="389381"/>
                </a:lnTo>
                <a:lnTo>
                  <a:pt x="29524" y="803173"/>
                </a:lnTo>
                <a:lnTo>
                  <a:pt x="31100" y="814207"/>
                </a:lnTo>
                <a:lnTo>
                  <a:pt x="38210" y="857250"/>
                </a:lnTo>
                <a:lnTo>
                  <a:pt x="65338" y="857250"/>
                </a:lnTo>
                <a:lnTo>
                  <a:pt x="65338" y="853439"/>
                </a:lnTo>
                <a:lnTo>
                  <a:pt x="66100" y="853439"/>
                </a:lnTo>
                <a:close/>
              </a:path>
              <a:path w="534670" h="857250">
                <a:moveTo>
                  <a:pt x="66053" y="857250"/>
                </a:moveTo>
                <a:lnTo>
                  <a:pt x="65338" y="853439"/>
                </a:lnTo>
                <a:lnTo>
                  <a:pt x="65338" y="857250"/>
                </a:lnTo>
                <a:lnTo>
                  <a:pt x="66053" y="857250"/>
                </a:lnTo>
                <a:close/>
              </a:path>
              <a:path w="534670" h="857250">
                <a:moveTo>
                  <a:pt x="505750" y="804492"/>
                </a:moveTo>
                <a:lnTo>
                  <a:pt x="505750" y="399925"/>
                </a:lnTo>
                <a:lnTo>
                  <a:pt x="505102" y="451191"/>
                </a:lnTo>
                <a:lnTo>
                  <a:pt x="503588" y="502416"/>
                </a:lnTo>
                <a:lnTo>
                  <a:pt x="501258" y="553624"/>
                </a:lnTo>
                <a:lnTo>
                  <a:pt x="498160" y="604838"/>
                </a:lnTo>
                <a:lnTo>
                  <a:pt x="494344" y="656081"/>
                </a:lnTo>
                <a:lnTo>
                  <a:pt x="494344" y="655319"/>
                </a:lnTo>
                <a:lnTo>
                  <a:pt x="490534" y="697229"/>
                </a:lnTo>
                <a:lnTo>
                  <a:pt x="485962" y="738377"/>
                </a:lnTo>
                <a:lnTo>
                  <a:pt x="485962" y="737615"/>
                </a:lnTo>
                <a:lnTo>
                  <a:pt x="480628" y="778001"/>
                </a:lnTo>
                <a:lnTo>
                  <a:pt x="480628" y="777239"/>
                </a:lnTo>
                <a:lnTo>
                  <a:pt x="472929" y="831200"/>
                </a:lnTo>
                <a:lnTo>
                  <a:pt x="468498" y="857250"/>
                </a:lnTo>
                <a:lnTo>
                  <a:pt x="497335" y="857250"/>
                </a:lnTo>
                <a:lnTo>
                  <a:pt x="498569" y="850369"/>
                </a:lnTo>
                <a:lnTo>
                  <a:pt x="505750" y="804492"/>
                </a:lnTo>
                <a:close/>
              </a:path>
              <a:path w="534670" h="857250">
                <a:moveTo>
                  <a:pt x="534302" y="397581"/>
                </a:moveTo>
                <a:lnTo>
                  <a:pt x="534097" y="347302"/>
                </a:lnTo>
                <a:lnTo>
                  <a:pt x="533206" y="297179"/>
                </a:lnTo>
                <a:lnTo>
                  <a:pt x="533152" y="274380"/>
                </a:lnTo>
                <a:lnTo>
                  <a:pt x="530306" y="208372"/>
                </a:lnTo>
                <a:lnTo>
                  <a:pt x="527374" y="166888"/>
                </a:lnTo>
                <a:lnTo>
                  <a:pt x="523343" y="120902"/>
                </a:lnTo>
                <a:lnTo>
                  <a:pt x="518142" y="71274"/>
                </a:lnTo>
                <a:lnTo>
                  <a:pt x="511701" y="18869"/>
                </a:lnTo>
                <a:lnTo>
                  <a:pt x="509009" y="0"/>
                </a:lnTo>
                <a:lnTo>
                  <a:pt x="480558" y="0"/>
                </a:lnTo>
                <a:lnTo>
                  <a:pt x="484668" y="30669"/>
                </a:lnTo>
                <a:lnTo>
                  <a:pt x="490629" y="83948"/>
                </a:lnTo>
                <a:lnTo>
                  <a:pt x="495500" y="137342"/>
                </a:lnTo>
                <a:lnTo>
                  <a:pt x="499347" y="190823"/>
                </a:lnTo>
                <a:lnTo>
                  <a:pt x="502241" y="244365"/>
                </a:lnTo>
                <a:lnTo>
                  <a:pt x="504250" y="297941"/>
                </a:lnTo>
                <a:lnTo>
                  <a:pt x="504250" y="297179"/>
                </a:lnTo>
                <a:lnTo>
                  <a:pt x="505482" y="348596"/>
                </a:lnTo>
                <a:lnTo>
                  <a:pt x="505750" y="804492"/>
                </a:lnTo>
                <a:lnTo>
                  <a:pt x="506371" y="800525"/>
                </a:lnTo>
                <a:lnTo>
                  <a:pt x="513119" y="750469"/>
                </a:lnTo>
                <a:lnTo>
                  <a:pt x="518855" y="700242"/>
                </a:lnTo>
                <a:lnTo>
                  <a:pt x="523619" y="649885"/>
                </a:lnTo>
                <a:lnTo>
                  <a:pt x="527453" y="599439"/>
                </a:lnTo>
                <a:lnTo>
                  <a:pt x="530398" y="548945"/>
                </a:lnTo>
                <a:lnTo>
                  <a:pt x="532493" y="498443"/>
                </a:lnTo>
                <a:lnTo>
                  <a:pt x="533781" y="447975"/>
                </a:lnTo>
                <a:lnTo>
                  <a:pt x="534302" y="397581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76869" y="3490721"/>
            <a:ext cx="360425" cy="2872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73843" y="3490721"/>
            <a:ext cx="360425" cy="28727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73843" y="2920745"/>
            <a:ext cx="360425" cy="28117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43463" y="3777996"/>
            <a:ext cx="2954273" cy="9220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62183" y="3777996"/>
            <a:ext cx="459740" cy="445134"/>
          </a:xfrm>
          <a:custGeom>
            <a:avLst/>
            <a:gdLst/>
            <a:ahLst/>
            <a:cxnLst/>
            <a:rect l="l" t="t" r="r" b="b"/>
            <a:pathLst>
              <a:path w="459739" h="445135">
                <a:moveTo>
                  <a:pt x="73610" y="194309"/>
                </a:moveTo>
                <a:lnTo>
                  <a:pt x="64466" y="164591"/>
                </a:lnTo>
                <a:lnTo>
                  <a:pt x="56084" y="133350"/>
                </a:lnTo>
                <a:lnTo>
                  <a:pt x="56084" y="134112"/>
                </a:lnTo>
                <a:lnTo>
                  <a:pt x="40844" y="67817"/>
                </a:lnTo>
                <a:lnTo>
                  <a:pt x="27842" y="0"/>
                </a:lnTo>
                <a:lnTo>
                  <a:pt x="0" y="0"/>
                </a:lnTo>
                <a:lnTo>
                  <a:pt x="12627" y="67822"/>
                </a:lnTo>
                <a:lnTo>
                  <a:pt x="24749" y="122678"/>
                </a:lnTo>
                <a:lnTo>
                  <a:pt x="38465" y="176002"/>
                </a:lnTo>
                <a:lnTo>
                  <a:pt x="53845" y="226934"/>
                </a:lnTo>
                <a:lnTo>
                  <a:pt x="70957" y="274613"/>
                </a:lnTo>
                <a:lnTo>
                  <a:pt x="72848" y="278968"/>
                </a:lnTo>
                <a:lnTo>
                  <a:pt x="72848" y="193548"/>
                </a:lnTo>
                <a:lnTo>
                  <a:pt x="73610" y="194309"/>
                </a:lnTo>
                <a:close/>
              </a:path>
              <a:path w="459739" h="445135">
                <a:moveTo>
                  <a:pt x="101804" y="273557"/>
                </a:moveTo>
                <a:lnTo>
                  <a:pt x="91898" y="248412"/>
                </a:lnTo>
                <a:lnTo>
                  <a:pt x="81992" y="221741"/>
                </a:lnTo>
                <a:lnTo>
                  <a:pt x="81992" y="222503"/>
                </a:lnTo>
                <a:lnTo>
                  <a:pt x="72848" y="193548"/>
                </a:lnTo>
                <a:lnTo>
                  <a:pt x="72848" y="278968"/>
                </a:lnTo>
                <a:lnTo>
                  <a:pt x="89870" y="318179"/>
                </a:lnTo>
                <a:lnTo>
                  <a:pt x="101042" y="338921"/>
                </a:lnTo>
                <a:lnTo>
                  <a:pt x="101042" y="272795"/>
                </a:lnTo>
                <a:lnTo>
                  <a:pt x="101804" y="273557"/>
                </a:lnTo>
                <a:close/>
              </a:path>
              <a:path w="459739" h="445135">
                <a:moveTo>
                  <a:pt x="111710" y="296417"/>
                </a:moveTo>
                <a:lnTo>
                  <a:pt x="101042" y="272795"/>
                </a:lnTo>
                <a:lnTo>
                  <a:pt x="101042" y="338921"/>
                </a:lnTo>
                <a:lnTo>
                  <a:pt x="110655" y="356771"/>
                </a:lnTo>
                <a:lnTo>
                  <a:pt x="110948" y="357193"/>
                </a:lnTo>
                <a:lnTo>
                  <a:pt x="110948" y="295655"/>
                </a:lnTo>
                <a:lnTo>
                  <a:pt x="111710" y="296417"/>
                </a:lnTo>
                <a:close/>
              </a:path>
              <a:path w="459739" h="445135">
                <a:moveTo>
                  <a:pt x="154382" y="369569"/>
                </a:moveTo>
                <a:lnTo>
                  <a:pt x="142952" y="352805"/>
                </a:lnTo>
                <a:lnTo>
                  <a:pt x="142952" y="353567"/>
                </a:lnTo>
                <a:lnTo>
                  <a:pt x="132284" y="336041"/>
                </a:lnTo>
                <a:lnTo>
                  <a:pt x="132284" y="336803"/>
                </a:lnTo>
                <a:lnTo>
                  <a:pt x="121616" y="316991"/>
                </a:lnTo>
                <a:lnTo>
                  <a:pt x="110948" y="295655"/>
                </a:lnTo>
                <a:lnTo>
                  <a:pt x="110948" y="357193"/>
                </a:lnTo>
                <a:lnTo>
                  <a:pt x="133379" y="389529"/>
                </a:lnTo>
                <a:lnTo>
                  <a:pt x="153620" y="410857"/>
                </a:lnTo>
                <a:lnTo>
                  <a:pt x="153620" y="368807"/>
                </a:lnTo>
                <a:lnTo>
                  <a:pt x="154382" y="369569"/>
                </a:lnTo>
                <a:close/>
              </a:path>
              <a:path w="459739" h="445135">
                <a:moveTo>
                  <a:pt x="165050" y="382524"/>
                </a:moveTo>
                <a:lnTo>
                  <a:pt x="153620" y="368807"/>
                </a:lnTo>
                <a:lnTo>
                  <a:pt x="153620" y="410857"/>
                </a:lnTo>
                <a:lnTo>
                  <a:pt x="158113" y="415592"/>
                </a:lnTo>
                <a:lnTo>
                  <a:pt x="164288" y="419854"/>
                </a:lnTo>
                <a:lnTo>
                  <a:pt x="164288" y="381762"/>
                </a:lnTo>
                <a:lnTo>
                  <a:pt x="165050" y="382524"/>
                </a:lnTo>
                <a:close/>
              </a:path>
              <a:path w="459739" h="445135">
                <a:moveTo>
                  <a:pt x="176480" y="428270"/>
                </a:moveTo>
                <a:lnTo>
                  <a:pt x="176480" y="393953"/>
                </a:lnTo>
                <a:lnTo>
                  <a:pt x="164288" y="381762"/>
                </a:lnTo>
                <a:lnTo>
                  <a:pt x="164288" y="419854"/>
                </a:lnTo>
                <a:lnTo>
                  <a:pt x="176480" y="428270"/>
                </a:lnTo>
                <a:close/>
              </a:path>
              <a:path w="459739" h="445135">
                <a:moveTo>
                  <a:pt x="187148" y="434875"/>
                </a:moveTo>
                <a:lnTo>
                  <a:pt x="187148" y="403098"/>
                </a:lnTo>
                <a:lnTo>
                  <a:pt x="174956" y="392430"/>
                </a:lnTo>
                <a:lnTo>
                  <a:pt x="176480" y="393953"/>
                </a:lnTo>
                <a:lnTo>
                  <a:pt x="176480" y="428270"/>
                </a:lnTo>
                <a:lnTo>
                  <a:pt x="184925" y="434100"/>
                </a:lnTo>
                <a:lnTo>
                  <a:pt x="187148" y="434875"/>
                </a:lnTo>
                <a:close/>
              </a:path>
              <a:path w="459739" h="445135">
                <a:moveTo>
                  <a:pt x="198578" y="438858"/>
                </a:moveTo>
                <a:lnTo>
                  <a:pt x="198578" y="409955"/>
                </a:lnTo>
                <a:lnTo>
                  <a:pt x="186386" y="401574"/>
                </a:lnTo>
                <a:lnTo>
                  <a:pt x="187148" y="403098"/>
                </a:lnTo>
                <a:lnTo>
                  <a:pt x="187148" y="434875"/>
                </a:lnTo>
                <a:lnTo>
                  <a:pt x="198578" y="438858"/>
                </a:lnTo>
                <a:close/>
              </a:path>
              <a:path w="459739" h="445135">
                <a:moveTo>
                  <a:pt x="208399" y="414104"/>
                </a:moveTo>
                <a:lnTo>
                  <a:pt x="197054" y="408431"/>
                </a:lnTo>
                <a:lnTo>
                  <a:pt x="198578" y="409955"/>
                </a:lnTo>
                <a:lnTo>
                  <a:pt x="198578" y="438858"/>
                </a:lnTo>
                <a:lnTo>
                  <a:pt x="206960" y="441779"/>
                </a:lnTo>
                <a:lnTo>
                  <a:pt x="206960" y="413765"/>
                </a:lnTo>
                <a:lnTo>
                  <a:pt x="208399" y="414104"/>
                </a:lnTo>
                <a:close/>
              </a:path>
              <a:path w="459739" h="445135">
                <a:moveTo>
                  <a:pt x="209246" y="414527"/>
                </a:moveTo>
                <a:lnTo>
                  <a:pt x="208399" y="414104"/>
                </a:lnTo>
                <a:lnTo>
                  <a:pt x="206960" y="413765"/>
                </a:lnTo>
                <a:lnTo>
                  <a:pt x="209246" y="414527"/>
                </a:lnTo>
                <a:close/>
              </a:path>
              <a:path w="459739" h="445135">
                <a:moveTo>
                  <a:pt x="209246" y="442575"/>
                </a:moveTo>
                <a:lnTo>
                  <a:pt x="209246" y="414527"/>
                </a:lnTo>
                <a:lnTo>
                  <a:pt x="206960" y="413765"/>
                </a:lnTo>
                <a:lnTo>
                  <a:pt x="206960" y="441779"/>
                </a:lnTo>
                <a:lnTo>
                  <a:pt x="209246" y="442575"/>
                </a:lnTo>
                <a:close/>
              </a:path>
              <a:path w="459739" h="445135">
                <a:moveTo>
                  <a:pt x="219914" y="416813"/>
                </a:moveTo>
                <a:lnTo>
                  <a:pt x="208399" y="414104"/>
                </a:lnTo>
                <a:lnTo>
                  <a:pt x="209246" y="414527"/>
                </a:lnTo>
                <a:lnTo>
                  <a:pt x="209246" y="442575"/>
                </a:lnTo>
                <a:lnTo>
                  <a:pt x="213884" y="444192"/>
                </a:lnTo>
                <a:lnTo>
                  <a:pt x="217628" y="444290"/>
                </a:lnTo>
                <a:lnTo>
                  <a:pt x="217628" y="416813"/>
                </a:lnTo>
                <a:lnTo>
                  <a:pt x="219914" y="416813"/>
                </a:lnTo>
                <a:close/>
              </a:path>
              <a:path w="459739" h="445135">
                <a:moveTo>
                  <a:pt x="230582" y="444629"/>
                </a:moveTo>
                <a:lnTo>
                  <a:pt x="230582" y="417575"/>
                </a:lnTo>
                <a:lnTo>
                  <a:pt x="228296" y="417575"/>
                </a:lnTo>
                <a:lnTo>
                  <a:pt x="228296" y="417441"/>
                </a:lnTo>
                <a:lnTo>
                  <a:pt x="217628" y="416813"/>
                </a:lnTo>
                <a:lnTo>
                  <a:pt x="217628" y="444290"/>
                </a:lnTo>
                <a:lnTo>
                  <a:pt x="228296" y="444569"/>
                </a:lnTo>
                <a:lnTo>
                  <a:pt x="228296" y="417575"/>
                </a:lnTo>
                <a:lnTo>
                  <a:pt x="229439" y="417508"/>
                </a:lnTo>
                <a:lnTo>
                  <a:pt x="229439" y="444599"/>
                </a:lnTo>
                <a:lnTo>
                  <a:pt x="230582" y="444629"/>
                </a:lnTo>
                <a:close/>
              </a:path>
              <a:path w="459739" h="445135">
                <a:moveTo>
                  <a:pt x="241250" y="444908"/>
                </a:moveTo>
                <a:lnTo>
                  <a:pt x="241250" y="416813"/>
                </a:lnTo>
                <a:lnTo>
                  <a:pt x="229439" y="417508"/>
                </a:lnTo>
                <a:lnTo>
                  <a:pt x="230582" y="417575"/>
                </a:lnTo>
                <a:lnTo>
                  <a:pt x="230582" y="444629"/>
                </a:lnTo>
                <a:lnTo>
                  <a:pt x="241250" y="444908"/>
                </a:lnTo>
                <a:close/>
              </a:path>
              <a:path w="459739" h="445135">
                <a:moveTo>
                  <a:pt x="249822" y="414079"/>
                </a:moveTo>
                <a:lnTo>
                  <a:pt x="238202" y="416813"/>
                </a:lnTo>
                <a:lnTo>
                  <a:pt x="241250" y="416813"/>
                </a:lnTo>
                <a:lnTo>
                  <a:pt x="241250" y="444908"/>
                </a:lnTo>
                <a:lnTo>
                  <a:pt x="245060" y="445007"/>
                </a:lnTo>
                <a:lnTo>
                  <a:pt x="248870" y="443460"/>
                </a:lnTo>
                <a:lnTo>
                  <a:pt x="248870" y="414527"/>
                </a:lnTo>
                <a:lnTo>
                  <a:pt x="249822" y="414079"/>
                </a:lnTo>
                <a:close/>
              </a:path>
              <a:path w="459739" h="445135">
                <a:moveTo>
                  <a:pt x="251156" y="413765"/>
                </a:moveTo>
                <a:lnTo>
                  <a:pt x="249822" y="414079"/>
                </a:lnTo>
                <a:lnTo>
                  <a:pt x="248870" y="414527"/>
                </a:lnTo>
                <a:lnTo>
                  <a:pt x="251156" y="413765"/>
                </a:lnTo>
                <a:close/>
              </a:path>
              <a:path w="459739" h="445135">
                <a:moveTo>
                  <a:pt x="251156" y="442532"/>
                </a:moveTo>
                <a:lnTo>
                  <a:pt x="251156" y="413765"/>
                </a:lnTo>
                <a:lnTo>
                  <a:pt x="248870" y="414527"/>
                </a:lnTo>
                <a:lnTo>
                  <a:pt x="248870" y="443460"/>
                </a:lnTo>
                <a:lnTo>
                  <a:pt x="251156" y="442532"/>
                </a:lnTo>
                <a:close/>
              </a:path>
              <a:path w="459739" h="445135">
                <a:moveTo>
                  <a:pt x="261824" y="408431"/>
                </a:moveTo>
                <a:lnTo>
                  <a:pt x="249822" y="414079"/>
                </a:lnTo>
                <a:lnTo>
                  <a:pt x="251156" y="413765"/>
                </a:lnTo>
                <a:lnTo>
                  <a:pt x="251156" y="442532"/>
                </a:lnTo>
                <a:lnTo>
                  <a:pt x="260300" y="438818"/>
                </a:lnTo>
                <a:lnTo>
                  <a:pt x="260300" y="409955"/>
                </a:lnTo>
                <a:lnTo>
                  <a:pt x="261824" y="408431"/>
                </a:lnTo>
                <a:close/>
              </a:path>
              <a:path w="459739" h="445135">
                <a:moveTo>
                  <a:pt x="272492" y="401574"/>
                </a:moveTo>
                <a:lnTo>
                  <a:pt x="260300" y="409955"/>
                </a:lnTo>
                <a:lnTo>
                  <a:pt x="260300" y="438818"/>
                </a:lnTo>
                <a:lnTo>
                  <a:pt x="270968" y="434485"/>
                </a:lnTo>
                <a:lnTo>
                  <a:pt x="270968" y="403098"/>
                </a:lnTo>
                <a:lnTo>
                  <a:pt x="272492" y="401574"/>
                </a:lnTo>
                <a:close/>
              </a:path>
              <a:path w="459739" h="445135">
                <a:moveTo>
                  <a:pt x="283160" y="392429"/>
                </a:moveTo>
                <a:lnTo>
                  <a:pt x="270968" y="403098"/>
                </a:lnTo>
                <a:lnTo>
                  <a:pt x="270968" y="434485"/>
                </a:lnTo>
                <a:lnTo>
                  <a:pt x="282107" y="429961"/>
                </a:lnTo>
                <a:lnTo>
                  <a:pt x="282398" y="429709"/>
                </a:lnTo>
                <a:lnTo>
                  <a:pt x="282398" y="393953"/>
                </a:lnTo>
                <a:lnTo>
                  <a:pt x="283160" y="392429"/>
                </a:lnTo>
                <a:close/>
              </a:path>
              <a:path w="459739" h="445135">
                <a:moveTo>
                  <a:pt x="293828" y="419790"/>
                </a:moveTo>
                <a:lnTo>
                  <a:pt x="293828" y="381762"/>
                </a:lnTo>
                <a:lnTo>
                  <a:pt x="282398" y="393953"/>
                </a:lnTo>
                <a:lnTo>
                  <a:pt x="282398" y="429709"/>
                </a:lnTo>
                <a:lnTo>
                  <a:pt x="293828" y="419790"/>
                </a:lnTo>
                <a:close/>
              </a:path>
              <a:path w="459739" h="445135">
                <a:moveTo>
                  <a:pt x="305258" y="409872"/>
                </a:moveTo>
                <a:lnTo>
                  <a:pt x="305258" y="368807"/>
                </a:lnTo>
                <a:lnTo>
                  <a:pt x="293066" y="382524"/>
                </a:lnTo>
                <a:lnTo>
                  <a:pt x="293828" y="381762"/>
                </a:lnTo>
                <a:lnTo>
                  <a:pt x="293828" y="419790"/>
                </a:lnTo>
                <a:lnTo>
                  <a:pt x="305258" y="409872"/>
                </a:lnTo>
                <a:close/>
              </a:path>
              <a:path w="459739" h="445135">
                <a:moveTo>
                  <a:pt x="315926" y="400149"/>
                </a:moveTo>
                <a:lnTo>
                  <a:pt x="315926" y="352805"/>
                </a:lnTo>
                <a:lnTo>
                  <a:pt x="304496" y="369569"/>
                </a:lnTo>
                <a:lnTo>
                  <a:pt x="305258" y="368807"/>
                </a:lnTo>
                <a:lnTo>
                  <a:pt x="305258" y="409872"/>
                </a:lnTo>
                <a:lnTo>
                  <a:pt x="314938" y="401472"/>
                </a:lnTo>
                <a:lnTo>
                  <a:pt x="315926" y="400149"/>
                </a:lnTo>
                <a:close/>
              </a:path>
              <a:path w="459739" h="445135">
                <a:moveTo>
                  <a:pt x="337262" y="371572"/>
                </a:moveTo>
                <a:lnTo>
                  <a:pt x="337262" y="316991"/>
                </a:lnTo>
                <a:lnTo>
                  <a:pt x="326594" y="336803"/>
                </a:lnTo>
                <a:lnTo>
                  <a:pt x="326594" y="336041"/>
                </a:lnTo>
                <a:lnTo>
                  <a:pt x="315164" y="353567"/>
                </a:lnTo>
                <a:lnTo>
                  <a:pt x="315926" y="352805"/>
                </a:lnTo>
                <a:lnTo>
                  <a:pt x="315926" y="400149"/>
                </a:lnTo>
                <a:lnTo>
                  <a:pt x="337262" y="371572"/>
                </a:lnTo>
                <a:close/>
              </a:path>
              <a:path w="459739" h="445135">
                <a:moveTo>
                  <a:pt x="394412" y="255694"/>
                </a:moveTo>
                <a:lnTo>
                  <a:pt x="394412" y="164591"/>
                </a:lnTo>
                <a:lnTo>
                  <a:pt x="385268" y="194309"/>
                </a:lnTo>
                <a:lnTo>
                  <a:pt x="385268" y="193548"/>
                </a:lnTo>
                <a:lnTo>
                  <a:pt x="376124" y="222503"/>
                </a:lnTo>
                <a:lnTo>
                  <a:pt x="376124" y="221741"/>
                </a:lnTo>
                <a:lnTo>
                  <a:pt x="366980" y="248412"/>
                </a:lnTo>
                <a:lnTo>
                  <a:pt x="357074" y="273557"/>
                </a:lnTo>
                <a:lnTo>
                  <a:pt x="357074" y="272795"/>
                </a:lnTo>
                <a:lnTo>
                  <a:pt x="347168" y="296417"/>
                </a:lnTo>
                <a:lnTo>
                  <a:pt x="347168" y="295655"/>
                </a:lnTo>
                <a:lnTo>
                  <a:pt x="336500" y="316991"/>
                </a:lnTo>
                <a:lnTo>
                  <a:pt x="337262" y="316991"/>
                </a:lnTo>
                <a:lnTo>
                  <a:pt x="337262" y="371572"/>
                </a:lnTo>
                <a:lnTo>
                  <a:pt x="343676" y="362981"/>
                </a:lnTo>
                <a:lnTo>
                  <a:pt x="368442" y="317930"/>
                </a:lnTo>
                <a:lnTo>
                  <a:pt x="389358" y="269761"/>
                </a:lnTo>
                <a:lnTo>
                  <a:pt x="394412" y="255694"/>
                </a:lnTo>
                <a:close/>
              </a:path>
              <a:path w="459739" h="445135">
                <a:moveTo>
                  <a:pt x="459124" y="0"/>
                </a:moveTo>
                <a:lnTo>
                  <a:pt x="430288" y="0"/>
                </a:lnTo>
                <a:lnTo>
                  <a:pt x="425577" y="27693"/>
                </a:lnTo>
                <a:lnTo>
                  <a:pt x="414761" y="81115"/>
                </a:lnTo>
                <a:lnTo>
                  <a:pt x="402032" y="134112"/>
                </a:lnTo>
                <a:lnTo>
                  <a:pt x="402032" y="133350"/>
                </a:lnTo>
                <a:lnTo>
                  <a:pt x="393650" y="164591"/>
                </a:lnTo>
                <a:lnTo>
                  <a:pt x="394412" y="164591"/>
                </a:lnTo>
                <a:lnTo>
                  <a:pt x="394412" y="255694"/>
                </a:lnTo>
                <a:lnTo>
                  <a:pt x="406546" y="221917"/>
                </a:lnTo>
                <a:lnTo>
                  <a:pt x="420128" y="177839"/>
                </a:lnTo>
                <a:lnTo>
                  <a:pt x="430226" y="140969"/>
                </a:lnTo>
                <a:lnTo>
                  <a:pt x="441432" y="92007"/>
                </a:lnTo>
                <a:lnTo>
                  <a:pt x="451463" y="42710"/>
                </a:lnTo>
                <a:lnTo>
                  <a:pt x="459124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76869" y="3777996"/>
            <a:ext cx="360425" cy="731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73843" y="3777996"/>
            <a:ext cx="360425" cy="731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707769" y="3819397"/>
            <a:ext cx="5356860" cy="1682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1295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0 1 2 3 4 5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6</a:t>
            </a:r>
            <a:endParaRPr sz="2200">
              <a:latin typeface="Courier New"/>
              <a:cs typeface="Courier New"/>
            </a:endParaRPr>
          </a:p>
          <a:p>
            <a:pPr marL="2361565">
              <a:lnSpc>
                <a:spcPct val="100000"/>
              </a:lnSpc>
              <a:spcBef>
                <a:spcPts val="1850"/>
              </a:spcBef>
            </a:pPr>
            <a:r>
              <a:rPr sz="2400" spc="-5" dirty="0">
                <a:latin typeface="Arial"/>
                <a:cs typeface="Arial"/>
              </a:rPr>
              <a:t>Restart scanning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here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0 1 2 3 4 5 6 7 8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9…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243463" y="5410200"/>
            <a:ext cx="8547354" cy="8229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65689" y="4715255"/>
            <a:ext cx="1155700" cy="447040"/>
          </a:xfrm>
          <a:custGeom>
            <a:avLst/>
            <a:gdLst/>
            <a:ahLst/>
            <a:cxnLst/>
            <a:rect l="l" t="t" r="r" b="b"/>
            <a:pathLst>
              <a:path w="1155700" h="447039">
                <a:moveTo>
                  <a:pt x="69887" y="405462"/>
                </a:moveTo>
                <a:lnTo>
                  <a:pt x="58673" y="375666"/>
                </a:lnTo>
                <a:lnTo>
                  <a:pt x="0" y="438150"/>
                </a:lnTo>
                <a:lnTo>
                  <a:pt x="57912" y="443837"/>
                </a:lnTo>
                <a:lnTo>
                  <a:pt x="57912" y="409956"/>
                </a:lnTo>
                <a:lnTo>
                  <a:pt x="69887" y="405462"/>
                </a:lnTo>
                <a:close/>
              </a:path>
              <a:path w="1155700" h="447039">
                <a:moveTo>
                  <a:pt x="74132" y="416741"/>
                </a:moveTo>
                <a:lnTo>
                  <a:pt x="69887" y="405462"/>
                </a:lnTo>
                <a:lnTo>
                  <a:pt x="57912" y="409956"/>
                </a:lnTo>
                <a:lnTo>
                  <a:pt x="61721" y="421386"/>
                </a:lnTo>
                <a:lnTo>
                  <a:pt x="74132" y="416741"/>
                </a:lnTo>
                <a:close/>
              </a:path>
              <a:path w="1155700" h="447039">
                <a:moveTo>
                  <a:pt x="85343" y="446532"/>
                </a:moveTo>
                <a:lnTo>
                  <a:pt x="74132" y="416741"/>
                </a:lnTo>
                <a:lnTo>
                  <a:pt x="61721" y="421386"/>
                </a:lnTo>
                <a:lnTo>
                  <a:pt x="57912" y="409956"/>
                </a:lnTo>
                <a:lnTo>
                  <a:pt x="57912" y="443837"/>
                </a:lnTo>
                <a:lnTo>
                  <a:pt x="85343" y="446532"/>
                </a:lnTo>
                <a:close/>
              </a:path>
              <a:path w="1155700" h="447039">
                <a:moveTo>
                  <a:pt x="1155191" y="12192"/>
                </a:moveTo>
                <a:lnTo>
                  <a:pt x="1150619" y="0"/>
                </a:lnTo>
                <a:lnTo>
                  <a:pt x="69887" y="405462"/>
                </a:lnTo>
                <a:lnTo>
                  <a:pt x="74132" y="416741"/>
                </a:lnTo>
                <a:lnTo>
                  <a:pt x="1155191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43463" y="5492496"/>
            <a:ext cx="8547354" cy="37033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85692" y="6458966"/>
            <a:ext cx="221170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0 1 2 3 4 5</a:t>
            </a:r>
            <a:r>
              <a:rPr sz="2200" b="1" spc="-65" dirty="0">
                <a:latin typeface="Courier New"/>
                <a:cs typeface="Courier New"/>
              </a:rPr>
              <a:t> </a:t>
            </a:r>
            <a:r>
              <a:rPr sz="2200" b="1" dirty="0">
                <a:latin typeface="Courier New"/>
                <a:cs typeface="Courier New"/>
              </a:rPr>
              <a:t>6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16999" y="6057900"/>
            <a:ext cx="2961894" cy="45415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02193" y="6513576"/>
            <a:ext cx="1511300" cy="360680"/>
          </a:xfrm>
          <a:custGeom>
            <a:avLst/>
            <a:gdLst/>
            <a:ahLst/>
            <a:cxnLst/>
            <a:rect l="l" t="t" r="r" b="b"/>
            <a:pathLst>
              <a:path w="1511300" h="360679">
                <a:moveTo>
                  <a:pt x="1133856" y="270509"/>
                </a:moveTo>
                <a:lnTo>
                  <a:pt x="1133856" y="89916"/>
                </a:lnTo>
                <a:lnTo>
                  <a:pt x="0" y="89916"/>
                </a:lnTo>
                <a:lnTo>
                  <a:pt x="0" y="270509"/>
                </a:lnTo>
                <a:lnTo>
                  <a:pt x="1133856" y="270509"/>
                </a:lnTo>
                <a:close/>
              </a:path>
              <a:path w="1511300" h="360679">
                <a:moveTo>
                  <a:pt x="1511045" y="180594"/>
                </a:moveTo>
                <a:lnTo>
                  <a:pt x="1133856" y="0"/>
                </a:lnTo>
                <a:lnTo>
                  <a:pt x="1133856" y="360425"/>
                </a:lnTo>
                <a:lnTo>
                  <a:pt x="1511045" y="180594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696097" y="6503669"/>
            <a:ext cx="1532890" cy="380365"/>
          </a:xfrm>
          <a:custGeom>
            <a:avLst/>
            <a:gdLst/>
            <a:ahLst/>
            <a:cxnLst/>
            <a:rect l="l" t="t" r="r" b="b"/>
            <a:pathLst>
              <a:path w="1532889" h="380365">
                <a:moveTo>
                  <a:pt x="1139952" y="93725"/>
                </a:moveTo>
                <a:lnTo>
                  <a:pt x="0" y="93725"/>
                </a:lnTo>
                <a:lnTo>
                  <a:pt x="0" y="286511"/>
                </a:lnTo>
                <a:lnTo>
                  <a:pt x="6096" y="286511"/>
                </a:lnTo>
                <a:lnTo>
                  <a:pt x="6096" y="106679"/>
                </a:lnTo>
                <a:lnTo>
                  <a:pt x="12192" y="99822"/>
                </a:lnTo>
                <a:lnTo>
                  <a:pt x="12192" y="106679"/>
                </a:lnTo>
                <a:lnTo>
                  <a:pt x="1133094" y="106679"/>
                </a:lnTo>
                <a:lnTo>
                  <a:pt x="1133094" y="99822"/>
                </a:lnTo>
                <a:lnTo>
                  <a:pt x="1139952" y="93725"/>
                </a:lnTo>
                <a:close/>
              </a:path>
              <a:path w="1532889" h="380365">
                <a:moveTo>
                  <a:pt x="12192" y="106679"/>
                </a:moveTo>
                <a:lnTo>
                  <a:pt x="12192" y="99822"/>
                </a:lnTo>
                <a:lnTo>
                  <a:pt x="6096" y="106679"/>
                </a:lnTo>
                <a:lnTo>
                  <a:pt x="12192" y="106679"/>
                </a:lnTo>
                <a:close/>
              </a:path>
              <a:path w="1532889" h="380365">
                <a:moveTo>
                  <a:pt x="12192" y="273557"/>
                </a:moveTo>
                <a:lnTo>
                  <a:pt x="12192" y="106679"/>
                </a:lnTo>
                <a:lnTo>
                  <a:pt x="6096" y="106679"/>
                </a:lnTo>
                <a:lnTo>
                  <a:pt x="6096" y="273557"/>
                </a:lnTo>
                <a:lnTo>
                  <a:pt x="12192" y="273557"/>
                </a:lnTo>
                <a:close/>
              </a:path>
              <a:path w="1532889" h="380365">
                <a:moveTo>
                  <a:pt x="1146048" y="359885"/>
                </a:moveTo>
                <a:lnTo>
                  <a:pt x="1146048" y="273557"/>
                </a:lnTo>
                <a:lnTo>
                  <a:pt x="6096" y="273557"/>
                </a:lnTo>
                <a:lnTo>
                  <a:pt x="12192" y="280415"/>
                </a:lnTo>
                <a:lnTo>
                  <a:pt x="12192" y="286511"/>
                </a:lnTo>
                <a:lnTo>
                  <a:pt x="1133094" y="286511"/>
                </a:lnTo>
                <a:lnTo>
                  <a:pt x="1133094" y="280415"/>
                </a:lnTo>
                <a:lnTo>
                  <a:pt x="1139952" y="286511"/>
                </a:lnTo>
                <a:lnTo>
                  <a:pt x="1139952" y="362785"/>
                </a:lnTo>
                <a:lnTo>
                  <a:pt x="1146048" y="359885"/>
                </a:lnTo>
                <a:close/>
              </a:path>
              <a:path w="1532889" h="380365">
                <a:moveTo>
                  <a:pt x="12192" y="286511"/>
                </a:moveTo>
                <a:lnTo>
                  <a:pt x="12192" y="280415"/>
                </a:lnTo>
                <a:lnTo>
                  <a:pt x="6096" y="273557"/>
                </a:lnTo>
                <a:lnTo>
                  <a:pt x="6096" y="286511"/>
                </a:lnTo>
                <a:lnTo>
                  <a:pt x="12192" y="286511"/>
                </a:lnTo>
                <a:close/>
              </a:path>
              <a:path w="1532889" h="380365">
                <a:moveTo>
                  <a:pt x="1532382" y="190500"/>
                </a:moveTo>
                <a:lnTo>
                  <a:pt x="1133094" y="0"/>
                </a:lnTo>
                <a:lnTo>
                  <a:pt x="1133094" y="93725"/>
                </a:lnTo>
                <a:lnTo>
                  <a:pt x="1136904" y="93725"/>
                </a:lnTo>
                <a:lnTo>
                  <a:pt x="1136904" y="16001"/>
                </a:lnTo>
                <a:lnTo>
                  <a:pt x="1146048" y="9905"/>
                </a:lnTo>
                <a:lnTo>
                  <a:pt x="1146048" y="20352"/>
                </a:lnTo>
                <a:lnTo>
                  <a:pt x="1502844" y="190118"/>
                </a:lnTo>
                <a:lnTo>
                  <a:pt x="1514856" y="184403"/>
                </a:lnTo>
                <a:lnTo>
                  <a:pt x="1514856" y="198828"/>
                </a:lnTo>
                <a:lnTo>
                  <a:pt x="1532382" y="190500"/>
                </a:lnTo>
                <a:close/>
              </a:path>
              <a:path w="1532889" h="380365">
                <a:moveTo>
                  <a:pt x="1139952" y="106679"/>
                </a:moveTo>
                <a:lnTo>
                  <a:pt x="1139952" y="93725"/>
                </a:lnTo>
                <a:lnTo>
                  <a:pt x="1133094" y="99822"/>
                </a:lnTo>
                <a:lnTo>
                  <a:pt x="1133094" y="106679"/>
                </a:lnTo>
                <a:lnTo>
                  <a:pt x="1139952" y="106679"/>
                </a:lnTo>
                <a:close/>
              </a:path>
              <a:path w="1532889" h="380365">
                <a:moveTo>
                  <a:pt x="1139952" y="286511"/>
                </a:moveTo>
                <a:lnTo>
                  <a:pt x="1133094" y="280415"/>
                </a:lnTo>
                <a:lnTo>
                  <a:pt x="1133094" y="286511"/>
                </a:lnTo>
                <a:lnTo>
                  <a:pt x="1139952" y="286511"/>
                </a:lnTo>
                <a:close/>
              </a:path>
              <a:path w="1532889" h="380365">
                <a:moveTo>
                  <a:pt x="1139952" y="362785"/>
                </a:moveTo>
                <a:lnTo>
                  <a:pt x="1139952" y="286511"/>
                </a:lnTo>
                <a:lnTo>
                  <a:pt x="1133094" y="286511"/>
                </a:lnTo>
                <a:lnTo>
                  <a:pt x="1133094" y="380237"/>
                </a:lnTo>
                <a:lnTo>
                  <a:pt x="1136904" y="378427"/>
                </a:lnTo>
                <a:lnTo>
                  <a:pt x="1136904" y="364235"/>
                </a:lnTo>
                <a:lnTo>
                  <a:pt x="1139952" y="362785"/>
                </a:lnTo>
                <a:close/>
              </a:path>
              <a:path w="1532889" h="380365">
                <a:moveTo>
                  <a:pt x="1146048" y="20352"/>
                </a:moveTo>
                <a:lnTo>
                  <a:pt x="1146048" y="9905"/>
                </a:lnTo>
                <a:lnTo>
                  <a:pt x="1136904" y="16001"/>
                </a:lnTo>
                <a:lnTo>
                  <a:pt x="1146048" y="20352"/>
                </a:lnTo>
                <a:close/>
              </a:path>
              <a:path w="1532889" h="380365">
                <a:moveTo>
                  <a:pt x="1146048" y="106679"/>
                </a:moveTo>
                <a:lnTo>
                  <a:pt x="1146048" y="20352"/>
                </a:lnTo>
                <a:lnTo>
                  <a:pt x="1136904" y="16001"/>
                </a:lnTo>
                <a:lnTo>
                  <a:pt x="1136904" y="93725"/>
                </a:lnTo>
                <a:lnTo>
                  <a:pt x="1139952" y="93725"/>
                </a:lnTo>
                <a:lnTo>
                  <a:pt x="1139952" y="106679"/>
                </a:lnTo>
                <a:lnTo>
                  <a:pt x="1146048" y="106679"/>
                </a:lnTo>
                <a:close/>
              </a:path>
              <a:path w="1532889" h="380365">
                <a:moveTo>
                  <a:pt x="1514856" y="198828"/>
                </a:moveTo>
                <a:lnTo>
                  <a:pt x="1514856" y="195833"/>
                </a:lnTo>
                <a:lnTo>
                  <a:pt x="1502844" y="190118"/>
                </a:lnTo>
                <a:lnTo>
                  <a:pt x="1136904" y="364235"/>
                </a:lnTo>
                <a:lnTo>
                  <a:pt x="1146048" y="370331"/>
                </a:lnTo>
                <a:lnTo>
                  <a:pt x="1146048" y="374082"/>
                </a:lnTo>
                <a:lnTo>
                  <a:pt x="1514856" y="198828"/>
                </a:lnTo>
                <a:close/>
              </a:path>
              <a:path w="1532889" h="380365">
                <a:moveTo>
                  <a:pt x="1146048" y="374082"/>
                </a:moveTo>
                <a:lnTo>
                  <a:pt x="1146048" y="370331"/>
                </a:lnTo>
                <a:lnTo>
                  <a:pt x="1136904" y="364235"/>
                </a:lnTo>
                <a:lnTo>
                  <a:pt x="1136904" y="378427"/>
                </a:lnTo>
                <a:lnTo>
                  <a:pt x="1146048" y="374082"/>
                </a:lnTo>
                <a:close/>
              </a:path>
              <a:path w="1532889" h="380365">
                <a:moveTo>
                  <a:pt x="1514856" y="195833"/>
                </a:moveTo>
                <a:lnTo>
                  <a:pt x="1514856" y="184403"/>
                </a:lnTo>
                <a:lnTo>
                  <a:pt x="1502844" y="190118"/>
                </a:lnTo>
                <a:lnTo>
                  <a:pt x="1514856" y="1958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45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585660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The Third Case for </a:t>
            </a:r>
            <a:r>
              <a:rPr sz="4000" spc="-5" dirty="0"/>
              <a:t>the</a:t>
            </a:r>
            <a:r>
              <a:rPr sz="4000" spc="-105" dirty="0"/>
              <a:t> </a:t>
            </a:r>
            <a:r>
              <a:rPr sz="4000" dirty="0"/>
              <a:t>KMP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34" y="1360423"/>
            <a:ext cx="208788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Algorithm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70311" y="2770632"/>
            <a:ext cx="8547354" cy="1501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31403" y="2495041"/>
            <a:ext cx="338899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0 1 2 3 4 5 6 7 8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9…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89887" y="2397251"/>
            <a:ext cx="483234" cy="523875"/>
          </a:xfrm>
          <a:custGeom>
            <a:avLst/>
            <a:gdLst/>
            <a:ahLst/>
            <a:cxnLst/>
            <a:rect l="l" t="t" r="r" b="b"/>
            <a:pathLst>
              <a:path w="483235" h="523875">
                <a:moveTo>
                  <a:pt x="482944" y="523493"/>
                </a:moveTo>
                <a:lnTo>
                  <a:pt x="468844" y="432919"/>
                </a:lnTo>
                <a:lnTo>
                  <a:pt x="458305" y="377493"/>
                </a:lnTo>
                <a:lnTo>
                  <a:pt x="446239" y="322734"/>
                </a:lnTo>
                <a:lnTo>
                  <a:pt x="432575" y="269498"/>
                </a:lnTo>
                <a:lnTo>
                  <a:pt x="417244" y="218640"/>
                </a:lnTo>
                <a:lnTo>
                  <a:pt x="400176" y="171015"/>
                </a:lnTo>
                <a:lnTo>
                  <a:pt x="381299" y="127478"/>
                </a:lnTo>
                <a:lnTo>
                  <a:pt x="360545" y="88884"/>
                </a:lnTo>
                <a:lnTo>
                  <a:pt x="337842" y="56089"/>
                </a:lnTo>
                <a:lnTo>
                  <a:pt x="286310" y="11316"/>
                </a:lnTo>
                <a:lnTo>
                  <a:pt x="226143" y="0"/>
                </a:lnTo>
                <a:lnTo>
                  <a:pt x="196558" y="11323"/>
                </a:lnTo>
                <a:lnTo>
                  <a:pt x="144099" y="57472"/>
                </a:lnTo>
                <a:lnTo>
                  <a:pt x="121066" y="90759"/>
                </a:lnTo>
                <a:lnTo>
                  <a:pt x="100059" y="129826"/>
                </a:lnTo>
                <a:lnTo>
                  <a:pt x="80998" y="173904"/>
                </a:lnTo>
                <a:lnTo>
                  <a:pt x="63803" y="222224"/>
                </a:lnTo>
                <a:lnTo>
                  <a:pt x="48397" y="274015"/>
                </a:lnTo>
                <a:lnTo>
                  <a:pt x="34698" y="328508"/>
                </a:lnTo>
                <a:lnTo>
                  <a:pt x="22628" y="384932"/>
                </a:lnTo>
                <a:lnTo>
                  <a:pt x="12108" y="442517"/>
                </a:lnTo>
                <a:lnTo>
                  <a:pt x="3058" y="500494"/>
                </a:lnTo>
                <a:lnTo>
                  <a:pt x="0" y="523493"/>
                </a:lnTo>
                <a:lnTo>
                  <a:pt x="28087" y="523493"/>
                </a:lnTo>
                <a:lnTo>
                  <a:pt x="31100" y="501026"/>
                </a:lnTo>
                <a:lnTo>
                  <a:pt x="39453" y="448055"/>
                </a:lnTo>
                <a:lnTo>
                  <a:pt x="39453" y="448817"/>
                </a:lnTo>
                <a:lnTo>
                  <a:pt x="53169" y="377189"/>
                </a:lnTo>
                <a:lnTo>
                  <a:pt x="60027" y="347014"/>
                </a:lnTo>
                <a:lnTo>
                  <a:pt x="60027" y="343661"/>
                </a:lnTo>
                <a:lnTo>
                  <a:pt x="68409" y="310895"/>
                </a:lnTo>
                <a:lnTo>
                  <a:pt x="76791" y="279653"/>
                </a:lnTo>
                <a:lnTo>
                  <a:pt x="76791" y="280415"/>
                </a:lnTo>
                <a:lnTo>
                  <a:pt x="85173" y="250697"/>
                </a:lnTo>
                <a:lnTo>
                  <a:pt x="94317" y="222503"/>
                </a:lnTo>
                <a:lnTo>
                  <a:pt x="94317" y="223265"/>
                </a:lnTo>
                <a:lnTo>
                  <a:pt x="103461" y="196595"/>
                </a:lnTo>
                <a:lnTo>
                  <a:pt x="113367" y="171449"/>
                </a:lnTo>
                <a:lnTo>
                  <a:pt x="113367" y="172211"/>
                </a:lnTo>
                <a:lnTo>
                  <a:pt x="123273" y="148589"/>
                </a:lnTo>
                <a:lnTo>
                  <a:pt x="123273" y="149351"/>
                </a:lnTo>
                <a:lnTo>
                  <a:pt x="133179" y="128832"/>
                </a:lnTo>
                <a:lnTo>
                  <a:pt x="133179" y="128015"/>
                </a:lnTo>
                <a:lnTo>
                  <a:pt x="143847" y="109524"/>
                </a:lnTo>
                <a:lnTo>
                  <a:pt x="143847" y="108965"/>
                </a:lnTo>
                <a:lnTo>
                  <a:pt x="154515" y="91897"/>
                </a:lnTo>
                <a:lnTo>
                  <a:pt x="154515" y="91439"/>
                </a:lnTo>
                <a:lnTo>
                  <a:pt x="165183" y="76504"/>
                </a:lnTo>
                <a:lnTo>
                  <a:pt x="165183" y="76199"/>
                </a:lnTo>
                <a:lnTo>
                  <a:pt x="176613" y="63341"/>
                </a:lnTo>
                <a:lnTo>
                  <a:pt x="187281" y="51866"/>
                </a:lnTo>
                <a:lnTo>
                  <a:pt x="188043" y="51053"/>
                </a:lnTo>
                <a:lnTo>
                  <a:pt x="188043" y="51196"/>
                </a:lnTo>
                <a:lnTo>
                  <a:pt x="197949" y="43148"/>
                </a:lnTo>
                <a:lnTo>
                  <a:pt x="197949" y="42671"/>
                </a:lnTo>
                <a:lnTo>
                  <a:pt x="208617" y="36396"/>
                </a:lnTo>
                <a:lnTo>
                  <a:pt x="208617" y="35813"/>
                </a:lnTo>
                <a:lnTo>
                  <a:pt x="219285" y="31421"/>
                </a:lnTo>
                <a:lnTo>
                  <a:pt x="219285" y="31241"/>
                </a:lnTo>
                <a:lnTo>
                  <a:pt x="221571" y="30479"/>
                </a:lnTo>
                <a:lnTo>
                  <a:pt x="232239" y="27431"/>
                </a:lnTo>
                <a:lnTo>
                  <a:pt x="232239" y="27925"/>
                </a:lnTo>
                <a:lnTo>
                  <a:pt x="239859" y="27028"/>
                </a:lnTo>
                <a:lnTo>
                  <a:pt x="239859" y="26669"/>
                </a:lnTo>
                <a:lnTo>
                  <a:pt x="242907" y="26669"/>
                </a:lnTo>
                <a:lnTo>
                  <a:pt x="242907" y="27028"/>
                </a:lnTo>
                <a:lnTo>
                  <a:pt x="250527" y="27925"/>
                </a:lnTo>
                <a:lnTo>
                  <a:pt x="250527" y="27431"/>
                </a:lnTo>
                <a:lnTo>
                  <a:pt x="261195" y="30569"/>
                </a:lnTo>
                <a:lnTo>
                  <a:pt x="263481" y="31241"/>
                </a:lnTo>
                <a:lnTo>
                  <a:pt x="263481" y="31421"/>
                </a:lnTo>
                <a:lnTo>
                  <a:pt x="274149" y="35813"/>
                </a:lnTo>
                <a:lnTo>
                  <a:pt x="274149" y="36396"/>
                </a:lnTo>
                <a:lnTo>
                  <a:pt x="284817" y="42671"/>
                </a:lnTo>
                <a:lnTo>
                  <a:pt x="284817" y="43148"/>
                </a:lnTo>
                <a:lnTo>
                  <a:pt x="295485" y="51815"/>
                </a:lnTo>
                <a:lnTo>
                  <a:pt x="295485" y="52577"/>
                </a:lnTo>
                <a:lnTo>
                  <a:pt x="306153" y="63245"/>
                </a:lnTo>
                <a:lnTo>
                  <a:pt x="306153" y="63398"/>
                </a:lnTo>
                <a:lnTo>
                  <a:pt x="316821" y="76199"/>
                </a:lnTo>
                <a:lnTo>
                  <a:pt x="316821" y="75437"/>
                </a:lnTo>
                <a:lnTo>
                  <a:pt x="328251" y="91439"/>
                </a:lnTo>
                <a:lnTo>
                  <a:pt x="328251" y="91897"/>
                </a:lnTo>
                <a:lnTo>
                  <a:pt x="338919" y="108965"/>
                </a:lnTo>
                <a:lnTo>
                  <a:pt x="338919" y="109619"/>
                </a:lnTo>
                <a:lnTo>
                  <a:pt x="348825" y="128015"/>
                </a:lnTo>
                <a:lnTo>
                  <a:pt x="348825" y="127253"/>
                </a:lnTo>
                <a:lnTo>
                  <a:pt x="359493" y="149351"/>
                </a:lnTo>
                <a:lnTo>
                  <a:pt x="359493" y="150277"/>
                </a:lnTo>
                <a:lnTo>
                  <a:pt x="369399" y="172211"/>
                </a:lnTo>
                <a:lnTo>
                  <a:pt x="369399" y="171449"/>
                </a:lnTo>
                <a:lnTo>
                  <a:pt x="379305" y="196595"/>
                </a:lnTo>
                <a:lnTo>
                  <a:pt x="379305" y="198647"/>
                </a:lnTo>
                <a:lnTo>
                  <a:pt x="388449" y="223265"/>
                </a:lnTo>
                <a:lnTo>
                  <a:pt x="388449" y="222503"/>
                </a:lnTo>
                <a:lnTo>
                  <a:pt x="397593" y="250697"/>
                </a:lnTo>
                <a:lnTo>
                  <a:pt x="405975" y="280415"/>
                </a:lnTo>
                <a:lnTo>
                  <a:pt x="405975" y="279653"/>
                </a:lnTo>
                <a:lnTo>
                  <a:pt x="416910" y="321571"/>
                </a:lnTo>
                <a:lnTo>
                  <a:pt x="426616" y="363793"/>
                </a:lnTo>
                <a:lnTo>
                  <a:pt x="435336" y="406235"/>
                </a:lnTo>
                <a:lnTo>
                  <a:pt x="443313" y="448817"/>
                </a:lnTo>
                <a:lnTo>
                  <a:pt x="443313" y="448055"/>
                </a:lnTo>
                <a:lnTo>
                  <a:pt x="451353" y="501058"/>
                </a:lnTo>
                <a:lnTo>
                  <a:pt x="454320" y="523493"/>
                </a:lnTo>
                <a:lnTo>
                  <a:pt x="482944" y="523493"/>
                </a:lnTo>
                <a:close/>
              </a:path>
              <a:path w="483235" h="523875">
                <a:moveTo>
                  <a:pt x="60789" y="343661"/>
                </a:moveTo>
                <a:lnTo>
                  <a:pt x="60027" y="343661"/>
                </a:lnTo>
                <a:lnTo>
                  <a:pt x="60027" y="347014"/>
                </a:lnTo>
                <a:lnTo>
                  <a:pt x="60789" y="343661"/>
                </a:lnTo>
                <a:close/>
              </a:path>
              <a:path w="483235" h="523875">
                <a:moveTo>
                  <a:pt x="133941" y="127253"/>
                </a:moveTo>
                <a:lnTo>
                  <a:pt x="133179" y="128015"/>
                </a:lnTo>
                <a:lnTo>
                  <a:pt x="133179" y="128832"/>
                </a:lnTo>
                <a:lnTo>
                  <a:pt x="133941" y="127253"/>
                </a:lnTo>
                <a:close/>
              </a:path>
              <a:path w="483235" h="523875">
                <a:moveTo>
                  <a:pt x="144609" y="108203"/>
                </a:moveTo>
                <a:lnTo>
                  <a:pt x="143847" y="108965"/>
                </a:lnTo>
                <a:lnTo>
                  <a:pt x="143847" y="109524"/>
                </a:lnTo>
                <a:lnTo>
                  <a:pt x="144609" y="108203"/>
                </a:lnTo>
                <a:close/>
              </a:path>
              <a:path w="483235" h="523875">
                <a:moveTo>
                  <a:pt x="155277" y="90677"/>
                </a:moveTo>
                <a:lnTo>
                  <a:pt x="154515" y="91439"/>
                </a:lnTo>
                <a:lnTo>
                  <a:pt x="154515" y="91897"/>
                </a:lnTo>
                <a:lnTo>
                  <a:pt x="155277" y="90677"/>
                </a:lnTo>
                <a:close/>
              </a:path>
              <a:path w="483235" h="523875">
                <a:moveTo>
                  <a:pt x="165945" y="75437"/>
                </a:moveTo>
                <a:lnTo>
                  <a:pt x="165183" y="76199"/>
                </a:lnTo>
                <a:lnTo>
                  <a:pt x="165183" y="76504"/>
                </a:lnTo>
                <a:lnTo>
                  <a:pt x="165945" y="75437"/>
                </a:lnTo>
                <a:close/>
              </a:path>
              <a:path w="483235" h="523875">
                <a:moveTo>
                  <a:pt x="177375" y="62483"/>
                </a:moveTo>
                <a:lnTo>
                  <a:pt x="176613" y="63245"/>
                </a:lnTo>
                <a:lnTo>
                  <a:pt x="177375" y="62483"/>
                </a:lnTo>
                <a:close/>
              </a:path>
              <a:path w="483235" h="523875">
                <a:moveTo>
                  <a:pt x="188043" y="51053"/>
                </a:moveTo>
                <a:lnTo>
                  <a:pt x="187281" y="51815"/>
                </a:lnTo>
                <a:lnTo>
                  <a:pt x="187481" y="51653"/>
                </a:lnTo>
                <a:lnTo>
                  <a:pt x="188043" y="51053"/>
                </a:lnTo>
                <a:close/>
              </a:path>
              <a:path w="483235" h="523875">
                <a:moveTo>
                  <a:pt x="187481" y="51653"/>
                </a:moveTo>
                <a:lnTo>
                  <a:pt x="187281" y="51815"/>
                </a:lnTo>
                <a:lnTo>
                  <a:pt x="187481" y="51653"/>
                </a:lnTo>
                <a:close/>
              </a:path>
              <a:path w="483235" h="523875">
                <a:moveTo>
                  <a:pt x="188043" y="51196"/>
                </a:moveTo>
                <a:lnTo>
                  <a:pt x="188043" y="51053"/>
                </a:lnTo>
                <a:lnTo>
                  <a:pt x="187481" y="51653"/>
                </a:lnTo>
                <a:lnTo>
                  <a:pt x="188043" y="51196"/>
                </a:lnTo>
                <a:close/>
              </a:path>
              <a:path w="483235" h="523875">
                <a:moveTo>
                  <a:pt x="199473" y="41909"/>
                </a:moveTo>
                <a:lnTo>
                  <a:pt x="197949" y="42671"/>
                </a:lnTo>
                <a:lnTo>
                  <a:pt x="197949" y="43148"/>
                </a:lnTo>
                <a:lnTo>
                  <a:pt x="199473" y="41909"/>
                </a:lnTo>
                <a:close/>
              </a:path>
              <a:path w="483235" h="523875">
                <a:moveTo>
                  <a:pt x="210903" y="35051"/>
                </a:moveTo>
                <a:lnTo>
                  <a:pt x="208617" y="35813"/>
                </a:lnTo>
                <a:lnTo>
                  <a:pt x="208617" y="36396"/>
                </a:lnTo>
                <a:lnTo>
                  <a:pt x="210903" y="35051"/>
                </a:lnTo>
                <a:close/>
              </a:path>
              <a:path w="483235" h="523875">
                <a:moveTo>
                  <a:pt x="221571" y="30479"/>
                </a:moveTo>
                <a:lnTo>
                  <a:pt x="219285" y="31241"/>
                </a:lnTo>
                <a:lnTo>
                  <a:pt x="220809" y="30793"/>
                </a:lnTo>
                <a:lnTo>
                  <a:pt x="221571" y="30479"/>
                </a:lnTo>
                <a:close/>
              </a:path>
              <a:path w="483235" h="523875">
                <a:moveTo>
                  <a:pt x="220809" y="30793"/>
                </a:moveTo>
                <a:lnTo>
                  <a:pt x="219285" y="31241"/>
                </a:lnTo>
                <a:lnTo>
                  <a:pt x="219285" y="31421"/>
                </a:lnTo>
                <a:lnTo>
                  <a:pt x="220809" y="30793"/>
                </a:lnTo>
                <a:close/>
              </a:path>
              <a:path w="483235" h="523875">
                <a:moveTo>
                  <a:pt x="221571" y="30569"/>
                </a:moveTo>
                <a:lnTo>
                  <a:pt x="220809" y="30793"/>
                </a:lnTo>
                <a:lnTo>
                  <a:pt x="221571" y="30569"/>
                </a:lnTo>
                <a:close/>
              </a:path>
              <a:path w="483235" h="523875">
                <a:moveTo>
                  <a:pt x="232239" y="27925"/>
                </a:moveTo>
                <a:lnTo>
                  <a:pt x="232239" y="27431"/>
                </a:lnTo>
                <a:lnTo>
                  <a:pt x="229953" y="28193"/>
                </a:lnTo>
                <a:lnTo>
                  <a:pt x="232239" y="27925"/>
                </a:lnTo>
                <a:close/>
              </a:path>
              <a:path w="483235" h="523875">
                <a:moveTo>
                  <a:pt x="242907" y="26669"/>
                </a:moveTo>
                <a:lnTo>
                  <a:pt x="239859" y="26669"/>
                </a:lnTo>
                <a:lnTo>
                  <a:pt x="241383" y="26849"/>
                </a:lnTo>
                <a:lnTo>
                  <a:pt x="242907" y="26669"/>
                </a:lnTo>
                <a:close/>
              </a:path>
              <a:path w="483235" h="523875">
                <a:moveTo>
                  <a:pt x="241383" y="26849"/>
                </a:moveTo>
                <a:lnTo>
                  <a:pt x="239859" y="26669"/>
                </a:lnTo>
                <a:lnTo>
                  <a:pt x="239859" y="27028"/>
                </a:lnTo>
                <a:lnTo>
                  <a:pt x="241383" y="26849"/>
                </a:lnTo>
                <a:close/>
              </a:path>
              <a:path w="483235" h="523875">
                <a:moveTo>
                  <a:pt x="242907" y="27028"/>
                </a:moveTo>
                <a:lnTo>
                  <a:pt x="242907" y="26669"/>
                </a:lnTo>
                <a:lnTo>
                  <a:pt x="241383" y="26849"/>
                </a:lnTo>
                <a:lnTo>
                  <a:pt x="242907" y="27028"/>
                </a:lnTo>
                <a:close/>
              </a:path>
              <a:path w="483235" h="523875">
                <a:moveTo>
                  <a:pt x="252813" y="28193"/>
                </a:moveTo>
                <a:lnTo>
                  <a:pt x="250527" y="27431"/>
                </a:lnTo>
                <a:lnTo>
                  <a:pt x="250527" y="27925"/>
                </a:lnTo>
                <a:lnTo>
                  <a:pt x="252813" y="28193"/>
                </a:lnTo>
                <a:close/>
              </a:path>
              <a:path w="483235" h="523875">
                <a:moveTo>
                  <a:pt x="263481" y="31241"/>
                </a:moveTo>
                <a:lnTo>
                  <a:pt x="261195" y="30479"/>
                </a:lnTo>
                <a:lnTo>
                  <a:pt x="261957" y="30793"/>
                </a:lnTo>
                <a:lnTo>
                  <a:pt x="263481" y="31241"/>
                </a:lnTo>
                <a:close/>
              </a:path>
              <a:path w="483235" h="523875">
                <a:moveTo>
                  <a:pt x="261957" y="30793"/>
                </a:moveTo>
                <a:lnTo>
                  <a:pt x="261195" y="30479"/>
                </a:lnTo>
                <a:lnTo>
                  <a:pt x="261957" y="30793"/>
                </a:lnTo>
                <a:close/>
              </a:path>
              <a:path w="483235" h="523875">
                <a:moveTo>
                  <a:pt x="263481" y="31421"/>
                </a:moveTo>
                <a:lnTo>
                  <a:pt x="263481" y="31241"/>
                </a:lnTo>
                <a:lnTo>
                  <a:pt x="261957" y="30793"/>
                </a:lnTo>
                <a:lnTo>
                  <a:pt x="263481" y="31421"/>
                </a:lnTo>
                <a:close/>
              </a:path>
              <a:path w="483235" h="523875">
                <a:moveTo>
                  <a:pt x="274149" y="36396"/>
                </a:moveTo>
                <a:lnTo>
                  <a:pt x="274149" y="35813"/>
                </a:lnTo>
                <a:lnTo>
                  <a:pt x="271863" y="35051"/>
                </a:lnTo>
                <a:lnTo>
                  <a:pt x="274149" y="36396"/>
                </a:lnTo>
                <a:close/>
              </a:path>
              <a:path w="483235" h="523875">
                <a:moveTo>
                  <a:pt x="284817" y="43148"/>
                </a:moveTo>
                <a:lnTo>
                  <a:pt x="284817" y="42671"/>
                </a:lnTo>
                <a:lnTo>
                  <a:pt x="283293" y="41909"/>
                </a:lnTo>
                <a:lnTo>
                  <a:pt x="284817" y="43148"/>
                </a:lnTo>
                <a:close/>
              </a:path>
              <a:path w="483235" h="523875">
                <a:moveTo>
                  <a:pt x="295485" y="52577"/>
                </a:moveTo>
                <a:lnTo>
                  <a:pt x="295485" y="51815"/>
                </a:lnTo>
                <a:lnTo>
                  <a:pt x="293961" y="51053"/>
                </a:lnTo>
                <a:lnTo>
                  <a:pt x="295485" y="52577"/>
                </a:lnTo>
                <a:close/>
              </a:path>
              <a:path w="483235" h="523875">
                <a:moveTo>
                  <a:pt x="306153" y="63398"/>
                </a:moveTo>
                <a:lnTo>
                  <a:pt x="306153" y="63245"/>
                </a:lnTo>
                <a:lnTo>
                  <a:pt x="305391" y="62483"/>
                </a:lnTo>
                <a:lnTo>
                  <a:pt x="306153" y="63398"/>
                </a:lnTo>
                <a:close/>
              </a:path>
              <a:path w="483235" h="523875">
                <a:moveTo>
                  <a:pt x="328251" y="91897"/>
                </a:moveTo>
                <a:lnTo>
                  <a:pt x="328251" y="91439"/>
                </a:lnTo>
                <a:lnTo>
                  <a:pt x="327489" y="90677"/>
                </a:lnTo>
                <a:lnTo>
                  <a:pt x="328251" y="91897"/>
                </a:lnTo>
                <a:close/>
              </a:path>
              <a:path w="483235" h="523875">
                <a:moveTo>
                  <a:pt x="338919" y="109619"/>
                </a:moveTo>
                <a:lnTo>
                  <a:pt x="338919" y="108965"/>
                </a:lnTo>
                <a:lnTo>
                  <a:pt x="338157" y="108203"/>
                </a:lnTo>
                <a:lnTo>
                  <a:pt x="338919" y="109619"/>
                </a:lnTo>
                <a:close/>
              </a:path>
              <a:path w="483235" h="523875">
                <a:moveTo>
                  <a:pt x="359493" y="150277"/>
                </a:moveTo>
                <a:lnTo>
                  <a:pt x="359493" y="149351"/>
                </a:lnTo>
                <a:lnTo>
                  <a:pt x="358731" y="148589"/>
                </a:lnTo>
                <a:lnTo>
                  <a:pt x="359493" y="150277"/>
                </a:lnTo>
                <a:close/>
              </a:path>
              <a:path w="483235" h="523875">
                <a:moveTo>
                  <a:pt x="379305" y="198647"/>
                </a:moveTo>
                <a:lnTo>
                  <a:pt x="379305" y="196595"/>
                </a:lnTo>
                <a:lnTo>
                  <a:pt x="378543" y="196595"/>
                </a:lnTo>
                <a:lnTo>
                  <a:pt x="379305" y="198647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02215" y="2841498"/>
            <a:ext cx="649224" cy="79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2920745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70311" y="2920745"/>
            <a:ext cx="8547354" cy="3017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170311" y="3418332"/>
            <a:ext cx="4584953" cy="3596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63958" y="2920745"/>
            <a:ext cx="535305" cy="857250"/>
          </a:xfrm>
          <a:custGeom>
            <a:avLst/>
            <a:gdLst/>
            <a:ahLst/>
            <a:cxnLst/>
            <a:rect l="l" t="t" r="r" b="b"/>
            <a:pathLst>
              <a:path w="535304" h="857250">
                <a:moveTo>
                  <a:pt x="54017" y="0"/>
                </a:moveTo>
                <a:lnTo>
                  <a:pt x="25929" y="0"/>
                </a:lnTo>
                <a:lnTo>
                  <a:pt x="21328" y="34599"/>
                </a:lnTo>
                <a:lnTo>
                  <a:pt x="14981" y="91050"/>
                </a:lnTo>
                <a:lnTo>
                  <a:pt x="9866" y="145583"/>
                </a:lnTo>
                <a:lnTo>
                  <a:pt x="5904" y="197427"/>
                </a:lnTo>
                <a:lnTo>
                  <a:pt x="3015" y="245814"/>
                </a:lnTo>
                <a:lnTo>
                  <a:pt x="1121" y="289972"/>
                </a:lnTo>
                <a:lnTo>
                  <a:pt x="143" y="329133"/>
                </a:lnTo>
                <a:lnTo>
                  <a:pt x="0" y="362526"/>
                </a:lnTo>
                <a:lnTo>
                  <a:pt x="2137" y="481583"/>
                </a:lnTo>
                <a:lnTo>
                  <a:pt x="2137" y="505455"/>
                </a:lnTo>
                <a:lnTo>
                  <a:pt x="4783" y="570688"/>
                </a:lnTo>
                <a:lnTo>
                  <a:pt x="7625" y="612168"/>
                </a:lnTo>
                <a:lnTo>
                  <a:pt x="11566" y="658112"/>
                </a:lnTo>
                <a:lnTo>
                  <a:pt x="16678" y="707663"/>
                </a:lnTo>
                <a:lnTo>
                  <a:pt x="23033" y="759968"/>
                </a:lnTo>
                <a:lnTo>
                  <a:pt x="28807" y="800781"/>
                </a:lnTo>
                <a:lnTo>
                  <a:pt x="28807" y="389381"/>
                </a:lnTo>
                <a:lnTo>
                  <a:pt x="30331" y="297179"/>
                </a:lnTo>
                <a:lnTo>
                  <a:pt x="30331" y="297941"/>
                </a:lnTo>
                <a:lnTo>
                  <a:pt x="32335" y="244365"/>
                </a:lnTo>
                <a:lnTo>
                  <a:pt x="35226" y="190823"/>
                </a:lnTo>
                <a:lnTo>
                  <a:pt x="39072" y="137342"/>
                </a:lnTo>
                <a:lnTo>
                  <a:pt x="43942" y="83948"/>
                </a:lnTo>
                <a:lnTo>
                  <a:pt x="49905" y="30669"/>
                </a:lnTo>
                <a:lnTo>
                  <a:pt x="54017" y="0"/>
                </a:lnTo>
                <a:close/>
              </a:path>
              <a:path w="535304" h="857250">
                <a:moveTo>
                  <a:pt x="2137" y="505455"/>
                </a:moveTo>
                <a:lnTo>
                  <a:pt x="2137" y="481583"/>
                </a:lnTo>
                <a:lnTo>
                  <a:pt x="2111" y="504541"/>
                </a:lnTo>
                <a:lnTo>
                  <a:pt x="2137" y="505455"/>
                </a:lnTo>
                <a:close/>
              </a:path>
              <a:path w="535304" h="857250">
                <a:moveTo>
                  <a:pt x="66163" y="857250"/>
                </a:moveTo>
                <a:lnTo>
                  <a:pt x="60346" y="822677"/>
                </a:lnTo>
                <a:lnTo>
                  <a:pt x="53953" y="777239"/>
                </a:lnTo>
                <a:lnTo>
                  <a:pt x="53953" y="778001"/>
                </a:lnTo>
                <a:lnTo>
                  <a:pt x="48619" y="737615"/>
                </a:lnTo>
                <a:lnTo>
                  <a:pt x="48619" y="738377"/>
                </a:lnTo>
                <a:lnTo>
                  <a:pt x="44047" y="697229"/>
                </a:lnTo>
                <a:lnTo>
                  <a:pt x="40237" y="655319"/>
                </a:lnTo>
                <a:lnTo>
                  <a:pt x="40237" y="656081"/>
                </a:lnTo>
                <a:lnTo>
                  <a:pt x="34141" y="569976"/>
                </a:lnTo>
                <a:lnTo>
                  <a:pt x="31855" y="525779"/>
                </a:lnTo>
                <a:lnTo>
                  <a:pt x="30331" y="480821"/>
                </a:lnTo>
                <a:lnTo>
                  <a:pt x="28807" y="389381"/>
                </a:lnTo>
                <a:lnTo>
                  <a:pt x="28807" y="800781"/>
                </a:lnTo>
                <a:lnTo>
                  <a:pt x="30701" y="814169"/>
                </a:lnTo>
                <a:lnTo>
                  <a:pt x="37762" y="857250"/>
                </a:lnTo>
                <a:lnTo>
                  <a:pt x="66163" y="857250"/>
                </a:lnTo>
                <a:close/>
              </a:path>
              <a:path w="535304" h="857250">
                <a:moveTo>
                  <a:pt x="505236" y="802877"/>
                </a:moveTo>
                <a:lnTo>
                  <a:pt x="505236" y="400504"/>
                </a:lnTo>
                <a:lnTo>
                  <a:pt x="504733" y="451509"/>
                </a:lnTo>
                <a:lnTo>
                  <a:pt x="503477" y="502358"/>
                </a:lnTo>
                <a:lnTo>
                  <a:pt x="501387" y="553263"/>
                </a:lnTo>
                <a:lnTo>
                  <a:pt x="498384" y="604433"/>
                </a:lnTo>
                <a:lnTo>
                  <a:pt x="494389" y="656081"/>
                </a:lnTo>
                <a:lnTo>
                  <a:pt x="494389" y="655319"/>
                </a:lnTo>
                <a:lnTo>
                  <a:pt x="485245" y="738377"/>
                </a:lnTo>
                <a:lnTo>
                  <a:pt x="485245" y="737615"/>
                </a:lnTo>
                <a:lnTo>
                  <a:pt x="480673" y="778001"/>
                </a:lnTo>
                <a:lnTo>
                  <a:pt x="480673" y="777239"/>
                </a:lnTo>
                <a:lnTo>
                  <a:pt x="472953" y="831191"/>
                </a:lnTo>
                <a:lnTo>
                  <a:pt x="468361" y="857250"/>
                </a:lnTo>
                <a:lnTo>
                  <a:pt x="496814" y="857250"/>
                </a:lnTo>
                <a:lnTo>
                  <a:pt x="503925" y="812579"/>
                </a:lnTo>
                <a:lnTo>
                  <a:pt x="505236" y="802877"/>
                </a:lnTo>
                <a:close/>
              </a:path>
              <a:path w="535304" h="857250">
                <a:moveTo>
                  <a:pt x="532535" y="274232"/>
                </a:moveTo>
                <a:lnTo>
                  <a:pt x="529870" y="208103"/>
                </a:lnTo>
                <a:lnTo>
                  <a:pt x="527019" y="166632"/>
                </a:lnTo>
                <a:lnTo>
                  <a:pt x="523063" y="120698"/>
                </a:lnTo>
                <a:lnTo>
                  <a:pt x="517930" y="71154"/>
                </a:lnTo>
                <a:lnTo>
                  <a:pt x="511551" y="18858"/>
                </a:lnTo>
                <a:lnTo>
                  <a:pt x="508873" y="0"/>
                </a:lnTo>
                <a:lnTo>
                  <a:pt x="480250" y="0"/>
                </a:lnTo>
                <a:lnTo>
                  <a:pt x="484312" y="30714"/>
                </a:lnTo>
                <a:lnTo>
                  <a:pt x="490330" y="83991"/>
                </a:lnTo>
                <a:lnTo>
                  <a:pt x="495338" y="137374"/>
                </a:lnTo>
                <a:lnTo>
                  <a:pt x="499334" y="190841"/>
                </a:lnTo>
                <a:lnTo>
                  <a:pt x="502320" y="244370"/>
                </a:lnTo>
                <a:lnTo>
                  <a:pt x="504295" y="297941"/>
                </a:lnTo>
                <a:lnTo>
                  <a:pt x="504295" y="297179"/>
                </a:lnTo>
                <a:lnTo>
                  <a:pt x="505063" y="349131"/>
                </a:lnTo>
                <a:lnTo>
                  <a:pt x="505236" y="802877"/>
                </a:lnTo>
                <a:lnTo>
                  <a:pt x="511808" y="754244"/>
                </a:lnTo>
                <a:lnTo>
                  <a:pt x="518412" y="696252"/>
                </a:lnTo>
                <a:lnTo>
                  <a:pt x="523810" y="639253"/>
                </a:lnTo>
                <a:lnTo>
                  <a:pt x="528077" y="583899"/>
                </a:lnTo>
                <a:lnTo>
                  <a:pt x="531286" y="530841"/>
                </a:lnTo>
                <a:lnTo>
                  <a:pt x="532489" y="503775"/>
                </a:lnTo>
                <a:lnTo>
                  <a:pt x="532489" y="297179"/>
                </a:lnTo>
                <a:lnTo>
                  <a:pt x="532535" y="274232"/>
                </a:lnTo>
                <a:close/>
              </a:path>
              <a:path w="535304" h="857250">
                <a:moveTo>
                  <a:pt x="535312" y="391956"/>
                </a:moveTo>
                <a:lnTo>
                  <a:pt x="535033" y="354594"/>
                </a:lnTo>
                <a:lnTo>
                  <a:pt x="534067" y="322785"/>
                </a:lnTo>
                <a:lnTo>
                  <a:pt x="532489" y="297179"/>
                </a:lnTo>
                <a:lnTo>
                  <a:pt x="532489" y="503775"/>
                </a:lnTo>
                <a:lnTo>
                  <a:pt x="533513" y="480730"/>
                </a:lnTo>
                <a:lnTo>
                  <a:pt x="534830" y="434218"/>
                </a:lnTo>
                <a:lnTo>
                  <a:pt x="535312" y="39195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744865" y="3490721"/>
            <a:ext cx="649224" cy="28727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02215" y="3490721"/>
            <a:ext cx="649224" cy="28727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02215" y="2920745"/>
            <a:ext cx="649224" cy="28117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70311" y="3777996"/>
            <a:ext cx="4584953" cy="9220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001720" y="3777996"/>
            <a:ext cx="459105" cy="445134"/>
          </a:xfrm>
          <a:custGeom>
            <a:avLst/>
            <a:gdLst/>
            <a:ahLst/>
            <a:cxnLst/>
            <a:rect l="l" t="t" r="r" b="b"/>
            <a:pathLst>
              <a:path w="459104" h="445135">
                <a:moveTo>
                  <a:pt x="48957" y="101345"/>
                </a:moveTo>
                <a:lnTo>
                  <a:pt x="39099" y="56515"/>
                </a:lnTo>
                <a:lnTo>
                  <a:pt x="30264" y="11072"/>
                </a:lnTo>
                <a:lnTo>
                  <a:pt x="28401" y="0"/>
                </a:lnTo>
                <a:lnTo>
                  <a:pt x="0" y="0"/>
                </a:lnTo>
                <a:lnTo>
                  <a:pt x="12504" y="67593"/>
                </a:lnTo>
                <a:lnTo>
                  <a:pt x="24545" y="122355"/>
                </a:lnTo>
                <a:lnTo>
                  <a:pt x="38186" y="175593"/>
                </a:lnTo>
                <a:lnTo>
                  <a:pt x="48195" y="208835"/>
                </a:lnTo>
                <a:lnTo>
                  <a:pt x="48195" y="101345"/>
                </a:lnTo>
                <a:lnTo>
                  <a:pt x="48957" y="101345"/>
                </a:lnTo>
                <a:close/>
              </a:path>
              <a:path w="459104" h="445135">
                <a:moveTo>
                  <a:pt x="122109" y="316991"/>
                </a:moveTo>
                <a:lnTo>
                  <a:pt x="111441" y="295655"/>
                </a:lnTo>
                <a:lnTo>
                  <a:pt x="111441" y="296417"/>
                </a:lnTo>
                <a:lnTo>
                  <a:pt x="101535" y="272795"/>
                </a:lnTo>
                <a:lnTo>
                  <a:pt x="101535" y="273557"/>
                </a:lnTo>
                <a:lnTo>
                  <a:pt x="91629" y="248412"/>
                </a:lnTo>
                <a:lnTo>
                  <a:pt x="82485" y="221741"/>
                </a:lnTo>
                <a:lnTo>
                  <a:pt x="82485" y="222503"/>
                </a:lnTo>
                <a:lnTo>
                  <a:pt x="73341" y="193548"/>
                </a:lnTo>
                <a:lnTo>
                  <a:pt x="73341" y="194309"/>
                </a:lnTo>
                <a:lnTo>
                  <a:pt x="64959" y="164591"/>
                </a:lnTo>
                <a:lnTo>
                  <a:pt x="56577" y="133350"/>
                </a:lnTo>
                <a:lnTo>
                  <a:pt x="56577" y="134112"/>
                </a:lnTo>
                <a:lnTo>
                  <a:pt x="48195" y="101345"/>
                </a:lnTo>
                <a:lnTo>
                  <a:pt x="48195" y="208835"/>
                </a:lnTo>
                <a:lnTo>
                  <a:pt x="53499" y="226451"/>
                </a:lnTo>
                <a:lnTo>
                  <a:pt x="70555" y="274074"/>
                </a:lnTo>
                <a:lnTo>
                  <a:pt x="89427" y="317607"/>
                </a:lnTo>
                <a:lnTo>
                  <a:pt x="110186" y="356194"/>
                </a:lnTo>
                <a:lnTo>
                  <a:pt x="121347" y="372301"/>
                </a:lnTo>
                <a:lnTo>
                  <a:pt x="121347" y="316991"/>
                </a:lnTo>
                <a:lnTo>
                  <a:pt x="122109" y="316991"/>
                </a:lnTo>
                <a:close/>
              </a:path>
              <a:path w="459104" h="445135">
                <a:moveTo>
                  <a:pt x="132777" y="336803"/>
                </a:moveTo>
                <a:lnTo>
                  <a:pt x="121347" y="316991"/>
                </a:lnTo>
                <a:lnTo>
                  <a:pt x="121347" y="372301"/>
                </a:lnTo>
                <a:lnTo>
                  <a:pt x="132015" y="387698"/>
                </a:lnTo>
                <a:lnTo>
                  <a:pt x="132015" y="336041"/>
                </a:lnTo>
                <a:lnTo>
                  <a:pt x="132777" y="336803"/>
                </a:lnTo>
                <a:close/>
              </a:path>
              <a:path w="459104" h="445135">
                <a:moveTo>
                  <a:pt x="143445" y="353567"/>
                </a:moveTo>
                <a:lnTo>
                  <a:pt x="132015" y="336041"/>
                </a:lnTo>
                <a:lnTo>
                  <a:pt x="132015" y="387698"/>
                </a:lnTo>
                <a:lnTo>
                  <a:pt x="132903" y="388980"/>
                </a:lnTo>
                <a:lnTo>
                  <a:pt x="142683" y="399306"/>
                </a:lnTo>
                <a:lnTo>
                  <a:pt x="142683" y="352805"/>
                </a:lnTo>
                <a:lnTo>
                  <a:pt x="143445" y="353567"/>
                </a:lnTo>
                <a:close/>
              </a:path>
              <a:path w="459104" h="445135">
                <a:moveTo>
                  <a:pt x="154113" y="369569"/>
                </a:moveTo>
                <a:lnTo>
                  <a:pt x="142683" y="352805"/>
                </a:lnTo>
                <a:lnTo>
                  <a:pt x="142683" y="399306"/>
                </a:lnTo>
                <a:lnTo>
                  <a:pt x="153351" y="410570"/>
                </a:lnTo>
                <a:lnTo>
                  <a:pt x="153351" y="368807"/>
                </a:lnTo>
                <a:lnTo>
                  <a:pt x="154113" y="369569"/>
                </a:lnTo>
                <a:close/>
              </a:path>
              <a:path w="459104" h="445135">
                <a:moveTo>
                  <a:pt x="176211" y="427980"/>
                </a:moveTo>
                <a:lnTo>
                  <a:pt x="176211" y="393953"/>
                </a:lnTo>
                <a:lnTo>
                  <a:pt x="164781" y="381762"/>
                </a:lnTo>
                <a:lnTo>
                  <a:pt x="153351" y="368807"/>
                </a:lnTo>
                <a:lnTo>
                  <a:pt x="153351" y="410570"/>
                </a:lnTo>
                <a:lnTo>
                  <a:pt x="157651" y="415110"/>
                </a:lnTo>
                <a:lnTo>
                  <a:pt x="176211" y="427980"/>
                </a:lnTo>
                <a:close/>
              </a:path>
              <a:path w="459104" h="445135">
                <a:moveTo>
                  <a:pt x="165543" y="382524"/>
                </a:moveTo>
                <a:lnTo>
                  <a:pt x="164781" y="381666"/>
                </a:lnTo>
                <a:lnTo>
                  <a:pt x="165543" y="382524"/>
                </a:lnTo>
                <a:close/>
              </a:path>
              <a:path w="459104" h="445135">
                <a:moveTo>
                  <a:pt x="187641" y="434837"/>
                </a:moveTo>
                <a:lnTo>
                  <a:pt x="187641" y="403098"/>
                </a:lnTo>
                <a:lnTo>
                  <a:pt x="175449" y="392429"/>
                </a:lnTo>
                <a:lnTo>
                  <a:pt x="176211" y="393953"/>
                </a:lnTo>
                <a:lnTo>
                  <a:pt x="176211" y="427980"/>
                </a:lnTo>
                <a:lnTo>
                  <a:pt x="184500" y="433728"/>
                </a:lnTo>
                <a:lnTo>
                  <a:pt x="187641" y="434837"/>
                </a:lnTo>
                <a:close/>
              </a:path>
              <a:path w="459104" h="445135">
                <a:moveTo>
                  <a:pt x="199071" y="438875"/>
                </a:moveTo>
                <a:lnTo>
                  <a:pt x="199071" y="409955"/>
                </a:lnTo>
                <a:lnTo>
                  <a:pt x="186117" y="401574"/>
                </a:lnTo>
                <a:lnTo>
                  <a:pt x="187641" y="403098"/>
                </a:lnTo>
                <a:lnTo>
                  <a:pt x="187641" y="434837"/>
                </a:lnTo>
                <a:lnTo>
                  <a:pt x="199071" y="438875"/>
                </a:lnTo>
                <a:close/>
              </a:path>
              <a:path w="459104" h="445135">
                <a:moveTo>
                  <a:pt x="208786" y="414079"/>
                </a:moveTo>
                <a:lnTo>
                  <a:pt x="196785" y="408431"/>
                </a:lnTo>
                <a:lnTo>
                  <a:pt x="199071" y="409955"/>
                </a:lnTo>
                <a:lnTo>
                  <a:pt x="199071" y="438875"/>
                </a:lnTo>
                <a:lnTo>
                  <a:pt x="207453" y="441835"/>
                </a:lnTo>
                <a:lnTo>
                  <a:pt x="207453" y="413765"/>
                </a:lnTo>
                <a:lnTo>
                  <a:pt x="208786" y="414079"/>
                </a:lnTo>
                <a:close/>
              </a:path>
              <a:path w="459104" h="445135">
                <a:moveTo>
                  <a:pt x="209739" y="414527"/>
                </a:moveTo>
                <a:lnTo>
                  <a:pt x="208786" y="414079"/>
                </a:lnTo>
                <a:lnTo>
                  <a:pt x="207453" y="413765"/>
                </a:lnTo>
                <a:lnTo>
                  <a:pt x="209739" y="414527"/>
                </a:lnTo>
                <a:close/>
              </a:path>
              <a:path w="459104" h="445135">
                <a:moveTo>
                  <a:pt x="209739" y="442643"/>
                </a:moveTo>
                <a:lnTo>
                  <a:pt x="209739" y="414527"/>
                </a:lnTo>
                <a:lnTo>
                  <a:pt x="207453" y="413765"/>
                </a:lnTo>
                <a:lnTo>
                  <a:pt x="207453" y="441835"/>
                </a:lnTo>
                <a:lnTo>
                  <a:pt x="209739" y="442643"/>
                </a:lnTo>
                <a:close/>
              </a:path>
              <a:path w="459104" h="445135">
                <a:moveTo>
                  <a:pt x="220407" y="416813"/>
                </a:moveTo>
                <a:lnTo>
                  <a:pt x="208786" y="414079"/>
                </a:lnTo>
                <a:lnTo>
                  <a:pt x="209739" y="414527"/>
                </a:lnTo>
                <a:lnTo>
                  <a:pt x="209739" y="442643"/>
                </a:lnTo>
                <a:lnTo>
                  <a:pt x="213523" y="443979"/>
                </a:lnTo>
                <a:lnTo>
                  <a:pt x="218121" y="444130"/>
                </a:lnTo>
                <a:lnTo>
                  <a:pt x="218121" y="416813"/>
                </a:lnTo>
                <a:lnTo>
                  <a:pt x="220407" y="416813"/>
                </a:lnTo>
                <a:close/>
              </a:path>
              <a:path w="459104" h="445135">
                <a:moveTo>
                  <a:pt x="231075" y="444556"/>
                </a:moveTo>
                <a:lnTo>
                  <a:pt x="231075" y="417575"/>
                </a:lnTo>
                <a:lnTo>
                  <a:pt x="228027" y="417575"/>
                </a:lnTo>
                <a:lnTo>
                  <a:pt x="228027" y="417396"/>
                </a:lnTo>
                <a:lnTo>
                  <a:pt x="218121" y="416813"/>
                </a:lnTo>
                <a:lnTo>
                  <a:pt x="218121" y="444130"/>
                </a:lnTo>
                <a:lnTo>
                  <a:pt x="228027" y="444456"/>
                </a:lnTo>
                <a:lnTo>
                  <a:pt x="228027" y="417575"/>
                </a:lnTo>
                <a:lnTo>
                  <a:pt x="229551" y="417486"/>
                </a:lnTo>
                <a:lnTo>
                  <a:pt x="229551" y="444506"/>
                </a:lnTo>
                <a:lnTo>
                  <a:pt x="231075" y="444556"/>
                </a:lnTo>
                <a:close/>
              </a:path>
              <a:path w="459104" h="445135">
                <a:moveTo>
                  <a:pt x="240981" y="444882"/>
                </a:moveTo>
                <a:lnTo>
                  <a:pt x="240981" y="416813"/>
                </a:lnTo>
                <a:lnTo>
                  <a:pt x="229551" y="417486"/>
                </a:lnTo>
                <a:lnTo>
                  <a:pt x="231075" y="417575"/>
                </a:lnTo>
                <a:lnTo>
                  <a:pt x="231075" y="444556"/>
                </a:lnTo>
                <a:lnTo>
                  <a:pt x="240981" y="444882"/>
                </a:lnTo>
                <a:close/>
              </a:path>
              <a:path w="459104" h="445135">
                <a:moveTo>
                  <a:pt x="250315" y="414079"/>
                </a:moveTo>
                <a:lnTo>
                  <a:pt x="238695" y="416813"/>
                </a:lnTo>
                <a:lnTo>
                  <a:pt x="240981" y="416813"/>
                </a:lnTo>
                <a:lnTo>
                  <a:pt x="240981" y="444882"/>
                </a:lnTo>
                <a:lnTo>
                  <a:pt x="244791" y="445007"/>
                </a:lnTo>
                <a:lnTo>
                  <a:pt x="249363" y="443172"/>
                </a:lnTo>
                <a:lnTo>
                  <a:pt x="249363" y="414527"/>
                </a:lnTo>
                <a:lnTo>
                  <a:pt x="250315" y="414079"/>
                </a:lnTo>
                <a:close/>
              </a:path>
              <a:path w="459104" h="445135">
                <a:moveTo>
                  <a:pt x="251649" y="413765"/>
                </a:moveTo>
                <a:lnTo>
                  <a:pt x="250315" y="414079"/>
                </a:lnTo>
                <a:lnTo>
                  <a:pt x="249363" y="414527"/>
                </a:lnTo>
                <a:lnTo>
                  <a:pt x="251649" y="413765"/>
                </a:lnTo>
                <a:close/>
              </a:path>
              <a:path w="459104" h="445135">
                <a:moveTo>
                  <a:pt x="251649" y="442255"/>
                </a:moveTo>
                <a:lnTo>
                  <a:pt x="251649" y="413765"/>
                </a:lnTo>
                <a:lnTo>
                  <a:pt x="249363" y="414527"/>
                </a:lnTo>
                <a:lnTo>
                  <a:pt x="249363" y="443172"/>
                </a:lnTo>
                <a:lnTo>
                  <a:pt x="251649" y="442255"/>
                </a:lnTo>
                <a:close/>
              </a:path>
              <a:path w="459104" h="445135">
                <a:moveTo>
                  <a:pt x="262317" y="408431"/>
                </a:moveTo>
                <a:lnTo>
                  <a:pt x="250315" y="414079"/>
                </a:lnTo>
                <a:lnTo>
                  <a:pt x="251649" y="413765"/>
                </a:lnTo>
                <a:lnTo>
                  <a:pt x="251649" y="442255"/>
                </a:lnTo>
                <a:lnTo>
                  <a:pt x="260031" y="438890"/>
                </a:lnTo>
                <a:lnTo>
                  <a:pt x="260031" y="409955"/>
                </a:lnTo>
                <a:lnTo>
                  <a:pt x="262317" y="408431"/>
                </a:lnTo>
                <a:close/>
              </a:path>
              <a:path w="459104" h="445135">
                <a:moveTo>
                  <a:pt x="272985" y="401574"/>
                </a:moveTo>
                <a:lnTo>
                  <a:pt x="260031" y="409955"/>
                </a:lnTo>
                <a:lnTo>
                  <a:pt x="260031" y="438890"/>
                </a:lnTo>
                <a:lnTo>
                  <a:pt x="271461" y="434302"/>
                </a:lnTo>
                <a:lnTo>
                  <a:pt x="271461" y="403098"/>
                </a:lnTo>
                <a:lnTo>
                  <a:pt x="272985" y="401574"/>
                </a:lnTo>
                <a:close/>
              </a:path>
              <a:path w="459104" h="445135">
                <a:moveTo>
                  <a:pt x="283653" y="392429"/>
                </a:moveTo>
                <a:lnTo>
                  <a:pt x="271461" y="403098"/>
                </a:lnTo>
                <a:lnTo>
                  <a:pt x="271461" y="434302"/>
                </a:lnTo>
                <a:lnTo>
                  <a:pt x="273807" y="433360"/>
                </a:lnTo>
                <a:lnTo>
                  <a:pt x="282129" y="427433"/>
                </a:lnTo>
                <a:lnTo>
                  <a:pt x="282129" y="393953"/>
                </a:lnTo>
                <a:lnTo>
                  <a:pt x="283653" y="392429"/>
                </a:lnTo>
                <a:close/>
              </a:path>
              <a:path w="459104" h="445135">
                <a:moveTo>
                  <a:pt x="294321" y="418751"/>
                </a:moveTo>
                <a:lnTo>
                  <a:pt x="294321" y="381762"/>
                </a:lnTo>
                <a:lnTo>
                  <a:pt x="282129" y="393953"/>
                </a:lnTo>
                <a:lnTo>
                  <a:pt x="282129" y="427433"/>
                </a:lnTo>
                <a:lnTo>
                  <a:pt x="294321" y="418751"/>
                </a:lnTo>
                <a:close/>
              </a:path>
              <a:path w="459104" h="445135">
                <a:moveTo>
                  <a:pt x="316419" y="397720"/>
                </a:moveTo>
                <a:lnTo>
                  <a:pt x="316419" y="352805"/>
                </a:lnTo>
                <a:lnTo>
                  <a:pt x="304989" y="369569"/>
                </a:lnTo>
                <a:lnTo>
                  <a:pt x="304989" y="368807"/>
                </a:lnTo>
                <a:lnTo>
                  <a:pt x="293559" y="382524"/>
                </a:lnTo>
                <a:lnTo>
                  <a:pt x="294321" y="381762"/>
                </a:lnTo>
                <a:lnTo>
                  <a:pt x="294321" y="418751"/>
                </a:lnTo>
                <a:lnTo>
                  <a:pt x="300655" y="414240"/>
                </a:lnTo>
                <a:lnTo>
                  <a:pt x="316419" y="397720"/>
                </a:lnTo>
                <a:close/>
              </a:path>
              <a:path w="459104" h="445135">
                <a:moveTo>
                  <a:pt x="327087" y="385928"/>
                </a:moveTo>
                <a:lnTo>
                  <a:pt x="327087" y="336041"/>
                </a:lnTo>
                <a:lnTo>
                  <a:pt x="315657" y="353567"/>
                </a:lnTo>
                <a:lnTo>
                  <a:pt x="316419" y="352805"/>
                </a:lnTo>
                <a:lnTo>
                  <a:pt x="316419" y="397720"/>
                </a:lnTo>
                <a:lnTo>
                  <a:pt x="325409" y="388298"/>
                </a:lnTo>
                <a:lnTo>
                  <a:pt x="327087" y="385928"/>
                </a:lnTo>
                <a:close/>
              </a:path>
              <a:path w="459104" h="445135">
                <a:moveTo>
                  <a:pt x="347661" y="356867"/>
                </a:moveTo>
                <a:lnTo>
                  <a:pt x="347661" y="295655"/>
                </a:lnTo>
                <a:lnTo>
                  <a:pt x="336993" y="316991"/>
                </a:lnTo>
                <a:lnTo>
                  <a:pt x="326325" y="336803"/>
                </a:lnTo>
                <a:lnTo>
                  <a:pt x="327087" y="336041"/>
                </a:lnTo>
                <a:lnTo>
                  <a:pt x="327087" y="385928"/>
                </a:lnTo>
                <a:lnTo>
                  <a:pt x="347661" y="356867"/>
                </a:lnTo>
                <a:close/>
              </a:path>
              <a:path w="459104" h="445135">
                <a:moveTo>
                  <a:pt x="367473" y="321193"/>
                </a:moveTo>
                <a:lnTo>
                  <a:pt x="367473" y="248412"/>
                </a:lnTo>
                <a:lnTo>
                  <a:pt x="357567" y="273557"/>
                </a:lnTo>
                <a:lnTo>
                  <a:pt x="357567" y="272795"/>
                </a:lnTo>
                <a:lnTo>
                  <a:pt x="346899" y="296417"/>
                </a:lnTo>
                <a:lnTo>
                  <a:pt x="347661" y="295655"/>
                </a:lnTo>
                <a:lnTo>
                  <a:pt x="347661" y="356867"/>
                </a:lnTo>
                <a:lnTo>
                  <a:pt x="348142" y="356187"/>
                </a:lnTo>
                <a:lnTo>
                  <a:pt x="367473" y="321193"/>
                </a:lnTo>
                <a:close/>
              </a:path>
              <a:path w="459104" h="445135">
                <a:moveTo>
                  <a:pt x="459052" y="0"/>
                </a:moveTo>
                <a:lnTo>
                  <a:pt x="430599" y="0"/>
                </a:lnTo>
                <a:lnTo>
                  <a:pt x="425732" y="27612"/>
                </a:lnTo>
                <a:lnTo>
                  <a:pt x="414766" y="81002"/>
                </a:lnTo>
                <a:lnTo>
                  <a:pt x="402525" y="134112"/>
                </a:lnTo>
                <a:lnTo>
                  <a:pt x="402525" y="133350"/>
                </a:lnTo>
                <a:lnTo>
                  <a:pt x="394143" y="164591"/>
                </a:lnTo>
                <a:lnTo>
                  <a:pt x="385761" y="194309"/>
                </a:lnTo>
                <a:lnTo>
                  <a:pt x="385761" y="193548"/>
                </a:lnTo>
                <a:lnTo>
                  <a:pt x="376617" y="222503"/>
                </a:lnTo>
                <a:lnTo>
                  <a:pt x="376617" y="221741"/>
                </a:lnTo>
                <a:lnTo>
                  <a:pt x="366711" y="248412"/>
                </a:lnTo>
                <a:lnTo>
                  <a:pt x="367473" y="248412"/>
                </a:lnTo>
                <a:lnTo>
                  <a:pt x="367473" y="321193"/>
                </a:lnTo>
                <a:lnTo>
                  <a:pt x="387843" y="276060"/>
                </a:lnTo>
                <a:lnTo>
                  <a:pt x="404960" y="229347"/>
                </a:lnTo>
                <a:lnTo>
                  <a:pt x="420352" y="179068"/>
                </a:lnTo>
                <a:lnTo>
                  <a:pt x="434094" y="125876"/>
                </a:lnTo>
                <a:lnTo>
                  <a:pt x="446261" y="70421"/>
                </a:lnTo>
                <a:lnTo>
                  <a:pt x="456925" y="13355"/>
                </a:lnTo>
                <a:lnTo>
                  <a:pt x="459052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1721878" y="3829776"/>
          <a:ext cx="5734302" cy="1650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9105"/>
                <a:gridCol w="336395"/>
                <a:gridCol w="336395"/>
                <a:gridCol w="336395"/>
                <a:gridCol w="336395"/>
                <a:gridCol w="336395"/>
                <a:gridCol w="336395"/>
                <a:gridCol w="336395"/>
                <a:gridCol w="3080432"/>
              </a:tblGrid>
              <a:tr h="477489">
                <a:tc>
                  <a:txBody>
                    <a:bodyPr/>
                    <a:lstStyle/>
                    <a:p>
                      <a:pPr marL="71120">
                        <a:lnSpc>
                          <a:spcPts val="2560"/>
                        </a:lnSpc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0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560"/>
                        </a:lnSpc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560"/>
                        </a:lnSpc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2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1435" algn="r">
                        <a:lnSpc>
                          <a:spcPts val="2560"/>
                        </a:lnSpc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3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560"/>
                        </a:lnSpc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4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560"/>
                        </a:lnSpc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5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560"/>
                        </a:lnSpc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6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560"/>
                        </a:lnSpc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7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ts val="2560"/>
                        </a:lnSpc>
                      </a:pPr>
                      <a:r>
                        <a:rPr sz="2200" b="1" spc="-5" dirty="0">
                          <a:latin typeface="Courier New"/>
                          <a:cs typeface="Courier New"/>
                        </a:rPr>
                        <a:t>8…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1173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0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1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2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R="10096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3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4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5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590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6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95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7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2400" spc="-5" dirty="0">
                          <a:latin typeface="Arial"/>
                          <a:cs typeface="Arial"/>
                        </a:rPr>
                        <a:t>Restart scanning</a:t>
                      </a:r>
                      <a:r>
                        <a:rPr sz="2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5" dirty="0">
                          <a:latin typeface="Arial"/>
                          <a:cs typeface="Arial"/>
                        </a:rPr>
                        <a:t>here</a:t>
                      </a:r>
                      <a:endParaRPr sz="24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150">
                        <a:latin typeface="Times New Roman"/>
                        <a:cs typeface="Times New Roman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2200" b="1" dirty="0">
                          <a:latin typeface="Courier New"/>
                          <a:cs typeface="Courier New"/>
                        </a:rPr>
                        <a:t>8</a:t>
                      </a:r>
                      <a:r>
                        <a:rPr sz="2200" b="1" spc="-9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200" b="1" spc="-5" dirty="0">
                          <a:latin typeface="Courier New"/>
                          <a:cs typeface="Courier New"/>
                        </a:rPr>
                        <a:t>9…</a:t>
                      </a:r>
                      <a:endParaRPr sz="22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1744865" y="3777996"/>
            <a:ext cx="649224" cy="731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02215" y="3777996"/>
            <a:ext cx="649224" cy="7315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170311" y="5338571"/>
            <a:ext cx="8547354" cy="15392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48975" y="4709159"/>
            <a:ext cx="1154430" cy="447040"/>
          </a:xfrm>
          <a:custGeom>
            <a:avLst/>
            <a:gdLst/>
            <a:ahLst/>
            <a:cxnLst/>
            <a:rect l="l" t="t" r="r" b="b"/>
            <a:pathLst>
              <a:path w="1154429" h="447039">
                <a:moveTo>
                  <a:pt x="69023" y="404747"/>
                </a:moveTo>
                <a:lnTo>
                  <a:pt x="57912" y="374903"/>
                </a:lnTo>
                <a:lnTo>
                  <a:pt x="0" y="437388"/>
                </a:lnTo>
                <a:lnTo>
                  <a:pt x="57150" y="443566"/>
                </a:lnTo>
                <a:lnTo>
                  <a:pt x="57150" y="409193"/>
                </a:lnTo>
                <a:lnTo>
                  <a:pt x="69023" y="404747"/>
                </a:lnTo>
                <a:close/>
              </a:path>
              <a:path w="1154429" h="447039">
                <a:moveTo>
                  <a:pt x="73564" y="416942"/>
                </a:moveTo>
                <a:lnTo>
                  <a:pt x="69023" y="404747"/>
                </a:lnTo>
                <a:lnTo>
                  <a:pt x="57150" y="409193"/>
                </a:lnTo>
                <a:lnTo>
                  <a:pt x="61722" y="421386"/>
                </a:lnTo>
                <a:lnTo>
                  <a:pt x="73564" y="416942"/>
                </a:lnTo>
                <a:close/>
              </a:path>
              <a:path w="1154429" h="447039">
                <a:moveTo>
                  <a:pt x="84582" y="446531"/>
                </a:moveTo>
                <a:lnTo>
                  <a:pt x="73564" y="416942"/>
                </a:lnTo>
                <a:lnTo>
                  <a:pt x="61722" y="421386"/>
                </a:lnTo>
                <a:lnTo>
                  <a:pt x="57150" y="409193"/>
                </a:lnTo>
                <a:lnTo>
                  <a:pt x="57150" y="443566"/>
                </a:lnTo>
                <a:lnTo>
                  <a:pt x="84582" y="446531"/>
                </a:lnTo>
                <a:close/>
              </a:path>
              <a:path w="1154429" h="447039">
                <a:moveTo>
                  <a:pt x="1154430" y="11429"/>
                </a:moveTo>
                <a:lnTo>
                  <a:pt x="1149858" y="0"/>
                </a:lnTo>
                <a:lnTo>
                  <a:pt x="69023" y="404747"/>
                </a:lnTo>
                <a:lnTo>
                  <a:pt x="73564" y="416942"/>
                </a:lnTo>
                <a:lnTo>
                  <a:pt x="1154430" y="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170311" y="5492496"/>
            <a:ext cx="8547354" cy="2987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07790" y="6387338"/>
            <a:ext cx="305181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0 1 2 3 4 5 6 7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8…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849765" y="5986271"/>
            <a:ext cx="4584953" cy="45262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700669" y="6441947"/>
            <a:ext cx="1511300" cy="360680"/>
          </a:xfrm>
          <a:custGeom>
            <a:avLst/>
            <a:gdLst/>
            <a:ahLst/>
            <a:cxnLst/>
            <a:rect l="l" t="t" r="r" b="b"/>
            <a:pathLst>
              <a:path w="1511300" h="360679">
                <a:moveTo>
                  <a:pt x="1133856" y="270509"/>
                </a:moveTo>
                <a:lnTo>
                  <a:pt x="1133856" y="90677"/>
                </a:lnTo>
                <a:lnTo>
                  <a:pt x="0" y="90677"/>
                </a:lnTo>
                <a:lnTo>
                  <a:pt x="0" y="270509"/>
                </a:lnTo>
                <a:lnTo>
                  <a:pt x="1133856" y="270509"/>
                </a:lnTo>
                <a:close/>
              </a:path>
              <a:path w="1511300" h="360679">
                <a:moveTo>
                  <a:pt x="1511045" y="180594"/>
                </a:moveTo>
                <a:lnTo>
                  <a:pt x="1133856" y="0"/>
                </a:lnTo>
                <a:lnTo>
                  <a:pt x="1133856" y="360425"/>
                </a:lnTo>
                <a:lnTo>
                  <a:pt x="1511045" y="180594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694573" y="6432041"/>
            <a:ext cx="1532890" cy="380365"/>
          </a:xfrm>
          <a:custGeom>
            <a:avLst/>
            <a:gdLst/>
            <a:ahLst/>
            <a:cxnLst/>
            <a:rect l="l" t="t" r="r" b="b"/>
            <a:pathLst>
              <a:path w="1532889" h="380365">
                <a:moveTo>
                  <a:pt x="1139952" y="93726"/>
                </a:moveTo>
                <a:lnTo>
                  <a:pt x="0" y="93726"/>
                </a:lnTo>
                <a:lnTo>
                  <a:pt x="0" y="286512"/>
                </a:lnTo>
                <a:lnTo>
                  <a:pt x="6095" y="286512"/>
                </a:lnTo>
                <a:lnTo>
                  <a:pt x="6095" y="106680"/>
                </a:lnTo>
                <a:lnTo>
                  <a:pt x="12191" y="100584"/>
                </a:lnTo>
                <a:lnTo>
                  <a:pt x="12191" y="106680"/>
                </a:lnTo>
                <a:lnTo>
                  <a:pt x="1133094" y="106680"/>
                </a:lnTo>
                <a:lnTo>
                  <a:pt x="1133094" y="100584"/>
                </a:lnTo>
                <a:lnTo>
                  <a:pt x="1139952" y="93726"/>
                </a:lnTo>
                <a:close/>
              </a:path>
              <a:path w="1532889" h="380365">
                <a:moveTo>
                  <a:pt x="12191" y="106680"/>
                </a:moveTo>
                <a:lnTo>
                  <a:pt x="12191" y="100584"/>
                </a:lnTo>
                <a:lnTo>
                  <a:pt x="6095" y="106680"/>
                </a:lnTo>
                <a:lnTo>
                  <a:pt x="12191" y="106680"/>
                </a:lnTo>
                <a:close/>
              </a:path>
              <a:path w="1532889" h="380365">
                <a:moveTo>
                  <a:pt x="12191" y="274319"/>
                </a:moveTo>
                <a:lnTo>
                  <a:pt x="12191" y="106680"/>
                </a:lnTo>
                <a:lnTo>
                  <a:pt x="6095" y="106680"/>
                </a:lnTo>
                <a:lnTo>
                  <a:pt x="6095" y="274319"/>
                </a:lnTo>
                <a:lnTo>
                  <a:pt x="12191" y="274319"/>
                </a:lnTo>
                <a:close/>
              </a:path>
              <a:path w="1532889" h="380365">
                <a:moveTo>
                  <a:pt x="1146047" y="360628"/>
                </a:moveTo>
                <a:lnTo>
                  <a:pt x="1146047" y="274319"/>
                </a:lnTo>
                <a:lnTo>
                  <a:pt x="6095" y="274319"/>
                </a:lnTo>
                <a:lnTo>
                  <a:pt x="12191" y="280415"/>
                </a:lnTo>
                <a:lnTo>
                  <a:pt x="12191" y="286512"/>
                </a:lnTo>
                <a:lnTo>
                  <a:pt x="1133094" y="286512"/>
                </a:lnTo>
                <a:lnTo>
                  <a:pt x="1133094" y="280415"/>
                </a:lnTo>
                <a:lnTo>
                  <a:pt x="1139952" y="286512"/>
                </a:lnTo>
                <a:lnTo>
                  <a:pt x="1139952" y="363541"/>
                </a:lnTo>
                <a:lnTo>
                  <a:pt x="1146047" y="360628"/>
                </a:lnTo>
                <a:close/>
              </a:path>
              <a:path w="1532889" h="380365">
                <a:moveTo>
                  <a:pt x="12191" y="286512"/>
                </a:moveTo>
                <a:lnTo>
                  <a:pt x="12191" y="280415"/>
                </a:lnTo>
                <a:lnTo>
                  <a:pt x="6095" y="274319"/>
                </a:lnTo>
                <a:lnTo>
                  <a:pt x="6095" y="286512"/>
                </a:lnTo>
                <a:lnTo>
                  <a:pt x="12191" y="286512"/>
                </a:lnTo>
                <a:close/>
              </a:path>
              <a:path w="1532889" h="380365">
                <a:moveTo>
                  <a:pt x="1532382" y="190500"/>
                </a:moveTo>
                <a:lnTo>
                  <a:pt x="1133094" y="0"/>
                </a:lnTo>
                <a:lnTo>
                  <a:pt x="1133094" y="93726"/>
                </a:lnTo>
                <a:lnTo>
                  <a:pt x="1136903" y="93726"/>
                </a:lnTo>
                <a:lnTo>
                  <a:pt x="1136903" y="16002"/>
                </a:lnTo>
                <a:lnTo>
                  <a:pt x="1146047" y="9906"/>
                </a:lnTo>
                <a:lnTo>
                  <a:pt x="1146047" y="20352"/>
                </a:lnTo>
                <a:lnTo>
                  <a:pt x="1502870" y="190131"/>
                </a:lnTo>
                <a:lnTo>
                  <a:pt x="1514856" y="184404"/>
                </a:lnTo>
                <a:lnTo>
                  <a:pt x="1514856" y="198828"/>
                </a:lnTo>
                <a:lnTo>
                  <a:pt x="1532382" y="190500"/>
                </a:lnTo>
                <a:close/>
              </a:path>
              <a:path w="1532889" h="380365">
                <a:moveTo>
                  <a:pt x="1139952" y="106680"/>
                </a:moveTo>
                <a:lnTo>
                  <a:pt x="1139952" y="93726"/>
                </a:lnTo>
                <a:lnTo>
                  <a:pt x="1133094" y="100584"/>
                </a:lnTo>
                <a:lnTo>
                  <a:pt x="1133094" y="106680"/>
                </a:lnTo>
                <a:lnTo>
                  <a:pt x="1139952" y="106680"/>
                </a:lnTo>
                <a:close/>
              </a:path>
              <a:path w="1532889" h="380365">
                <a:moveTo>
                  <a:pt x="1139952" y="286512"/>
                </a:moveTo>
                <a:lnTo>
                  <a:pt x="1133094" y="280415"/>
                </a:lnTo>
                <a:lnTo>
                  <a:pt x="1133094" y="286512"/>
                </a:lnTo>
                <a:lnTo>
                  <a:pt x="1139952" y="286512"/>
                </a:lnTo>
                <a:close/>
              </a:path>
              <a:path w="1532889" h="380365">
                <a:moveTo>
                  <a:pt x="1139952" y="363541"/>
                </a:moveTo>
                <a:lnTo>
                  <a:pt x="1139952" y="286512"/>
                </a:lnTo>
                <a:lnTo>
                  <a:pt x="1133094" y="286512"/>
                </a:lnTo>
                <a:lnTo>
                  <a:pt x="1133094" y="380238"/>
                </a:lnTo>
                <a:lnTo>
                  <a:pt x="1136903" y="378427"/>
                </a:lnTo>
                <a:lnTo>
                  <a:pt x="1136903" y="364998"/>
                </a:lnTo>
                <a:lnTo>
                  <a:pt x="1139952" y="363541"/>
                </a:lnTo>
                <a:close/>
              </a:path>
              <a:path w="1532889" h="380365">
                <a:moveTo>
                  <a:pt x="1146047" y="20352"/>
                </a:moveTo>
                <a:lnTo>
                  <a:pt x="1146047" y="9906"/>
                </a:lnTo>
                <a:lnTo>
                  <a:pt x="1136903" y="16002"/>
                </a:lnTo>
                <a:lnTo>
                  <a:pt x="1146047" y="20352"/>
                </a:lnTo>
                <a:close/>
              </a:path>
              <a:path w="1532889" h="380365">
                <a:moveTo>
                  <a:pt x="1146047" y="106680"/>
                </a:moveTo>
                <a:lnTo>
                  <a:pt x="1146047" y="20352"/>
                </a:lnTo>
                <a:lnTo>
                  <a:pt x="1136903" y="16002"/>
                </a:lnTo>
                <a:lnTo>
                  <a:pt x="1136903" y="93726"/>
                </a:lnTo>
                <a:lnTo>
                  <a:pt x="1139952" y="93726"/>
                </a:lnTo>
                <a:lnTo>
                  <a:pt x="1139952" y="106680"/>
                </a:lnTo>
                <a:lnTo>
                  <a:pt x="1146047" y="106680"/>
                </a:lnTo>
                <a:close/>
              </a:path>
              <a:path w="1532889" h="380365">
                <a:moveTo>
                  <a:pt x="1514856" y="198828"/>
                </a:moveTo>
                <a:lnTo>
                  <a:pt x="1514856" y="195834"/>
                </a:lnTo>
                <a:lnTo>
                  <a:pt x="1502870" y="190131"/>
                </a:lnTo>
                <a:lnTo>
                  <a:pt x="1136903" y="364998"/>
                </a:lnTo>
                <a:lnTo>
                  <a:pt x="1146047" y="370332"/>
                </a:lnTo>
                <a:lnTo>
                  <a:pt x="1146047" y="374082"/>
                </a:lnTo>
                <a:lnTo>
                  <a:pt x="1514856" y="198828"/>
                </a:lnTo>
                <a:close/>
              </a:path>
              <a:path w="1532889" h="380365">
                <a:moveTo>
                  <a:pt x="1146047" y="374082"/>
                </a:moveTo>
                <a:lnTo>
                  <a:pt x="1146047" y="370332"/>
                </a:lnTo>
                <a:lnTo>
                  <a:pt x="1136903" y="364998"/>
                </a:lnTo>
                <a:lnTo>
                  <a:pt x="1136903" y="378427"/>
                </a:lnTo>
                <a:lnTo>
                  <a:pt x="1146047" y="374082"/>
                </a:lnTo>
                <a:close/>
              </a:path>
              <a:path w="1532889" h="380365">
                <a:moveTo>
                  <a:pt x="1514856" y="195834"/>
                </a:moveTo>
                <a:lnTo>
                  <a:pt x="1514856" y="184404"/>
                </a:lnTo>
                <a:lnTo>
                  <a:pt x="1502870" y="190131"/>
                </a:lnTo>
                <a:lnTo>
                  <a:pt x="1514856" y="1958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KMP Algorithm</a:t>
            </a:r>
            <a:r>
              <a:rPr spc="-35" dirty="0"/>
              <a:t> </a:t>
            </a:r>
            <a:r>
              <a:rPr spc="-5" dirty="0"/>
              <a:t>(cont’d)</a:t>
            </a:r>
          </a:p>
        </p:txBody>
      </p:sp>
      <p:sp>
        <p:nvSpPr>
          <p:cNvPr id="6" name="object 6"/>
          <p:cNvSpPr/>
          <p:nvPr/>
        </p:nvSpPr>
        <p:spPr>
          <a:xfrm>
            <a:off x="2610497" y="2986277"/>
            <a:ext cx="2592705" cy="360680"/>
          </a:xfrm>
          <a:custGeom>
            <a:avLst/>
            <a:gdLst/>
            <a:ahLst/>
            <a:cxnLst/>
            <a:rect l="l" t="t" r="r" b="b"/>
            <a:pathLst>
              <a:path w="2592704" h="360679">
                <a:moveTo>
                  <a:pt x="0" y="0"/>
                </a:moveTo>
                <a:lnTo>
                  <a:pt x="0" y="360425"/>
                </a:lnTo>
                <a:lnTo>
                  <a:pt x="2592323" y="360425"/>
                </a:lnTo>
                <a:lnTo>
                  <a:pt x="259232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03639" y="2980182"/>
            <a:ext cx="2605405" cy="372745"/>
          </a:xfrm>
          <a:custGeom>
            <a:avLst/>
            <a:gdLst/>
            <a:ahLst/>
            <a:cxnLst/>
            <a:rect l="l" t="t" r="r" b="b"/>
            <a:pathLst>
              <a:path w="2605404" h="372745">
                <a:moveTo>
                  <a:pt x="2605277" y="372618"/>
                </a:moveTo>
                <a:lnTo>
                  <a:pt x="2605277" y="0"/>
                </a:lnTo>
                <a:lnTo>
                  <a:pt x="0" y="0"/>
                </a:lnTo>
                <a:lnTo>
                  <a:pt x="0" y="372618"/>
                </a:lnTo>
                <a:lnTo>
                  <a:pt x="6857" y="372618"/>
                </a:lnTo>
                <a:lnTo>
                  <a:pt x="6857" y="12192"/>
                </a:lnTo>
                <a:lnTo>
                  <a:pt x="12954" y="6096"/>
                </a:lnTo>
                <a:lnTo>
                  <a:pt x="12954" y="12192"/>
                </a:lnTo>
                <a:lnTo>
                  <a:pt x="2593085" y="12192"/>
                </a:lnTo>
                <a:lnTo>
                  <a:pt x="2593085" y="6095"/>
                </a:lnTo>
                <a:lnTo>
                  <a:pt x="2599181" y="12192"/>
                </a:lnTo>
                <a:lnTo>
                  <a:pt x="2599181" y="372618"/>
                </a:lnTo>
                <a:lnTo>
                  <a:pt x="2605277" y="372618"/>
                </a:lnTo>
                <a:close/>
              </a:path>
              <a:path w="2605404" h="372745">
                <a:moveTo>
                  <a:pt x="12954" y="12192"/>
                </a:moveTo>
                <a:lnTo>
                  <a:pt x="12954" y="6096"/>
                </a:lnTo>
                <a:lnTo>
                  <a:pt x="6857" y="12192"/>
                </a:lnTo>
                <a:lnTo>
                  <a:pt x="12954" y="12192"/>
                </a:lnTo>
                <a:close/>
              </a:path>
              <a:path w="2605404" h="372745">
                <a:moveTo>
                  <a:pt x="12954" y="359664"/>
                </a:moveTo>
                <a:lnTo>
                  <a:pt x="12954" y="12192"/>
                </a:lnTo>
                <a:lnTo>
                  <a:pt x="6857" y="12192"/>
                </a:lnTo>
                <a:lnTo>
                  <a:pt x="6857" y="359664"/>
                </a:lnTo>
                <a:lnTo>
                  <a:pt x="12954" y="359664"/>
                </a:lnTo>
                <a:close/>
              </a:path>
              <a:path w="2605404" h="372745">
                <a:moveTo>
                  <a:pt x="2599181" y="359664"/>
                </a:moveTo>
                <a:lnTo>
                  <a:pt x="6857" y="359664"/>
                </a:lnTo>
                <a:lnTo>
                  <a:pt x="12954" y="366522"/>
                </a:lnTo>
                <a:lnTo>
                  <a:pt x="12954" y="372618"/>
                </a:lnTo>
                <a:lnTo>
                  <a:pt x="2593085" y="372618"/>
                </a:lnTo>
                <a:lnTo>
                  <a:pt x="2593085" y="366522"/>
                </a:lnTo>
                <a:lnTo>
                  <a:pt x="2599181" y="359664"/>
                </a:lnTo>
                <a:close/>
              </a:path>
              <a:path w="2605404" h="372745">
                <a:moveTo>
                  <a:pt x="12954" y="372618"/>
                </a:moveTo>
                <a:lnTo>
                  <a:pt x="12954" y="366522"/>
                </a:lnTo>
                <a:lnTo>
                  <a:pt x="6857" y="359664"/>
                </a:lnTo>
                <a:lnTo>
                  <a:pt x="6857" y="372618"/>
                </a:lnTo>
                <a:lnTo>
                  <a:pt x="12954" y="372618"/>
                </a:lnTo>
                <a:close/>
              </a:path>
              <a:path w="2605404" h="372745">
                <a:moveTo>
                  <a:pt x="2599181" y="12192"/>
                </a:moveTo>
                <a:lnTo>
                  <a:pt x="2593085" y="6095"/>
                </a:lnTo>
                <a:lnTo>
                  <a:pt x="2593085" y="12192"/>
                </a:lnTo>
                <a:lnTo>
                  <a:pt x="2599181" y="12192"/>
                </a:lnTo>
                <a:close/>
              </a:path>
              <a:path w="2605404" h="372745">
                <a:moveTo>
                  <a:pt x="2599181" y="359664"/>
                </a:moveTo>
                <a:lnTo>
                  <a:pt x="2599181" y="12192"/>
                </a:lnTo>
                <a:lnTo>
                  <a:pt x="2593085" y="12192"/>
                </a:lnTo>
                <a:lnTo>
                  <a:pt x="2593085" y="359664"/>
                </a:lnTo>
                <a:lnTo>
                  <a:pt x="2599181" y="359664"/>
                </a:lnTo>
                <a:close/>
              </a:path>
              <a:path w="2605404" h="372745">
                <a:moveTo>
                  <a:pt x="2599181" y="372618"/>
                </a:moveTo>
                <a:lnTo>
                  <a:pt x="2599181" y="359664"/>
                </a:lnTo>
                <a:lnTo>
                  <a:pt x="2593085" y="366522"/>
                </a:lnTo>
                <a:lnTo>
                  <a:pt x="2593085" y="372618"/>
                </a:lnTo>
                <a:lnTo>
                  <a:pt x="2599181" y="3726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2821" y="2986277"/>
            <a:ext cx="433705" cy="360680"/>
          </a:xfrm>
          <a:custGeom>
            <a:avLst/>
            <a:gdLst/>
            <a:ahLst/>
            <a:cxnLst/>
            <a:rect l="l" t="t" r="r" b="b"/>
            <a:pathLst>
              <a:path w="433704" h="360679">
                <a:moveTo>
                  <a:pt x="0" y="0"/>
                </a:moveTo>
                <a:lnTo>
                  <a:pt x="0" y="360425"/>
                </a:lnTo>
                <a:lnTo>
                  <a:pt x="433577" y="360425"/>
                </a:lnTo>
                <a:lnTo>
                  <a:pt x="43357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96725" y="2980182"/>
            <a:ext cx="445770" cy="372745"/>
          </a:xfrm>
          <a:custGeom>
            <a:avLst/>
            <a:gdLst/>
            <a:ahLst/>
            <a:cxnLst/>
            <a:rect l="l" t="t" r="r" b="b"/>
            <a:pathLst>
              <a:path w="445770" h="372745">
                <a:moveTo>
                  <a:pt x="445770" y="372618"/>
                </a:moveTo>
                <a:lnTo>
                  <a:pt x="445770" y="0"/>
                </a:lnTo>
                <a:lnTo>
                  <a:pt x="0" y="0"/>
                </a:lnTo>
                <a:lnTo>
                  <a:pt x="0" y="372618"/>
                </a:lnTo>
                <a:lnTo>
                  <a:pt x="6096" y="372618"/>
                </a:lnTo>
                <a:lnTo>
                  <a:pt x="6096" y="12192"/>
                </a:lnTo>
                <a:lnTo>
                  <a:pt x="12192" y="6095"/>
                </a:lnTo>
                <a:lnTo>
                  <a:pt x="12192" y="12192"/>
                </a:lnTo>
                <a:lnTo>
                  <a:pt x="432816" y="12192"/>
                </a:lnTo>
                <a:lnTo>
                  <a:pt x="432816" y="6095"/>
                </a:lnTo>
                <a:lnTo>
                  <a:pt x="439674" y="12192"/>
                </a:lnTo>
                <a:lnTo>
                  <a:pt x="439674" y="372618"/>
                </a:lnTo>
                <a:lnTo>
                  <a:pt x="445770" y="372618"/>
                </a:lnTo>
                <a:close/>
              </a:path>
              <a:path w="445770" h="372745">
                <a:moveTo>
                  <a:pt x="12192" y="12192"/>
                </a:moveTo>
                <a:lnTo>
                  <a:pt x="12192" y="6095"/>
                </a:lnTo>
                <a:lnTo>
                  <a:pt x="6096" y="12192"/>
                </a:lnTo>
                <a:lnTo>
                  <a:pt x="12192" y="12192"/>
                </a:lnTo>
                <a:close/>
              </a:path>
              <a:path w="445770" h="372745">
                <a:moveTo>
                  <a:pt x="12192" y="359664"/>
                </a:moveTo>
                <a:lnTo>
                  <a:pt x="12192" y="12192"/>
                </a:lnTo>
                <a:lnTo>
                  <a:pt x="6096" y="12192"/>
                </a:lnTo>
                <a:lnTo>
                  <a:pt x="6096" y="359664"/>
                </a:lnTo>
                <a:lnTo>
                  <a:pt x="12192" y="359664"/>
                </a:lnTo>
                <a:close/>
              </a:path>
              <a:path w="445770" h="372745">
                <a:moveTo>
                  <a:pt x="439674" y="359664"/>
                </a:moveTo>
                <a:lnTo>
                  <a:pt x="6096" y="359664"/>
                </a:lnTo>
                <a:lnTo>
                  <a:pt x="12192" y="366522"/>
                </a:lnTo>
                <a:lnTo>
                  <a:pt x="12192" y="372618"/>
                </a:lnTo>
                <a:lnTo>
                  <a:pt x="432816" y="372618"/>
                </a:lnTo>
                <a:lnTo>
                  <a:pt x="432816" y="366522"/>
                </a:lnTo>
                <a:lnTo>
                  <a:pt x="439674" y="359664"/>
                </a:lnTo>
                <a:close/>
              </a:path>
              <a:path w="445770" h="372745">
                <a:moveTo>
                  <a:pt x="12192" y="372618"/>
                </a:moveTo>
                <a:lnTo>
                  <a:pt x="12192" y="366522"/>
                </a:lnTo>
                <a:lnTo>
                  <a:pt x="6096" y="359664"/>
                </a:lnTo>
                <a:lnTo>
                  <a:pt x="6096" y="372618"/>
                </a:lnTo>
                <a:lnTo>
                  <a:pt x="12192" y="372618"/>
                </a:lnTo>
                <a:close/>
              </a:path>
              <a:path w="445770" h="372745">
                <a:moveTo>
                  <a:pt x="439674" y="12192"/>
                </a:moveTo>
                <a:lnTo>
                  <a:pt x="432816" y="6095"/>
                </a:lnTo>
                <a:lnTo>
                  <a:pt x="432816" y="12192"/>
                </a:lnTo>
                <a:lnTo>
                  <a:pt x="439674" y="12192"/>
                </a:lnTo>
                <a:close/>
              </a:path>
              <a:path w="445770" h="372745">
                <a:moveTo>
                  <a:pt x="439674" y="359664"/>
                </a:moveTo>
                <a:lnTo>
                  <a:pt x="439674" y="12192"/>
                </a:lnTo>
                <a:lnTo>
                  <a:pt x="432816" y="12192"/>
                </a:lnTo>
                <a:lnTo>
                  <a:pt x="432816" y="359664"/>
                </a:lnTo>
                <a:lnTo>
                  <a:pt x="439674" y="359664"/>
                </a:lnTo>
                <a:close/>
              </a:path>
              <a:path w="445770" h="372745">
                <a:moveTo>
                  <a:pt x="439674" y="372618"/>
                </a:moveTo>
                <a:lnTo>
                  <a:pt x="439674" y="359664"/>
                </a:lnTo>
                <a:lnTo>
                  <a:pt x="432816" y="366522"/>
                </a:lnTo>
                <a:lnTo>
                  <a:pt x="432816" y="372618"/>
                </a:lnTo>
                <a:lnTo>
                  <a:pt x="439674" y="3726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10497" y="3490721"/>
            <a:ext cx="935355" cy="287655"/>
          </a:xfrm>
          <a:custGeom>
            <a:avLst/>
            <a:gdLst/>
            <a:ahLst/>
            <a:cxnLst/>
            <a:rect l="l" t="t" r="r" b="b"/>
            <a:pathLst>
              <a:path w="935354" h="287654">
                <a:moveTo>
                  <a:pt x="0" y="0"/>
                </a:moveTo>
                <a:lnTo>
                  <a:pt x="0" y="287274"/>
                </a:lnTo>
                <a:lnTo>
                  <a:pt x="934973" y="287274"/>
                </a:lnTo>
                <a:lnTo>
                  <a:pt x="93497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03639" y="3484626"/>
            <a:ext cx="948055" cy="293370"/>
          </a:xfrm>
          <a:custGeom>
            <a:avLst/>
            <a:gdLst/>
            <a:ahLst/>
            <a:cxnLst/>
            <a:rect l="l" t="t" r="r" b="b"/>
            <a:pathLst>
              <a:path w="948054" h="293370">
                <a:moveTo>
                  <a:pt x="947927" y="293370"/>
                </a:moveTo>
                <a:lnTo>
                  <a:pt x="947927" y="0"/>
                </a:lnTo>
                <a:lnTo>
                  <a:pt x="0" y="0"/>
                </a:lnTo>
                <a:lnTo>
                  <a:pt x="0" y="293370"/>
                </a:lnTo>
                <a:lnTo>
                  <a:pt x="6857" y="293370"/>
                </a:lnTo>
                <a:lnTo>
                  <a:pt x="6857" y="12953"/>
                </a:lnTo>
                <a:lnTo>
                  <a:pt x="12954" y="6096"/>
                </a:lnTo>
                <a:lnTo>
                  <a:pt x="12954" y="12953"/>
                </a:lnTo>
                <a:lnTo>
                  <a:pt x="935735" y="12953"/>
                </a:lnTo>
                <a:lnTo>
                  <a:pt x="935735" y="6096"/>
                </a:lnTo>
                <a:lnTo>
                  <a:pt x="941831" y="12953"/>
                </a:lnTo>
                <a:lnTo>
                  <a:pt x="941831" y="293370"/>
                </a:lnTo>
                <a:lnTo>
                  <a:pt x="947927" y="293370"/>
                </a:lnTo>
                <a:close/>
              </a:path>
              <a:path w="948054" h="293370">
                <a:moveTo>
                  <a:pt x="12954" y="12953"/>
                </a:moveTo>
                <a:lnTo>
                  <a:pt x="12954" y="6096"/>
                </a:lnTo>
                <a:lnTo>
                  <a:pt x="6857" y="12953"/>
                </a:lnTo>
                <a:lnTo>
                  <a:pt x="12954" y="12953"/>
                </a:lnTo>
                <a:close/>
              </a:path>
              <a:path w="948054" h="293370">
                <a:moveTo>
                  <a:pt x="12954" y="293370"/>
                </a:moveTo>
                <a:lnTo>
                  <a:pt x="12954" y="12953"/>
                </a:lnTo>
                <a:lnTo>
                  <a:pt x="6857" y="12953"/>
                </a:lnTo>
                <a:lnTo>
                  <a:pt x="6857" y="293370"/>
                </a:lnTo>
                <a:lnTo>
                  <a:pt x="12954" y="293370"/>
                </a:lnTo>
                <a:close/>
              </a:path>
              <a:path w="948054" h="293370">
                <a:moveTo>
                  <a:pt x="941831" y="12953"/>
                </a:moveTo>
                <a:lnTo>
                  <a:pt x="935735" y="6096"/>
                </a:lnTo>
                <a:lnTo>
                  <a:pt x="935735" y="12953"/>
                </a:lnTo>
                <a:lnTo>
                  <a:pt x="941831" y="12953"/>
                </a:lnTo>
                <a:close/>
              </a:path>
              <a:path w="948054" h="293370">
                <a:moveTo>
                  <a:pt x="941831" y="293370"/>
                </a:moveTo>
                <a:lnTo>
                  <a:pt x="941831" y="12953"/>
                </a:lnTo>
                <a:lnTo>
                  <a:pt x="935735" y="12953"/>
                </a:lnTo>
                <a:lnTo>
                  <a:pt x="935735" y="293370"/>
                </a:lnTo>
                <a:lnTo>
                  <a:pt x="941831" y="29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67847" y="3490721"/>
            <a:ext cx="935355" cy="287655"/>
          </a:xfrm>
          <a:custGeom>
            <a:avLst/>
            <a:gdLst/>
            <a:ahLst/>
            <a:cxnLst/>
            <a:rect l="l" t="t" r="r" b="b"/>
            <a:pathLst>
              <a:path w="935354" h="287654">
                <a:moveTo>
                  <a:pt x="0" y="0"/>
                </a:moveTo>
                <a:lnTo>
                  <a:pt x="0" y="287274"/>
                </a:lnTo>
                <a:lnTo>
                  <a:pt x="934974" y="287274"/>
                </a:lnTo>
                <a:lnTo>
                  <a:pt x="934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60989" y="3484626"/>
            <a:ext cx="948055" cy="293370"/>
          </a:xfrm>
          <a:custGeom>
            <a:avLst/>
            <a:gdLst/>
            <a:ahLst/>
            <a:cxnLst/>
            <a:rect l="l" t="t" r="r" b="b"/>
            <a:pathLst>
              <a:path w="948054" h="293370">
                <a:moveTo>
                  <a:pt x="947927" y="293370"/>
                </a:moveTo>
                <a:lnTo>
                  <a:pt x="947927" y="0"/>
                </a:lnTo>
                <a:lnTo>
                  <a:pt x="0" y="0"/>
                </a:lnTo>
                <a:lnTo>
                  <a:pt x="0" y="293370"/>
                </a:lnTo>
                <a:lnTo>
                  <a:pt x="6857" y="293370"/>
                </a:lnTo>
                <a:lnTo>
                  <a:pt x="6857" y="12953"/>
                </a:lnTo>
                <a:lnTo>
                  <a:pt x="12953" y="6096"/>
                </a:lnTo>
                <a:lnTo>
                  <a:pt x="12953" y="12953"/>
                </a:lnTo>
                <a:lnTo>
                  <a:pt x="935735" y="12953"/>
                </a:lnTo>
                <a:lnTo>
                  <a:pt x="935735" y="6096"/>
                </a:lnTo>
                <a:lnTo>
                  <a:pt x="941831" y="12953"/>
                </a:lnTo>
                <a:lnTo>
                  <a:pt x="941831" y="293370"/>
                </a:lnTo>
                <a:lnTo>
                  <a:pt x="947927" y="293370"/>
                </a:lnTo>
                <a:close/>
              </a:path>
              <a:path w="948054" h="293370">
                <a:moveTo>
                  <a:pt x="12953" y="12953"/>
                </a:moveTo>
                <a:lnTo>
                  <a:pt x="12953" y="6096"/>
                </a:lnTo>
                <a:lnTo>
                  <a:pt x="6857" y="12953"/>
                </a:lnTo>
                <a:lnTo>
                  <a:pt x="12953" y="12953"/>
                </a:lnTo>
                <a:close/>
              </a:path>
              <a:path w="948054" h="293370">
                <a:moveTo>
                  <a:pt x="12953" y="293370"/>
                </a:moveTo>
                <a:lnTo>
                  <a:pt x="12953" y="12953"/>
                </a:lnTo>
                <a:lnTo>
                  <a:pt x="6857" y="12953"/>
                </a:lnTo>
                <a:lnTo>
                  <a:pt x="6857" y="293370"/>
                </a:lnTo>
                <a:lnTo>
                  <a:pt x="12953" y="293370"/>
                </a:lnTo>
                <a:close/>
              </a:path>
              <a:path w="948054" h="293370">
                <a:moveTo>
                  <a:pt x="941831" y="12953"/>
                </a:moveTo>
                <a:lnTo>
                  <a:pt x="935735" y="6096"/>
                </a:lnTo>
                <a:lnTo>
                  <a:pt x="935735" y="12953"/>
                </a:lnTo>
                <a:lnTo>
                  <a:pt x="941831" y="12953"/>
                </a:lnTo>
                <a:close/>
              </a:path>
              <a:path w="948054" h="293370">
                <a:moveTo>
                  <a:pt x="941831" y="293370"/>
                </a:moveTo>
                <a:lnTo>
                  <a:pt x="941831" y="12953"/>
                </a:lnTo>
                <a:lnTo>
                  <a:pt x="935735" y="12953"/>
                </a:lnTo>
                <a:lnTo>
                  <a:pt x="935735" y="293370"/>
                </a:lnTo>
                <a:lnTo>
                  <a:pt x="941831" y="2933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77707" y="2003044"/>
            <a:ext cx="3569970" cy="143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003365"/>
                </a:solidFill>
                <a:latin typeface="Arial"/>
                <a:cs typeface="Arial"/>
              </a:rPr>
              <a:t>Failure</a:t>
            </a:r>
            <a:r>
              <a:rPr sz="3200" spc="-5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003365"/>
                </a:solidFill>
                <a:latin typeface="Arial"/>
                <a:cs typeface="Arial"/>
              </a:rPr>
              <a:t>Function</a:t>
            </a:r>
            <a:endParaRPr sz="32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215"/>
              </a:spcBef>
            </a:pP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j</a:t>
            </a:r>
            <a:endParaRPr sz="2400">
              <a:latin typeface="Arial"/>
              <a:cs typeface="Arial"/>
            </a:endParaRPr>
          </a:p>
          <a:p>
            <a:pPr marL="175260">
              <a:lnSpc>
                <a:spcPct val="100000"/>
              </a:lnSpc>
              <a:spcBef>
                <a:spcPts val="490"/>
              </a:spcBef>
            </a:pPr>
            <a:r>
              <a:rPr sz="3200" spc="-5" dirty="0">
                <a:solidFill>
                  <a:srgbClr val="003365"/>
                </a:solidFill>
                <a:latin typeface="Arial"/>
                <a:cs typeface="Arial"/>
              </a:rPr>
              <a:t>P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10497" y="3777996"/>
            <a:ext cx="935355" cy="73660"/>
          </a:xfrm>
          <a:custGeom>
            <a:avLst/>
            <a:gdLst/>
            <a:ahLst/>
            <a:cxnLst/>
            <a:rect l="l" t="t" r="r" b="b"/>
            <a:pathLst>
              <a:path w="935354" h="73660">
                <a:moveTo>
                  <a:pt x="0" y="0"/>
                </a:moveTo>
                <a:lnTo>
                  <a:pt x="0" y="73151"/>
                </a:lnTo>
                <a:lnTo>
                  <a:pt x="934973" y="73151"/>
                </a:lnTo>
                <a:lnTo>
                  <a:pt x="93497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03639" y="3777996"/>
            <a:ext cx="948055" cy="80010"/>
          </a:xfrm>
          <a:custGeom>
            <a:avLst/>
            <a:gdLst/>
            <a:ahLst/>
            <a:cxnLst/>
            <a:rect l="l" t="t" r="r" b="b"/>
            <a:pathLst>
              <a:path w="948054" h="80010">
                <a:moveTo>
                  <a:pt x="12954" y="67055"/>
                </a:moveTo>
                <a:lnTo>
                  <a:pt x="12954" y="0"/>
                </a:lnTo>
                <a:lnTo>
                  <a:pt x="0" y="0"/>
                </a:lnTo>
                <a:lnTo>
                  <a:pt x="0" y="80009"/>
                </a:lnTo>
                <a:lnTo>
                  <a:pt x="6857" y="80009"/>
                </a:lnTo>
                <a:lnTo>
                  <a:pt x="6857" y="67055"/>
                </a:lnTo>
                <a:lnTo>
                  <a:pt x="12954" y="67055"/>
                </a:lnTo>
                <a:close/>
              </a:path>
              <a:path w="948054" h="80010">
                <a:moveTo>
                  <a:pt x="941831" y="67055"/>
                </a:moveTo>
                <a:lnTo>
                  <a:pt x="6857" y="67055"/>
                </a:lnTo>
                <a:lnTo>
                  <a:pt x="12954" y="73151"/>
                </a:lnTo>
                <a:lnTo>
                  <a:pt x="12954" y="80009"/>
                </a:lnTo>
                <a:lnTo>
                  <a:pt x="935735" y="80009"/>
                </a:lnTo>
                <a:lnTo>
                  <a:pt x="935735" y="73151"/>
                </a:lnTo>
                <a:lnTo>
                  <a:pt x="941831" y="67055"/>
                </a:lnTo>
                <a:close/>
              </a:path>
              <a:path w="948054" h="80010">
                <a:moveTo>
                  <a:pt x="12954" y="80009"/>
                </a:moveTo>
                <a:lnTo>
                  <a:pt x="12954" y="73151"/>
                </a:lnTo>
                <a:lnTo>
                  <a:pt x="6857" y="67055"/>
                </a:lnTo>
                <a:lnTo>
                  <a:pt x="6857" y="80009"/>
                </a:lnTo>
                <a:lnTo>
                  <a:pt x="12954" y="80009"/>
                </a:lnTo>
                <a:close/>
              </a:path>
              <a:path w="948054" h="80010">
                <a:moveTo>
                  <a:pt x="947927" y="80009"/>
                </a:moveTo>
                <a:lnTo>
                  <a:pt x="947927" y="0"/>
                </a:lnTo>
                <a:lnTo>
                  <a:pt x="935735" y="0"/>
                </a:lnTo>
                <a:lnTo>
                  <a:pt x="935735" y="67055"/>
                </a:lnTo>
                <a:lnTo>
                  <a:pt x="941831" y="67055"/>
                </a:lnTo>
                <a:lnTo>
                  <a:pt x="941831" y="80009"/>
                </a:lnTo>
                <a:lnTo>
                  <a:pt x="947927" y="80009"/>
                </a:lnTo>
                <a:close/>
              </a:path>
              <a:path w="948054" h="80010">
                <a:moveTo>
                  <a:pt x="941831" y="80009"/>
                </a:moveTo>
                <a:lnTo>
                  <a:pt x="941831" y="67055"/>
                </a:lnTo>
                <a:lnTo>
                  <a:pt x="935735" y="73151"/>
                </a:lnTo>
                <a:lnTo>
                  <a:pt x="935735" y="80009"/>
                </a:lnTo>
                <a:lnTo>
                  <a:pt x="941831" y="800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67847" y="3777996"/>
            <a:ext cx="935355" cy="73660"/>
          </a:xfrm>
          <a:custGeom>
            <a:avLst/>
            <a:gdLst/>
            <a:ahLst/>
            <a:cxnLst/>
            <a:rect l="l" t="t" r="r" b="b"/>
            <a:pathLst>
              <a:path w="935354" h="73660">
                <a:moveTo>
                  <a:pt x="0" y="0"/>
                </a:moveTo>
                <a:lnTo>
                  <a:pt x="0" y="73151"/>
                </a:lnTo>
                <a:lnTo>
                  <a:pt x="934974" y="73151"/>
                </a:lnTo>
                <a:lnTo>
                  <a:pt x="934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60989" y="3777996"/>
            <a:ext cx="948055" cy="80010"/>
          </a:xfrm>
          <a:custGeom>
            <a:avLst/>
            <a:gdLst/>
            <a:ahLst/>
            <a:cxnLst/>
            <a:rect l="l" t="t" r="r" b="b"/>
            <a:pathLst>
              <a:path w="948054" h="80010">
                <a:moveTo>
                  <a:pt x="12953" y="67055"/>
                </a:moveTo>
                <a:lnTo>
                  <a:pt x="12953" y="0"/>
                </a:lnTo>
                <a:lnTo>
                  <a:pt x="0" y="0"/>
                </a:lnTo>
                <a:lnTo>
                  <a:pt x="0" y="80009"/>
                </a:lnTo>
                <a:lnTo>
                  <a:pt x="6857" y="80009"/>
                </a:lnTo>
                <a:lnTo>
                  <a:pt x="6857" y="67055"/>
                </a:lnTo>
                <a:lnTo>
                  <a:pt x="12953" y="67055"/>
                </a:lnTo>
                <a:close/>
              </a:path>
              <a:path w="948054" h="80010">
                <a:moveTo>
                  <a:pt x="941831" y="67055"/>
                </a:moveTo>
                <a:lnTo>
                  <a:pt x="6857" y="67055"/>
                </a:lnTo>
                <a:lnTo>
                  <a:pt x="12953" y="73151"/>
                </a:lnTo>
                <a:lnTo>
                  <a:pt x="12953" y="80009"/>
                </a:lnTo>
                <a:lnTo>
                  <a:pt x="935735" y="80009"/>
                </a:lnTo>
                <a:lnTo>
                  <a:pt x="935735" y="73151"/>
                </a:lnTo>
                <a:lnTo>
                  <a:pt x="941831" y="67055"/>
                </a:lnTo>
                <a:close/>
              </a:path>
              <a:path w="948054" h="80010">
                <a:moveTo>
                  <a:pt x="12953" y="80009"/>
                </a:moveTo>
                <a:lnTo>
                  <a:pt x="12953" y="73151"/>
                </a:lnTo>
                <a:lnTo>
                  <a:pt x="6857" y="67055"/>
                </a:lnTo>
                <a:lnTo>
                  <a:pt x="6857" y="80009"/>
                </a:lnTo>
                <a:lnTo>
                  <a:pt x="12953" y="80009"/>
                </a:lnTo>
                <a:close/>
              </a:path>
              <a:path w="948054" h="80010">
                <a:moveTo>
                  <a:pt x="947927" y="80009"/>
                </a:moveTo>
                <a:lnTo>
                  <a:pt x="947927" y="0"/>
                </a:lnTo>
                <a:lnTo>
                  <a:pt x="935735" y="0"/>
                </a:lnTo>
                <a:lnTo>
                  <a:pt x="935735" y="67055"/>
                </a:lnTo>
                <a:lnTo>
                  <a:pt x="941831" y="67055"/>
                </a:lnTo>
                <a:lnTo>
                  <a:pt x="941831" y="80009"/>
                </a:lnTo>
                <a:lnTo>
                  <a:pt x="947927" y="80009"/>
                </a:lnTo>
                <a:close/>
              </a:path>
              <a:path w="948054" h="80010">
                <a:moveTo>
                  <a:pt x="941831" y="80009"/>
                </a:moveTo>
                <a:lnTo>
                  <a:pt x="941831" y="67055"/>
                </a:lnTo>
                <a:lnTo>
                  <a:pt x="935735" y="73151"/>
                </a:lnTo>
                <a:lnTo>
                  <a:pt x="935735" y="80009"/>
                </a:lnTo>
                <a:lnTo>
                  <a:pt x="941831" y="800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610497" y="4100321"/>
            <a:ext cx="936625" cy="76200"/>
          </a:xfrm>
          <a:custGeom>
            <a:avLst/>
            <a:gdLst/>
            <a:ahLst/>
            <a:cxnLst/>
            <a:rect l="l" t="t" r="r" b="b"/>
            <a:pathLst>
              <a:path w="936625" h="76200">
                <a:moveTo>
                  <a:pt x="76200" y="32003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2003"/>
                </a:lnTo>
                <a:lnTo>
                  <a:pt x="76200" y="32003"/>
                </a:lnTo>
                <a:close/>
              </a:path>
              <a:path w="936625" h="76200">
                <a:moveTo>
                  <a:pt x="873252" y="44957"/>
                </a:moveTo>
                <a:lnTo>
                  <a:pt x="873252" y="32003"/>
                </a:lnTo>
                <a:lnTo>
                  <a:pt x="63246" y="32003"/>
                </a:lnTo>
                <a:lnTo>
                  <a:pt x="63246" y="44957"/>
                </a:lnTo>
                <a:lnTo>
                  <a:pt x="873252" y="44957"/>
                </a:lnTo>
                <a:close/>
              </a:path>
              <a:path w="936625" h="76200">
                <a:moveTo>
                  <a:pt x="76200" y="76200"/>
                </a:moveTo>
                <a:lnTo>
                  <a:pt x="76200" y="44957"/>
                </a:lnTo>
                <a:lnTo>
                  <a:pt x="63246" y="44957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  <a:path w="936625" h="76200">
                <a:moveTo>
                  <a:pt x="936497" y="38100"/>
                </a:moveTo>
                <a:lnTo>
                  <a:pt x="860297" y="0"/>
                </a:lnTo>
                <a:lnTo>
                  <a:pt x="860297" y="32003"/>
                </a:lnTo>
                <a:lnTo>
                  <a:pt x="873252" y="32003"/>
                </a:lnTo>
                <a:lnTo>
                  <a:pt x="873252" y="69723"/>
                </a:lnTo>
                <a:lnTo>
                  <a:pt x="936497" y="38100"/>
                </a:lnTo>
                <a:close/>
              </a:path>
              <a:path w="936625" h="76200">
                <a:moveTo>
                  <a:pt x="873252" y="69723"/>
                </a:moveTo>
                <a:lnTo>
                  <a:pt x="873252" y="44957"/>
                </a:lnTo>
                <a:lnTo>
                  <a:pt x="860297" y="44957"/>
                </a:lnTo>
                <a:lnTo>
                  <a:pt x="860297" y="76200"/>
                </a:lnTo>
                <a:lnTo>
                  <a:pt x="873252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956686" y="4196333"/>
            <a:ext cx="1778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k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267847" y="4100321"/>
            <a:ext cx="936625" cy="76200"/>
          </a:xfrm>
          <a:custGeom>
            <a:avLst/>
            <a:gdLst/>
            <a:ahLst/>
            <a:cxnLst/>
            <a:rect l="l" t="t" r="r" b="b"/>
            <a:pathLst>
              <a:path w="936625" h="76200">
                <a:moveTo>
                  <a:pt x="76200" y="32003"/>
                </a:moveTo>
                <a:lnTo>
                  <a:pt x="76200" y="0"/>
                </a:lnTo>
                <a:lnTo>
                  <a:pt x="0" y="38100"/>
                </a:lnTo>
                <a:lnTo>
                  <a:pt x="63246" y="69723"/>
                </a:lnTo>
                <a:lnTo>
                  <a:pt x="63246" y="32003"/>
                </a:lnTo>
                <a:lnTo>
                  <a:pt x="76200" y="32003"/>
                </a:lnTo>
                <a:close/>
              </a:path>
              <a:path w="936625" h="76200">
                <a:moveTo>
                  <a:pt x="873252" y="44957"/>
                </a:moveTo>
                <a:lnTo>
                  <a:pt x="873252" y="32003"/>
                </a:lnTo>
                <a:lnTo>
                  <a:pt x="63246" y="32003"/>
                </a:lnTo>
                <a:lnTo>
                  <a:pt x="63246" y="44957"/>
                </a:lnTo>
                <a:lnTo>
                  <a:pt x="873252" y="44957"/>
                </a:lnTo>
                <a:close/>
              </a:path>
              <a:path w="936625" h="76200">
                <a:moveTo>
                  <a:pt x="76200" y="76200"/>
                </a:moveTo>
                <a:lnTo>
                  <a:pt x="76200" y="44957"/>
                </a:lnTo>
                <a:lnTo>
                  <a:pt x="63246" y="44957"/>
                </a:lnTo>
                <a:lnTo>
                  <a:pt x="63246" y="69723"/>
                </a:lnTo>
                <a:lnTo>
                  <a:pt x="76200" y="76200"/>
                </a:lnTo>
                <a:close/>
              </a:path>
              <a:path w="936625" h="76200">
                <a:moveTo>
                  <a:pt x="936498" y="38100"/>
                </a:moveTo>
                <a:lnTo>
                  <a:pt x="860298" y="0"/>
                </a:lnTo>
                <a:lnTo>
                  <a:pt x="860298" y="32003"/>
                </a:lnTo>
                <a:lnTo>
                  <a:pt x="873252" y="32003"/>
                </a:lnTo>
                <a:lnTo>
                  <a:pt x="873252" y="69723"/>
                </a:lnTo>
                <a:lnTo>
                  <a:pt x="936498" y="38100"/>
                </a:lnTo>
                <a:close/>
              </a:path>
              <a:path w="936625" h="76200">
                <a:moveTo>
                  <a:pt x="873252" y="69723"/>
                </a:moveTo>
                <a:lnTo>
                  <a:pt x="873252" y="44957"/>
                </a:lnTo>
                <a:lnTo>
                  <a:pt x="860298" y="44957"/>
                </a:lnTo>
                <a:lnTo>
                  <a:pt x="860298" y="76200"/>
                </a:lnTo>
                <a:lnTo>
                  <a:pt x="873252" y="697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706239" y="4247388"/>
            <a:ext cx="17780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k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98221" y="5506973"/>
            <a:ext cx="1905" cy="360680"/>
          </a:xfrm>
          <a:custGeom>
            <a:avLst/>
            <a:gdLst/>
            <a:ahLst/>
            <a:cxnLst/>
            <a:rect l="l" t="t" r="r" b="b"/>
            <a:pathLst>
              <a:path w="1904" h="360679">
                <a:moveTo>
                  <a:pt x="0" y="0"/>
                </a:moveTo>
                <a:lnTo>
                  <a:pt x="0" y="360425"/>
                </a:lnTo>
                <a:lnTo>
                  <a:pt x="1524" y="360425"/>
                </a:lnTo>
                <a:lnTo>
                  <a:pt x="15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907421" y="5506973"/>
            <a:ext cx="1656080" cy="360680"/>
          </a:xfrm>
          <a:custGeom>
            <a:avLst/>
            <a:gdLst/>
            <a:ahLst/>
            <a:cxnLst/>
            <a:rect l="l" t="t" r="r" b="b"/>
            <a:pathLst>
              <a:path w="1656079" h="360679">
                <a:moveTo>
                  <a:pt x="0" y="0"/>
                </a:moveTo>
                <a:lnTo>
                  <a:pt x="0" y="360425"/>
                </a:lnTo>
                <a:lnTo>
                  <a:pt x="1655826" y="360425"/>
                </a:lnTo>
                <a:lnTo>
                  <a:pt x="165582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01325" y="5500878"/>
            <a:ext cx="2604770" cy="372745"/>
          </a:xfrm>
          <a:custGeom>
            <a:avLst/>
            <a:gdLst/>
            <a:ahLst/>
            <a:cxnLst/>
            <a:rect l="l" t="t" r="r" b="b"/>
            <a:pathLst>
              <a:path w="2604770" h="372745">
                <a:moveTo>
                  <a:pt x="2604516" y="372617"/>
                </a:moveTo>
                <a:lnTo>
                  <a:pt x="2604516" y="0"/>
                </a:lnTo>
                <a:lnTo>
                  <a:pt x="0" y="0"/>
                </a:lnTo>
                <a:lnTo>
                  <a:pt x="0" y="372618"/>
                </a:lnTo>
                <a:lnTo>
                  <a:pt x="6096" y="372618"/>
                </a:lnTo>
                <a:lnTo>
                  <a:pt x="6096" y="12954"/>
                </a:lnTo>
                <a:lnTo>
                  <a:pt x="12192" y="6096"/>
                </a:lnTo>
                <a:lnTo>
                  <a:pt x="12191" y="12954"/>
                </a:lnTo>
                <a:lnTo>
                  <a:pt x="2592311" y="12953"/>
                </a:lnTo>
                <a:lnTo>
                  <a:pt x="2592311" y="6095"/>
                </a:lnTo>
                <a:lnTo>
                  <a:pt x="2598407" y="12953"/>
                </a:lnTo>
                <a:lnTo>
                  <a:pt x="2598407" y="372617"/>
                </a:lnTo>
                <a:lnTo>
                  <a:pt x="2604516" y="372617"/>
                </a:lnTo>
                <a:close/>
              </a:path>
              <a:path w="2604770" h="372745">
                <a:moveTo>
                  <a:pt x="12191" y="12954"/>
                </a:moveTo>
                <a:lnTo>
                  <a:pt x="12192" y="6096"/>
                </a:lnTo>
                <a:lnTo>
                  <a:pt x="6096" y="12954"/>
                </a:lnTo>
                <a:lnTo>
                  <a:pt x="12191" y="12954"/>
                </a:lnTo>
                <a:close/>
              </a:path>
              <a:path w="2604770" h="372745">
                <a:moveTo>
                  <a:pt x="12191" y="360425"/>
                </a:moveTo>
                <a:lnTo>
                  <a:pt x="12191" y="12954"/>
                </a:lnTo>
                <a:lnTo>
                  <a:pt x="6096" y="12954"/>
                </a:lnTo>
                <a:lnTo>
                  <a:pt x="6096" y="360425"/>
                </a:lnTo>
                <a:lnTo>
                  <a:pt x="12191" y="360425"/>
                </a:lnTo>
                <a:close/>
              </a:path>
              <a:path w="2604770" h="372745">
                <a:moveTo>
                  <a:pt x="2598407" y="360425"/>
                </a:moveTo>
                <a:lnTo>
                  <a:pt x="6096" y="360425"/>
                </a:lnTo>
                <a:lnTo>
                  <a:pt x="12192" y="366522"/>
                </a:lnTo>
                <a:lnTo>
                  <a:pt x="12191" y="372618"/>
                </a:lnTo>
                <a:lnTo>
                  <a:pt x="2592311" y="372617"/>
                </a:lnTo>
                <a:lnTo>
                  <a:pt x="2592311" y="366521"/>
                </a:lnTo>
                <a:lnTo>
                  <a:pt x="2598407" y="360425"/>
                </a:lnTo>
                <a:close/>
              </a:path>
              <a:path w="2604770" h="372745">
                <a:moveTo>
                  <a:pt x="12191" y="372618"/>
                </a:moveTo>
                <a:lnTo>
                  <a:pt x="12192" y="366522"/>
                </a:lnTo>
                <a:lnTo>
                  <a:pt x="6096" y="360425"/>
                </a:lnTo>
                <a:lnTo>
                  <a:pt x="6096" y="372618"/>
                </a:lnTo>
                <a:lnTo>
                  <a:pt x="12191" y="372618"/>
                </a:lnTo>
                <a:close/>
              </a:path>
              <a:path w="2604770" h="372745">
                <a:moveTo>
                  <a:pt x="2598407" y="12953"/>
                </a:moveTo>
                <a:lnTo>
                  <a:pt x="2592311" y="6095"/>
                </a:lnTo>
                <a:lnTo>
                  <a:pt x="2592311" y="12953"/>
                </a:lnTo>
                <a:lnTo>
                  <a:pt x="2598407" y="12953"/>
                </a:lnTo>
                <a:close/>
              </a:path>
              <a:path w="2604770" h="372745">
                <a:moveTo>
                  <a:pt x="2598407" y="360425"/>
                </a:moveTo>
                <a:lnTo>
                  <a:pt x="2598407" y="12953"/>
                </a:lnTo>
                <a:lnTo>
                  <a:pt x="2592311" y="12953"/>
                </a:lnTo>
                <a:lnTo>
                  <a:pt x="2592311" y="360425"/>
                </a:lnTo>
                <a:lnTo>
                  <a:pt x="2598407" y="360425"/>
                </a:lnTo>
                <a:close/>
              </a:path>
              <a:path w="2604770" h="372745">
                <a:moveTo>
                  <a:pt x="2598407" y="372617"/>
                </a:moveTo>
                <a:lnTo>
                  <a:pt x="2598407" y="360425"/>
                </a:lnTo>
                <a:lnTo>
                  <a:pt x="2592311" y="366521"/>
                </a:lnTo>
                <a:lnTo>
                  <a:pt x="2592311" y="372617"/>
                </a:lnTo>
                <a:lnTo>
                  <a:pt x="2598407" y="3726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499733" y="5506973"/>
            <a:ext cx="433705" cy="360680"/>
          </a:xfrm>
          <a:custGeom>
            <a:avLst/>
            <a:gdLst/>
            <a:ahLst/>
            <a:cxnLst/>
            <a:rect l="l" t="t" r="r" b="b"/>
            <a:pathLst>
              <a:path w="433704" h="360679">
                <a:moveTo>
                  <a:pt x="0" y="0"/>
                </a:moveTo>
                <a:lnTo>
                  <a:pt x="0" y="360425"/>
                </a:lnTo>
                <a:lnTo>
                  <a:pt x="433578" y="360425"/>
                </a:lnTo>
                <a:lnTo>
                  <a:pt x="4335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493636" y="5500878"/>
            <a:ext cx="445770" cy="372745"/>
          </a:xfrm>
          <a:custGeom>
            <a:avLst/>
            <a:gdLst/>
            <a:ahLst/>
            <a:cxnLst/>
            <a:rect l="l" t="t" r="r" b="b"/>
            <a:pathLst>
              <a:path w="445770" h="372745">
                <a:moveTo>
                  <a:pt x="445769" y="372617"/>
                </a:moveTo>
                <a:lnTo>
                  <a:pt x="445769" y="0"/>
                </a:lnTo>
                <a:lnTo>
                  <a:pt x="0" y="0"/>
                </a:lnTo>
                <a:lnTo>
                  <a:pt x="0" y="372617"/>
                </a:lnTo>
                <a:lnTo>
                  <a:pt x="6096" y="372617"/>
                </a:lnTo>
                <a:lnTo>
                  <a:pt x="6096" y="12953"/>
                </a:lnTo>
                <a:lnTo>
                  <a:pt x="12204" y="6095"/>
                </a:lnTo>
                <a:lnTo>
                  <a:pt x="12204" y="12953"/>
                </a:lnTo>
                <a:lnTo>
                  <a:pt x="432828" y="12953"/>
                </a:lnTo>
                <a:lnTo>
                  <a:pt x="432828" y="6095"/>
                </a:lnTo>
                <a:lnTo>
                  <a:pt x="439673" y="12953"/>
                </a:lnTo>
                <a:lnTo>
                  <a:pt x="439673" y="372617"/>
                </a:lnTo>
                <a:lnTo>
                  <a:pt x="445769" y="372617"/>
                </a:lnTo>
                <a:close/>
              </a:path>
              <a:path w="445770" h="372745">
                <a:moveTo>
                  <a:pt x="12204" y="12953"/>
                </a:moveTo>
                <a:lnTo>
                  <a:pt x="12204" y="6095"/>
                </a:lnTo>
                <a:lnTo>
                  <a:pt x="6096" y="12953"/>
                </a:lnTo>
                <a:lnTo>
                  <a:pt x="12204" y="12953"/>
                </a:lnTo>
                <a:close/>
              </a:path>
              <a:path w="445770" h="372745">
                <a:moveTo>
                  <a:pt x="12204" y="360425"/>
                </a:moveTo>
                <a:lnTo>
                  <a:pt x="12204" y="12953"/>
                </a:lnTo>
                <a:lnTo>
                  <a:pt x="6096" y="12953"/>
                </a:lnTo>
                <a:lnTo>
                  <a:pt x="6096" y="360425"/>
                </a:lnTo>
                <a:lnTo>
                  <a:pt x="12204" y="360425"/>
                </a:lnTo>
                <a:close/>
              </a:path>
              <a:path w="445770" h="372745">
                <a:moveTo>
                  <a:pt x="439673" y="360425"/>
                </a:moveTo>
                <a:lnTo>
                  <a:pt x="6096" y="360425"/>
                </a:lnTo>
                <a:lnTo>
                  <a:pt x="12204" y="366521"/>
                </a:lnTo>
                <a:lnTo>
                  <a:pt x="12204" y="372617"/>
                </a:lnTo>
                <a:lnTo>
                  <a:pt x="432828" y="372617"/>
                </a:lnTo>
                <a:lnTo>
                  <a:pt x="432828" y="366521"/>
                </a:lnTo>
                <a:lnTo>
                  <a:pt x="439673" y="360425"/>
                </a:lnTo>
                <a:close/>
              </a:path>
              <a:path w="445770" h="372745">
                <a:moveTo>
                  <a:pt x="12204" y="372617"/>
                </a:moveTo>
                <a:lnTo>
                  <a:pt x="12204" y="366521"/>
                </a:lnTo>
                <a:lnTo>
                  <a:pt x="6096" y="360425"/>
                </a:lnTo>
                <a:lnTo>
                  <a:pt x="6096" y="372617"/>
                </a:lnTo>
                <a:lnTo>
                  <a:pt x="12204" y="372617"/>
                </a:lnTo>
                <a:close/>
              </a:path>
              <a:path w="445770" h="372745">
                <a:moveTo>
                  <a:pt x="439673" y="12953"/>
                </a:moveTo>
                <a:lnTo>
                  <a:pt x="432828" y="6095"/>
                </a:lnTo>
                <a:lnTo>
                  <a:pt x="432828" y="12953"/>
                </a:lnTo>
                <a:lnTo>
                  <a:pt x="439673" y="12953"/>
                </a:lnTo>
                <a:close/>
              </a:path>
              <a:path w="445770" h="372745">
                <a:moveTo>
                  <a:pt x="439673" y="360425"/>
                </a:moveTo>
                <a:lnTo>
                  <a:pt x="439673" y="12953"/>
                </a:lnTo>
                <a:lnTo>
                  <a:pt x="432828" y="12953"/>
                </a:lnTo>
                <a:lnTo>
                  <a:pt x="432828" y="360425"/>
                </a:lnTo>
                <a:lnTo>
                  <a:pt x="439673" y="360425"/>
                </a:lnTo>
                <a:close/>
              </a:path>
              <a:path w="445770" h="372745">
                <a:moveTo>
                  <a:pt x="439673" y="372617"/>
                </a:moveTo>
                <a:lnTo>
                  <a:pt x="439673" y="360425"/>
                </a:lnTo>
                <a:lnTo>
                  <a:pt x="432828" y="366521"/>
                </a:lnTo>
                <a:lnTo>
                  <a:pt x="432828" y="372617"/>
                </a:lnTo>
                <a:lnTo>
                  <a:pt x="439673" y="3726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538869" y="5506973"/>
            <a:ext cx="1367155" cy="360680"/>
          </a:xfrm>
          <a:custGeom>
            <a:avLst/>
            <a:gdLst/>
            <a:ahLst/>
            <a:cxnLst/>
            <a:rect l="l" t="t" r="r" b="b"/>
            <a:pathLst>
              <a:path w="1367154" h="360679">
                <a:moveTo>
                  <a:pt x="0" y="0"/>
                </a:moveTo>
                <a:lnTo>
                  <a:pt x="0" y="360425"/>
                </a:lnTo>
                <a:lnTo>
                  <a:pt x="1367027" y="360425"/>
                </a:lnTo>
                <a:lnTo>
                  <a:pt x="136702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532773" y="5500878"/>
            <a:ext cx="1379220" cy="372745"/>
          </a:xfrm>
          <a:custGeom>
            <a:avLst/>
            <a:gdLst/>
            <a:ahLst/>
            <a:cxnLst/>
            <a:rect l="l" t="t" r="r" b="b"/>
            <a:pathLst>
              <a:path w="1379220" h="372745">
                <a:moveTo>
                  <a:pt x="1379219" y="372617"/>
                </a:moveTo>
                <a:lnTo>
                  <a:pt x="1379219" y="0"/>
                </a:lnTo>
                <a:lnTo>
                  <a:pt x="0" y="0"/>
                </a:lnTo>
                <a:lnTo>
                  <a:pt x="0" y="372617"/>
                </a:lnTo>
                <a:lnTo>
                  <a:pt x="6095" y="372617"/>
                </a:lnTo>
                <a:lnTo>
                  <a:pt x="6095" y="12953"/>
                </a:lnTo>
                <a:lnTo>
                  <a:pt x="12191" y="6095"/>
                </a:lnTo>
                <a:lnTo>
                  <a:pt x="12191" y="12953"/>
                </a:lnTo>
                <a:lnTo>
                  <a:pt x="1366265" y="12953"/>
                </a:lnTo>
                <a:lnTo>
                  <a:pt x="1366265" y="6095"/>
                </a:lnTo>
                <a:lnTo>
                  <a:pt x="1373123" y="12953"/>
                </a:lnTo>
                <a:lnTo>
                  <a:pt x="1373123" y="372617"/>
                </a:lnTo>
                <a:lnTo>
                  <a:pt x="1379219" y="372617"/>
                </a:lnTo>
                <a:close/>
              </a:path>
              <a:path w="1379220" h="372745">
                <a:moveTo>
                  <a:pt x="12191" y="12953"/>
                </a:moveTo>
                <a:lnTo>
                  <a:pt x="12191" y="6095"/>
                </a:lnTo>
                <a:lnTo>
                  <a:pt x="6095" y="12953"/>
                </a:lnTo>
                <a:lnTo>
                  <a:pt x="12191" y="12953"/>
                </a:lnTo>
                <a:close/>
              </a:path>
              <a:path w="1379220" h="372745">
                <a:moveTo>
                  <a:pt x="12191" y="360425"/>
                </a:moveTo>
                <a:lnTo>
                  <a:pt x="12191" y="12953"/>
                </a:lnTo>
                <a:lnTo>
                  <a:pt x="6095" y="12953"/>
                </a:lnTo>
                <a:lnTo>
                  <a:pt x="6095" y="360425"/>
                </a:lnTo>
                <a:lnTo>
                  <a:pt x="12191" y="360425"/>
                </a:lnTo>
                <a:close/>
              </a:path>
              <a:path w="1379220" h="372745">
                <a:moveTo>
                  <a:pt x="1373123" y="360425"/>
                </a:moveTo>
                <a:lnTo>
                  <a:pt x="6095" y="360425"/>
                </a:lnTo>
                <a:lnTo>
                  <a:pt x="12191" y="366521"/>
                </a:lnTo>
                <a:lnTo>
                  <a:pt x="12191" y="372617"/>
                </a:lnTo>
                <a:lnTo>
                  <a:pt x="1366265" y="372617"/>
                </a:lnTo>
                <a:lnTo>
                  <a:pt x="1366265" y="366521"/>
                </a:lnTo>
                <a:lnTo>
                  <a:pt x="1373123" y="360425"/>
                </a:lnTo>
                <a:close/>
              </a:path>
              <a:path w="1379220" h="372745">
                <a:moveTo>
                  <a:pt x="12191" y="372617"/>
                </a:moveTo>
                <a:lnTo>
                  <a:pt x="12191" y="366521"/>
                </a:lnTo>
                <a:lnTo>
                  <a:pt x="6095" y="360425"/>
                </a:lnTo>
                <a:lnTo>
                  <a:pt x="6095" y="372617"/>
                </a:lnTo>
                <a:lnTo>
                  <a:pt x="12191" y="372617"/>
                </a:lnTo>
                <a:close/>
              </a:path>
              <a:path w="1379220" h="372745">
                <a:moveTo>
                  <a:pt x="1373123" y="12953"/>
                </a:moveTo>
                <a:lnTo>
                  <a:pt x="1366265" y="6095"/>
                </a:lnTo>
                <a:lnTo>
                  <a:pt x="1366265" y="12953"/>
                </a:lnTo>
                <a:lnTo>
                  <a:pt x="1373123" y="12953"/>
                </a:lnTo>
                <a:close/>
              </a:path>
              <a:path w="1379220" h="372745">
                <a:moveTo>
                  <a:pt x="1373123" y="360425"/>
                </a:moveTo>
                <a:lnTo>
                  <a:pt x="1373123" y="12953"/>
                </a:lnTo>
                <a:lnTo>
                  <a:pt x="1366265" y="12953"/>
                </a:lnTo>
                <a:lnTo>
                  <a:pt x="1366265" y="360425"/>
                </a:lnTo>
                <a:lnTo>
                  <a:pt x="1373123" y="360425"/>
                </a:lnTo>
                <a:close/>
              </a:path>
              <a:path w="1379220" h="372745">
                <a:moveTo>
                  <a:pt x="1373123" y="372617"/>
                </a:moveTo>
                <a:lnTo>
                  <a:pt x="1373123" y="360425"/>
                </a:lnTo>
                <a:lnTo>
                  <a:pt x="1366265" y="366521"/>
                </a:lnTo>
                <a:lnTo>
                  <a:pt x="1366265" y="372617"/>
                </a:lnTo>
                <a:lnTo>
                  <a:pt x="1373123" y="3726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969897" y="4817871"/>
            <a:ext cx="1154430" cy="1145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10" dirty="0">
                <a:solidFill>
                  <a:srgbClr val="003365"/>
                </a:solidFill>
                <a:latin typeface="Arial"/>
                <a:cs typeface="Arial"/>
              </a:rPr>
              <a:t>Action</a:t>
            </a:r>
            <a:endParaRPr sz="32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  <a:spcBef>
                <a:spcPts val="1270"/>
              </a:spcBef>
            </a:pPr>
            <a:r>
              <a:rPr sz="3200" spc="-5" dirty="0">
                <a:solidFill>
                  <a:srgbClr val="003365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563247" y="5506973"/>
            <a:ext cx="935355" cy="360680"/>
          </a:xfrm>
          <a:custGeom>
            <a:avLst/>
            <a:gdLst/>
            <a:ahLst/>
            <a:cxnLst/>
            <a:rect l="l" t="t" r="r" b="b"/>
            <a:pathLst>
              <a:path w="935354" h="360679">
                <a:moveTo>
                  <a:pt x="0" y="0"/>
                </a:moveTo>
                <a:lnTo>
                  <a:pt x="0" y="360426"/>
                </a:lnTo>
                <a:lnTo>
                  <a:pt x="934974" y="360425"/>
                </a:lnTo>
                <a:lnTo>
                  <a:pt x="934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556389" y="5500878"/>
            <a:ext cx="948055" cy="372745"/>
          </a:xfrm>
          <a:custGeom>
            <a:avLst/>
            <a:gdLst/>
            <a:ahLst/>
            <a:cxnLst/>
            <a:rect l="l" t="t" r="r" b="b"/>
            <a:pathLst>
              <a:path w="948054" h="372745">
                <a:moveTo>
                  <a:pt x="947928" y="372617"/>
                </a:moveTo>
                <a:lnTo>
                  <a:pt x="947928" y="0"/>
                </a:lnTo>
                <a:lnTo>
                  <a:pt x="0" y="0"/>
                </a:lnTo>
                <a:lnTo>
                  <a:pt x="0" y="372618"/>
                </a:lnTo>
                <a:lnTo>
                  <a:pt x="6857" y="372618"/>
                </a:lnTo>
                <a:lnTo>
                  <a:pt x="6857" y="12954"/>
                </a:lnTo>
                <a:lnTo>
                  <a:pt x="12953" y="6096"/>
                </a:lnTo>
                <a:lnTo>
                  <a:pt x="12953" y="12954"/>
                </a:lnTo>
                <a:lnTo>
                  <a:pt x="935723" y="12953"/>
                </a:lnTo>
                <a:lnTo>
                  <a:pt x="935723" y="6095"/>
                </a:lnTo>
                <a:lnTo>
                  <a:pt x="941831" y="12953"/>
                </a:lnTo>
                <a:lnTo>
                  <a:pt x="941831" y="372617"/>
                </a:lnTo>
                <a:lnTo>
                  <a:pt x="947928" y="372617"/>
                </a:lnTo>
                <a:close/>
              </a:path>
              <a:path w="948054" h="372745">
                <a:moveTo>
                  <a:pt x="12953" y="12954"/>
                </a:moveTo>
                <a:lnTo>
                  <a:pt x="12953" y="6096"/>
                </a:lnTo>
                <a:lnTo>
                  <a:pt x="6857" y="12954"/>
                </a:lnTo>
                <a:lnTo>
                  <a:pt x="12953" y="12954"/>
                </a:lnTo>
                <a:close/>
              </a:path>
              <a:path w="948054" h="372745">
                <a:moveTo>
                  <a:pt x="12953" y="360425"/>
                </a:moveTo>
                <a:lnTo>
                  <a:pt x="12953" y="12954"/>
                </a:lnTo>
                <a:lnTo>
                  <a:pt x="6857" y="12954"/>
                </a:lnTo>
                <a:lnTo>
                  <a:pt x="6857" y="360425"/>
                </a:lnTo>
                <a:lnTo>
                  <a:pt x="12953" y="360425"/>
                </a:lnTo>
                <a:close/>
              </a:path>
              <a:path w="948054" h="372745">
                <a:moveTo>
                  <a:pt x="941831" y="360425"/>
                </a:moveTo>
                <a:lnTo>
                  <a:pt x="6857" y="360425"/>
                </a:lnTo>
                <a:lnTo>
                  <a:pt x="12953" y="366522"/>
                </a:lnTo>
                <a:lnTo>
                  <a:pt x="12953" y="372618"/>
                </a:lnTo>
                <a:lnTo>
                  <a:pt x="935723" y="372617"/>
                </a:lnTo>
                <a:lnTo>
                  <a:pt x="935723" y="366521"/>
                </a:lnTo>
                <a:lnTo>
                  <a:pt x="941831" y="360425"/>
                </a:lnTo>
                <a:close/>
              </a:path>
              <a:path w="948054" h="372745">
                <a:moveTo>
                  <a:pt x="12953" y="372618"/>
                </a:moveTo>
                <a:lnTo>
                  <a:pt x="12953" y="366522"/>
                </a:lnTo>
                <a:lnTo>
                  <a:pt x="6857" y="360425"/>
                </a:lnTo>
                <a:lnTo>
                  <a:pt x="6857" y="372618"/>
                </a:lnTo>
                <a:lnTo>
                  <a:pt x="12953" y="372618"/>
                </a:lnTo>
                <a:close/>
              </a:path>
              <a:path w="948054" h="372745">
                <a:moveTo>
                  <a:pt x="941831" y="12953"/>
                </a:moveTo>
                <a:lnTo>
                  <a:pt x="935723" y="6095"/>
                </a:lnTo>
                <a:lnTo>
                  <a:pt x="935723" y="12953"/>
                </a:lnTo>
                <a:lnTo>
                  <a:pt x="941831" y="12953"/>
                </a:lnTo>
                <a:close/>
              </a:path>
              <a:path w="948054" h="372745">
                <a:moveTo>
                  <a:pt x="941831" y="360425"/>
                </a:moveTo>
                <a:lnTo>
                  <a:pt x="941831" y="12953"/>
                </a:lnTo>
                <a:lnTo>
                  <a:pt x="935723" y="12953"/>
                </a:lnTo>
                <a:lnTo>
                  <a:pt x="935723" y="360425"/>
                </a:lnTo>
                <a:lnTo>
                  <a:pt x="941831" y="360425"/>
                </a:lnTo>
                <a:close/>
              </a:path>
              <a:path w="948054" h="372745">
                <a:moveTo>
                  <a:pt x="941831" y="372617"/>
                </a:moveTo>
                <a:lnTo>
                  <a:pt x="941831" y="360425"/>
                </a:lnTo>
                <a:lnTo>
                  <a:pt x="935723" y="366521"/>
                </a:lnTo>
                <a:lnTo>
                  <a:pt x="935723" y="372617"/>
                </a:lnTo>
                <a:lnTo>
                  <a:pt x="941831" y="37261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46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933310" y="6375653"/>
            <a:ext cx="359410" cy="360680"/>
          </a:xfrm>
          <a:custGeom>
            <a:avLst/>
            <a:gdLst/>
            <a:ahLst/>
            <a:cxnLst/>
            <a:rect l="l" t="t" r="r" b="b"/>
            <a:pathLst>
              <a:path w="359409" h="360679">
                <a:moveTo>
                  <a:pt x="0" y="0"/>
                </a:moveTo>
                <a:lnTo>
                  <a:pt x="0" y="360426"/>
                </a:lnTo>
                <a:lnTo>
                  <a:pt x="358901" y="360426"/>
                </a:lnTo>
                <a:lnTo>
                  <a:pt x="3589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498221" y="6375653"/>
            <a:ext cx="1905" cy="360680"/>
          </a:xfrm>
          <a:custGeom>
            <a:avLst/>
            <a:gdLst/>
            <a:ahLst/>
            <a:cxnLst/>
            <a:rect l="l" t="t" r="r" b="b"/>
            <a:pathLst>
              <a:path w="1904" h="360679">
                <a:moveTo>
                  <a:pt x="0" y="0"/>
                </a:moveTo>
                <a:lnTo>
                  <a:pt x="0" y="360426"/>
                </a:lnTo>
                <a:lnTo>
                  <a:pt x="1511" y="360426"/>
                </a:lnTo>
                <a:lnTo>
                  <a:pt x="151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556389" y="6368796"/>
            <a:ext cx="2605405" cy="373380"/>
          </a:xfrm>
          <a:custGeom>
            <a:avLst/>
            <a:gdLst/>
            <a:ahLst/>
            <a:cxnLst/>
            <a:rect l="l" t="t" r="r" b="b"/>
            <a:pathLst>
              <a:path w="2605404" h="373379">
                <a:moveTo>
                  <a:pt x="2605278" y="373380"/>
                </a:moveTo>
                <a:lnTo>
                  <a:pt x="2605278" y="0"/>
                </a:lnTo>
                <a:lnTo>
                  <a:pt x="0" y="0"/>
                </a:lnTo>
                <a:lnTo>
                  <a:pt x="0" y="373380"/>
                </a:lnTo>
                <a:lnTo>
                  <a:pt x="6858" y="373380"/>
                </a:lnTo>
                <a:lnTo>
                  <a:pt x="6857" y="12954"/>
                </a:lnTo>
                <a:lnTo>
                  <a:pt x="12953" y="6858"/>
                </a:lnTo>
                <a:lnTo>
                  <a:pt x="12953" y="12954"/>
                </a:lnTo>
                <a:lnTo>
                  <a:pt x="2593073" y="12953"/>
                </a:lnTo>
                <a:lnTo>
                  <a:pt x="2593073" y="6857"/>
                </a:lnTo>
                <a:lnTo>
                  <a:pt x="2599181" y="12953"/>
                </a:lnTo>
                <a:lnTo>
                  <a:pt x="2599181" y="373380"/>
                </a:lnTo>
                <a:lnTo>
                  <a:pt x="2605278" y="373380"/>
                </a:lnTo>
                <a:close/>
              </a:path>
              <a:path w="2605404" h="373379">
                <a:moveTo>
                  <a:pt x="12953" y="12954"/>
                </a:moveTo>
                <a:lnTo>
                  <a:pt x="12953" y="6858"/>
                </a:lnTo>
                <a:lnTo>
                  <a:pt x="6857" y="12954"/>
                </a:lnTo>
                <a:lnTo>
                  <a:pt x="12953" y="12954"/>
                </a:lnTo>
                <a:close/>
              </a:path>
              <a:path w="2605404" h="373379">
                <a:moveTo>
                  <a:pt x="12953" y="360426"/>
                </a:moveTo>
                <a:lnTo>
                  <a:pt x="12953" y="12954"/>
                </a:lnTo>
                <a:lnTo>
                  <a:pt x="6857" y="12954"/>
                </a:lnTo>
                <a:lnTo>
                  <a:pt x="6857" y="360426"/>
                </a:lnTo>
                <a:lnTo>
                  <a:pt x="12953" y="360426"/>
                </a:lnTo>
                <a:close/>
              </a:path>
              <a:path w="2605404" h="373379">
                <a:moveTo>
                  <a:pt x="2599181" y="360426"/>
                </a:moveTo>
                <a:lnTo>
                  <a:pt x="6857" y="360426"/>
                </a:lnTo>
                <a:lnTo>
                  <a:pt x="12953" y="367284"/>
                </a:lnTo>
                <a:lnTo>
                  <a:pt x="12953" y="373380"/>
                </a:lnTo>
                <a:lnTo>
                  <a:pt x="2593073" y="373380"/>
                </a:lnTo>
                <a:lnTo>
                  <a:pt x="2593073" y="367284"/>
                </a:lnTo>
                <a:lnTo>
                  <a:pt x="2599181" y="360426"/>
                </a:lnTo>
                <a:close/>
              </a:path>
              <a:path w="2605404" h="373379">
                <a:moveTo>
                  <a:pt x="12953" y="373380"/>
                </a:moveTo>
                <a:lnTo>
                  <a:pt x="12953" y="367284"/>
                </a:lnTo>
                <a:lnTo>
                  <a:pt x="6857" y="360426"/>
                </a:lnTo>
                <a:lnTo>
                  <a:pt x="6858" y="373380"/>
                </a:lnTo>
                <a:lnTo>
                  <a:pt x="12953" y="373380"/>
                </a:lnTo>
                <a:close/>
              </a:path>
              <a:path w="2605404" h="373379">
                <a:moveTo>
                  <a:pt x="2599181" y="12953"/>
                </a:moveTo>
                <a:lnTo>
                  <a:pt x="2593073" y="6857"/>
                </a:lnTo>
                <a:lnTo>
                  <a:pt x="2593073" y="12953"/>
                </a:lnTo>
                <a:lnTo>
                  <a:pt x="2599181" y="12953"/>
                </a:lnTo>
                <a:close/>
              </a:path>
              <a:path w="2605404" h="373379">
                <a:moveTo>
                  <a:pt x="2599181" y="360426"/>
                </a:moveTo>
                <a:lnTo>
                  <a:pt x="2599181" y="12953"/>
                </a:lnTo>
                <a:lnTo>
                  <a:pt x="2593073" y="12953"/>
                </a:lnTo>
                <a:lnTo>
                  <a:pt x="2593073" y="360426"/>
                </a:lnTo>
                <a:lnTo>
                  <a:pt x="2599181" y="360426"/>
                </a:lnTo>
                <a:close/>
              </a:path>
              <a:path w="2605404" h="373379">
                <a:moveTo>
                  <a:pt x="2599181" y="373380"/>
                </a:moveTo>
                <a:lnTo>
                  <a:pt x="2599181" y="360426"/>
                </a:lnTo>
                <a:lnTo>
                  <a:pt x="2593073" y="367284"/>
                </a:lnTo>
                <a:lnTo>
                  <a:pt x="2593073" y="373380"/>
                </a:lnTo>
                <a:lnTo>
                  <a:pt x="2599181" y="373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227186" y="6375653"/>
            <a:ext cx="361950" cy="360680"/>
          </a:xfrm>
          <a:custGeom>
            <a:avLst/>
            <a:gdLst/>
            <a:ahLst/>
            <a:cxnLst/>
            <a:rect l="l" t="t" r="r" b="b"/>
            <a:pathLst>
              <a:path w="361950" h="360679">
                <a:moveTo>
                  <a:pt x="0" y="0"/>
                </a:moveTo>
                <a:lnTo>
                  <a:pt x="0" y="360426"/>
                </a:lnTo>
                <a:lnTo>
                  <a:pt x="361962" y="360426"/>
                </a:lnTo>
                <a:lnTo>
                  <a:pt x="361962" y="0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149463" y="6368796"/>
            <a:ext cx="445770" cy="373380"/>
          </a:xfrm>
          <a:custGeom>
            <a:avLst/>
            <a:gdLst/>
            <a:ahLst/>
            <a:cxnLst/>
            <a:rect l="l" t="t" r="r" b="b"/>
            <a:pathLst>
              <a:path w="445770" h="373379">
                <a:moveTo>
                  <a:pt x="445770" y="373380"/>
                </a:moveTo>
                <a:lnTo>
                  <a:pt x="445770" y="0"/>
                </a:lnTo>
                <a:lnTo>
                  <a:pt x="0" y="0"/>
                </a:lnTo>
                <a:lnTo>
                  <a:pt x="0" y="373380"/>
                </a:lnTo>
                <a:lnTo>
                  <a:pt x="6108" y="373380"/>
                </a:lnTo>
                <a:lnTo>
                  <a:pt x="6108" y="12953"/>
                </a:lnTo>
                <a:lnTo>
                  <a:pt x="12204" y="6857"/>
                </a:lnTo>
                <a:lnTo>
                  <a:pt x="12204" y="12953"/>
                </a:lnTo>
                <a:lnTo>
                  <a:pt x="432828" y="12953"/>
                </a:lnTo>
                <a:lnTo>
                  <a:pt x="432828" y="6857"/>
                </a:lnTo>
                <a:lnTo>
                  <a:pt x="439673" y="12953"/>
                </a:lnTo>
                <a:lnTo>
                  <a:pt x="439673" y="373380"/>
                </a:lnTo>
                <a:lnTo>
                  <a:pt x="445770" y="373380"/>
                </a:lnTo>
                <a:close/>
              </a:path>
              <a:path w="445770" h="373379">
                <a:moveTo>
                  <a:pt x="12204" y="12953"/>
                </a:moveTo>
                <a:lnTo>
                  <a:pt x="12204" y="6857"/>
                </a:lnTo>
                <a:lnTo>
                  <a:pt x="6108" y="12953"/>
                </a:lnTo>
                <a:lnTo>
                  <a:pt x="12204" y="12953"/>
                </a:lnTo>
                <a:close/>
              </a:path>
              <a:path w="445770" h="373379">
                <a:moveTo>
                  <a:pt x="12204" y="360426"/>
                </a:moveTo>
                <a:lnTo>
                  <a:pt x="12204" y="12953"/>
                </a:lnTo>
                <a:lnTo>
                  <a:pt x="6108" y="12953"/>
                </a:lnTo>
                <a:lnTo>
                  <a:pt x="6108" y="360426"/>
                </a:lnTo>
                <a:lnTo>
                  <a:pt x="12204" y="360426"/>
                </a:lnTo>
                <a:close/>
              </a:path>
              <a:path w="445770" h="373379">
                <a:moveTo>
                  <a:pt x="439673" y="360426"/>
                </a:moveTo>
                <a:lnTo>
                  <a:pt x="6108" y="360426"/>
                </a:lnTo>
                <a:lnTo>
                  <a:pt x="12204" y="367284"/>
                </a:lnTo>
                <a:lnTo>
                  <a:pt x="12204" y="373380"/>
                </a:lnTo>
                <a:lnTo>
                  <a:pt x="432828" y="373380"/>
                </a:lnTo>
                <a:lnTo>
                  <a:pt x="432828" y="367284"/>
                </a:lnTo>
                <a:lnTo>
                  <a:pt x="439673" y="360426"/>
                </a:lnTo>
                <a:close/>
              </a:path>
              <a:path w="445770" h="373379">
                <a:moveTo>
                  <a:pt x="12204" y="373380"/>
                </a:moveTo>
                <a:lnTo>
                  <a:pt x="12204" y="367284"/>
                </a:lnTo>
                <a:lnTo>
                  <a:pt x="6108" y="360426"/>
                </a:lnTo>
                <a:lnTo>
                  <a:pt x="6108" y="373380"/>
                </a:lnTo>
                <a:lnTo>
                  <a:pt x="12204" y="373380"/>
                </a:lnTo>
                <a:close/>
              </a:path>
              <a:path w="445770" h="373379">
                <a:moveTo>
                  <a:pt x="439673" y="12953"/>
                </a:moveTo>
                <a:lnTo>
                  <a:pt x="432828" y="6857"/>
                </a:lnTo>
                <a:lnTo>
                  <a:pt x="432828" y="12953"/>
                </a:lnTo>
                <a:lnTo>
                  <a:pt x="439673" y="12953"/>
                </a:lnTo>
                <a:close/>
              </a:path>
              <a:path w="445770" h="373379">
                <a:moveTo>
                  <a:pt x="439673" y="360426"/>
                </a:moveTo>
                <a:lnTo>
                  <a:pt x="439673" y="12953"/>
                </a:lnTo>
                <a:lnTo>
                  <a:pt x="432828" y="12953"/>
                </a:lnTo>
                <a:lnTo>
                  <a:pt x="432828" y="360426"/>
                </a:lnTo>
                <a:lnTo>
                  <a:pt x="439673" y="360426"/>
                </a:lnTo>
                <a:close/>
              </a:path>
              <a:path w="445770" h="373379">
                <a:moveTo>
                  <a:pt x="439673" y="373380"/>
                </a:moveTo>
                <a:lnTo>
                  <a:pt x="439673" y="360426"/>
                </a:lnTo>
                <a:lnTo>
                  <a:pt x="432828" y="367284"/>
                </a:lnTo>
                <a:lnTo>
                  <a:pt x="432828" y="373380"/>
                </a:lnTo>
                <a:lnTo>
                  <a:pt x="439673" y="373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292213" y="6377178"/>
            <a:ext cx="935355" cy="360680"/>
          </a:xfrm>
          <a:custGeom>
            <a:avLst/>
            <a:gdLst/>
            <a:ahLst/>
            <a:cxnLst/>
            <a:rect l="l" t="t" r="r" b="b"/>
            <a:pathLst>
              <a:path w="935354" h="360679">
                <a:moveTo>
                  <a:pt x="0" y="0"/>
                </a:moveTo>
                <a:lnTo>
                  <a:pt x="0" y="360426"/>
                </a:lnTo>
                <a:lnTo>
                  <a:pt x="934974" y="360426"/>
                </a:lnTo>
                <a:lnTo>
                  <a:pt x="934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285367" y="6371082"/>
            <a:ext cx="948055" cy="372745"/>
          </a:xfrm>
          <a:custGeom>
            <a:avLst/>
            <a:gdLst/>
            <a:ahLst/>
            <a:cxnLst/>
            <a:rect l="l" t="t" r="r" b="b"/>
            <a:pathLst>
              <a:path w="948054" h="372745">
                <a:moveTo>
                  <a:pt x="947927" y="372618"/>
                </a:moveTo>
                <a:lnTo>
                  <a:pt x="947927" y="0"/>
                </a:lnTo>
                <a:lnTo>
                  <a:pt x="0" y="0"/>
                </a:lnTo>
                <a:lnTo>
                  <a:pt x="0" y="372618"/>
                </a:lnTo>
                <a:lnTo>
                  <a:pt x="6845" y="372618"/>
                </a:lnTo>
                <a:lnTo>
                  <a:pt x="6845" y="12191"/>
                </a:lnTo>
                <a:lnTo>
                  <a:pt x="12954" y="6095"/>
                </a:lnTo>
                <a:lnTo>
                  <a:pt x="12954" y="12191"/>
                </a:lnTo>
                <a:lnTo>
                  <a:pt x="934974" y="12191"/>
                </a:lnTo>
                <a:lnTo>
                  <a:pt x="934974" y="6095"/>
                </a:lnTo>
                <a:lnTo>
                  <a:pt x="941819" y="12191"/>
                </a:lnTo>
                <a:lnTo>
                  <a:pt x="941819" y="372618"/>
                </a:lnTo>
                <a:lnTo>
                  <a:pt x="947927" y="372618"/>
                </a:lnTo>
                <a:close/>
              </a:path>
              <a:path w="948054" h="372745">
                <a:moveTo>
                  <a:pt x="12954" y="12191"/>
                </a:moveTo>
                <a:lnTo>
                  <a:pt x="12954" y="6095"/>
                </a:lnTo>
                <a:lnTo>
                  <a:pt x="6845" y="12191"/>
                </a:lnTo>
                <a:lnTo>
                  <a:pt x="12954" y="12191"/>
                </a:lnTo>
                <a:close/>
              </a:path>
              <a:path w="948054" h="372745">
                <a:moveTo>
                  <a:pt x="12954" y="359664"/>
                </a:moveTo>
                <a:lnTo>
                  <a:pt x="12954" y="12191"/>
                </a:lnTo>
                <a:lnTo>
                  <a:pt x="6845" y="12191"/>
                </a:lnTo>
                <a:lnTo>
                  <a:pt x="6845" y="359664"/>
                </a:lnTo>
                <a:lnTo>
                  <a:pt x="12954" y="359664"/>
                </a:lnTo>
                <a:close/>
              </a:path>
              <a:path w="948054" h="372745">
                <a:moveTo>
                  <a:pt x="941819" y="359664"/>
                </a:moveTo>
                <a:lnTo>
                  <a:pt x="6845" y="359664"/>
                </a:lnTo>
                <a:lnTo>
                  <a:pt x="12954" y="366522"/>
                </a:lnTo>
                <a:lnTo>
                  <a:pt x="12954" y="372618"/>
                </a:lnTo>
                <a:lnTo>
                  <a:pt x="934974" y="372618"/>
                </a:lnTo>
                <a:lnTo>
                  <a:pt x="934974" y="366522"/>
                </a:lnTo>
                <a:lnTo>
                  <a:pt x="941819" y="359664"/>
                </a:lnTo>
                <a:close/>
              </a:path>
              <a:path w="948054" h="372745">
                <a:moveTo>
                  <a:pt x="12954" y="372618"/>
                </a:moveTo>
                <a:lnTo>
                  <a:pt x="12954" y="366522"/>
                </a:lnTo>
                <a:lnTo>
                  <a:pt x="6845" y="359664"/>
                </a:lnTo>
                <a:lnTo>
                  <a:pt x="6845" y="372618"/>
                </a:lnTo>
                <a:lnTo>
                  <a:pt x="12954" y="372618"/>
                </a:lnTo>
                <a:close/>
              </a:path>
              <a:path w="948054" h="372745">
                <a:moveTo>
                  <a:pt x="941819" y="12191"/>
                </a:moveTo>
                <a:lnTo>
                  <a:pt x="934974" y="6095"/>
                </a:lnTo>
                <a:lnTo>
                  <a:pt x="934974" y="12191"/>
                </a:lnTo>
                <a:lnTo>
                  <a:pt x="941819" y="12191"/>
                </a:lnTo>
                <a:close/>
              </a:path>
              <a:path w="948054" h="372745">
                <a:moveTo>
                  <a:pt x="941819" y="359664"/>
                </a:moveTo>
                <a:lnTo>
                  <a:pt x="941819" y="12191"/>
                </a:lnTo>
                <a:lnTo>
                  <a:pt x="934974" y="12191"/>
                </a:lnTo>
                <a:lnTo>
                  <a:pt x="934974" y="359664"/>
                </a:lnTo>
                <a:lnTo>
                  <a:pt x="941819" y="359664"/>
                </a:lnTo>
                <a:close/>
              </a:path>
              <a:path w="948054" h="372745">
                <a:moveTo>
                  <a:pt x="941819" y="372618"/>
                </a:moveTo>
                <a:lnTo>
                  <a:pt x="941819" y="359664"/>
                </a:lnTo>
                <a:lnTo>
                  <a:pt x="934974" y="366522"/>
                </a:lnTo>
                <a:lnTo>
                  <a:pt x="934974" y="372618"/>
                </a:lnTo>
                <a:lnTo>
                  <a:pt x="941819" y="3726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842395" y="6375653"/>
            <a:ext cx="721360" cy="360680"/>
          </a:xfrm>
          <a:custGeom>
            <a:avLst/>
            <a:gdLst/>
            <a:ahLst/>
            <a:cxnLst/>
            <a:rect l="l" t="t" r="r" b="b"/>
            <a:pathLst>
              <a:path w="721360" h="360679">
                <a:moveTo>
                  <a:pt x="0" y="0"/>
                </a:moveTo>
                <a:lnTo>
                  <a:pt x="0" y="360425"/>
                </a:lnTo>
                <a:lnTo>
                  <a:pt x="720851" y="360425"/>
                </a:lnTo>
                <a:lnTo>
                  <a:pt x="72085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56389" y="6368796"/>
            <a:ext cx="948055" cy="373380"/>
          </a:xfrm>
          <a:custGeom>
            <a:avLst/>
            <a:gdLst/>
            <a:ahLst/>
            <a:cxnLst/>
            <a:rect l="l" t="t" r="r" b="b"/>
            <a:pathLst>
              <a:path w="948054" h="373379">
                <a:moveTo>
                  <a:pt x="947927" y="373380"/>
                </a:moveTo>
                <a:lnTo>
                  <a:pt x="947927" y="0"/>
                </a:lnTo>
                <a:lnTo>
                  <a:pt x="0" y="0"/>
                </a:lnTo>
                <a:lnTo>
                  <a:pt x="0" y="373380"/>
                </a:lnTo>
                <a:lnTo>
                  <a:pt x="6857" y="373380"/>
                </a:lnTo>
                <a:lnTo>
                  <a:pt x="6857" y="12954"/>
                </a:lnTo>
                <a:lnTo>
                  <a:pt x="12953" y="6858"/>
                </a:lnTo>
                <a:lnTo>
                  <a:pt x="12953" y="12954"/>
                </a:lnTo>
                <a:lnTo>
                  <a:pt x="935723" y="12953"/>
                </a:lnTo>
                <a:lnTo>
                  <a:pt x="935723" y="6857"/>
                </a:lnTo>
                <a:lnTo>
                  <a:pt x="941831" y="12953"/>
                </a:lnTo>
                <a:lnTo>
                  <a:pt x="941831" y="373380"/>
                </a:lnTo>
                <a:lnTo>
                  <a:pt x="947927" y="373380"/>
                </a:lnTo>
                <a:close/>
              </a:path>
              <a:path w="948054" h="373379">
                <a:moveTo>
                  <a:pt x="12953" y="12954"/>
                </a:moveTo>
                <a:lnTo>
                  <a:pt x="12953" y="6858"/>
                </a:lnTo>
                <a:lnTo>
                  <a:pt x="6857" y="12954"/>
                </a:lnTo>
                <a:lnTo>
                  <a:pt x="12953" y="12954"/>
                </a:lnTo>
                <a:close/>
              </a:path>
              <a:path w="948054" h="373379">
                <a:moveTo>
                  <a:pt x="12953" y="360426"/>
                </a:moveTo>
                <a:lnTo>
                  <a:pt x="12953" y="12954"/>
                </a:lnTo>
                <a:lnTo>
                  <a:pt x="6857" y="12954"/>
                </a:lnTo>
                <a:lnTo>
                  <a:pt x="6857" y="360426"/>
                </a:lnTo>
                <a:lnTo>
                  <a:pt x="12953" y="360426"/>
                </a:lnTo>
                <a:close/>
              </a:path>
              <a:path w="948054" h="373379">
                <a:moveTo>
                  <a:pt x="941831" y="360426"/>
                </a:moveTo>
                <a:lnTo>
                  <a:pt x="6857" y="360426"/>
                </a:lnTo>
                <a:lnTo>
                  <a:pt x="12953" y="367284"/>
                </a:lnTo>
                <a:lnTo>
                  <a:pt x="12953" y="373380"/>
                </a:lnTo>
                <a:lnTo>
                  <a:pt x="935723" y="373380"/>
                </a:lnTo>
                <a:lnTo>
                  <a:pt x="935723" y="367284"/>
                </a:lnTo>
                <a:lnTo>
                  <a:pt x="941831" y="360426"/>
                </a:lnTo>
                <a:close/>
              </a:path>
              <a:path w="948054" h="373379">
                <a:moveTo>
                  <a:pt x="12953" y="373380"/>
                </a:moveTo>
                <a:lnTo>
                  <a:pt x="12953" y="367284"/>
                </a:lnTo>
                <a:lnTo>
                  <a:pt x="6857" y="360426"/>
                </a:lnTo>
                <a:lnTo>
                  <a:pt x="6857" y="373380"/>
                </a:lnTo>
                <a:lnTo>
                  <a:pt x="12953" y="373380"/>
                </a:lnTo>
                <a:close/>
              </a:path>
              <a:path w="948054" h="373379">
                <a:moveTo>
                  <a:pt x="941831" y="12953"/>
                </a:moveTo>
                <a:lnTo>
                  <a:pt x="935723" y="6857"/>
                </a:lnTo>
                <a:lnTo>
                  <a:pt x="935723" y="12953"/>
                </a:lnTo>
                <a:lnTo>
                  <a:pt x="941831" y="12953"/>
                </a:lnTo>
                <a:close/>
              </a:path>
              <a:path w="948054" h="373379">
                <a:moveTo>
                  <a:pt x="941831" y="360426"/>
                </a:moveTo>
                <a:lnTo>
                  <a:pt x="941831" y="12953"/>
                </a:lnTo>
                <a:lnTo>
                  <a:pt x="935723" y="12953"/>
                </a:lnTo>
                <a:lnTo>
                  <a:pt x="935723" y="360426"/>
                </a:lnTo>
                <a:lnTo>
                  <a:pt x="941831" y="360426"/>
                </a:lnTo>
                <a:close/>
              </a:path>
              <a:path w="948054" h="373379">
                <a:moveTo>
                  <a:pt x="941831" y="373380"/>
                </a:moveTo>
                <a:lnTo>
                  <a:pt x="941831" y="360426"/>
                </a:lnTo>
                <a:lnTo>
                  <a:pt x="935723" y="367284"/>
                </a:lnTo>
                <a:lnTo>
                  <a:pt x="935723" y="373380"/>
                </a:lnTo>
                <a:lnTo>
                  <a:pt x="941831" y="373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498221" y="6374129"/>
            <a:ext cx="1905" cy="360680"/>
          </a:xfrm>
          <a:custGeom>
            <a:avLst/>
            <a:gdLst/>
            <a:ahLst/>
            <a:cxnLst/>
            <a:rect l="l" t="t" r="r" b="b"/>
            <a:pathLst>
              <a:path w="1904" h="360679">
                <a:moveTo>
                  <a:pt x="0" y="0"/>
                </a:moveTo>
                <a:lnTo>
                  <a:pt x="0" y="360426"/>
                </a:lnTo>
                <a:lnTo>
                  <a:pt x="1524" y="360426"/>
                </a:lnTo>
                <a:lnTo>
                  <a:pt x="152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842395" y="6374129"/>
            <a:ext cx="721360" cy="360680"/>
          </a:xfrm>
          <a:custGeom>
            <a:avLst/>
            <a:gdLst/>
            <a:ahLst/>
            <a:cxnLst/>
            <a:rect l="l" t="t" r="r" b="b"/>
            <a:pathLst>
              <a:path w="721360" h="360679">
                <a:moveTo>
                  <a:pt x="0" y="0"/>
                </a:moveTo>
                <a:lnTo>
                  <a:pt x="0" y="360425"/>
                </a:lnTo>
                <a:lnTo>
                  <a:pt x="720851" y="360425"/>
                </a:lnTo>
                <a:lnTo>
                  <a:pt x="72085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901325" y="6367271"/>
            <a:ext cx="2604770" cy="373380"/>
          </a:xfrm>
          <a:custGeom>
            <a:avLst/>
            <a:gdLst/>
            <a:ahLst/>
            <a:cxnLst/>
            <a:rect l="l" t="t" r="r" b="b"/>
            <a:pathLst>
              <a:path w="2604770" h="373379">
                <a:moveTo>
                  <a:pt x="2604515" y="373380"/>
                </a:moveTo>
                <a:lnTo>
                  <a:pt x="2604515" y="0"/>
                </a:lnTo>
                <a:lnTo>
                  <a:pt x="0" y="0"/>
                </a:lnTo>
                <a:lnTo>
                  <a:pt x="0" y="373380"/>
                </a:lnTo>
                <a:lnTo>
                  <a:pt x="6096" y="373380"/>
                </a:lnTo>
                <a:lnTo>
                  <a:pt x="6096" y="12954"/>
                </a:lnTo>
                <a:lnTo>
                  <a:pt x="12192" y="6858"/>
                </a:lnTo>
                <a:lnTo>
                  <a:pt x="12191" y="12954"/>
                </a:lnTo>
                <a:lnTo>
                  <a:pt x="2592311" y="12953"/>
                </a:lnTo>
                <a:lnTo>
                  <a:pt x="2592311" y="6857"/>
                </a:lnTo>
                <a:lnTo>
                  <a:pt x="2598407" y="12953"/>
                </a:lnTo>
                <a:lnTo>
                  <a:pt x="2598407" y="373380"/>
                </a:lnTo>
                <a:lnTo>
                  <a:pt x="2604515" y="373380"/>
                </a:lnTo>
                <a:close/>
              </a:path>
              <a:path w="2604770" h="373379">
                <a:moveTo>
                  <a:pt x="12191" y="12954"/>
                </a:moveTo>
                <a:lnTo>
                  <a:pt x="12192" y="6858"/>
                </a:lnTo>
                <a:lnTo>
                  <a:pt x="6096" y="12954"/>
                </a:lnTo>
                <a:lnTo>
                  <a:pt x="12191" y="12954"/>
                </a:lnTo>
                <a:close/>
              </a:path>
              <a:path w="2604770" h="373379">
                <a:moveTo>
                  <a:pt x="12191" y="360426"/>
                </a:moveTo>
                <a:lnTo>
                  <a:pt x="12191" y="12954"/>
                </a:lnTo>
                <a:lnTo>
                  <a:pt x="6096" y="12954"/>
                </a:lnTo>
                <a:lnTo>
                  <a:pt x="6096" y="360426"/>
                </a:lnTo>
                <a:lnTo>
                  <a:pt x="12191" y="360426"/>
                </a:lnTo>
                <a:close/>
              </a:path>
              <a:path w="2604770" h="373379">
                <a:moveTo>
                  <a:pt x="2598407" y="360426"/>
                </a:moveTo>
                <a:lnTo>
                  <a:pt x="6096" y="360426"/>
                </a:lnTo>
                <a:lnTo>
                  <a:pt x="12192" y="367284"/>
                </a:lnTo>
                <a:lnTo>
                  <a:pt x="12191" y="373380"/>
                </a:lnTo>
                <a:lnTo>
                  <a:pt x="2592311" y="373380"/>
                </a:lnTo>
                <a:lnTo>
                  <a:pt x="2592311" y="367284"/>
                </a:lnTo>
                <a:lnTo>
                  <a:pt x="2598407" y="360426"/>
                </a:lnTo>
                <a:close/>
              </a:path>
              <a:path w="2604770" h="373379">
                <a:moveTo>
                  <a:pt x="12191" y="373380"/>
                </a:moveTo>
                <a:lnTo>
                  <a:pt x="12192" y="367284"/>
                </a:lnTo>
                <a:lnTo>
                  <a:pt x="6096" y="360426"/>
                </a:lnTo>
                <a:lnTo>
                  <a:pt x="6096" y="373380"/>
                </a:lnTo>
                <a:lnTo>
                  <a:pt x="12191" y="373380"/>
                </a:lnTo>
                <a:close/>
              </a:path>
              <a:path w="2604770" h="373379">
                <a:moveTo>
                  <a:pt x="2598407" y="12953"/>
                </a:moveTo>
                <a:lnTo>
                  <a:pt x="2592311" y="6857"/>
                </a:lnTo>
                <a:lnTo>
                  <a:pt x="2592311" y="12953"/>
                </a:lnTo>
                <a:lnTo>
                  <a:pt x="2598407" y="12953"/>
                </a:lnTo>
                <a:close/>
              </a:path>
              <a:path w="2604770" h="373379">
                <a:moveTo>
                  <a:pt x="2598407" y="360426"/>
                </a:moveTo>
                <a:lnTo>
                  <a:pt x="2598407" y="12953"/>
                </a:lnTo>
                <a:lnTo>
                  <a:pt x="2592311" y="12953"/>
                </a:lnTo>
                <a:lnTo>
                  <a:pt x="2592311" y="360426"/>
                </a:lnTo>
                <a:lnTo>
                  <a:pt x="2598407" y="360426"/>
                </a:lnTo>
                <a:close/>
              </a:path>
              <a:path w="2604770" h="373379">
                <a:moveTo>
                  <a:pt x="2598407" y="373380"/>
                </a:moveTo>
                <a:lnTo>
                  <a:pt x="2598407" y="360426"/>
                </a:lnTo>
                <a:lnTo>
                  <a:pt x="2592311" y="367284"/>
                </a:lnTo>
                <a:lnTo>
                  <a:pt x="2592311" y="373380"/>
                </a:lnTo>
                <a:lnTo>
                  <a:pt x="2598407" y="373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499733" y="6374129"/>
            <a:ext cx="433705" cy="360680"/>
          </a:xfrm>
          <a:custGeom>
            <a:avLst/>
            <a:gdLst/>
            <a:ahLst/>
            <a:cxnLst/>
            <a:rect l="l" t="t" r="r" b="b"/>
            <a:pathLst>
              <a:path w="433704" h="360679">
                <a:moveTo>
                  <a:pt x="0" y="0"/>
                </a:moveTo>
                <a:lnTo>
                  <a:pt x="0" y="360426"/>
                </a:lnTo>
                <a:lnTo>
                  <a:pt x="433577" y="360426"/>
                </a:lnTo>
                <a:lnTo>
                  <a:pt x="433577" y="0"/>
                </a:lnTo>
                <a:lnTo>
                  <a:pt x="0" y="0"/>
                </a:lnTo>
                <a:close/>
              </a:path>
            </a:pathLst>
          </a:custGeom>
          <a:solidFill>
            <a:srgbClr val="8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493636" y="6367271"/>
            <a:ext cx="445770" cy="373380"/>
          </a:xfrm>
          <a:custGeom>
            <a:avLst/>
            <a:gdLst/>
            <a:ahLst/>
            <a:cxnLst/>
            <a:rect l="l" t="t" r="r" b="b"/>
            <a:pathLst>
              <a:path w="445770" h="373379">
                <a:moveTo>
                  <a:pt x="445769" y="373380"/>
                </a:moveTo>
                <a:lnTo>
                  <a:pt x="445769" y="0"/>
                </a:lnTo>
                <a:lnTo>
                  <a:pt x="0" y="0"/>
                </a:lnTo>
                <a:lnTo>
                  <a:pt x="0" y="373380"/>
                </a:lnTo>
                <a:lnTo>
                  <a:pt x="6096" y="373380"/>
                </a:lnTo>
                <a:lnTo>
                  <a:pt x="6096" y="12953"/>
                </a:lnTo>
                <a:lnTo>
                  <a:pt x="12204" y="6857"/>
                </a:lnTo>
                <a:lnTo>
                  <a:pt x="12204" y="12953"/>
                </a:lnTo>
                <a:lnTo>
                  <a:pt x="432828" y="12953"/>
                </a:lnTo>
                <a:lnTo>
                  <a:pt x="432828" y="6857"/>
                </a:lnTo>
                <a:lnTo>
                  <a:pt x="439673" y="12953"/>
                </a:lnTo>
                <a:lnTo>
                  <a:pt x="439673" y="373380"/>
                </a:lnTo>
                <a:lnTo>
                  <a:pt x="445769" y="373380"/>
                </a:lnTo>
                <a:close/>
              </a:path>
              <a:path w="445770" h="373379">
                <a:moveTo>
                  <a:pt x="12204" y="12953"/>
                </a:moveTo>
                <a:lnTo>
                  <a:pt x="12204" y="6857"/>
                </a:lnTo>
                <a:lnTo>
                  <a:pt x="6096" y="12953"/>
                </a:lnTo>
                <a:lnTo>
                  <a:pt x="12204" y="12953"/>
                </a:lnTo>
                <a:close/>
              </a:path>
              <a:path w="445770" h="373379">
                <a:moveTo>
                  <a:pt x="12204" y="360426"/>
                </a:moveTo>
                <a:lnTo>
                  <a:pt x="12204" y="12953"/>
                </a:lnTo>
                <a:lnTo>
                  <a:pt x="6096" y="12953"/>
                </a:lnTo>
                <a:lnTo>
                  <a:pt x="6096" y="360426"/>
                </a:lnTo>
                <a:lnTo>
                  <a:pt x="12204" y="360426"/>
                </a:lnTo>
                <a:close/>
              </a:path>
              <a:path w="445770" h="373379">
                <a:moveTo>
                  <a:pt x="439673" y="360426"/>
                </a:moveTo>
                <a:lnTo>
                  <a:pt x="6096" y="360426"/>
                </a:lnTo>
                <a:lnTo>
                  <a:pt x="12204" y="367284"/>
                </a:lnTo>
                <a:lnTo>
                  <a:pt x="12204" y="373380"/>
                </a:lnTo>
                <a:lnTo>
                  <a:pt x="432828" y="373380"/>
                </a:lnTo>
                <a:lnTo>
                  <a:pt x="432828" y="367284"/>
                </a:lnTo>
                <a:lnTo>
                  <a:pt x="439673" y="360426"/>
                </a:lnTo>
                <a:close/>
              </a:path>
              <a:path w="445770" h="373379">
                <a:moveTo>
                  <a:pt x="12204" y="373380"/>
                </a:moveTo>
                <a:lnTo>
                  <a:pt x="12204" y="367284"/>
                </a:lnTo>
                <a:lnTo>
                  <a:pt x="6096" y="360426"/>
                </a:lnTo>
                <a:lnTo>
                  <a:pt x="6096" y="373380"/>
                </a:lnTo>
                <a:lnTo>
                  <a:pt x="12204" y="373380"/>
                </a:lnTo>
                <a:close/>
              </a:path>
              <a:path w="445770" h="373379">
                <a:moveTo>
                  <a:pt x="439673" y="12953"/>
                </a:moveTo>
                <a:lnTo>
                  <a:pt x="432828" y="6857"/>
                </a:lnTo>
                <a:lnTo>
                  <a:pt x="432828" y="12953"/>
                </a:lnTo>
                <a:lnTo>
                  <a:pt x="439673" y="12953"/>
                </a:lnTo>
                <a:close/>
              </a:path>
              <a:path w="445770" h="373379">
                <a:moveTo>
                  <a:pt x="439673" y="360426"/>
                </a:moveTo>
                <a:lnTo>
                  <a:pt x="439673" y="12953"/>
                </a:lnTo>
                <a:lnTo>
                  <a:pt x="432828" y="12953"/>
                </a:lnTo>
                <a:lnTo>
                  <a:pt x="432828" y="360426"/>
                </a:lnTo>
                <a:lnTo>
                  <a:pt x="439673" y="360426"/>
                </a:lnTo>
                <a:close/>
              </a:path>
              <a:path w="445770" h="373379">
                <a:moveTo>
                  <a:pt x="439673" y="373380"/>
                </a:moveTo>
                <a:lnTo>
                  <a:pt x="439673" y="360426"/>
                </a:lnTo>
                <a:lnTo>
                  <a:pt x="432828" y="367284"/>
                </a:lnTo>
                <a:lnTo>
                  <a:pt x="432828" y="373380"/>
                </a:lnTo>
                <a:lnTo>
                  <a:pt x="439673" y="373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563247" y="6375653"/>
            <a:ext cx="935355" cy="360680"/>
          </a:xfrm>
          <a:custGeom>
            <a:avLst/>
            <a:gdLst/>
            <a:ahLst/>
            <a:cxnLst/>
            <a:rect l="l" t="t" r="r" b="b"/>
            <a:pathLst>
              <a:path w="935354" h="360679">
                <a:moveTo>
                  <a:pt x="0" y="0"/>
                </a:moveTo>
                <a:lnTo>
                  <a:pt x="0" y="360426"/>
                </a:lnTo>
                <a:lnTo>
                  <a:pt x="934974" y="360426"/>
                </a:lnTo>
                <a:lnTo>
                  <a:pt x="934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556389" y="6368796"/>
            <a:ext cx="948055" cy="373380"/>
          </a:xfrm>
          <a:custGeom>
            <a:avLst/>
            <a:gdLst/>
            <a:ahLst/>
            <a:cxnLst/>
            <a:rect l="l" t="t" r="r" b="b"/>
            <a:pathLst>
              <a:path w="948054" h="373379">
                <a:moveTo>
                  <a:pt x="947927" y="373380"/>
                </a:moveTo>
                <a:lnTo>
                  <a:pt x="947927" y="0"/>
                </a:lnTo>
                <a:lnTo>
                  <a:pt x="0" y="0"/>
                </a:lnTo>
                <a:lnTo>
                  <a:pt x="0" y="373380"/>
                </a:lnTo>
                <a:lnTo>
                  <a:pt x="6857" y="373380"/>
                </a:lnTo>
                <a:lnTo>
                  <a:pt x="6857" y="12954"/>
                </a:lnTo>
                <a:lnTo>
                  <a:pt x="12953" y="6858"/>
                </a:lnTo>
                <a:lnTo>
                  <a:pt x="12953" y="12954"/>
                </a:lnTo>
                <a:lnTo>
                  <a:pt x="935723" y="12953"/>
                </a:lnTo>
                <a:lnTo>
                  <a:pt x="935723" y="6857"/>
                </a:lnTo>
                <a:lnTo>
                  <a:pt x="941831" y="12953"/>
                </a:lnTo>
                <a:lnTo>
                  <a:pt x="941831" y="373380"/>
                </a:lnTo>
                <a:lnTo>
                  <a:pt x="947927" y="373380"/>
                </a:lnTo>
                <a:close/>
              </a:path>
              <a:path w="948054" h="373379">
                <a:moveTo>
                  <a:pt x="12953" y="12954"/>
                </a:moveTo>
                <a:lnTo>
                  <a:pt x="12953" y="6858"/>
                </a:lnTo>
                <a:lnTo>
                  <a:pt x="6857" y="12954"/>
                </a:lnTo>
                <a:lnTo>
                  <a:pt x="12953" y="12954"/>
                </a:lnTo>
                <a:close/>
              </a:path>
              <a:path w="948054" h="373379">
                <a:moveTo>
                  <a:pt x="12953" y="360426"/>
                </a:moveTo>
                <a:lnTo>
                  <a:pt x="12953" y="12954"/>
                </a:lnTo>
                <a:lnTo>
                  <a:pt x="6857" y="12954"/>
                </a:lnTo>
                <a:lnTo>
                  <a:pt x="6857" y="360426"/>
                </a:lnTo>
                <a:lnTo>
                  <a:pt x="12953" y="360426"/>
                </a:lnTo>
                <a:close/>
              </a:path>
              <a:path w="948054" h="373379">
                <a:moveTo>
                  <a:pt x="941831" y="360426"/>
                </a:moveTo>
                <a:lnTo>
                  <a:pt x="6857" y="360426"/>
                </a:lnTo>
                <a:lnTo>
                  <a:pt x="12953" y="367284"/>
                </a:lnTo>
                <a:lnTo>
                  <a:pt x="12953" y="373380"/>
                </a:lnTo>
                <a:lnTo>
                  <a:pt x="935723" y="373380"/>
                </a:lnTo>
                <a:lnTo>
                  <a:pt x="935723" y="367284"/>
                </a:lnTo>
                <a:lnTo>
                  <a:pt x="941831" y="360426"/>
                </a:lnTo>
                <a:close/>
              </a:path>
              <a:path w="948054" h="373379">
                <a:moveTo>
                  <a:pt x="12953" y="373380"/>
                </a:moveTo>
                <a:lnTo>
                  <a:pt x="12953" y="367284"/>
                </a:lnTo>
                <a:lnTo>
                  <a:pt x="6857" y="360426"/>
                </a:lnTo>
                <a:lnTo>
                  <a:pt x="6857" y="373380"/>
                </a:lnTo>
                <a:lnTo>
                  <a:pt x="12953" y="373380"/>
                </a:lnTo>
                <a:close/>
              </a:path>
              <a:path w="948054" h="373379">
                <a:moveTo>
                  <a:pt x="941831" y="12953"/>
                </a:moveTo>
                <a:lnTo>
                  <a:pt x="935723" y="6857"/>
                </a:lnTo>
                <a:lnTo>
                  <a:pt x="935723" y="12953"/>
                </a:lnTo>
                <a:lnTo>
                  <a:pt x="941831" y="12953"/>
                </a:lnTo>
                <a:close/>
              </a:path>
              <a:path w="948054" h="373379">
                <a:moveTo>
                  <a:pt x="941831" y="360426"/>
                </a:moveTo>
                <a:lnTo>
                  <a:pt x="941831" y="12953"/>
                </a:lnTo>
                <a:lnTo>
                  <a:pt x="935723" y="12953"/>
                </a:lnTo>
                <a:lnTo>
                  <a:pt x="935723" y="360426"/>
                </a:lnTo>
                <a:lnTo>
                  <a:pt x="941831" y="360426"/>
                </a:lnTo>
                <a:close/>
              </a:path>
              <a:path w="948054" h="373379">
                <a:moveTo>
                  <a:pt x="941831" y="373380"/>
                </a:moveTo>
                <a:lnTo>
                  <a:pt x="941831" y="360426"/>
                </a:lnTo>
                <a:lnTo>
                  <a:pt x="935723" y="367284"/>
                </a:lnTo>
                <a:lnTo>
                  <a:pt x="935723" y="373380"/>
                </a:lnTo>
                <a:lnTo>
                  <a:pt x="941831" y="3733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907421" y="6375653"/>
            <a:ext cx="935355" cy="360680"/>
          </a:xfrm>
          <a:custGeom>
            <a:avLst/>
            <a:gdLst/>
            <a:ahLst/>
            <a:cxnLst/>
            <a:rect l="l" t="t" r="r" b="b"/>
            <a:pathLst>
              <a:path w="935354" h="360679">
                <a:moveTo>
                  <a:pt x="0" y="0"/>
                </a:moveTo>
                <a:lnTo>
                  <a:pt x="0" y="360425"/>
                </a:lnTo>
                <a:lnTo>
                  <a:pt x="934974" y="360425"/>
                </a:lnTo>
                <a:lnTo>
                  <a:pt x="93497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901325" y="6368796"/>
            <a:ext cx="947419" cy="373380"/>
          </a:xfrm>
          <a:custGeom>
            <a:avLst/>
            <a:gdLst/>
            <a:ahLst/>
            <a:cxnLst/>
            <a:rect l="l" t="t" r="r" b="b"/>
            <a:pathLst>
              <a:path w="947420" h="373379">
                <a:moveTo>
                  <a:pt x="947165" y="373379"/>
                </a:moveTo>
                <a:lnTo>
                  <a:pt x="947165" y="0"/>
                </a:lnTo>
                <a:lnTo>
                  <a:pt x="0" y="0"/>
                </a:lnTo>
                <a:lnTo>
                  <a:pt x="0" y="373379"/>
                </a:lnTo>
                <a:lnTo>
                  <a:pt x="6096" y="373379"/>
                </a:lnTo>
                <a:lnTo>
                  <a:pt x="6096" y="12953"/>
                </a:lnTo>
                <a:lnTo>
                  <a:pt x="12192" y="6857"/>
                </a:lnTo>
                <a:lnTo>
                  <a:pt x="12192" y="12953"/>
                </a:lnTo>
                <a:lnTo>
                  <a:pt x="934974" y="12953"/>
                </a:lnTo>
                <a:lnTo>
                  <a:pt x="934974" y="6857"/>
                </a:lnTo>
                <a:lnTo>
                  <a:pt x="941070" y="12953"/>
                </a:lnTo>
                <a:lnTo>
                  <a:pt x="941070" y="373379"/>
                </a:lnTo>
                <a:lnTo>
                  <a:pt x="947165" y="373379"/>
                </a:lnTo>
                <a:close/>
              </a:path>
              <a:path w="947420" h="373379">
                <a:moveTo>
                  <a:pt x="12192" y="12953"/>
                </a:moveTo>
                <a:lnTo>
                  <a:pt x="12192" y="6857"/>
                </a:lnTo>
                <a:lnTo>
                  <a:pt x="6096" y="12953"/>
                </a:lnTo>
                <a:lnTo>
                  <a:pt x="12192" y="12953"/>
                </a:lnTo>
                <a:close/>
              </a:path>
              <a:path w="947420" h="373379">
                <a:moveTo>
                  <a:pt x="12192" y="360425"/>
                </a:moveTo>
                <a:lnTo>
                  <a:pt x="12192" y="12953"/>
                </a:lnTo>
                <a:lnTo>
                  <a:pt x="6096" y="12953"/>
                </a:lnTo>
                <a:lnTo>
                  <a:pt x="6096" y="360425"/>
                </a:lnTo>
                <a:lnTo>
                  <a:pt x="12192" y="360425"/>
                </a:lnTo>
                <a:close/>
              </a:path>
              <a:path w="947420" h="373379">
                <a:moveTo>
                  <a:pt x="941070" y="360425"/>
                </a:moveTo>
                <a:lnTo>
                  <a:pt x="6096" y="360425"/>
                </a:lnTo>
                <a:lnTo>
                  <a:pt x="12192" y="367283"/>
                </a:lnTo>
                <a:lnTo>
                  <a:pt x="12192" y="373379"/>
                </a:lnTo>
                <a:lnTo>
                  <a:pt x="934974" y="373379"/>
                </a:lnTo>
                <a:lnTo>
                  <a:pt x="934974" y="367283"/>
                </a:lnTo>
                <a:lnTo>
                  <a:pt x="941070" y="360425"/>
                </a:lnTo>
                <a:close/>
              </a:path>
              <a:path w="947420" h="373379">
                <a:moveTo>
                  <a:pt x="12192" y="373379"/>
                </a:moveTo>
                <a:lnTo>
                  <a:pt x="12192" y="367283"/>
                </a:lnTo>
                <a:lnTo>
                  <a:pt x="6096" y="360425"/>
                </a:lnTo>
                <a:lnTo>
                  <a:pt x="6096" y="373379"/>
                </a:lnTo>
                <a:lnTo>
                  <a:pt x="12192" y="373379"/>
                </a:lnTo>
                <a:close/>
              </a:path>
              <a:path w="947420" h="373379">
                <a:moveTo>
                  <a:pt x="941070" y="12953"/>
                </a:moveTo>
                <a:lnTo>
                  <a:pt x="934974" y="6857"/>
                </a:lnTo>
                <a:lnTo>
                  <a:pt x="934974" y="12953"/>
                </a:lnTo>
                <a:lnTo>
                  <a:pt x="941070" y="12953"/>
                </a:lnTo>
                <a:close/>
              </a:path>
              <a:path w="947420" h="373379">
                <a:moveTo>
                  <a:pt x="941070" y="360425"/>
                </a:moveTo>
                <a:lnTo>
                  <a:pt x="941070" y="12953"/>
                </a:lnTo>
                <a:lnTo>
                  <a:pt x="934974" y="12953"/>
                </a:lnTo>
                <a:lnTo>
                  <a:pt x="934974" y="360425"/>
                </a:lnTo>
                <a:lnTo>
                  <a:pt x="941070" y="360425"/>
                </a:lnTo>
                <a:close/>
              </a:path>
              <a:path w="947420" h="373379">
                <a:moveTo>
                  <a:pt x="941070" y="373379"/>
                </a:moveTo>
                <a:lnTo>
                  <a:pt x="941070" y="360425"/>
                </a:lnTo>
                <a:lnTo>
                  <a:pt x="934974" y="367283"/>
                </a:lnTo>
                <a:lnTo>
                  <a:pt x="934974" y="373379"/>
                </a:lnTo>
                <a:lnTo>
                  <a:pt x="941070" y="3733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6218046" y="6771131"/>
            <a:ext cx="52451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003365"/>
                </a:solidFill>
                <a:latin typeface="Arial"/>
                <a:cs typeface="Arial"/>
              </a:rPr>
              <a:t>j-1</a:t>
            </a:r>
            <a:r>
              <a:rPr sz="2400" spc="-35" dirty="0">
                <a:solidFill>
                  <a:srgbClr val="00336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65"/>
                </a:solidFill>
                <a:latin typeface="Arial"/>
                <a:cs typeface="Arial"/>
              </a:rPr>
              <a:t>j</a:t>
            </a:r>
            <a:endParaRPr sz="24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480942" y="6333490"/>
            <a:ext cx="296545" cy="496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" dirty="0">
                <a:solidFill>
                  <a:srgbClr val="003365"/>
                </a:solidFill>
                <a:latin typeface="Arial"/>
                <a:cs typeface="Arial"/>
              </a:rPr>
              <a:t>P</a:t>
            </a:r>
            <a:endParaRPr sz="32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KMP Algorithm</a:t>
            </a:r>
            <a:r>
              <a:rPr spc="-35" dirty="0"/>
              <a:t> </a:t>
            </a:r>
            <a:r>
              <a:rPr spc="-5" dirty="0"/>
              <a:t>(cont’d)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27047" y="2366264"/>
            <a:ext cx="7256780" cy="862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spc="-5" dirty="0">
                <a:latin typeface="Arial"/>
                <a:cs typeface="Arial"/>
              </a:rPr>
              <a:t>Definition: </a:t>
            </a:r>
            <a:r>
              <a:rPr sz="2800" dirty="0">
                <a:latin typeface="Arial"/>
                <a:cs typeface="Arial"/>
              </a:rPr>
              <a:t>If </a:t>
            </a:r>
            <a:r>
              <a:rPr sz="2800" i="1" dirty="0">
                <a:latin typeface="Arial"/>
                <a:cs typeface="Arial"/>
              </a:rPr>
              <a:t>p = </a:t>
            </a:r>
            <a:r>
              <a:rPr sz="2800" i="1" spc="5" dirty="0">
                <a:latin typeface="Arial"/>
                <a:cs typeface="Arial"/>
              </a:rPr>
              <a:t>p</a:t>
            </a:r>
            <a:r>
              <a:rPr sz="2775" i="1" spc="7" baseline="-21021" dirty="0">
                <a:latin typeface="Arial"/>
                <a:cs typeface="Arial"/>
              </a:rPr>
              <a:t>0</a:t>
            </a:r>
            <a:r>
              <a:rPr sz="2800" i="1" spc="5" dirty="0">
                <a:latin typeface="Arial"/>
                <a:cs typeface="Arial"/>
              </a:rPr>
              <a:t>p</a:t>
            </a:r>
            <a:r>
              <a:rPr sz="2775" i="1" spc="7" baseline="-21021" dirty="0">
                <a:latin typeface="Arial"/>
                <a:cs typeface="Arial"/>
              </a:rPr>
              <a:t>1</a:t>
            </a:r>
            <a:r>
              <a:rPr sz="2800" i="1" spc="5" dirty="0">
                <a:latin typeface="Arial"/>
                <a:cs typeface="Arial"/>
              </a:rPr>
              <a:t>…p</a:t>
            </a:r>
            <a:r>
              <a:rPr sz="2775" i="1" spc="7" baseline="-21021" dirty="0">
                <a:latin typeface="Arial"/>
                <a:cs typeface="Arial"/>
              </a:rPr>
              <a:t>n-1 </a:t>
            </a:r>
            <a:r>
              <a:rPr sz="2800" dirty="0">
                <a:latin typeface="Arial"/>
                <a:cs typeface="Arial"/>
              </a:rPr>
              <a:t>is a pattern, then  its failure function, </a:t>
            </a:r>
            <a:r>
              <a:rPr sz="2800" i="1" dirty="0">
                <a:latin typeface="Arial"/>
                <a:cs typeface="Arial"/>
              </a:rPr>
              <a:t>f</a:t>
            </a:r>
            <a:r>
              <a:rPr sz="2800" dirty="0">
                <a:latin typeface="Arial"/>
                <a:cs typeface="Arial"/>
              </a:rPr>
              <a:t>, is defined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74839" y="3777996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47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27047" y="4841240"/>
            <a:ext cx="7560945" cy="1781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If a partial match is found such that </a:t>
            </a:r>
            <a:r>
              <a:rPr sz="2800" i="1" dirty="0">
                <a:latin typeface="Arial"/>
                <a:cs typeface="Arial"/>
              </a:rPr>
              <a:t>s</a:t>
            </a:r>
            <a:r>
              <a:rPr sz="2775" i="1" baseline="-21021" dirty="0">
                <a:latin typeface="Arial"/>
                <a:cs typeface="Arial"/>
              </a:rPr>
              <a:t>i-j </a:t>
            </a:r>
            <a:r>
              <a:rPr sz="2800" i="1" dirty="0">
                <a:latin typeface="Arial"/>
                <a:cs typeface="Arial"/>
              </a:rPr>
              <a:t>…</a:t>
            </a:r>
            <a:r>
              <a:rPr sz="2800" i="1" spc="-8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s</a:t>
            </a:r>
            <a:r>
              <a:rPr sz="2775" i="1" baseline="-21021" dirty="0">
                <a:latin typeface="Arial"/>
                <a:cs typeface="Arial"/>
              </a:rPr>
              <a:t>i-1</a:t>
            </a:r>
            <a:endParaRPr sz="2775" baseline="-21021">
              <a:latin typeface="Arial"/>
              <a:cs typeface="Arial"/>
            </a:endParaRPr>
          </a:p>
          <a:p>
            <a:pPr marL="355600" marR="5080">
              <a:lnSpc>
                <a:spcPct val="100000"/>
              </a:lnSpc>
            </a:pPr>
            <a:r>
              <a:rPr sz="2800" i="1" dirty="0">
                <a:latin typeface="Arial"/>
                <a:cs typeface="Arial"/>
              </a:rPr>
              <a:t>= p</a:t>
            </a:r>
            <a:r>
              <a:rPr sz="2775" i="1" baseline="-21021" dirty="0">
                <a:latin typeface="Arial"/>
                <a:cs typeface="Arial"/>
              </a:rPr>
              <a:t>0</a:t>
            </a:r>
            <a:r>
              <a:rPr sz="2800" i="1" dirty="0">
                <a:latin typeface="Arial"/>
                <a:cs typeface="Arial"/>
              </a:rPr>
              <a:t>p</a:t>
            </a:r>
            <a:r>
              <a:rPr sz="2775" i="1" baseline="-21021" dirty="0">
                <a:latin typeface="Arial"/>
                <a:cs typeface="Arial"/>
              </a:rPr>
              <a:t>1</a:t>
            </a:r>
            <a:r>
              <a:rPr sz="2800" i="1" dirty="0">
                <a:latin typeface="Arial"/>
                <a:cs typeface="Arial"/>
              </a:rPr>
              <a:t>…p</a:t>
            </a:r>
            <a:r>
              <a:rPr sz="2775" i="1" baseline="-21021" dirty="0">
                <a:latin typeface="Arial"/>
                <a:cs typeface="Arial"/>
              </a:rPr>
              <a:t>j-1 </a:t>
            </a:r>
            <a:r>
              <a:rPr sz="2800" dirty="0">
                <a:latin typeface="Arial"/>
                <a:cs typeface="Arial"/>
              </a:rPr>
              <a:t>and </a:t>
            </a:r>
            <a:r>
              <a:rPr sz="2800" i="1" dirty="0">
                <a:latin typeface="Arial"/>
                <a:cs typeface="Arial"/>
              </a:rPr>
              <a:t>s</a:t>
            </a:r>
            <a:r>
              <a:rPr sz="2775" i="1" baseline="-21021" dirty="0">
                <a:latin typeface="Arial"/>
                <a:cs typeface="Arial"/>
              </a:rPr>
              <a:t>i </a:t>
            </a:r>
            <a:r>
              <a:rPr sz="2800" i="1" spc="-5" dirty="0">
                <a:latin typeface="Arial"/>
                <a:cs typeface="Arial"/>
              </a:rPr>
              <a:t>≠ </a:t>
            </a:r>
            <a:r>
              <a:rPr sz="2800" i="1" dirty="0">
                <a:latin typeface="Arial"/>
                <a:cs typeface="Arial"/>
              </a:rPr>
              <a:t>p</a:t>
            </a:r>
            <a:r>
              <a:rPr sz="2775" i="1" baseline="-21021" dirty="0">
                <a:latin typeface="Arial"/>
                <a:cs typeface="Arial"/>
              </a:rPr>
              <a:t>j </a:t>
            </a:r>
            <a:r>
              <a:rPr sz="2800" dirty="0">
                <a:latin typeface="Arial"/>
                <a:cs typeface="Arial"/>
              </a:rPr>
              <a:t>then matching may be  resumed by comparing </a:t>
            </a:r>
            <a:r>
              <a:rPr sz="2800" i="1" dirty="0">
                <a:latin typeface="Arial"/>
                <a:cs typeface="Arial"/>
              </a:rPr>
              <a:t>s</a:t>
            </a:r>
            <a:r>
              <a:rPr sz="2775" i="1" baseline="-21021" dirty="0">
                <a:latin typeface="Arial"/>
                <a:cs typeface="Arial"/>
              </a:rPr>
              <a:t>i </a:t>
            </a:r>
            <a:r>
              <a:rPr sz="2800" dirty="0">
                <a:latin typeface="Arial"/>
                <a:cs typeface="Arial"/>
              </a:rPr>
              <a:t>and </a:t>
            </a:r>
            <a:r>
              <a:rPr sz="2800" i="1" spc="5" dirty="0">
                <a:latin typeface="Arial"/>
                <a:cs typeface="Arial"/>
              </a:rPr>
              <a:t>p</a:t>
            </a:r>
            <a:r>
              <a:rPr sz="2775" i="1" spc="7" baseline="-21021" dirty="0">
                <a:latin typeface="Arial"/>
                <a:cs typeface="Arial"/>
              </a:rPr>
              <a:t>f(j–1)+1 </a:t>
            </a:r>
            <a:r>
              <a:rPr sz="2800" dirty="0">
                <a:latin typeface="Arial"/>
                <a:cs typeface="Arial"/>
              </a:rPr>
              <a:t>if </a:t>
            </a:r>
            <a:r>
              <a:rPr sz="2800" i="1" dirty="0">
                <a:latin typeface="Arial"/>
                <a:cs typeface="Arial"/>
              </a:rPr>
              <a:t>j </a:t>
            </a:r>
            <a:r>
              <a:rPr sz="2800" i="1" spc="-5" dirty="0">
                <a:latin typeface="Arial"/>
                <a:cs typeface="Arial"/>
              </a:rPr>
              <a:t>≠ </a:t>
            </a:r>
            <a:r>
              <a:rPr sz="2800" spc="-5" dirty="0">
                <a:latin typeface="Arial"/>
                <a:cs typeface="Arial"/>
              </a:rPr>
              <a:t>0. </a:t>
            </a:r>
            <a:r>
              <a:rPr sz="2800" dirty="0">
                <a:latin typeface="Arial"/>
                <a:cs typeface="Arial"/>
              </a:rPr>
              <a:t>If  </a:t>
            </a:r>
            <a:r>
              <a:rPr sz="2800" i="1" dirty="0">
                <a:latin typeface="Arial"/>
                <a:cs typeface="Arial"/>
              </a:rPr>
              <a:t>j = 0</a:t>
            </a:r>
            <a:r>
              <a:rPr sz="2800" dirty="0">
                <a:latin typeface="Arial"/>
                <a:cs typeface="Arial"/>
              </a:rPr>
              <a:t>, then </a:t>
            </a:r>
            <a:r>
              <a:rPr sz="2800" spc="-5" dirty="0">
                <a:latin typeface="Arial"/>
                <a:cs typeface="Arial"/>
              </a:rPr>
              <a:t>we </a:t>
            </a:r>
            <a:r>
              <a:rPr sz="2800" dirty="0">
                <a:latin typeface="Arial"/>
                <a:cs typeface="Arial"/>
              </a:rPr>
              <a:t>may continue by comparing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i="1" spc="5" dirty="0">
                <a:latin typeface="Arial"/>
                <a:cs typeface="Arial"/>
              </a:rPr>
              <a:t>s</a:t>
            </a:r>
            <a:r>
              <a:rPr sz="2775" i="1" spc="7" baseline="-21021" dirty="0">
                <a:latin typeface="Arial"/>
                <a:cs typeface="Arial"/>
              </a:rPr>
              <a:t>i+1</a:t>
            </a:r>
            <a:endParaRPr sz="2775" baseline="-21021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69947" y="6548119"/>
            <a:ext cx="1147445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i="1" dirty="0">
                <a:latin typeface="Arial"/>
                <a:cs typeface="Arial"/>
              </a:rPr>
              <a:t>and</a:t>
            </a:r>
            <a:r>
              <a:rPr sz="2800" i="1" spc="-95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p</a:t>
            </a:r>
            <a:r>
              <a:rPr sz="2775" i="1" baseline="-21021" dirty="0">
                <a:latin typeface="Arial"/>
                <a:cs typeface="Arial"/>
              </a:rPr>
              <a:t>0</a:t>
            </a:r>
            <a:r>
              <a:rPr sz="2800" i="1" dirty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33" y="3137916"/>
            <a:ext cx="8847061" cy="9037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48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72973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Fast Matching Example:</a:t>
            </a:r>
            <a:r>
              <a:rPr sz="4000" spc="-120" dirty="0"/>
              <a:t> </a:t>
            </a:r>
            <a:r>
              <a:rPr sz="4000" dirty="0"/>
              <a:t>Failure</a:t>
            </a:r>
            <a:endParaRPr sz="4000"/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857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420497" y="1324355"/>
            <a:ext cx="3454400" cy="739140"/>
          </a:xfrm>
          <a:custGeom>
            <a:avLst/>
            <a:gdLst/>
            <a:ahLst/>
            <a:cxnLst/>
            <a:rect l="l" t="t" r="r" b="b"/>
            <a:pathLst>
              <a:path w="3454400" h="739139">
                <a:moveTo>
                  <a:pt x="3454145" y="739139"/>
                </a:moveTo>
                <a:lnTo>
                  <a:pt x="3454145" y="0"/>
                </a:lnTo>
                <a:lnTo>
                  <a:pt x="0" y="0"/>
                </a:lnTo>
                <a:lnTo>
                  <a:pt x="0" y="739139"/>
                </a:lnTo>
                <a:lnTo>
                  <a:pt x="6096" y="739139"/>
                </a:lnTo>
                <a:lnTo>
                  <a:pt x="6096" y="12191"/>
                </a:lnTo>
                <a:lnTo>
                  <a:pt x="12179" y="6096"/>
                </a:lnTo>
                <a:lnTo>
                  <a:pt x="12179" y="12191"/>
                </a:lnTo>
                <a:lnTo>
                  <a:pt x="3441179" y="12191"/>
                </a:lnTo>
                <a:lnTo>
                  <a:pt x="3441179" y="6095"/>
                </a:lnTo>
                <a:lnTo>
                  <a:pt x="3448050" y="12191"/>
                </a:lnTo>
                <a:lnTo>
                  <a:pt x="3448050" y="739139"/>
                </a:lnTo>
                <a:lnTo>
                  <a:pt x="3454145" y="739139"/>
                </a:lnTo>
                <a:close/>
              </a:path>
              <a:path w="3454400" h="739139">
                <a:moveTo>
                  <a:pt x="12179" y="12191"/>
                </a:moveTo>
                <a:lnTo>
                  <a:pt x="12179" y="6096"/>
                </a:lnTo>
                <a:lnTo>
                  <a:pt x="6096" y="12191"/>
                </a:lnTo>
                <a:lnTo>
                  <a:pt x="12179" y="12191"/>
                </a:lnTo>
                <a:close/>
              </a:path>
              <a:path w="3454400" h="739139">
                <a:moveTo>
                  <a:pt x="12179" y="739139"/>
                </a:moveTo>
                <a:lnTo>
                  <a:pt x="12179" y="12191"/>
                </a:lnTo>
                <a:lnTo>
                  <a:pt x="6096" y="12191"/>
                </a:lnTo>
                <a:lnTo>
                  <a:pt x="6096" y="739139"/>
                </a:lnTo>
                <a:lnTo>
                  <a:pt x="12179" y="739139"/>
                </a:lnTo>
                <a:close/>
              </a:path>
              <a:path w="3454400" h="739139">
                <a:moveTo>
                  <a:pt x="3448050" y="12191"/>
                </a:moveTo>
                <a:lnTo>
                  <a:pt x="3441179" y="6095"/>
                </a:lnTo>
                <a:lnTo>
                  <a:pt x="3441179" y="12191"/>
                </a:lnTo>
                <a:lnTo>
                  <a:pt x="3448050" y="12191"/>
                </a:lnTo>
                <a:close/>
              </a:path>
              <a:path w="3454400" h="739139">
                <a:moveTo>
                  <a:pt x="3448050" y="739139"/>
                </a:moveTo>
                <a:lnTo>
                  <a:pt x="3448050" y="12191"/>
                </a:lnTo>
                <a:lnTo>
                  <a:pt x="3441179" y="12191"/>
                </a:lnTo>
                <a:lnTo>
                  <a:pt x="3441179" y="739139"/>
                </a:lnTo>
                <a:lnTo>
                  <a:pt x="3448050" y="739139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27059" y="1164590"/>
            <a:ext cx="7585709" cy="815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0" i="1" baseline="-21527" dirty="0">
                <a:solidFill>
                  <a:srgbClr val="003365"/>
                </a:solidFill>
                <a:latin typeface="Times New Roman"/>
                <a:cs typeface="Times New Roman"/>
              </a:rPr>
              <a:t>Function Calculation </a:t>
            </a:r>
            <a:r>
              <a:rPr sz="2400" spc="-5" dirty="0">
                <a:latin typeface="Arial"/>
                <a:cs typeface="Arial"/>
              </a:rPr>
              <a:t>The largest </a:t>
            </a:r>
            <a:r>
              <a:rPr sz="2400" dirty="0">
                <a:latin typeface="Arial"/>
                <a:cs typeface="Arial"/>
              </a:rPr>
              <a:t>k </a:t>
            </a:r>
            <a:r>
              <a:rPr sz="2400" spc="-5" dirty="0">
                <a:latin typeface="Arial"/>
                <a:cs typeface="Arial"/>
              </a:rPr>
              <a:t>such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that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74839" y="206349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27047" y="2366264"/>
            <a:ext cx="854075" cy="43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285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1950" spc="225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j=0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20497" y="2063495"/>
            <a:ext cx="3454400" cy="838200"/>
          </a:xfrm>
          <a:custGeom>
            <a:avLst/>
            <a:gdLst/>
            <a:ahLst/>
            <a:cxnLst/>
            <a:rect l="l" t="t" r="r" b="b"/>
            <a:pathLst>
              <a:path w="3454400" h="838200">
                <a:moveTo>
                  <a:pt x="12179" y="826008"/>
                </a:moveTo>
                <a:lnTo>
                  <a:pt x="12179" y="0"/>
                </a:lnTo>
                <a:lnTo>
                  <a:pt x="0" y="0"/>
                </a:lnTo>
                <a:lnTo>
                  <a:pt x="0" y="838200"/>
                </a:lnTo>
                <a:lnTo>
                  <a:pt x="6096" y="838200"/>
                </a:lnTo>
                <a:lnTo>
                  <a:pt x="6096" y="826008"/>
                </a:lnTo>
                <a:lnTo>
                  <a:pt x="12179" y="826008"/>
                </a:lnTo>
                <a:close/>
              </a:path>
              <a:path w="3454400" h="838200">
                <a:moveTo>
                  <a:pt x="3448050" y="826008"/>
                </a:moveTo>
                <a:lnTo>
                  <a:pt x="6096" y="826008"/>
                </a:lnTo>
                <a:lnTo>
                  <a:pt x="12179" y="832104"/>
                </a:lnTo>
                <a:lnTo>
                  <a:pt x="12179" y="838200"/>
                </a:lnTo>
                <a:lnTo>
                  <a:pt x="3441179" y="838200"/>
                </a:lnTo>
                <a:lnTo>
                  <a:pt x="3441179" y="832104"/>
                </a:lnTo>
                <a:lnTo>
                  <a:pt x="3448050" y="826008"/>
                </a:lnTo>
                <a:close/>
              </a:path>
              <a:path w="3454400" h="838200">
                <a:moveTo>
                  <a:pt x="12179" y="838200"/>
                </a:moveTo>
                <a:lnTo>
                  <a:pt x="12179" y="832104"/>
                </a:lnTo>
                <a:lnTo>
                  <a:pt x="6096" y="826008"/>
                </a:lnTo>
                <a:lnTo>
                  <a:pt x="6096" y="838200"/>
                </a:lnTo>
                <a:lnTo>
                  <a:pt x="12179" y="838200"/>
                </a:lnTo>
                <a:close/>
              </a:path>
              <a:path w="3454400" h="838200">
                <a:moveTo>
                  <a:pt x="3454145" y="838200"/>
                </a:moveTo>
                <a:lnTo>
                  <a:pt x="3454145" y="0"/>
                </a:lnTo>
                <a:lnTo>
                  <a:pt x="3441179" y="0"/>
                </a:lnTo>
                <a:lnTo>
                  <a:pt x="3441179" y="826008"/>
                </a:lnTo>
                <a:lnTo>
                  <a:pt x="3448050" y="826008"/>
                </a:lnTo>
                <a:lnTo>
                  <a:pt x="3448050" y="838200"/>
                </a:lnTo>
                <a:lnTo>
                  <a:pt x="3454145" y="838200"/>
                </a:lnTo>
                <a:close/>
              </a:path>
              <a:path w="3454400" h="838200">
                <a:moveTo>
                  <a:pt x="3448050" y="838200"/>
                </a:moveTo>
                <a:lnTo>
                  <a:pt x="3448050" y="826008"/>
                </a:lnTo>
                <a:lnTo>
                  <a:pt x="3441179" y="832104"/>
                </a:lnTo>
                <a:lnTo>
                  <a:pt x="3441179" y="838200"/>
                </a:lnTo>
                <a:lnTo>
                  <a:pt x="3448050" y="83820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505320" y="1733550"/>
            <a:ext cx="3268345" cy="1163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41998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1. k&lt;j  2.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k</a:t>
            </a:r>
            <a:r>
              <a:rPr sz="2400" spc="-5" dirty="0">
                <a:latin typeface="Symbol"/>
                <a:cs typeface="Symbol"/>
              </a:rPr>
              <a:t></a:t>
            </a: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05"/>
              </a:lnSpc>
              <a:spcBef>
                <a:spcPts val="585"/>
              </a:spcBef>
            </a:pPr>
            <a:r>
              <a:rPr sz="3600" spc="-7" baseline="13888" dirty="0">
                <a:latin typeface="Arial"/>
                <a:cs typeface="Arial"/>
              </a:rPr>
              <a:t>3.</a:t>
            </a:r>
            <a:r>
              <a:rPr sz="3600" spc="-60" baseline="13888" dirty="0">
                <a:latin typeface="Arial"/>
                <a:cs typeface="Arial"/>
              </a:rPr>
              <a:t> </a:t>
            </a:r>
            <a:r>
              <a:rPr sz="3600" spc="-7" baseline="13888" dirty="0">
                <a:latin typeface="Arial"/>
                <a:cs typeface="Arial"/>
              </a:rPr>
              <a:t>p</a:t>
            </a:r>
            <a:r>
              <a:rPr sz="1600" spc="-5" dirty="0">
                <a:latin typeface="Arial"/>
                <a:cs typeface="Arial"/>
              </a:rPr>
              <a:t>0</a:t>
            </a:r>
            <a:r>
              <a:rPr sz="3600" spc="-7" baseline="13888" dirty="0">
                <a:latin typeface="Arial"/>
                <a:cs typeface="Arial"/>
              </a:rPr>
              <a:t>p</a:t>
            </a:r>
            <a:r>
              <a:rPr sz="1600" spc="-5" dirty="0">
                <a:latin typeface="Arial"/>
                <a:cs typeface="Arial"/>
              </a:rPr>
              <a:t>1</a:t>
            </a:r>
            <a:r>
              <a:rPr sz="3600" spc="-7" baseline="13888" dirty="0">
                <a:latin typeface="Arial"/>
                <a:cs typeface="Arial"/>
              </a:rPr>
              <a:t>…p</a:t>
            </a:r>
            <a:r>
              <a:rPr sz="1600" spc="-5" dirty="0">
                <a:latin typeface="Arial"/>
                <a:cs typeface="Arial"/>
              </a:rPr>
              <a:t>k</a:t>
            </a:r>
            <a:r>
              <a:rPr sz="3600" spc="-7" baseline="13888" dirty="0">
                <a:latin typeface="Arial"/>
                <a:cs typeface="Arial"/>
              </a:rPr>
              <a:t>=p</a:t>
            </a:r>
            <a:r>
              <a:rPr sz="1600" spc="-5" dirty="0">
                <a:latin typeface="Arial"/>
                <a:cs typeface="Arial"/>
              </a:rPr>
              <a:t>k-1</a:t>
            </a:r>
            <a:r>
              <a:rPr sz="3600" spc="-7" baseline="13888" dirty="0">
                <a:latin typeface="Arial"/>
                <a:cs typeface="Arial"/>
              </a:rPr>
              <a:t>p</a:t>
            </a:r>
            <a:r>
              <a:rPr sz="1600" spc="-5" dirty="0">
                <a:latin typeface="Arial"/>
                <a:cs typeface="Arial"/>
              </a:rPr>
              <a:t>j-k+1</a:t>
            </a:r>
            <a:r>
              <a:rPr sz="3600" spc="-7" baseline="13888" dirty="0">
                <a:latin typeface="Arial"/>
                <a:cs typeface="Arial"/>
              </a:rPr>
              <a:t>…p</a:t>
            </a:r>
            <a:r>
              <a:rPr sz="1600" spc="-5" dirty="0">
                <a:latin typeface="Arial"/>
                <a:cs typeface="Arial"/>
              </a:rPr>
              <a:t>j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27047" y="2864358"/>
            <a:ext cx="5756275" cy="2646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0" indent="-285750">
              <a:lnSpc>
                <a:spcPct val="100000"/>
              </a:lnSpc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Since k&lt;0 and </a:t>
            </a:r>
            <a:r>
              <a:rPr sz="2400" dirty="0">
                <a:latin typeface="Arial"/>
                <a:cs typeface="Arial"/>
              </a:rPr>
              <a:t>k</a:t>
            </a:r>
            <a:r>
              <a:rPr sz="2400" dirty="0">
                <a:latin typeface="MingLiU"/>
                <a:cs typeface="MingLiU"/>
              </a:rPr>
              <a:t>≧</a:t>
            </a:r>
            <a:r>
              <a:rPr sz="2400" dirty="0">
                <a:latin typeface="Arial"/>
                <a:cs typeface="Arial"/>
              </a:rPr>
              <a:t>0, </a:t>
            </a:r>
            <a:r>
              <a:rPr sz="2400" spc="-5" dirty="0">
                <a:latin typeface="Arial"/>
                <a:cs typeface="Arial"/>
              </a:rPr>
              <a:t>no such </a:t>
            </a:r>
            <a:r>
              <a:rPr sz="2400" dirty="0">
                <a:latin typeface="Arial"/>
                <a:cs typeface="Arial"/>
              </a:rPr>
              <a:t>k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exists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f(0)=</a:t>
            </a:r>
            <a:r>
              <a:rPr sz="2400" spc="1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950" spc="285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1950" spc="225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j=1</a:t>
            </a:r>
            <a:endParaRPr sz="2800">
              <a:latin typeface="Arial"/>
              <a:cs typeface="Arial"/>
            </a:endParaRPr>
          </a:p>
          <a:p>
            <a:pPr marL="755015" indent="-285115">
              <a:lnSpc>
                <a:spcPct val="100000"/>
              </a:lnSpc>
              <a:spcBef>
                <a:spcPts val="56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Since k&lt;1 and k</a:t>
            </a:r>
            <a:r>
              <a:rPr sz="2400" spc="-5" dirty="0">
                <a:latin typeface="MingLiU"/>
                <a:cs typeface="MingLiU"/>
              </a:rPr>
              <a:t>≧</a:t>
            </a:r>
            <a:r>
              <a:rPr sz="2400" spc="-5" dirty="0">
                <a:latin typeface="Arial"/>
                <a:cs typeface="Arial"/>
              </a:rPr>
              <a:t>0, </a:t>
            </a:r>
            <a:r>
              <a:rPr sz="2400" dirty="0">
                <a:latin typeface="Arial"/>
                <a:cs typeface="Arial"/>
              </a:rPr>
              <a:t>k </a:t>
            </a:r>
            <a:r>
              <a:rPr sz="2400" spc="-5" dirty="0">
                <a:latin typeface="Arial"/>
                <a:cs typeface="Arial"/>
              </a:rPr>
              <a:t>may be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755015" indent="-285115">
              <a:lnSpc>
                <a:spcPct val="100000"/>
              </a:lnSpc>
              <a:spcBef>
                <a:spcPts val="60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When </a:t>
            </a:r>
            <a:r>
              <a:rPr sz="2400" spc="120" dirty="0">
                <a:latin typeface="Arial"/>
                <a:cs typeface="Arial"/>
              </a:rPr>
              <a:t>k=0€p</a:t>
            </a:r>
            <a:r>
              <a:rPr sz="2400" spc="179" baseline="-20833" dirty="0">
                <a:latin typeface="Arial"/>
                <a:cs typeface="Arial"/>
              </a:rPr>
              <a:t>0</a:t>
            </a:r>
            <a:r>
              <a:rPr sz="2400" spc="120" dirty="0">
                <a:latin typeface="Arial"/>
                <a:cs typeface="Arial"/>
              </a:rPr>
              <a:t>=a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165" dirty="0">
                <a:latin typeface="Arial"/>
                <a:cs typeface="Arial"/>
              </a:rPr>
              <a:t>p</a:t>
            </a:r>
            <a:r>
              <a:rPr sz="2400" spc="247" baseline="-20833" dirty="0">
                <a:latin typeface="Arial"/>
                <a:cs typeface="Arial"/>
              </a:rPr>
              <a:t>1</a:t>
            </a:r>
            <a:r>
              <a:rPr sz="2400" spc="165" dirty="0">
                <a:latin typeface="Arial"/>
                <a:cs typeface="Arial"/>
              </a:rPr>
              <a:t>=b€</a:t>
            </a:r>
            <a:r>
              <a:rPr sz="2400" b="1" spc="165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f(1)=</a:t>
            </a:r>
            <a:r>
              <a:rPr sz="2400" spc="1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970923" y="5794247"/>
          <a:ext cx="6047990" cy="12245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673"/>
                <a:gridCol w="543400"/>
                <a:gridCol w="547938"/>
                <a:gridCol w="638479"/>
                <a:gridCol w="547618"/>
                <a:gridCol w="547451"/>
                <a:gridCol w="547512"/>
                <a:gridCol w="456453"/>
                <a:gridCol w="638678"/>
                <a:gridCol w="547579"/>
                <a:gridCol w="601209"/>
              </a:tblGrid>
              <a:tr h="408050">
                <a:tc>
                  <a:txBody>
                    <a:bodyPr/>
                    <a:lstStyle/>
                    <a:p>
                      <a:pPr marR="73660" algn="r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j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194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268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6804">
                <a:tc>
                  <a:txBody>
                    <a:bodyPr/>
                    <a:lstStyle/>
                    <a:p>
                      <a:pPr marR="73660" algn="r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194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224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9678">
                <a:tc>
                  <a:txBody>
                    <a:bodyPr/>
                    <a:lstStyle/>
                    <a:p>
                      <a:pPr marR="73660" algn="r">
                        <a:lnSpc>
                          <a:spcPts val="24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194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465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194">
                      <a:solidFill>
                        <a:srgbClr val="000000"/>
                      </a:solidFill>
                      <a:prstDash val="solid"/>
                    </a:lnL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465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ts val="2465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4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24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4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ts val="2465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4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24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774839" y="2063495"/>
            <a:ext cx="824484" cy="5143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48</a:t>
            </a:fld>
            <a:endParaRPr spc="-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49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49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72973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Fast Matching Example:</a:t>
            </a:r>
            <a:r>
              <a:rPr sz="4000" spc="-120" dirty="0"/>
              <a:t> </a:t>
            </a:r>
            <a:r>
              <a:rPr sz="4000" dirty="0"/>
              <a:t>Failure</a:t>
            </a:r>
            <a:endParaRPr sz="4000"/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27047" y="1360423"/>
            <a:ext cx="6108065" cy="301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Function Calculation</a:t>
            </a:r>
            <a:r>
              <a:rPr sz="4000" i="1" spc="-114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(contd.)</a:t>
            </a:r>
            <a:endParaRPr sz="4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80"/>
              </a:spcBef>
            </a:pPr>
            <a:r>
              <a:rPr sz="1950" spc="285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1950" spc="225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j=2</a:t>
            </a:r>
            <a:endParaRPr sz="280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27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Since </a:t>
            </a:r>
            <a:r>
              <a:rPr sz="2400" dirty="0">
                <a:latin typeface="Arial"/>
                <a:cs typeface="Arial"/>
              </a:rPr>
              <a:t>k&lt;2 </a:t>
            </a:r>
            <a:r>
              <a:rPr sz="2400" spc="-5" dirty="0">
                <a:latin typeface="Arial"/>
                <a:cs typeface="Arial"/>
              </a:rPr>
              <a:t>and k</a:t>
            </a:r>
            <a:r>
              <a:rPr sz="2400" spc="-5" dirty="0">
                <a:latin typeface="MingLiU"/>
                <a:cs typeface="MingLiU"/>
              </a:rPr>
              <a:t>≧</a:t>
            </a:r>
            <a:r>
              <a:rPr sz="2400" spc="-5" dirty="0">
                <a:latin typeface="Arial"/>
                <a:cs typeface="Arial"/>
              </a:rPr>
              <a:t>0, </a:t>
            </a:r>
            <a:r>
              <a:rPr sz="2400" dirty="0">
                <a:latin typeface="Arial"/>
                <a:cs typeface="Arial"/>
              </a:rPr>
              <a:t>k </a:t>
            </a:r>
            <a:r>
              <a:rPr sz="2400" spc="-5" dirty="0">
                <a:latin typeface="Arial"/>
                <a:cs typeface="Arial"/>
              </a:rPr>
              <a:t>may be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0,1</a:t>
            </a:r>
            <a:endParaRPr sz="2400">
              <a:latin typeface="Arial"/>
              <a:cs typeface="Arial"/>
            </a:endParaRPr>
          </a:p>
          <a:p>
            <a:pPr marL="755015" indent="-285115">
              <a:lnSpc>
                <a:spcPct val="100000"/>
              </a:lnSpc>
              <a:spcBef>
                <a:spcPts val="31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When </a:t>
            </a:r>
            <a:r>
              <a:rPr sz="2400" spc="85" dirty="0">
                <a:latin typeface="Arial"/>
                <a:cs typeface="Arial"/>
              </a:rPr>
              <a:t>k=1€p</a:t>
            </a:r>
            <a:r>
              <a:rPr sz="2400" spc="127" baseline="-20833" dirty="0">
                <a:latin typeface="Arial"/>
                <a:cs typeface="Arial"/>
              </a:rPr>
              <a:t>0</a:t>
            </a:r>
            <a:r>
              <a:rPr sz="2400" spc="85" dirty="0">
                <a:latin typeface="Arial"/>
                <a:cs typeface="Arial"/>
              </a:rPr>
              <a:t>p</a:t>
            </a:r>
            <a:r>
              <a:rPr sz="2400" spc="127" baseline="-20833" dirty="0">
                <a:latin typeface="Arial"/>
                <a:cs typeface="Arial"/>
              </a:rPr>
              <a:t>1</a:t>
            </a:r>
            <a:r>
              <a:rPr sz="2400" spc="85" dirty="0">
                <a:latin typeface="Arial"/>
                <a:cs typeface="Arial"/>
              </a:rPr>
              <a:t>=ab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105" dirty="0">
                <a:latin typeface="Arial"/>
                <a:cs typeface="Arial"/>
              </a:rPr>
              <a:t>p</a:t>
            </a:r>
            <a:r>
              <a:rPr sz="2400" spc="157" baseline="-20833" dirty="0">
                <a:latin typeface="Arial"/>
                <a:cs typeface="Arial"/>
              </a:rPr>
              <a:t>1</a:t>
            </a:r>
            <a:r>
              <a:rPr sz="2400" spc="105" dirty="0">
                <a:latin typeface="Arial"/>
                <a:cs typeface="Arial"/>
              </a:rPr>
              <a:t>p</a:t>
            </a:r>
            <a:r>
              <a:rPr sz="2400" spc="157" baseline="-20833" dirty="0">
                <a:latin typeface="Arial"/>
                <a:cs typeface="Arial"/>
              </a:rPr>
              <a:t>2</a:t>
            </a:r>
            <a:r>
              <a:rPr sz="2400" spc="105" dirty="0">
                <a:latin typeface="Arial"/>
                <a:cs typeface="Arial"/>
              </a:rPr>
              <a:t>=bc€</a:t>
            </a:r>
            <a:r>
              <a:rPr sz="2400" b="1" spc="105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28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When </a:t>
            </a:r>
            <a:r>
              <a:rPr sz="2400" spc="125" dirty="0">
                <a:latin typeface="Arial"/>
                <a:cs typeface="Arial"/>
              </a:rPr>
              <a:t>k=0€p</a:t>
            </a:r>
            <a:r>
              <a:rPr sz="2400" spc="187" baseline="-20833" dirty="0">
                <a:latin typeface="Arial"/>
                <a:cs typeface="Arial"/>
              </a:rPr>
              <a:t>0</a:t>
            </a:r>
            <a:r>
              <a:rPr sz="2400" spc="125" dirty="0">
                <a:latin typeface="Arial"/>
                <a:cs typeface="Arial"/>
              </a:rPr>
              <a:t>=a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165" dirty="0">
                <a:latin typeface="Arial"/>
                <a:cs typeface="Arial"/>
              </a:rPr>
              <a:t>p</a:t>
            </a:r>
            <a:r>
              <a:rPr sz="2400" spc="247" baseline="-20833" dirty="0">
                <a:latin typeface="Arial"/>
                <a:cs typeface="Arial"/>
              </a:rPr>
              <a:t>2</a:t>
            </a:r>
            <a:r>
              <a:rPr sz="2400" spc="165" dirty="0">
                <a:latin typeface="Arial"/>
                <a:cs typeface="Arial"/>
              </a:rPr>
              <a:t>=c€</a:t>
            </a:r>
            <a:r>
              <a:rPr sz="2400" b="1" spc="165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f(2)=</a:t>
            </a:r>
            <a:r>
              <a:rPr sz="2400" spc="14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63022" y="4354829"/>
            <a:ext cx="0" cy="280670"/>
          </a:xfrm>
          <a:custGeom>
            <a:avLst/>
            <a:gdLst/>
            <a:ahLst/>
            <a:cxnLst/>
            <a:rect l="l" t="t" r="r" b="b"/>
            <a:pathLst>
              <a:path h="280670">
                <a:moveTo>
                  <a:pt x="0" y="0"/>
                </a:moveTo>
                <a:lnTo>
                  <a:pt x="0" y="280415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972110" y="5095494"/>
            <a:ext cx="148590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42315" algn="l"/>
                <a:tab pos="1289685" algn="l"/>
              </a:tabLst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-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1	0	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31349" y="5146928"/>
            <a:ext cx="6193155" cy="0"/>
          </a:xfrm>
          <a:custGeom>
            <a:avLst/>
            <a:gdLst/>
            <a:ahLst/>
            <a:cxnLst/>
            <a:rect l="l" t="t" r="r" b="b"/>
            <a:pathLst>
              <a:path w="6193155">
                <a:moveTo>
                  <a:pt x="0" y="0"/>
                </a:moveTo>
                <a:lnTo>
                  <a:pt x="6192774" y="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31349" y="4786503"/>
            <a:ext cx="6193155" cy="0"/>
          </a:xfrm>
          <a:custGeom>
            <a:avLst/>
            <a:gdLst/>
            <a:ahLst/>
            <a:cxnLst/>
            <a:rect l="l" t="t" r="r" b="b"/>
            <a:pathLst>
              <a:path w="6193155">
                <a:moveTo>
                  <a:pt x="0" y="0"/>
                </a:moveTo>
                <a:lnTo>
                  <a:pt x="6192774" y="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63022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09315" y="4363973"/>
            <a:ext cx="6049645" cy="1496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24560" algn="l"/>
                <a:tab pos="1471930" algn="l"/>
                <a:tab pos="2019935" algn="l"/>
                <a:tab pos="2567305" algn="l"/>
                <a:tab pos="3115310" algn="l"/>
                <a:tab pos="3662679" algn="l"/>
                <a:tab pos="4210685" algn="l"/>
                <a:tab pos="4758055" algn="l"/>
                <a:tab pos="5306060" algn="l"/>
                <a:tab pos="5853430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j	0	1	2	3	4	5	6	7	8	9</a:t>
            </a: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tabLst>
                <a:tab pos="741680" algn="l"/>
                <a:tab pos="924560" algn="l"/>
                <a:tab pos="1472565" algn="l"/>
                <a:tab pos="2019935" algn="l"/>
                <a:tab pos="2567305" algn="l"/>
                <a:tab pos="3115310" algn="l"/>
                <a:tab pos="3662679" algn="l"/>
                <a:tab pos="4210050" algn="l"/>
                <a:tab pos="4758055" algn="l"/>
                <a:tab pos="5305425" algn="l"/>
                <a:tab pos="5853430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p		a	b	c	a	b	c	a	c	a	b  f	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-1 -1 -1	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0	1	2	3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k=0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763022" y="5492496"/>
            <a:ext cx="0" cy="86360"/>
          </a:xfrm>
          <a:custGeom>
            <a:avLst/>
            <a:gdLst/>
            <a:ahLst/>
            <a:cxnLst/>
            <a:rect l="l" t="t" r="r" b="b"/>
            <a:pathLst>
              <a:path h="86360">
                <a:moveTo>
                  <a:pt x="0" y="0"/>
                </a:moveTo>
                <a:lnTo>
                  <a:pt x="0" y="86105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409315" y="6192773"/>
            <a:ext cx="574675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k=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51127" y="5842254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699" y="0"/>
                </a:lnTo>
              </a:path>
            </a:pathLst>
          </a:custGeom>
          <a:ln w="30480">
            <a:solidFill>
              <a:srgbClr val="0032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47004" y="6208014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699" y="0"/>
                </a:lnTo>
              </a:path>
            </a:pathLst>
          </a:custGeom>
          <a:ln w="30480">
            <a:solidFill>
              <a:srgbClr val="0032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51248" y="6573773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247" y="0"/>
                </a:lnTo>
              </a:path>
            </a:pathLst>
          </a:custGeom>
          <a:ln w="30480">
            <a:solidFill>
              <a:srgbClr val="0032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99127" y="6939533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247" y="0"/>
                </a:lnTo>
              </a:path>
            </a:pathLst>
          </a:custGeom>
          <a:ln w="30480">
            <a:solidFill>
              <a:srgbClr val="0032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50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50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72973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Fast Matching Example:</a:t>
            </a:r>
            <a:r>
              <a:rPr sz="4000" spc="-120" dirty="0"/>
              <a:t> </a:t>
            </a:r>
            <a:r>
              <a:rPr sz="4000" dirty="0"/>
              <a:t>Failure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59" y="1360423"/>
            <a:ext cx="610806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Function Calculation</a:t>
            </a:r>
            <a:r>
              <a:rPr sz="4000" i="1" spc="-114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(contd.)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20147" y="6154673"/>
            <a:ext cx="863600" cy="195580"/>
          </a:xfrm>
          <a:custGeom>
            <a:avLst/>
            <a:gdLst/>
            <a:ahLst/>
            <a:cxnLst/>
            <a:rect l="l" t="t" r="r" b="b"/>
            <a:pathLst>
              <a:path w="863600" h="195579">
                <a:moveTo>
                  <a:pt x="0" y="0"/>
                </a:moveTo>
                <a:lnTo>
                  <a:pt x="0" y="195072"/>
                </a:lnTo>
                <a:lnTo>
                  <a:pt x="863346" y="195072"/>
                </a:lnTo>
                <a:lnTo>
                  <a:pt x="86334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75973" y="6154673"/>
            <a:ext cx="863600" cy="195580"/>
          </a:xfrm>
          <a:custGeom>
            <a:avLst/>
            <a:gdLst/>
            <a:ahLst/>
            <a:cxnLst/>
            <a:rect l="l" t="t" r="r" b="b"/>
            <a:pathLst>
              <a:path w="863600" h="195579">
                <a:moveTo>
                  <a:pt x="0" y="0"/>
                </a:moveTo>
                <a:lnTo>
                  <a:pt x="0" y="195072"/>
                </a:lnTo>
                <a:lnTo>
                  <a:pt x="863346" y="195072"/>
                </a:lnTo>
                <a:lnTo>
                  <a:pt x="86334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70923" y="6202298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0" y="0"/>
                </a:moveTo>
                <a:lnTo>
                  <a:pt x="6047994" y="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402596" y="5794247"/>
            <a:ext cx="0" cy="555625"/>
          </a:xfrm>
          <a:custGeom>
            <a:avLst/>
            <a:gdLst/>
            <a:ahLst/>
            <a:cxnLst/>
            <a:rect l="l" t="t" r="r" b="b"/>
            <a:pathLst>
              <a:path h="555625">
                <a:moveTo>
                  <a:pt x="0" y="0"/>
                </a:moveTo>
                <a:lnTo>
                  <a:pt x="0" y="555498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64415" y="5780532"/>
            <a:ext cx="389890" cy="569595"/>
          </a:xfrm>
          <a:custGeom>
            <a:avLst/>
            <a:gdLst/>
            <a:ahLst/>
            <a:cxnLst/>
            <a:rect l="l" t="t" r="r" b="b"/>
            <a:pathLst>
              <a:path w="389889" h="569595">
                <a:moveTo>
                  <a:pt x="389382" y="569214"/>
                </a:moveTo>
                <a:lnTo>
                  <a:pt x="389382" y="0"/>
                </a:lnTo>
                <a:lnTo>
                  <a:pt x="0" y="0"/>
                </a:lnTo>
                <a:lnTo>
                  <a:pt x="0" y="569214"/>
                </a:lnTo>
                <a:lnTo>
                  <a:pt x="14478" y="569214"/>
                </a:lnTo>
                <a:lnTo>
                  <a:pt x="14477" y="28194"/>
                </a:lnTo>
                <a:lnTo>
                  <a:pt x="28955" y="13716"/>
                </a:lnTo>
                <a:lnTo>
                  <a:pt x="28955" y="28194"/>
                </a:lnTo>
                <a:lnTo>
                  <a:pt x="360425" y="28194"/>
                </a:lnTo>
                <a:lnTo>
                  <a:pt x="360425" y="13716"/>
                </a:lnTo>
                <a:lnTo>
                  <a:pt x="374903" y="28194"/>
                </a:lnTo>
                <a:lnTo>
                  <a:pt x="374904" y="569214"/>
                </a:lnTo>
                <a:lnTo>
                  <a:pt x="389382" y="569214"/>
                </a:lnTo>
                <a:close/>
              </a:path>
              <a:path w="389889" h="569595">
                <a:moveTo>
                  <a:pt x="28955" y="28194"/>
                </a:moveTo>
                <a:lnTo>
                  <a:pt x="28955" y="13716"/>
                </a:lnTo>
                <a:lnTo>
                  <a:pt x="14477" y="28194"/>
                </a:lnTo>
                <a:lnTo>
                  <a:pt x="28955" y="28194"/>
                </a:lnTo>
                <a:close/>
              </a:path>
              <a:path w="389889" h="569595">
                <a:moveTo>
                  <a:pt x="28956" y="569214"/>
                </a:moveTo>
                <a:lnTo>
                  <a:pt x="28955" y="28194"/>
                </a:lnTo>
                <a:lnTo>
                  <a:pt x="14477" y="28194"/>
                </a:lnTo>
                <a:lnTo>
                  <a:pt x="14478" y="569214"/>
                </a:lnTo>
                <a:lnTo>
                  <a:pt x="28956" y="569214"/>
                </a:lnTo>
                <a:close/>
              </a:path>
              <a:path w="389889" h="569595">
                <a:moveTo>
                  <a:pt x="374903" y="28194"/>
                </a:moveTo>
                <a:lnTo>
                  <a:pt x="360425" y="13716"/>
                </a:lnTo>
                <a:lnTo>
                  <a:pt x="360425" y="28194"/>
                </a:lnTo>
                <a:lnTo>
                  <a:pt x="374903" y="28194"/>
                </a:lnTo>
                <a:close/>
              </a:path>
              <a:path w="389889" h="569595">
                <a:moveTo>
                  <a:pt x="374904" y="569214"/>
                </a:moveTo>
                <a:lnTo>
                  <a:pt x="374903" y="28194"/>
                </a:lnTo>
                <a:lnTo>
                  <a:pt x="360425" y="28194"/>
                </a:lnTo>
                <a:lnTo>
                  <a:pt x="360426" y="569214"/>
                </a:lnTo>
                <a:lnTo>
                  <a:pt x="374904" y="569214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74839" y="1206246"/>
            <a:ext cx="824484" cy="6000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50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620147" y="6349746"/>
            <a:ext cx="863600" cy="237490"/>
          </a:xfrm>
          <a:custGeom>
            <a:avLst/>
            <a:gdLst/>
            <a:ahLst/>
            <a:cxnLst/>
            <a:rect l="l" t="t" r="r" b="b"/>
            <a:pathLst>
              <a:path w="863600" h="237490">
                <a:moveTo>
                  <a:pt x="0" y="0"/>
                </a:moveTo>
                <a:lnTo>
                  <a:pt x="0" y="236981"/>
                </a:lnTo>
                <a:lnTo>
                  <a:pt x="863346" y="236981"/>
                </a:lnTo>
                <a:lnTo>
                  <a:pt x="86334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275973" y="6349746"/>
            <a:ext cx="863600" cy="237490"/>
          </a:xfrm>
          <a:custGeom>
            <a:avLst/>
            <a:gdLst/>
            <a:ahLst/>
            <a:cxnLst/>
            <a:rect l="l" t="t" r="r" b="b"/>
            <a:pathLst>
              <a:path w="863600" h="237490">
                <a:moveTo>
                  <a:pt x="0" y="0"/>
                </a:moveTo>
                <a:lnTo>
                  <a:pt x="0" y="236982"/>
                </a:lnTo>
                <a:lnTo>
                  <a:pt x="863346" y="236982"/>
                </a:lnTo>
                <a:lnTo>
                  <a:pt x="86334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27047" y="2366264"/>
            <a:ext cx="7531100" cy="41675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spc="285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1950" spc="225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j=4</a:t>
            </a:r>
            <a:endParaRPr sz="280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56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Since k&lt;4 and </a:t>
            </a:r>
            <a:r>
              <a:rPr sz="2400" dirty="0">
                <a:latin typeface="Arial"/>
                <a:cs typeface="Arial"/>
              </a:rPr>
              <a:t>k</a:t>
            </a:r>
            <a:r>
              <a:rPr sz="2400" dirty="0">
                <a:latin typeface="MingLiU"/>
                <a:cs typeface="MingLiU"/>
              </a:rPr>
              <a:t>≧</a:t>
            </a:r>
            <a:r>
              <a:rPr sz="2400" dirty="0">
                <a:latin typeface="Arial"/>
                <a:cs typeface="Arial"/>
              </a:rPr>
              <a:t>0, k </a:t>
            </a:r>
            <a:r>
              <a:rPr sz="2400" spc="-5" dirty="0">
                <a:latin typeface="Arial"/>
                <a:cs typeface="Arial"/>
              </a:rPr>
              <a:t>may be 0, 1, 2,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755015" indent="-285115">
              <a:lnSpc>
                <a:spcPct val="100000"/>
              </a:lnSpc>
              <a:spcBef>
                <a:spcPts val="600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When </a:t>
            </a:r>
            <a:r>
              <a:rPr sz="2400" spc="55" dirty="0">
                <a:latin typeface="Arial"/>
                <a:cs typeface="Arial"/>
              </a:rPr>
              <a:t>k=3€p</a:t>
            </a:r>
            <a:r>
              <a:rPr sz="2400" spc="82" baseline="-20833" dirty="0">
                <a:latin typeface="Arial"/>
                <a:cs typeface="Arial"/>
              </a:rPr>
              <a:t>0</a:t>
            </a:r>
            <a:r>
              <a:rPr sz="2400" spc="55" dirty="0">
                <a:latin typeface="Arial"/>
                <a:cs typeface="Arial"/>
              </a:rPr>
              <a:t>p</a:t>
            </a:r>
            <a:r>
              <a:rPr sz="2400" spc="82" baseline="-20833" dirty="0">
                <a:latin typeface="Arial"/>
                <a:cs typeface="Arial"/>
              </a:rPr>
              <a:t>1</a:t>
            </a:r>
            <a:r>
              <a:rPr sz="2400" spc="55" dirty="0">
                <a:latin typeface="Arial"/>
                <a:cs typeface="Arial"/>
              </a:rPr>
              <a:t>p</a:t>
            </a:r>
            <a:r>
              <a:rPr sz="2400" spc="82" baseline="-20833" dirty="0">
                <a:latin typeface="Arial"/>
                <a:cs typeface="Arial"/>
              </a:rPr>
              <a:t>2</a:t>
            </a:r>
            <a:r>
              <a:rPr sz="2400" spc="55" dirty="0">
                <a:latin typeface="Arial"/>
                <a:cs typeface="Arial"/>
              </a:rPr>
              <a:t>p</a:t>
            </a:r>
            <a:r>
              <a:rPr sz="2400" spc="82" baseline="-20833" dirty="0">
                <a:latin typeface="Arial"/>
                <a:cs typeface="Arial"/>
              </a:rPr>
              <a:t>3</a:t>
            </a:r>
            <a:r>
              <a:rPr sz="2400" spc="55" dirty="0">
                <a:latin typeface="Arial"/>
                <a:cs typeface="Arial"/>
              </a:rPr>
              <a:t>=abca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65" dirty="0">
                <a:latin typeface="Arial"/>
                <a:cs typeface="Arial"/>
              </a:rPr>
              <a:t>p</a:t>
            </a:r>
            <a:r>
              <a:rPr sz="2400" spc="97" baseline="-20833" dirty="0">
                <a:latin typeface="Arial"/>
                <a:cs typeface="Arial"/>
              </a:rPr>
              <a:t>1</a:t>
            </a:r>
            <a:r>
              <a:rPr sz="2400" spc="65" dirty="0">
                <a:latin typeface="Arial"/>
                <a:cs typeface="Arial"/>
              </a:rPr>
              <a:t>p</a:t>
            </a:r>
            <a:r>
              <a:rPr sz="2400" spc="97" baseline="-20833" dirty="0">
                <a:latin typeface="Arial"/>
                <a:cs typeface="Arial"/>
              </a:rPr>
              <a:t>2</a:t>
            </a:r>
            <a:r>
              <a:rPr sz="2400" spc="65" dirty="0">
                <a:latin typeface="Arial"/>
                <a:cs typeface="Arial"/>
              </a:rPr>
              <a:t>p</a:t>
            </a:r>
            <a:r>
              <a:rPr sz="2400" spc="97" baseline="-20833" dirty="0">
                <a:latin typeface="Arial"/>
                <a:cs typeface="Arial"/>
              </a:rPr>
              <a:t>3</a:t>
            </a:r>
            <a:r>
              <a:rPr sz="2400" spc="65" dirty="0">
                <a:latin typeface="Arial"/>
                <a:cs typeface="Arial"/>
              </a:rPr>
              <a:t>p</a:t>
            </a:r>
            <a:r>
              <a:rPr sz="2400" spc="97" baseline="-20833" dirty="0">
                <a:latin typeface="Arial"/>
                <a:cs typeface="Arial"/>
              </a:rPr>
              <a:t>4</a:t>
            </a:r>
            <a:r>
              <a:rPr sz="2400" spc="65" dirty="0">
                <a:latin typeface="Arial"/>
                <a:cs typeface="Arial"/>
              </a:rPr>
              <a:t>=bcab€</a:t>
            </a:r>
            <a:r>
              <a:rPr sz="2400" b="1" spc="65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755650" indent="-285750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When </a:t>
            </a:r>
            <a:r>
              <a:rPr sz="2400" spc="65" dirty="0">
                <a:latin typeface="Arial"/>
                <a:cs typeface="Arial"/>
              </a:rPr>
              <a:t>k=2€p</a:t>
            </a:r>
            <a:r>
              <a:rPr sz="2400" spc="97" baseline="-20833" dirty="0">
                <a:latin typeface="Arial"/>
                <a:cs typeface="Arial"/>
              </a:rPr>
              <a:t>0</a:t>
            </a:r>
            <a:r>
              <a:rPr sz="2400" spc="65" dirty="0">
                <a:latin typeface="Arial"/>
                <a:cs typeface="Arial"/>
              </a:rPr>
              <a:t>p</a:t>
            </a:r>
            <a:r>
              <a:rPr sz="2400" spc="97" baseline="-20833" dirty="0">
                <a:latin typeface="Arial"/>
                <a:cs typeface="Arial"/>
              </a:rPr>
              <a:t>1</a:t>
            </a:r>
            <a:r>
              <a:rPr sz="2400" spc="65" dirty="0">
                <a:latin typeface="Arial"/>
                <a:cs typeface="Arial"/>
              </a:rPr>
              <a:t>p</a:t>
            </a:r>
            <a:r>
              <a:rPr sz="2400" spc="97" baseline="-20833" dirty="0">
                <a:latin typeface="Arial"/>
                <a:cs typeface="Arial"/>
              </a:rPr>
              <a:t>2</a:t>
            </a:r>
            <a:r>
              <a:rPr sz="2400" spc="65" dirty="0">
                <a:latin typeface="Arial"/>
                <a:cs typeface="Arial"/>
              </a:rPr>
              <a:t>=abc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80" dirty="0">
                <a:latin typeface="Arial"/>
                <a:cs typeface="Arial"/>
              </a:rPr>
              <a:t>p</a:t>
            </a:r>
            <a:r>
              <a:rPr sz="2400" spc="120" baseline="-20833" dirty="0">
                <a:latin typeface="Arial"/>
                <a:cs typeface="Arial"/>
              </a:rPr>
              <a:t>2</a:t>
            </a:r>
            <a:r>
              <a:rPr sz="2400" spc="80" dirty="0">
                <a:latin typeface="Arial"/>
                <a:cs typeface="Arial"/>
              </a:rPr>
              <a:t>p</a:t>
            </a:r>
            <a:r>
              <a:rPr sz="2400" spc="120" baseline="-20833" dirty="0">
                <a:latin typeface="Arial"/>
                <a:cs typeface="Arial"/>
              </a:rPr>
              <a:t>3</a:t>
            </a:r>
            <a:r>
              <a:rPr sz="2400" spc="80" dirty="0">
                <a:latin typeface="Arial"/>
                <a:cs typeface="Arial"/>
              </a:rPr>
              <a:t>p</a:t>
            </a:r>
            <a:r>
              <a:rPr sz="2400" spc="120" baseline="-20833" dirty="0">
                <a:latin typeface="Arial"/>
                <a:cs typeface="Arial"/>
              </a:rPr>
              <a:t>4</a:t>
            </a:r>
            <a:r>
              <a:rPr sz="2400" spc="80" dirty="0">
                <a:latin typeface="Arial"/>
                <a:cs typeface="Arial"/>
              </a:rPr>
              <a:t>=cab€</a:t>
            </a:r>
            <a:r>
              <a:rPr sz="2400" b="1" spc="80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755015" indent="-28511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When </a:t>
            </a:r>
            <a:r>
              <a:rPr sz="2400" spc="85" dirty="0">
                <a:latin typeface="Arial"/>
                <a:cs typeface="Arial"/>
              </a:rPr>
              <a:t>k=1€p</a:t>
            </a:r>
            <a:r>
              <a:rPr sz="2400" spc="127" baseline="-20833" dirty="0">
                <a:latin typeface="Arial"/>
                <a:cs typeface="Arial"/>
              </a:rPr>
              <a:t>0</a:t>
            </a:r>
            <a:r>
              <a:rPr sz="2400" spc="85" dirty="0">
                <a:latin typeface="Arial"/>
                <a:cs typeface="Arial"/>
              </a:rPr>
              <a:t>p</a:t>
            </a:r>
            <a:r>
              <a:rPr sz="2400" spc="127" baseline="-20833" dirty="0">
                <a:latin typeface="Arial"/>
                <a:cs typeface="Arial"/>
              </a:rPr>
              <a:t>1</a:t>
            </a:r>
            <a:r>
              <a:rPr sz="2400" spc="85" dirty="0">
                <a:latin typeface="Arial"/>
                <a:cs typeface="Arial"/>
              </a:rPr>
              <a:t>=ab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95" dirty="0">
                <a:latin typeface="Arial"/>
                <a:cs typeface="Arial"/>
              </a:rPr>
              <a:t>p</a:t>
            </a:r>
            <a:r>
              <a:rPr sz="2400" spc="142" baseline="-20833" dirty="0">
                <a:latin typeface="Arial"/>
                <a:cs typeface="Arial"/>
              </a:rPr>
              <a:t>3</a:t>
            </a:r>
            <a:r>
              <a:rPr sz="2400" spc="95" dirty="0">
                <a:latin typeface="Arial"/>
                <a:cs typeface="Arial"/>
              </a:rPr>
              <a:t>p</a:t>
            </a:r>
            <a:r>
              <a:rPr sz="2400" spc="142" baseline="-20833" dirty="0">
                <a:latin typeface="Arial"/>
                <a:cs typeface="Arial"/>
              </a:rPr>
              <a:t>4</a:t>
            </a:r>
            <a:r>
              <a:rPr sz="2400" spc="95" dirty="0">
                <a:latin typeface="Arial"/>
                <a:cs typeface="Arial"/>
              </a:rPr>
              <a:t>=ab€</a:t>
            </a:r>
            <a:r>
              <a:rPr sz="2400" b="1" spc="95" dirty="0">
                <a:solidFill>
                  <a:srgbClr val="FF3300"/>
                </a:solidFill>
                <a:latin typeface="Arial"/>
                <a:cs typeface="Arial"/>
              </a:rPr>
              <a:t>ok</a:t>
            </a:r>
            <a:endParaRPr sz="2400">
              <a:latin typeface="Arial"/>
              <a:cs typeface="Arial"/>
            </a:endParaRPr>
          </a:p>
          <a:p>
            <a:pPr marL="755015" indent="-285115">
              <a:lnSpc>
                <a:spcPct val="100000"/>
              </a:lnSpc>
              <a:spcBef>
                <a:spcPts val="575"/>
              </a:spcBef>
              <a:buChar char="–"/>
              <a:tabLst>
                <a:tab pos="755650" algn="l"/>
              </a:tabLst>
            </a:pPr>
            <a:r>
              <a:rPr sz="2400" spc="-5" dirty="0">
                <a:latin typeface="Arial"/>
                <a:cs typeface="Arial"/>
              </a:rPr>
              <a:t>When </a:t>
            </a:r>
            <a:r>
              <a:rPr sz="2400" spc="120" dirty="0">
                <a:latin typeface="Arial"/>
                <a:cs typeface="Arial"/>
              </a:rPr>
              <a:t>k=0€p</a:t>
            </a:r>
            <a:r>
              <a:rPr sz="2400" spc="179" baseline="-20833" dirty="0">
                <a:latin typeface="Arial"/>
                <a:cs typeface="Arial"/>
              </a:rPr>
              <a:t>0</a:t>
            </a:r>
            <a:r>
              <a:rPr sz="2400" spc="120" dirty="0">
                <a:latin typeface="Arial"/>
                <a:cs typeface="Arial"/>
              </a:rPr>
              <a:t>=a </a:t>
            </a:r>
            <a:r>
              <a:rPr sz="2400" spc="-5" dirty="0">
                <a:latin typeface="Arial"/>
                <a:cs typeface="Arial"/>
              </a:rPr>
              <a:t>and</a:t>
            </a:r>
            <a:r>
              <a:rPr sz="2400" spc="-165" dirty="0">
                <a:latin typeface="Arial"/>
                <a:cs typeface="Arial"/>
              </a:rPr>
              <a:t> </a:t>
            </a:r>
            <a:r>
              <a:rPr sz="2400" spc="165" dirty="0">
                <a:latin typeface="Arial"/>
                <a:cs typeface="Arial"/>
              </a:rPr>
              <a:t>p</a:t>
            </a:r>
            <a:r>
              <a:rPr sz="2400" spc="247" baseline="-20833" dirty="0">
                <a:latin typeface="Arial"/>
                <a:cs typeface="Arial"/>
              </a:rPr>
              <a:t>4</a:t>
            </a:r>
            <a:r>
              <a:rPr sz="2400" spc="165" dirty="0">
                <a:latin typeface="Arial"/>
                <a:cs typeface="Arial"/>
              </a:rPr>
              <a:t>=b€</a:t>
            </a:r>
            <a:r>
              <a:rPr sz="2400" b="1" spc="165" dirty="0">
                <a:solidFill>
                  <a:srgbClr val="FF3300"/>
                </a:solidFill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1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f(4)=1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1096645">
              <a:lnSpc>
                <a:spcPct val="100000"/>
              </a:lnSpc>
              <a:tabLst>
                <a:tab pos="1644014" algn="l"/>
                <a:tab pos="2192020" algn="l"/>
                <a:tab pos="2739390" algn="l"/>
                <a:tab pos="3286760" algn="l"/>
                <a:tab pos="3834765" algn="l"/>
                <a:tab pos="4382135" algn="l"/>
                <a:tab pos="4929505" algn="l"/>
                <a:tab pos="5477510" algn="l"/>
                <a:tab pos="6024880" algn="l"/>
                <a:tab pos="6572250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j	0	1	2	3	4	5	6	7	8	9</a:t>
            </a:r>
            <a:endParaRPr sz="2400">
              <a:latin typeface="Courier New"/>
              <a:cs typeface="Courier New"/>
            </a:endParaRPr>
          </a:p>
          <a:p>
            <a:pPr marL="1096645">
              <a:lnSpc>
                <a:spcPct val="100000"/>
              </a:lnSpc>
              <a:tabLst>
                <a:tab pos="1644014" algn="l"/>
                <a:tab pos="2191385" algn="l"/>
                <a:tab pos="2739390" algn="l"/>
                <a:tab pos="3286760" algn="l"/>
                <a:tab pos="3834765" algn="l"/>
                <a:tab pos="4382135" algn="l"/>
                <a:tab pos="4930140" algn="l"/>
                <a:tab pos="5477510" algn="l"/>
                <a:tab pos="6025515" algn="l"/>
                <a:tab pos="6572884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p	a	b	c	a	b	c	a	c	a	b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11373" y="6500621"/>
            <a:ext cx="568452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203450" algn="l"/>
                <a:tab pos="2750820" algn="l"/>
                <a:tab pos="3298190" algn="l"/>
                <a:tab pos="3845560" algn="l"/>
                <a:tab pos="4940935" algn="l"/>
                <a:tab pos="5488305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f</a:t>
            </a:r>
            <a:r>
              <a:rPr sz="2400" b="1" spc="-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-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1</a:t>
            </a:r>
            <a:r>
              <a:rPr sz="2400" b="1" spc="-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-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1</a:t>
            </a:r>
            <a:r>
              <a:rPr sz="2400" b="1" spc="-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-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1	0	1	2	3</a:t>
            </a:r>
            <a:r>
              <a:rPr sz="2400" b="1" spc="-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-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1	0	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70923" y="6539103"/>
            <a:ext cx="6048375" cy="0"/>
          </a:xfrm>
          <a:custGeom>
            <a:avLst/>
            <a:gdLst/>
            <a:ahLst/>
            <a:cxnLst/>
            <a:rect l="l" t="t" r="r" b="b"/>
            <a:pathLst>
              <a:path w="6048375">
                <a:moveTo>
                  <a:pt x="0" y="0"/>
                </a:moveTo>
                <a:lnTo>
                  <a:pt x="6047994" y="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402596" y="6349746"/>
            <a:ext cx="0" cy="669290"/>
          </a:xfrm>
          <a:custGeom>
            <a:avLst/>
            <a:gdLst/>
            <a:ahLst/>
            <a:cxnLst/>
            <a:rect l="l" t="t" r="r" b="b"/>
            <a:pathLst>
              <a:path h="669290">
                <a:moveTo>
                  <a:pt x="0" y="0"/>
                </a:moveTo>
                <a:lnTo>
                  <a:pt x="0" y="669035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764415" y="6349746"/>
            <a:ext cx="389890" cy="539115"/>
          </a:xfrm>
          <a:custGeom>
            <a:avLst/>
            <a:gdLst/>
            <a:ahLst/>
            <a:cxnLst/>
            <a:rect l="l" t="t" r="r" b="b"/>
            <a:pathLst>
              <a:path w="389889" h="539115">
                <a:moveTo>
                  <a:pt x="28955" y="509778"/>
                </a:moveTo>
                <a:lnTo>
                  <a:pt x="28955" y="0"/>
                </a:lnTo>
                <a:lnTo>
                  <a:pt x="0" y="0"/>
                </a:lnTo>
                <a:lnTo>
                  <a:pt x="0" y="538734"/>
                </a:lnTo>
                <a:lnTo>
                  <a:pt x="14477" y="538734"/>
                </a:lnTo>
                <a:lnTo>
                  <a:pt x="14477" y="509778"/>
                </a:lnTo>
                <a:lnTo>
                  <a:pt x="28955" y="509778"/>
                </a:lnTo>
                <a:close/>
              </a:path>
              <a:path w="389889" h="539115">
                <a:moveTo>
                  <a:pt x="374903" y="509778"/>
                </a:moveTo>
                <a:lnTo>
                  <a:pt x="14477" y="509778"/>
                </a:lnTo>
                <a:lnTo>
                  <a:pt x="28955" y="524256"/>
                </a:lnTo>
                <a:lnTo>
                  <a:pt x="28955" y="538734"/>
                </a:lnTo>
                <a:lnTo>
                  <a:pt x="360425" y="538734"/>
                </a:lnTo>
                <a:lnTo>
                  <a:pt x="360425" y="524256"/>
                </a:lnTo>
                <a:lnTo>
                  <a:pt x="374903" y="509778"/>
                </a:lnTo>
                <a:close/>
              </a:path>
              <a:path w="389889" h="539115">
                <a:moveTo>
                  <a:pt x="28955" y="538734"/>
                </a:moveTo>
                <a:lnTo>
                  <a:pt x="28955" y="524256"/>
                </a:lnTo>
                <a:lnTo>
                  <a:pt x="14477" y="509778"/>
                </a:lnTo>
                <a:lnTo>
                  <a:pt x="14477" y="538734"/>
                </a:lnTo>
                <a:lnTo>
                  <a:pt x="28955" y="538734"/>
                </a:lnTo>
                <a:close/>
              </a:path>
              <a:path w="389889" h="539115">
                <a:moveTo>
                  <a:pt x="389382" y="538734"/>
                </a:moveTo>
                <a:lnTo>
                  <a:pt x="389382" y="0"/>
                </a:lnTo>
                <a:lnTo>
                  <a:pt x="360425" y="0"/>
                </a:lnTo>
                <a:lnTo>
                  <a:pt x="360425" y="509778"/>
                </a:lnTo>
                <a:lnTo>
                  <a:pt x="374903" y="509778"/>
                </a:lnTo>
                <a:lnTo>
                  <a:pt x="374903" y="538734"/>
                </a:lnTo>
                <a:lnTo>
                  <a:pt x="389382" y="538734"/>
                </a:lnTo>
                <a:close/>
              </a:path>
              <a:path w="389889" h="539115">
                <a:moveTo>
                  <a:pt x="374903" y="538734"/>
                </a:moveTo>
                <a:lnTo>
                  <a:pt x="374903" y="509778"/>
                </a:lnTo>
                <a:lnTo>
                  <a:pt x="360425" y="524256"/>
                </a:lnTo>
                <a:lnTo>
                  <a:pt x="360425" y="538734"/>
                </a:lnTo>
                <a:lnTo>
                  <a:pt x="374903" y="538734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51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51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72973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Fast Matching Example:</a:t>
            </a:r>
            <a:r>
              <a:rPr sz="4000" spc="-120" dirty="0"/>
              <a:t> </a:t>
            </a:r>
            <a:r>
              <a:rPr sz="4000" dirty="0"/>
              <a:t>Failure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59" y="1360423"/>
            <a:ext cx="610806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Function Calculation</a:t>
            </a:r>
            <a:r>
              <a:rPr sz="4000" i="1" spc="-114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(contd.)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27047" y="2323591"/>
            <a:ext cx="7265034" cy="1711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A restatement of failure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function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950" spc="285" dirty="0">
                <a:solidFill>
                  <a:srgbClr val="009ACC"/>
                </a:solidFill>
                <a:latin typeface="Arial"/>
                <a:cs typeface="Arial"/>
              </a:rPr>
              <a:t>■</a:t>
            </a:r>
            <a:r>
              <a:rPr sz="1950" spc="225" dirty="0">
                <a:solidFill>
                  <a:srgbClr val="009ACC"/>
                </a:solidFill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f(j)</a:t>
            </a:r>
            <a:r>
              <a:rPr sz="2800" dirty="0">
                <a:latin typeface="Arial"/>
                <a:cs typeface="Arial"/>
              </a:rPr>
              <a:t>=</a:t>
            </a:r>
          </a:p>
          <a:p>
            <a:pPr marL="469900">
              <a:lnSpc>
                <a:spcPct val="100000"/>
              </a:lnSpc>
              <a:spcBef>
                <a:spcPts val="29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i="1" spc="-5" dirty="0">
                <a:latin typeface="Arial"/>
                <a:cs typeface="Arial"/>
              </a:rPr>
              <a:t>-1 </a:t>
            </a:r>
            <a:r>
              <a:rPr sz="2400" spc="-5" dirty="0">
                <a:latin typeface="Arial"/>
                <a:cs typeface="Arial"/>
              </a:rPr>
              <a:t>if</a:t>
            </a:r>
            <a:r>
              <a:rPr sz="2400" spc="14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j=0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i="1" spc="-5" dirty="0">
                <a:latin typeface="Arial"/>
                <a:cs typeface="Arial"/>
              </a:rPr>
              <a:t>f</a:t>
            </a:r>
            <a:r>
              <a:rPr sz="2400" i="1" spc="-7" baseline="24305" dirty="0">
                <a:latin typeface="Arial"/>
                <a:cs typeface="Arial"/>
              </a:rPr>
              <a:t>m</a:t>
            </a:r>
            <a:r>
              <a:rPr sz="2400" i="1" spc="-5" dirty="0">
                <a:latin typeface="Arial"/>
                <a:cs typeface="Arial"/>
              </a:rPr>
              <a:t>(j-1)+1 </a:t>
            </a:r>
            <a:r>
              <a:rPr sz="2400" spc="-5" dirty="0">
                <a:latin typeface="Arial"/>
                <a:cs typeface="Arial"/>
              </a:rPr>
              <a:t>where </a:t>
            </a:r>
            <a:r>
              <a:rPr sz="2400" i="1" dirty="0">
                <a:latin typeface="Arial"/>
                <a:cs typeface="Arial"/>
              </a:rPr>
              <a:t>m </a:t>
            </a:r>
            <a:r>
              <a:rPr sz="2400" dirty="0">
                <a:latin typeface="Arial"/>
                <a:cs typeface="Arial"/>
              </a:rPr>
              <a:t>is </a:t>
            </a:r>
            <a:r>
              <a:rPr sz="2400" spc="-5" dirty="0">
                <a:latin typeface="Arial"/>
                <a:cs typeface="Arial"/>
              </a:rPr>
              <a:t>the least integer </a:t>
            </a:r>
            <a:r>
              <a:rPr sz="2400" i="1" dirty="0">
                <a:latin typeface="Arial"/>
                <a:cs typeface="Arial"/>
              </a:rPr>
              <a:t>k </a:t>
            </a:r>
            <a:r>
              <a:rPr sz="2400" spc="-5" dirty="0">
                <a:latin typeface="Arial"/>
                <a:cs typeface="Arial"/>
              </a:rPr>
              <a:t>for</a:t>
            </a:r>
            <a:r>
              <a:rPr sz="2400" spc="2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which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4907" y="4304283"/>
            <a:ext cx="97155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i="1" spc="5" dirty="0">
                <a:latin typeface="Times New Roman"/>
                <a:cs typeface="Times New Roman"/>
              </a:rPr>
              <a:t>j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48098" y="4318507"/>
            <a:ext cx="107314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i="1" spc="-5" dirty="0">
                <a:latin typeface="Times New Roman"/>
                <a:cs typeface="Times New Roman"/>
              </a:rPr>
              <a:t>k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38917" y="4009644"/>
            <a:ext cx="2183130" cy="537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547495" algn="l"/>
              </a:tabLst>
            </a:pPr>
            <a:r>
              <a:rPr sz="3450" i="1" spc="10" dirty="0">
                <a:latin typeface="Times New Roman"/>
                <a:cs typeface="Times New Roman"/>
              </a:rPr>
              <a:t>p	</a:t>
            </a:r>
            <a:r>
              <a:rPr sz="3450" spc="5" dirty="0">
                <a:latin typeface="Symbol"/>
                <a:cs typeface="Symbol"/>
              </a:rPr>
              <a:t></a:t>
            </a:r>
            <a:r>
              <a:rPr sz="3450" spc="300" dirty="0">
                <a:latin typeface="Times New Roman"/>
                <a:cs typeface="Times New Roman"/>
              </a:rPr>
              <a:t> </a:t>
            </a:r>
            <a:r>
              <a:rPr sz="3450" i="1" spc="10" dirty="0">
                <a:latin typeface="Times New Roman"/>
                <a:cs typeface="Times New Roman"/>
              </a:rPr>
              <a:t>p</a:t>
            </a:r>
            <a:endParaRPr sz="345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07890" y="4363720"/>
            <a:ext cx="1167130" cy="317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9560" algn="l"/>
              </a:tabLst>
            </a:pPr>
            <a:r>
              <a:rPr sz="2000" i="1" spc="5" dirty="0">
                <a:latin typeface="Times New Roman"/>
                <a:cs typeface="Times New Roman"/>
              </a:rPr>
              <a:t>f	</a:t>
            </a:r>
            <a:r>
              <a:rPr sz="2000" spc="5" dirty="0">
                <a:latin typeface="Times New Roman"/>
                <a:cs typeface="Times New Roman"/>
              </a:rPr>
              <a:t>(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i="1" spc="15" dirty="0">
                <a:latin typeface="Times New Roman"/>
                <a:cs typeface="Times New Roman"/>
              </a:rPr>
              <a:t>j</a:t>
            </a:r>
            <a:r>
              <a:rPr sz="2000" spc="15" dirty="0">
                <a:latin typeface="Symbol"/>
                <a:cs typeface="Symbol"/>
              </a:rPr>
              <a:t></a:t>
            </a:r>
            <a:r>
              <a:rPr sz="2000" spc="15" dirty="0">
                <a:latin typeface="Times New Roman"/>
                <a:cs typeface="Times New Roman"/>
              </a:rPr>
              <a:t>1)</a:t>
            </a:r>
            <a:r>
              <a:rPr sz="2000" spc="15" dirty="0">
                <a:latin typeface="Symbol"/>
                <a:cs typeface="Symbol"/>
              </a:rPr>
              <a:t></a:t>
            </a:r>
            <a:r>
              <a:rPr sz="2000" spc="15" dirty="0">
                <a:latin typeface="Times New Roman"/>
                <a:cs typeface="Times New Roman"/>
              </a:rPr>
              <a:t>1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027047" y="4866894"/>
            <a:ext cx="5797550" cy="843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i="1" spc="-5" dirty="0">
                <a:latin typeface="Arial"/>
                <a:cs typeface="Arial"/>
              </a:rPr>
              <a:t>-1 </a:t>
            </a:r>
            <a:r>
              <a:rPr sz="2400" spc="-5" dirty="0">
                <a:latin typeface="Arial"/>
                <a:cs typeface="Arial"/>
              </a:rPr>
              <a:t>if there is no </a:t>
            </a:r>
            <a:r>
              <a:rPr sz="2400" i="1" dirty="0">
                <a:latin typeface="Arial"/>
                <a:cs typeface="Arial"/>
              </a:rPr>
              <a:t>k </a:t>
            </a:r>
            <a:r>
              <a:rPr sz="2400" spc="-5" dirty="0">
                <a:latin typeface="Arial"/>
                <a:cs typeface="Arial"/>
              </a:rPr>
              <a:t>satisfying the</a:t>
            </a:r>
            <a:r>
              <a:rPr sz="2400" spc="2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above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950" spc="285" dirty="0">
                <a:solidFill>
                  <a:srgbClr val="009ACC"/>
                </a:solidFill>
                <a:latin typeface="Arial"/>
                <a:cs typeface="Arial"/>
              </a:rPr>
              <a:t>■ </a:t>
            </a:r>
            <a:r>
              <a:rPr sz="2800" i="1" dirty="0">
                <a:latin typeface="Arial"/>
                <a:cs typeface="Arial"/>
              </a:rPr>
              <a:t>f</a:t>
            </a:r>
            <a:r>
              <a:rPr sz="2775" i="1" baseline="25525" dirty="0">
                <a:latin typeface="Arial"/>
                <a:cs typeface="Arial"/>
              </a:rPr>
              <a:t>1</a:t>
            </a:r>
            <a:r>
              <a:rPr sz="2800" i="1" dirty="0">
                <a:latin typeface="Arial"/>
                <a:cs typeface="Arial"/>
              </a:rPr>
              <a:t>(j)=f(j) and</a:t>
            </a:r>
            <a:r>
              <a:rPr sz="2800" i="1" spc="-20" dirty="0">
                <a:latin typeface="Arial"/>
                <a:cs typeface="Arial"/>
              </a:rPr>
              <a:t> </a:t>
            </a:r>
            <a:r>
              <a:rPr sz="2800" i="1" dirty="0">
                <a:latin typeface="Arial"/>
                <a:cs typeface="Arial"/>
              </a:rPr>
              <a:t>f</a:t>
            </a:r>
            <a:r>
              <a:rPr sz="2775" i="1" baseline="25525" dirty="0">
                <a:latin typeface="Arial"/>
                <a:cs typeface="Arial"/>
              </a:rPr>
              <a:t>m</a:t>
            </a:r>
            <a:r>
              <a:rPr sz="2800" i="1" dirty="0">
                <a:latin typeface="Arial"/>
                <a:cs typeface="Arial"/>
              </a:rPr>
              <a:t>(j)=f(f</a:t>
            </a:r>
            <a:r>
              <a:rPr sz="2775" i="1" baseline="25525" dirty="0">
                <a:latin typeface="Arial"/>
                <a:cs typeface="Arial"/>
              </a:rPr>
              <a:t>m-1</a:t>
            </a:r>
            <a:r>
              <a:rPr sz="2800" i="1" dirty="0">
                <a:latin typeface="Arial"/>
                <a:cs typeface="Arial"/>
              </a:rPr>
              <a:t>(j))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51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52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52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44715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Fast Matching Example:</a:t>
            </a:r>
            <a:r>
              <a:rPr sz="4000" spc="-120" dirty="0"/>
              <a:t> </a:t>
            </a:r>
            <a:r>
              <a:rPr sz="4000" dirty="0"/>
              <a:t>String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47" y="1360423"/>
            <a:ext cx="197485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Matching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22892" y="2665476"/>
            <a:ext cx="0" cy="255270"/>
          </a:xfrm>
          <a:custGeom>
            <a:avLst/>
            <a:gdLst/>
            <a:ahLst/>
            <a:cxnLst/>
            <a:rect l="l" t="t" r="r" b="b"/>
            <a:pathLst>
              <a:path h="255269">
                <a:moveTo>
                  <a:pt x="0" y="0"/>
                </a:moveTo>
                <a:lnTo>
                  <a:pt x="0" y="255270"/>
                </a:lnTo>
              </a:path>
            </a:pathLst>
          </a:custGeom>
          <a:ln w="28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452242" y="2628900"/>
            <a:ext cx="5685155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070" algn="l"/>
                <a:tab pos="1107440" algn="l"/>
                <a:tab pos="1655445" algn="l"/>
                <a:tab pos="2202815" algn="l"/>
                <a:tab pos="2750820" algn="l"/>
                <a:tab pos="3298190" algn="l"/>
                <a:tab pos="3845560" algn="l"/>
                <a:tab pos="4393565" algn="l"/>
                <a:tab pos="4940935" algn="l"/>
                <a:tab pos="5488940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j	0	1	2	3	4	5	6	7	8	9</a:t>
            </a:r>
            <a:endParaRPr sz="24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tabLst>
                <a:tab pos="560070" algn="l"/>
                <a:tab pos="1107440" algn="l"/>
                <a:tab pos="1654810" algn="l"/>
                <a:tab pos="2202815" algn="l"/>
                <a:tab pos="2750185" algn="l"/>
                <a:tab pos="3297554" algn="l"/>
                <a:tab pos="3845560" algn="l"/>
                <a:tab pos="4392930" algn="l"/>
                <a:tab pos="4940300" algn="l"/>
                <a:tab pos="5488305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p	a	b	c	a	b	c	a	c	a	b  f</a:t>
            </a:r>
            <a:r>
              <a:rPr sz="2400" b="1" spc="-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-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1</a:t>
            </a:r>
            <a:r>
              <a:rPr sz="2400" b="1" spc="-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-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1</a:t>
            </a:r>
            <a:r>
              <a:rPr sz="2400" b="1" spc="-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-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1	0	1	2	3</a:t>
            </a:r>
            <a:r>
              <a:rPr sz="2400" b="1" spc="-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spc="-5" dirty="0">
                <a:solidFill>
                  <a:srgbClr val="003365"/>
                </a:solidFill>
                <a:latin typeface="Courier New"/>
                <a:cs typeface="Courier New"/>
              </a:rPr>
              <a:t>-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1	0	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15547" y="3633978"/>
            <a:ext cx="158115" cy="144145"/>
          </a:xfrm>
          <a:custGeom>
            <a:avLst/>
            <a:gdLst/>
            <a:ahLst/>
            <a:cxnLst/>
            <a:rect l="l" t="t" r="r" b="b"/>
            <a:pathLst>
              <a:path w="158114" h="144145">
                <a:moveTo>
                  <a:pt x="81534" y="23622"/>
                </a:moveTo>
                <a:lnTo>
                  <a:pt x="0" y="0"/>
                </a:lnTo>
                <a:lnTo>
                  <a:pt x="29718" y="79248"/>
                </a:lnTo>
                <a:lnTo>
                  <a:pt x="41910" y="66159"/>
                </a:lnTo>
                <a:lnTo>
                  <a:pt x="41910" y="48006"/>
                </a:lnTo>
                <a:lnTo>
                  <a:pt x="51054" y="38100"/>
                </a:lnTo>
                <a:lnTo>
                  <a:pt x="59919" y="46825"/>
                </a:lnTo>
                <a:lnTo>
                  <a:pt x="81534" y="23622"/>
                </a:lnTo>
                <a:close/>
              </a:path>
              <a:path w="158114" h="144145">
                <a:moveTo>
                  <a:pt x="59919" y="46825"/>
                </a:moveTo>
                <a:lnTo>
                  <a:pt x="51054" y="38100"/>
                </a:lnTo>
                <a:lnTo>
                  <a:pt x="41910" y="48006"/>
                </a:lnTo>
                <a:lnTo>
                  <a:pt x="50942" y="56462"/>
                </a:lnTo>
                <a:lnTo>
                  <a:pt x="59919" y="46825"/>
                </a:lnTo>
                <a:close/>
              </a:path>
              <a:path w="158114" h="144145">
                <a:moveTo>
                  <a:pt x="50942" y="56462"/>
                </a:moveTo>
                <a:lnTo>
                  <a:pt x="41910" y="48006"/>
                </a:lnTo>
                <a:lnTo>
                  <a:pt x="41910" y="66159"/>
                </a:lnTo>
                <a:lnTo>
                  <a:pt x="50942" y="56462"/>
                </a:lnTo>
                <a:close/>
              </a:path>
              <a:path w="158114" h="144145">
                <a:moveTo>
                  <a:pt x="157665" y="144018"/>
                </a:moveTo>
                <a:lnTo>
                  <a:pt x="122246" y="108403"/>
                </a:lnTo>
                <a:lnTo>
                  <a:pt x="59919" y="46825"/>
                </a:lnTo>
                <a:lnTo>
                  <a:pt x="50942" y="56462"/>
                </a:lnTo>
                <a:lnTo>
                  <a:pt x="76040" y="79960"/>
                </a:lnTo>
                <a:lnTo>
                  <a:pt x="109499" y="113018"/>
                </a:lnTo>
                <a:lnTo>
                  <a:pt x="140029" y="144018"/>
                </a:lnTo>
                <a:lnTo>
                  <a:pt x="157665" y="1440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84182" y="3704082"/>
            <a:ext cx="48260" cy="74295"/>
          </a:xfrm>
          <a:custGeom>
            <a:avLst/>
            <a:gdLst/>
            <a:ahLst/>
            <a:cxnLst/>
            <a:rect l="l" t="t" r="r" b="b"/>
            <a:pathLst>
              <a:path w="48260" h="74295">
                <a:moveTo>
                  <a:pt x="47901" y="5333"/>
                </a:moveTo>
                <a:lnTo>
                  <a:pt x="36471" y="0"/>
                </a:lnTo>
                <a:lnTo>
                  <a:pt x="0" y="73913"/>
                </a:lnTo>
                <a:lnTo>
                  <a:pt x="13909" y="73913"/>
                </a:lnTo>
                <a:lnTo>
                  <a:pt x="47901" y="53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91219" y="3409950"/>
            <a:ext cx="6049010" cy="0"/>
          </a:xfrm>
          <a:custGeom>
            <a:avLst/>
            <a:gdLst/>
            <a:ahLst/>
            <a:cxnLst/>
            <a:rect l="l" t="t" r="r" b="b"/>
            <a:pathLst>
              <a:path w="6049009">
                <a:moveTo>
                  <a:pt x="0" y="0"/>
                </a:moveTo>
                <a:lnTo>
                  <a:pt x="604875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291219" y="3073526"/>
            <a:ext cx="6049010" cy="0"/>
          </a:xfrm>
          <a:custGeom>
            <a:avLst/>
            <a:gdLst/>
            <a:ahLst/>
            <a:cxnLst/>
            <a:rect l="l" t="t" r="r" b="b"/>
            <a:pathLst>
              <a:path w="6049009">
                <a:moveTo>
                  <a:pt x="0" y="0"/>
                </a:moveTo>
                <a:lnTo>
                  <a:pt x="6048756" y="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22892" y="2920745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1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54515" y="4498847"/>
            <a:ext cx="289560" cy="136525"/>
          </a:xfrm>
          <a:custGeom>
            <a:avLst/>
            <a:gdLst/>
            <a:ahLst/>
            <a:cxnLst/>
            <a:rect l="l" t="t" r="r" b="b"/>
            <a:pathLst>
              <a:path w="289560" h="136525">
                <a:moveTo>
                  <a:pt x="0" y="0"/>
                </a:moveTo>
                <a:lnTo>
                  <a:pt x="0" y="136398"/>
                </a:lnTo>
                <a:lnTo>
                  <a:pt x="289560" y="136398"/>
                </a:lnTo>
                <a:lnTo>
                  <a:pt x="289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10341" y="4498847"/>
            <a:ext cx="288925" cy="136525"/>
          </a:xfrm>
          <a:custGeom>
            <a:avLst/>
            <a:gdLst/>
            <a:ahLst/>
            <a:cxnLst/>
            <a:rect l="l" t="t" r="r" b="b"/>
            <a:pathLst>
              <a:path w="288925" h="136525">
                <a:moveTo>
                  <a:pt x="0" y="0"/>
                </a:moveTo>
                <a:lnTo>
                  <a:pt x="0" y="136398"/>
                </a:lnTo>
                <a:lnTo>
                  <a:pt x="288798" y="136398"/>
                </a:lnTo>
                <a:lnTo>
                  <a:pt x="2887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055577" y="3777996"/>
            <a:ext cx="321945" cy="857250"/>
          </a:xfrm>
          <a:custGeom>
            <a:avLst/>
            <a:gdLst/>
            <a:ahLst/>
            <a:cxnLst/>
            <a:rect l="l" t="t" r="r" b="b"/>
            <a:pathLst>
              <a:path w="321945" h="857250">
                <a:moveTo>
                  <a:pt x="321634" y="506216"/>
                </a:moveTo>
                <a:lnTo>
                  <a:pt x="319970" y="460305"/>
                </a:lnTo>
                <a:lnTo>
                  <a:pt x="313236" y="414539"/>
                </a:lnTo>
                <a:lnTo>
                  <a:pt x="300822" y="369020"/>
                </a:lnTo>
                <a:lnTo>
                  <a:pt x="282118" y="323850"/>
                </a:lnTo>
                <a:lnTo>
                  <a:pt x="256552" y="282270"/>
                </a:lnTo>
                <a:lnTo>
                  <a:pt x="227979" y="240777"/>
                </a:lnTo>
                <a:lnTo>
                  <a:pt x="196857" y="199510"/>
                </a:lnTo>
                <a:lnTo>
                  <a:pt x="163643" y="158606"/>
                </a:lnTo>
                <a:lnTo>
                  <a:pt x="128795" y="118205"/>
                </a:lnTo>
                <a:lnTo>
                  <a:pt x="92770" y="78444"/>
                </a:lnTo>
                <a:lnTo>
                  <a:pt x="56027" y="39461"/>
                </a:lnTo>
                <a:lnTo>
                  <a:pt x="19024" y="1395"/>
                </a:lnTo>
                <a:lnTo>
                  <a:pt x="17635" y="0"/>
                </a:lnTo>
                <a:lnTo>
                  <a:pt x="0" y="0"/>
                </a:lnTo>
                <a:lnTo>
                  <a:pt x="35230" y="35813"/>
                </a:lnTo>
                <a:lnTo>
                  <a:pt x="35230" y="36607"/>
                </a:lnTo>
                <a:lnTo>
                  <a:pt x="69891" y="72695"/>
                </a:lnTo>
                <a:lnTo>
                  <a:pt x="104348" y="110499"/>
                </a:lnTo>
                <a:lnTo>
                  <a:pt x="137965" y="149060"/>
                </a:lnTo>
                <a:lnTo>
                  <a:pt x="170866" y="188213"/>
                </a:lnTo>
                <a:lnTo>
                  <a:pt x="170866" y="187451"/>
                </a:lnTo>
                <a:lnTo>
                  <a:pt x="197847" y="221592"/>
                </a:lnTo>
                <a:lnTo>
                  <a:pt x="225827" y="258733"/>
                </a:lnTo>
                <a:lnTo>
                  <a:pt x="252357" y="297931"/>
                </a:lnTo>
                <a:lnTo>
                  <a:pt x="274985" y="338240"/>
                </a:lnTo>
                <a:lnTo>
                  <a:pt x="291262" y="378713"/>
                </a:lnTo>
                <a:lnTo>
                  <a:pt x="291262" y="380619"/>
                </a:lnTo>
                <a:lnTo>
                  <a:pt x="295072" y="393953"/>
                </a:lnTo>
                <a:lnTo>
                  <a:pt x="298882" y="409193"/>
                </a:lnTo>
                <a:lnTo>
                  <a:pt x="301930" y="425195"/>
                </a:lnTo>
                <a:lnTo>
                  <a:pt x="301930" y="424433"/>
                </a:lnTo>
                <a:lnTo>
                  <a:pt x="304978" y="440436"/>
                </a:lnTo>
                <a:lnTo>
                  <a:pt x="308026" y="471677"/>
                </a:lnTo>
                <a:lnTo>
                  <a:pt x="308026" y="470915"/>
                </a:lnTo>
                <a:lnTo>
                  <a:pt x="308929" y="502295"/>
                </a:lnTo>
                <a:lnTo>
                  <a:pt x="308929" y="613190"/>
                </a:lnTo>
                <a:lnTo>
                  <a:pt x="312198" y="598060"/>
                </a:lnTo>
                <a:lnTo>
                  <a:pt x="318840" y="552168"/>
                </a:lnTo>
                <a:lnTo>
                  <a:pt x="321634" y="506216"/>
                </a:lnTo>
                <a:close/>
              </a:path>
              <a:path w="321945" h="857250">
                <a:moveTo>
                  <a:pt x="35230" y="36607"/>
                </a:moveTo>
                <a:lnTo>
                  <a:pt x="35230" y="35813"/>
                </a:lnTo>
                <a:lnTo>
                  <a:pt x="34468" y="35813"/>
                </a:lnTo>
                <a:lnTo>
                  <a:pt x="35230" y="36607"/>
                </a:lnTo>
                <a:close/>
              </a:path>
              <a:path w="321945" h="857250">
                <a:moveTo>
                  <a:pt x="285928" y="701309"/>
                </a:moveTo>
                <a:lnTo>
                  <a:pt x="285928" y="657605"/>
                </a:lnTo>
                <a:lnTo>
                  <a:pt x="270146" y="709669"/>
                </a:lnTo>
                <a:lnTo>
                  <a:pt x="252609" y="760623"/>
                </a:lnTo>
                <a:lnTo>
                  <a:pt x="233825" y="811123"/>
                </a:lnTo>
                <a:lnTo>
                  <a:pt x="216060" y="857250"/>
                </a:lnTo>
                <a:lnTo>
                  <a:pt x="229294" y="857250"/>
                </a:lnTo>
                <a:lnTo>
                  <a:pt x="242637" y="823019"/>
                </a:lnTo>
                <a:lnTo>
                  <a:pt x="259360" y="778969"/>
                </a:lnTo>
                <a:lnTo>
                  <a:pt x="275288" y="734345"/>
                </a:lnTo>
                <a:lnTo>
                  <a:pt x="285928" y="701309"/>
                </a:lnTo>
                <a:close/>
              </a:path>
              <a:path w="321945" h="857250">
                <a:moveTo>
                  <a:pt x="308929" y="613190"/>
                </a:moveTo>
                <a:lnTo>
                  <a:pt x="308929" y="502295"/>
                </a:lnTo>
                <a:lnTo>
                  <a:pt x="307916" y="533680"/>
                </a:lnTo>
                <a:lnTo>
                  <a:pt x="304863" y="564925"/>
                </a:lnTo>
                <a:lnTo>
                  <a:pt x="299644" y="595883"/>
                </a:lnTo>
                <a:lnTo>
                  <a:pt x="299644" y="595121"/>
                </a:lnTo>
                <a:lnTo>
                  <a:pt x="293548" y="626363"/>
                </a:lnTo>
                <a:lnTo>
                  <a:pt x="289738" y="642365"/>
                </a:lnTo>
                <a:lnTo>
                  <a:pt x="285166" y="657605"/>
                </a:lnTo>
                <a:lnTo>
                  <a:pt x="285928" y="657605"/>
                </a:lnTo>
                <a:lnTo>
                  <a:pt x="285928" y="701309"/>
                </a:lnTo>
                <a:lnTo>
                  <a:pt x="289811" y="689251"/>
                </a:lnTo>
                <a:lnTo>
                  <a:pt x="302318" y="643788"/>
                </a:lnTo>
                <a:lnTo>
                  <a:pt x="308929" y="613190"/>
                </a:lnTo>
                <a:close/>
              </a:path>
              <a:path w="321945" h="857250">
                <a:moveTo>
                  <a:pt x="291262" y="380619"/>
                </a:moveTo>
                <a:lnTo>
                  <a:pt x="291262" y="378713"/>
                </a:lnTo>
                <a:lnTo>
                  <a:pt x="290500" y="377951"/>
                </a:lnTo>
                <a:lnTo>
                  <a:pt x="291262" y="380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210498" y="3777996"/>
            <a:ext cx="387985" cy="857250"/>
          </a:xfrm>
          <a:custGeom>
            <a:avLst/>
            <a:gdLst/>
            <a:ahLst/>
            <a:cxnLst/>
            <a:rect l="l" t="t" r="r" b="b"/>
            <a:pathLst>
              <a:path w="387985" h="857250">
                <a:moveTo>
                  <a:pt x="387593" y="0"/>
                </a:moveTo>
                <a:lnTo>
                  <a:pt x="373683" y="0"/>
                </a:lnTo>
                <a:lnTo>
                  <a:pt x="274432" y="201696"/>
                </a:lnTo>
                <a:lnTo>
                  <a:pt x="207777" y="341293"/>
                </a:lnTo>
                <a:lnTo>
                  <a:pt x="164748" y="435116"/>
                </a:lnTo>
                <a:lnTo>
                  <a:pt x="143812" y="482270"/>
                </a:lnTo>
                <a:lnTo>
                  <a:pt x="123333" y="529592"/>
                </a:lnTo>
                <a:lnTo>
                  <a:pt x="103363" y="577088"/>
                </a:lnTo>
                <a:lnTo>
                  <a:pt x="83953" y="624764"/>
                </a:lnTo>
                <a:lnTo>
                  <a:pt x="65157" y="672623"/>
                </a:lnTo>
                <a:lnTo>
                  <a:pt x="47026" y="720671"/>
                </a:lnTo>
                <a:lnTo>
                  <a:pt x="29614" y="768914"/>
                </a:lnTo>
                <a:lnTo>
                  <a:pt x="12972" y="817356"/>
                </a:lnTo>
                <a:lnTo>
                  <a:pt x="0" y="857250"/>
                </a:lnTo>
                <a:lnTo>
                  <a:pt x="13123" y="857250"/>
                </a:lnTo>
                <a:lnTo>
                  <a:pt x="21712" y="830707"/>
                </a:lnTo>
                <a:lnTo>
                  <a:pt x="37831" y="783467"/>
                </a:lnTo>
                <a:lnTo>
                  <a:pt x="54665" y="736441"/>
                </a:lnTo>
                <a:lnTo>
                  <a:pt x="72161" y="689631"/>
                </a:lnTo>
                <a:lnTo>
                  <a:pt x="90272" y="643037"/>
                </a:lnTo>
                <a:lnTo>
                  <a:pt x="108945" y="596660"/>
                </a:lnTo>
                <a:lnTo>
                  <a:pt x="128130" y="550499"/>
                </a:lnTo>
                <a:lnTo>
                  <a:pt x="147777" y="504557"/>
                </a:lnTo>
                <a:lnTo>
                  <a:pt x="167836" y="458834"/>
                </a:lnTo>
                <a:lnTo>
                  <a:pt x="208986" y="368045"/>
                </a:lnTo>
                <a:lnTo>
                  <a:pt x="208986" y="368807"/>
                </a:lnTo>
                <a:lnTo>
                  <a:pt x="250134" y="281177"/>
                </a:lnTo>
                <a:lnTo>
                  <a:pt x="334716" y="106679"/>
                </a:lnTo>
                <a:lnTo>
                  <a:pt x="3875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422519" y="3815334"/>
            <a:ext cx="3970654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2: check failure function</a:t>
            </a:r>
            <a:r>
              <a:rPr sz="2400" spc="-5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(f(3))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722892" y="3777996"/>
            <a:ext cx="0" cy="111760"/>
          </a:xfrm>
          <a:custGeom>
            <a:avLst/>
            <a:gdLst/>
            <a:ahLst/>
            <a:cxnLst/>
            <a:rect l="l" t="t" r="r" b="b"/>
            <a:pathLst>
              <a:path h="111760">
                <a:moveTo>
                  <a:pt x="0" y="0"/>
                </a:moveTo>
                <a:lnTo>
                  <a:pt x="0" y="111251"/>
                </a:lnTo>
              </a:path>
            </a:pathLst>
          </a:custGeom>
          <a:ln w="281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4839" y="2920745"/>
            <a:ext cx="824484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754515" y="4635246"/>
            <a:ext cx="289560" cy="222885"/>
          </a:xfrm>
          <a:custGeom>
            <a:avLst/>
            <a:gdLst/>
            <a:ahLst/>
            <a:cxnLst/>
            <a:rect l="l" t="t" r="r" b="b"/>
            <a:pathLst>
              <a:path w="289560" h="222885">
                <a:moveTo>
                  <a:pt x="0" y="0"/>
                </a:moveTo>
                <a:lnTo>
                  <a:pt x="0" y="222503"/>
                </a:lnTo>
                <a:lnTo>
                  <a:pt x="289560" y="222503"/>
                </a:lnTo>
                <a:lnTo>
                  <a:pt x="2895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10341" y="4635246"/>
            <a:ext cx="288925" cy="222885"/>
          </a:xfrm>
          <a:custGeom>
            <a:avLst/>
            <a:gdLst/>
            <a:ahLst/>
            <a:cxnLst/>
            <a:rect l="l" t="t" r="r" b="b"/>
            <a:pathLst>
              <a:path w="288925" h="222885">
                <a:moveTo>
                  <a:pt x="0" y="0"/>
                </a:moveTo>
                <a:lnTo>
                  <a:pt x="0" y="222503"/>
                </a:lnTo>
                <a:lnTo>
                  <a:pt x="288798" y="222503"/>
                </a:lnTo>
                <a:lnTo>
                  <a:pt x="2887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537855" y="4091940"/>
            <a:ext cx="3677285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  <a:tabLst>
                <a:tab pos="1289685" algn="l"/>
                <a:tab pos="1837055" algn="l"/>
                <a:tab pos="2384425" algn="l"/>
                <a:tab pos="2931795" algn="l"/>
                <a:tab pos="3479800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s</a:t>
            </a:r>
            <a:r>
              <a:rPr sz="2400" b="1" spc="-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=	a	b	c	a	?  p</a:t>
            </a:r>
            <a:r>
              <a:rPr sz="2400" b="1" spc="-1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=	a	b	c	a	b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53595" y="4091940"/>
            <a:ext cx="4042410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070" algn="l"/>
                <a:tab pos="1107440" algn="l"/>
                <a:tab pos="1655445" algn="l"/>
                <a:tab pos="2202815" algn="l"/>
                <a:tab pos="2750820" algn="l"/>
                <a:tab pos="3298190" algn="l"/>
                <a:tab pos="3846195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?	.	.	.	?	?	?	?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560070" algn="l"/>
                <a:tab pos="1108075" algn="l"/>
                <a:tab pos="1656080" algn="l"/>
                <a:tab pos="2202815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c	a	c	a	b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93093" y="4857750"/>
            <a:ext cx="76200" cy="288925"/>
          </a:xfrm>
          <a:custGeom>
            <a:avLst/>
            <a:gdLst/>
            <a:ahLst/>
            <a:cxnLst/>
            <a:rect l="l" t="t" r="r" b="b"/>
            <a:pathLst>
              <a:path w="76200" h="288925">
                <a:moveTo>
                  <a:pt x="76200" y="76200"/>
                </a:moveTo>
                <a:lnTo>
                  <a:pt x="38100" y="0"/>
                </a:lnTo>
                <a:lnTo>
                  <a:pt x="0" y="76200"/>
                </a:lnTo>
                <a:lnTo>
                  <a:pt x="32003" y="76200"/>
                </a:lnTo>
                <a:lnTo>
                  <a:pt x="32003" y="63246"/>
                </a:lnTo>
                <a:lnTo>
                  <a:pt x="44195" y="63246"/>
                </a:lnTo>
                <a:lnTo>
                  <a:pt x="44195" y="76200"/>
                </a:lnTo>
                <a:lnTo>
                  <a:pt x="76200" y="76200"/>
                </a:lnTo>
                <a:close/>
              </a:path>
              <a:path w="76200" h="288925">
                <a:moveTo>
                  <a:pt x="44195" y="76200"/>
                </a:moveTo>
                <a:lnTo>
                  <a:pt x="44195" y="63246"/>
                </a:lnTo>
                <a:lnTo>
                  <a:pt x="32003" y="63246"/>
                </a:lnTo>
                <a:lnTo>
                  <a:pt x="32003" y="76200"/>
                </a:lnTo>
                <a:lnTo>
                  <a:pt x="44195" y="76200"/>
                </a:lnTo>
                <a:close/>
              </a:path>
              <a:path w="76200" h="288925">
                <a:moveTo>
                  <a:pt x="44195" y="288798"/>
                </a:moveTo>
                <a:lnTo>
                  <a:pt x="44195" y="76200"/>
                </a:lnTo>
                <a:lnTo>
                  <a:pt x="32003" y="76200"/>
                </a:lnTo>
                <a:lnTo>
                  <a:pt x="32003" y="288798"/>
                </a:lnTo>
                <a:lnTo>
                  <a:pt x="44195" y="288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112015" y="4635246"/>
            <a:ext cx="111760" cy="857250"/>
          </a:xfrm>
          <a:custGeom>
            <a:avLst/>
            <a:gdLst/>
            <a:ahLst/>
            <a:cxnLst/>
            <a:rect l="l" t="t" r="r" b="b"/>
            <a:pathLst>
              <a:path w="111760" h="857250">
                <a:moveTo>
                  <a:pt x="111607" y="0"/>
                </a:moveTo>
                <a:lnTo>
                  <a:pt x="98483" y="0"/>
                </a:lnTo>
                <a:lnTo>
                  <a:pt x="95637" y="8752"/>
                </a:lnTo>
                <a:lnTo>
                  <a:pt x="80693" y="57608"/>
                </a:lnTo>
                <a:lnTo>
                  <a:pt x="66678" y="106679"/>
                </a:lnTo>
                <a:lnTo>
                  <a:pt x="53566" y="155978"/>
                </a:lnTo>
                <a:lnTo>
                  <a:pt x="41659" y="205541"/>
                </a:lnTo>
                <a:lnTo>
                  <a:pt x="31050" y="255352"/>
                </a:lnTo>
                <a:lnTo>
                  <a:pt x="21835" y="305395"/>
                </a:lnTo>
                <a:lnTo>
                  <a:pt x="14109" y="355653"/>
                </a:lnTo>
                <a:lnTo>
                  <a:pt x="7968" y="406111"/>
                </a:lnTo>
                <a:lnTo>
                  <a:pt x="3506" y="456750"/>
                </a:lnTo>
                <a:lnTo>
                  <a:pt x="818" y="507556"/>
                </a:lnTo>
                <a:lnTo>
                  <a:pt x="0" y="558511"/>
                </a:lnTo>
                <a:lnTo>
                  <a:pt x="1146" y="609600"/>
                </a:lnTo>
                <a:lnTo>
                  <a:pt x="3181" y="658923"/>
                </a:lnTo>
                <a:lnTo>
                  <a:pt x="6326" y="708380"/>
                </a:lnTo>
                <a:lnTo>
                  <a:pt x="10545" y="757919"/>
                </a:lnTo>
                <a:lnTo>
                  <a:pt x="12576" y="777068"/>
                </a:lnTo>
                <a:lnTo>
                  <a:pt x="12576" y="564641"/>
                </a:lnTo>
                <a:lnTo>
                  <a:pt x="12583" y="565039"/>
                </a:lnTo>
                <a:lnTo>
                  <a:pt x="13504" y="516002"/>
                </a:lnTo>
                <a:lnTo>
                  <a:pt x="15853" y="465874"/>
                </a:lnTo>
                <a:lnTo>
                  <a:pt x="19796" y="415606"/>
                </a:lnTo>
                <a:lnTo>
                  <a:pt x="25504" y="365784"/>
                </a:lnTo>
                <a:lnTo>
                  <a:pt x="32388" y="321854"/>
                </a:lnTo>
                <a:lnTo>
                  <a:pt x="32388" y="316991"/>
                </a:lnTo>
                <a:lnTo>
                  <a:pt x="42204" y="264984"/>
                </a:lnTo>
                <a:lnTo>
                  <a:pt x="53086" y="212764"/>
                </a:lnTo>
                <a:lnTo>
                  <a:pt x="65238" y="160842"/>
                </a:lnTo>
                <a:lnTo>
                  <a:pt x="78870" y="109727"/>
                </a:lnTo>
                <a:lnTo>
                  <a:pt x="78870" y="110489"/>
                </a:lnTo>
                <a:lnTo>
                  <a:pt x="90300" y="67817"/>
                </a:lnTo>
                <a:lnTo>
                  <a:pt x="90300" y="68579"/>
                </a:lnTo>
                <a:lnTo>
                  <a:pt x="104840" y="20912"/>
                </a:lnTo>
                <a:lnTo>
                  <a:pt x="111607" y="0"/>
                </a:lnTo>
                <a:close/>
              </a:path>
              <a:path w="111760" h="857250">
                <a:moveTo>
                  <a:pt x="12583" y="565039"/>
                </a:moveTo>
                <a:lnTo>
                  <a:pt x="12576" y="564641"/>
                </a:lnTo>
                <a:lnTo>
                  <a:pt x="12576" y="565403"/>
                </a:lnTo>
                <a:lnTo>
                  <a:pt x="12583" y="565039"/>
                </a:lnTo>
                <a:close/>
              </a:path>
              <a:path w="111760" h="857250">
                <a:moveTo>
                  <a:pt x="35310" y="857250"/>
                </a:moveTo>
                <a:lnTo>
                  <a:pt x="33582" y="845142"/>
                </a:lnTo>
                <a:lnTo>
                  <a:pt x="27485" y="796344"/>
                </a:lnTo>
                <a:lnTo>
                  <a:pt x="22258" y="747536"/>
                </a:lnTo>
                <a:lnTo>
                  <a:pt x="17910" y="698753"/>
                </a:lnTo>
                <a:lnTo>
                  <a:pt x="17910" y="699515"/>
                </a:lnTo>
                <a:lnTo>
                  <a:pt x="13338" y="608838"/>
                </a:lnTo>
                <a:lnTo>
                  <a:pt x="12583" y="565039"/>
                </a:lnTo>
                <a:lnTo>
                  <a:pt x="12583" y="777133"/>
                </a:lnTo>
                <a:lnTo>
                  <a:pt x="15803" y="807490"/>
                </a:lnTo>
                <a:lnTo>
                  <a:pt x="22094" y="857250"/>
                </a:lnTo>
                <a:lnTo>
                  <a:pt x="35310" y="857250"/>
                </a:lnTo>
                <a:close/>
              </a:path>
              <a:path w="111760" h="857250">
                <a:moveTo>
                  <a:pt x="33150" y="316991"/>
                </a:moveTo>
                <a:lnTo>
                  <a:pt x="32388" y="316991"/>
                </a:lnTo>
                <a:lnTo>
                  <a:pt x="32388" y="321854"/>
                </a:lnTo>
                <a:lnTo>
                  <a:pt x="33150" y="3169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74839" y="54924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3999" y="857250"/>
                </a:lnTo>
                <a:lnTo>
                  <a:pt x="9143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10341" y="5650229"/>
            <a:ext cx="288925" cy="359410"/>
          </a:xfrm>
          <a:custGeom>
            <a:avLst/>
            <a:gdLst/>
            <a:ahLst/>
            <a:cxnLst/>
            <a:rect l="l" t="t" r="r" b="b"/>
            <a:pathLst>
              <a:path w="288925" h="359410">
                <a:moveTo>
                  <a:pt x="0" y="0"/>
                </a:moveTo>
                <a:lnTo>
                  <a:pt x="0" y="358901"/>
                </a:lnTo>
                <a:lnTo>
                  <a:pt x="288798" y="358901"/>
                </a:lnTo>
                <a:lnTo>
                  <a:pt x="28879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950599" y="6220205"/>
            <a:ext cx="3221355" cy="129539"/>
          </a:xfrm>
          <a:custGeom>
            <a:avLst/>
            <a:gdLst/>
            <a:ahLst/>
            <a:cxnLst/>
            <a:rect l="l" t="t" r="r" b="b"/>
            <a:pathLst>
              <a:path w="3221354" h="129539">
                <a:moveTo>
                  <a:pt x="3220974" y="129540"/>
                </a:moveTo>
                <a:lnTo>
                  <a:pt x="3220974" y="0"/>
                </a:lnTo>
                <a:lnTo>
                  <a:pt x="0" y="0"/>
                </a:lnTo>
                <a:lnTo>
                  <a:pt x="0" y="129540"/>
                </a:lnTo>
                <a:lnTo>
                  <a:pt x="6096" y="129540"/>
                </a:lnTo>
                <a:lnTo>
                  <a:pt x="6096" y="12192"/>
                </a:lnTo>
                <a:lnTo>
                  <a:pt x="12192" y="6096"/>
                </a:lnTo>
                <a:lnTo>
                  <a:pt x="12191" y="12192"/>
                </a:lnTo>
                <a:lnTo>
                  <a:pt x="3208019" y="12192"/>
                </a:lnTo>
                <a:lnTo>
                  <a:pt x="3208019" y="6096"/>
                </a:lnTo>
                <a:lnTo>
                  <a:pt x="3214115" y="12192"/>
                </a:lnTo>
                <a:lnTo>
                  <a:pt x="3214115" y="129540"/>
                </a:lnTo>
                <a:lnTo>
                  <a:pt x="3220974" y="129540"/>
                </a:lnTo>
                <a:close/>
              </a:path>
              <a:path w="3221354" h="129539">
                <a:moveTo>
                  <a:pt x="12191" y="12192"/>
                </a:moveTo>
                <a:lnTo>
                  <a:pt x="12192" y="6096"/>
                </a:lnTo>
                <a:lnTo>
                  <a:pt x="6096" y="12192"/>
                </a:lnTo>
                <a:lnTo>
                  <a:pt x="12191" y="12192"/>
                </a:lnTo>
                <a:close/>
              </a:path>
              <a:path w="3221354" h="129539">
                <a:moveTo>
                  <a:pt x="12191" y="129540"/>
                </a:moveTo>
                <a:lnTo>
                  <a:pt x="12191" y="12192"/>
                </a:lnTo>
                <a:lnTo>
                  <a:pt x="6096" y="12192"/>
                </a:lnTo>
                <a:lnTo>
                  <a:pt x="6096" y="129540"/>
                </a:lnTo>
                <a:lnTo>
                  <a:pt x="12191" y="129540"/>
                </a:lnTo>
                <a:close/>
              </a:path>
              <a:path w="3221354" h="129539">
                <a:moveTo>
                  <a:pt x="3214115" y="12192"/>
                </a:moveTo>
                <a:lnTo>
                  <a:pt x="3208019" y="6096"/>
                </a:lnTo>
                <a:lnTo>
                  <a:pt x="3208019" y="12192"/>
                </a:lnTo>
                <a:lnTo>
                  <a:pt x="3214115" y="12192"/>
                </a:lnTo>
                <a:close/>
              </a:path>
              <a:path w="3221354" h="129539">
                <a:moveTo>
                  <a:pt x="3214115" y="129540"/>
                </a:moveTo>
                <a:lnTo>
                  <a:pt x="3214115" y="12192"/>
                </a:lnTo>
                <a:lnTo>
                  <a:pt x="3208019" y="12192"/>
                </a:lnTo>
                <a:lnTo>
                  <a:pt x="3208019" y="129540"/>
                </a:lnTo>
                <a:lnTo>
                  <a:pt x="3214115" y="12954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34110" y="5492496"/>
            <a:ext cx="852805" cy="855344"/>
          </a:xfrm>
          <a:custGeom>
            <a:avLst/>
            <a:gdLst/>
            <a:ahLst/>
            <a:cxnLst/>
            <a:rect l="l" t="t" r="r" b="b"/>
            <a:pathLst>
              <a:path w="852804" h="855345">
                <a:moveTo>
                  <a:pt x="199269" y="674369"/>
                </a:moveTo>
                <a:lnTo>
                  <a:pt x="176099" y="624468"/>
                </a:lnTo>
                <a:lnTo>
                  <a:pt x="155183" y="572281"/>
                </a:lnTo>
                <a:lnTo>
                  <a:pt x="136117" y="519322"/>
                </a:lnTo>
                <a:lnTo>
                  <a:pt x="118497" y="467105"/>
                </a:lnTo>
                <a:lnTo>
                  <a:pt x="118497" y="467867"/>
                </a:lnTo>
                <a:lnTo>
                  <a:pt x="104152" y="421035"/>
                </a:lnTo>
                <a:lnTo>
                  <a:pt x="90595" y="373853"/>
                </a:lnTo>
                <a:lnTo>
                  <a:pt x="77834" y="326356"/>
                </a:lnTo>
                <a:lnTo>
                  <a:pt x="65878" y="278576"/>
                </a:lnTo>
                <a:lnTo>
                  <a:pt x="54734" y="230549"/>
                </a:lnTo>
                <a:lnTo>
                  <a:pt x="44410" y="182309"/>
                </a:lnTo>
                <a:lnTo>
                  <a:pt x="34915" y="133889"/>
                </a:lnTo>
                <a:lnTo>
                  <a:pt x="26258" y="85323"/>
                </a:lnTo>
                <a:lnTo>
                  <a:pt x="18446" y="36646"/>
                </a:lnTo>
                <a:lnTo>
                  <a:pt x="13215" y="0"/>
                </a:lnTo>
                <a:lnTo>
                  <a:pt x="0" y="0"/>
                </a:lnTo>
                <a:lnTo>
                  <a:pt x="7198" y="49273"/>
                </a:lnTo>
                <a:lnTo>
                  <a:pt x="15360" y="98632"/>
                </a:lnTo>
                <a:lnTo>
                  <a:pt x="24418" y="147819"/>
                </a:lnTo>
                <a:lnTo>
                  <a:pt x="34338" y="196782"/>
                </a:lnTo>
                <a:lnTo>
                  <a:pt x="45083" y="245471"/>
                </a:lnTo>
                <a:lnTo>
                  <a:pt x="56619" y="293835"/>
                </a:lnTo>
                <a:lnTo>
                  <a:pt x="68911" y="341822"/>
                </a:lnTo>
                <a:lnTo>
                  <a:pt x="81921" y="389381"/>
                </a:lnTo>
                <a:lnTo>
                  <a:pt x="96098" y="437705"/>
                </a:lnTo>
                <a:lnTo>
                  <a:pt x="111825" y="487910"/>
                </a:lnTo>
                <a:lnTo>
                  <a:pt x="129199" y="539091"/>
                </a:lnTo>
                <a:lnTo>
                  <a:pt x="148320" y="590345"/>
                </a:lnTo>
                <a:lnTo>
                  <a:pt x="169285" y="640767"/>
                </a:lnTo>
                <a:lnTo>
                  <a:pt x="192192" y="689453"/>
                </a:lnTo>
                <a:lnTo>
                  <a:pt x="198507" y="701109"/>
                </a:lnTo>
                <a:lnTo>
                  <a:pt x="198507" y="674369"/>
                </a:lnTo>
                <a:lnTo>
                  <a:pt x="199269" y="674369"/>
                </a:lnTo>
                <a:close/>
              </a:path>
              <a:path w="852804" h="855345">
                <a:moveTo>
                  <a:pt x="281565" y="802386"/>
                </a:moveTo>
                <a:lnTo>
                  <a:pt x="267849" y="787907"/>
                </a:lnTo>
                <a:lnTo>
                  <a:pt x="254133" y="770381"/>
                </a:lnTo>
                <a:lnTo>
                  <a:pt x="240417" y="749807"/>
                </a:lnTo>
                <a:lnTo>
                  <a:pt x="240417" y="750569"/>
                </a:lnTo>
                <a:lnTo>
                  <a:pt x="226701" y="726948"/>
                </a:lnTo>
                <a:lnTo>
                  <a:pt x="226701" y="727709"/>
                </a:lnTo>
                <a:lnTo>
                  <a:pt x="198507" y="674369"/>
                </a:lnTo>
                <a:lnTo>
                  <a:pt x="198507" y="701109"/>
                </a:lnTo>
                <a:lnTo>
                  <a:pt x="217140" y="735499"/>
                </a:lnTo>
                <a:lnTo>
                  <a:pt x="244227" y="778001"/>
                </a:lnTo>
                <a:lnTo>
                  <a:pt x="279292" y="818464"/>
                </a:lnTo>
                <a:lnTo>
                  <a:pt x="280803" y="819443"/>
                </a:lnTo>
                <a:lnTo>
                  <a:pt x="280803" y="802386"/>
                </a:lnTo>
                <a:lnTo>
                  <a:pt x="281565" y="802386"/>
                </a:lnTo>
                <a:close/>
              </a:path>
              <a:path w="852804" h="855345">
                <a:moveTo>
                  <a:pt x="294519" y="828331"/>
                </a:moveTo>
                <a:lnTo>
                  <a:pt x="294519" y="814577"/>
                </a:lnTo>
                <a:lnTo>
                  <a:pt x="280803" y="802386"/>
                </a:lnTo>
                <a:lnTo>
                  <a:pt x="280803" y="819443"/>
                </a:lnTo>
                <a:lnTo>
                  <a:pt x="294519" y="828331"/>
                </a:lnTo>
                <a:close/>
              </a:path>
              <a:path w="852804" h="855345">
                <a:moveTo>
                  <a:pt x="301377" y="819150"/>
                </a:moveTo>
                <a:lnTo>
                  <a:pt x="293757" y="813815"/>
                </a:lnTo>
                <a:lnTo>
                  <a:pt x="294519" y="814577"/>
                </a:lnTo>
                <a:lnTo>
                  <a:pt x="294519" y="828331"/>
                </a:lnTo>
                <a:lnTo>
                  <a:pt x="300615" y="832282"/>
                </a:lnTo>
                <a:lnTo>
                  <a:pt x="300615" y="819150"/>
                </a:lnTo>
                <a:lnTo>
                  <a:pt x="301377" y="819150"/>
                </a:lnTo>
                <a:close/>
              </a:path>
              <a:path w="852804" h="855345">
                <a:moveTo>
                  <a:pt x="308235" y="823721"/>
                </a:moveTo>
                <a:lnTo>
                  <a:pt x="300615" y="819150"/>
                </a:lnTo>
                <a:lnTo>
                  <a:pt x="300615" y="832282"/>
                </a:lnTo>
                <a:lnTo>
                  <a:pt x="307473" y="836726"/>
                </a:lnTo>
                <a:lnTo>
                  <a:pt x="307473" y="823721"/>
                </a:lnTo>
                <a:lnTo>
                  <a:pt x="308235" y="823721"/>
                </a:lnTo>
                <a:close/>
              </a:path>
              <a:path w="852804" h="855345">
                <a:moveTo>
                  <a:pt x="315093" y="828293"/>
                </a:moveTo>
                <a:lnTo>
                  <a:pt x="307473" y="823721"/>
                </a:lnTo>
                <a:lnTo>
                  <a:pt x="307473" y="836726"/>
                </a:lnTo>
                <a:lnTo>
                  <a:pt x="314331" y="841170"/>
                </a:lnTo>
                <a:lnTo>
                  <a:pt x="314331" y="828293"/>
                </a:lnTo>
                <a:lnTo>
                  <a:pt x="315093" y="828293"/>
                </a:lnTo>
                <a:close/>
              </a:path>
              <a:path w="852804" h="855345">
                <a:moveTo>
                  <a:pt x="321951" y="831341"/>
                </a:moveTo>
                <a:lnTo>
                  <a:pt x="314331" y="828293"/>
                </a:lnTo>
                <a:lnTo>
                  <a:pt x="314331" y="841170"/>
                </a:lnTo>
                <a:lnTo>
                  <a:pt x="318818" y="844078"/>
                </a:lnTo>
                <a:lnTo>
                  <a:pt x="321189" y="844670"/>
                </a:lnTo>
                <a:lnTo>
                  <a:pt x="321189" y="831341"/>
                </a:lnTo>
                <a:lnTo>
                  <a:pt x="321951" y="831341"/>
                </a:lnTo>
                <a:close/>
              </a:path>
              <a:path w="852804" h="855345">
                <a:moveTo>
                  <a:pt x="343287" y="838962"/>
                </a:moveTo>
                <a:lnTo>
                  <a:pt x="335667" y="837438"/>
                </a:lnTo>
                <a:lnTo>
                  <a:pt x="328809" y="834389"/>
                </a:lnTo>
                <a:lnTo>
                  <a:pt x="321189" y="831341"/>
                </a:lnTo>
                <a:lnTo>
                  <a:pt x="321189" y="844670"/>
                </a:lnTo>
                <a:lnTo>
                  <a:pt x="342525" y="850004"/>
                </a:lnTo>
                <a:lnTo>
                  <a:pt x="342525" y="838962"/>
                </a:lnTo>
                <a:lnTo>
                  <a:pt x="343287" y="838962"/>
                </a:lnTo>
                <a:close/>
              </a:path>
              <a:path w="852804" h="855345">
                <a:moveTo>
                  <a:pt x="373005" y="854086"/>
                </a:moveTo>
                <a:lnTo>
                  <a:pt x="373005" y="842771"/>
                </a:lnTo>
                <a:lnTo>
                  <a:pt x="364623" y="842771"/>
                </a:lnTo>
                <a:lnTo>
                  <a:pt x="357765" y="842009"/>
                </a:lnTo>
                <a:lnTo>
                  <a:pt x="342525" y="838962"/>
                </a:lnTo>
                <a:lnTo>
                  <a:pt x="342525" y="850004"/>
                </a:lnTo>
                <a:lnTo>
                  <a:pt x="362300" y="854946"/>
                </a:lnTo>
                <a:lnTo>
                  <a:pt x="373005" y="854086"/>
                </a:lnTo>
                <a:close/>
              </a:path>
              <a:path w="852804" h="855345">
                <a:moveTo>
                  <a:pt x="365385" y="842771"/>
                </a:moveTo>
                <a:lnTo>
                  <a:pt x="364623" y="842695"/>
                </a:lnTo>
                <a:lnTo>
                  <a:pt x="365385" y="842771"/>
                </a:lnTo>
                <a:close/>
              </a:path>
              <a:path w="852804" h="855345">
                <a:moveTo>
                  <a:pt x="412629" y="849927"/>
                </a:moveTo>
                <a:lnTo>
                  <a:pt x="412629" y="837438"/>
                </a:lnTo>
                <a:lnTo>
                  <a:pt x="402513" y="839241"/>
                </a:lnTo>
                <a:lnTo>
                  <a:pt x="392488" y="841224"/>
                </a:lnTo>
                <a:lnTo>
                  <a:pt x="382438" y="842647"/>
                </a:lnTo>
                <a:lnTo>
                  <a:pt x="372243" y="842771"/>
                </a:lnTo>
                <a:lnTo>
                  <a:pt x="373005" y="842771"/>
                </a:lnTo>
                <a:lnTo>
                  <a:pt x="373005" y="854086"/>
                </a:lnTo>
                <a:lnTo>
                  <a:pt x="409232" y="851174"/>
                </a:lnTo>
                <a:lnTo>
                  <a:pt x="412629" y="849927"/>
                </a:lnTo>
                <a:close/>
              </a:path>
              <a:path w="852804" h="855345">
                <a:moveTo>
                  <a:pt x="462921" y="816863"/>
                </a:moveTo>
                <a:lnTo>
                  <a:pt x="450542" y="822937"/>
                </a:lnTo>
                <a:lnTo>
                  <a:pt x="437942" y="828565"/>
                </a:lnTo>
                <a:lnTo>
                  <a:pt x="425068" y="833485"/>
                </a:lnTo>
                <a:lnTo>
                  <a:pt x="411867" y="837438"/>
                </a:lnTo>
                <a:lnTo>
                  <a:pt x="412629" y="837438"/>
                </a:lnTo>
                <a:lnTo>
                  <a:pt x="412629" y="849927"/>
                </a:lnTo>
                <a:lnTo>
                  <a:pt x="459111" y="832865"/>
                </a:lnTo>
                <a:lnTo>
                  <a:pt x="462159" y="831082"/>
                </a:lnTo>
                <a:lnTo>
                  <a:pt x="462159" y="817626"/>
                </a:lnTo>
                <a:lnTo>
                  <a:pt x="462921" y="816863"/>
                </a:lnTo>
                <a:close/>
              </a:path>
              <a:path w="852804" h="855345">
                <a:moveTo>
                  <a:pt x="497973" y="810129"/>
                </a:moveTo>
                <a:lnTo>
                  <a:pt x="497973" y="796289"/>
                </a:lnTo>
                <a:lnTo>
                  <a:pt x="488829" y="802386"/>
                </a:lnTo>
                <a:lnTo>
                  <a:pt x="479685" y="807719"/>
                </a:lnTo>
                <a:lnTo>
                  <a:pt x="471303" y="812291"/>
                </a:lnTo>
                <a:lnTo>
                  <a:pt x="462159" y="817626"/>
                </a:lnTo>
                <a:lnTo>
                  <a:pt x="462159" y="831082"/>
                </a:lnTo>
                <a:lnTo>
                  <a:pt x="497973" y="810129"/>
                </a:lnTo>
                <a:close/>
              </a:path>
              <a:path w="852804" h="855345">
                <a:moveTo>
                  <a:pt x="807308" y="507941"/>
                </a:moveTo>
                <a:lnTo>
                  <a:pt x="798309" y="500244"/>
                </a:lnTo>
                <a:lnTo>
                  <a:pt x="776882" y="524889"/>
                </a:lnTo>
                <a:lnTo>
                  <a:pt x="747223" y="558565"/>
                </a:lnTo>
                <a:lnTo>
                  <a:pt x="717336" y="592040"/>
                </a:lnTo>
                <a:lnTo>
                  <a:pt x="686949" y="625601"/>
                </a:lnTo>
                <a:lnTo>
                  <a:pt x="686949" y="624839"/>
                </a:lnTo>
                <a:lnTo>
                  <a:pt x="663445" y="650380"/>
                </a:lnTo>
                <a:lnTo>
                  <a:pt x="639505" y="674955"/>
                </a:lnTo>
                <a:lnTo>
                  <a:pt x="615094" y="699047"/>
                </a:lnTo>
                <a:lnTo>
                  <a:pt x="590175" y="723138"/>
                </a:lnTo>
                <a:lnTo>
                  <a:pt x="590175" y="722376"/>
                </a:lnTo>
                <a:lnTo>
                  <a:pt x="571125" y="739901"/>
                </a:lnTo>
                <a:lnTo>
                  <a:pt x="542931" y="763524"/>
                </a:lnTo>
                <a:lnTo>
                  <a:pt x="542931" y="762762"/>
                </a:lnTo>
                <a:lnTo>
                  <a:pt x="531964" y="771761"/>
                </a:lnTo>
                <a:lnTo>
                  <a:pt x="520638" y="780297"/>
                </a:lnTo>
                <a:lnTo>
                  <a:pt x="509029" y="788447"/>
                </a:lnTo>
                <a:lnTo>
                  <a:pt x="497211" y="796289"/>
                </a:lnTo>
                <a:lnTo>
                  <a:pt x="497973" y="796289"/>
                </a:lnTo>
                <a:lnTo>
                  <a:pt x="497973" y="810129"/>
                </a:lnTo>
                <a:lnTo>
                  <a:pt x="501525" y="808051"/>
                </a:lnTo>
                <a:lnTo>
                  <a:pt x="541719" y="780102"/>
                </a:lnTo>
                <a:lnTo>
                  <a:pt x="579964" y="749475"/>
                </a:lnTo>
                <a:lnTo>
                  <a:pt x="616529" y="716626"/>
                </a:lnTo>
                <a:lnTo>
                  <a:pt x="651683" y="682009"/>
                </a:lnTo>
                <a:lnTo>
                  <a:pt x="685696" y="646079"/>
                </a:lnTo>
                <a:lnTo>
                  <a:pt x="718837" y="609293"/>
                </a:lnTo>
                <a:lnTo>
                  <a:pt x="807308" y="507941"/>
                </a:lnTo>
                <a:close/>
              </a:path>
              <a:path w="852804" h="855345">
                <a:moveTo>
                  <a:pt x="852303" y="446531"/>
                </a:moveTo>
                <a:lnTo>
                  <a:pt x="773817" y="479298"/>
                </a:lnTo>
                <a:lnTo>
                  <a:pt x="798309" y="500244"/>
                </a:lnTo>
                <a:lnTo>
                  <a:pt x="806583" y="490727"/>
                </a:lnTo>
                <a:lnTo>
                  <a:pt x="815727" y="498348"/>
                </a:lnTo>
                <a:lnTo>
                  <a:pt x="815727" y="515142"/>
                </a:lnTo>
                <a:lnTo>
                  <a:pt x="831729" y="528827"/>
                </a:lnTo>
                <a:lnTo>
                  <a:pt x="852303" y="446531"/>
                </a:lnTo>
                <a:close/>
              </a:path>
              <a:path w="852804" h="855345">
                <a:moveTo>
                  <a:pt x="815727" y="498348"/>
                </a:moveTo>
                <a:lnTo>
                  <a:pt x="806583" y="490727"/>
                </a:lnTo>
                <a:lnTo>
                  <a:pt x="798309" y="500244"/>
                </a:lnTo>
                <a:lnTo>
                  <a:pt x="807308" y="507941"/>
                </a:lnTo>
                <a:lnTo>
                  <a:pt x="815727" y="498348"/>
                </a:lnTo>
                <a:close/>
              </a:path>
              <a:path w="852804" h="855345">
                <a:moveTo>
                  <a:pt x="815727" y="515142"/>
                </a:moveTo>
                <a:lnTo>
                  <a:pt x="815727" y="498348"/>
                </a:lnTo>
                <a:lnTo>
                  <a:pt x="807308" y="507941"/>
                </a:lnTo>
                <a:lnTo>
                  <a:pt x="815727" y="5151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825117" y="5039105"/>
            <a:ext cx="2139950" cy="741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3: move</a:t>
            </a:r>
            <a:r>
              <a:rPr sz="2400" spc="-9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pattern  accordingly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74839" y="549249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52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950599" y="6349746"/>
            <a:ext cx="3221355" cy="715010"/>
          </a:xfrm>
          <a:custGeom>
            <a:avLst/>
            <a:gdLst/>
            <a:ahLst/>
            <a:cxnLst/>
            <a:rect l="l" t="t" r="r" b="b"/>
            <a:pathLst>
              <a:path w="3221354" h="715009">
                <a:moveTo>
                  <a:pt x="12192" y="701802"/>
                </a:moveTo>
                <a:lnTo>
                  <a:pt x="12192" y="0"/>
                </a:lnTo>
                <a:lnTo>
                  <a:pt x="0" y="0"/>
                </a:lnTo>
                <a:lnTo>
                  <a:pt x="0" y="714756"/>
                </a:lnTo>
                <a:lnTo>
                  <a:pt x="6096" y="714756"/>
                </a:lnTo>
                <a:lnTo>
                  <a:pt x="6096" y="701802"/>
                </a:lnTo>
                <a:lnTo>
                  <a:pt x="12192" y="701802"/>
                </a:lnTo>
                <a:close/>
              </a:path>
              <a:path w="3221354" h="715009">
                <a:moveTo>
                  <a:pt x="3214115" y="701802"/>
                </a:moveTo>
                <a:lnTo>
                  <a:pt x="6096" y="701802"/>
                </a:lnTo>
                <a:lnTo>
                  <a:pt x="12192" y="708660"/>
                </a:lnTo>
                <a:lnTo>
                  <a:pt x="12191" y="714756"/>
                </a:lnTo>
                <a:lnTo>
                  <a:pt x="3208019" y="714756"/>
                </a:lnTo>
                <a:lnTo>
                  <a:pt x="3208019" y="708660"/>
                </a:lnTo>
                <a:lnTo>
                  <a:pt x="3214115" y="701802"/>
                </a:lnTo>
                <a:close/>
              </a:path>
              <a:path w="3221354" h="715009">
                <a:moveTo>
                  <a:pt x="12191" y="714756"/>
                </a:moveTo>
                <a:lnTo>
                  <a:pt x="12192" y="708660"/>
                </a:lnTo>
                <a:lnTo>
                  <a:pt x="6096" y="701802"/>
                </a:lnTo>
                <a:lnTo>
                  <a:pt x="6096" y="714756"/>
                </a:lnTo>
                <a:lnTo>
                  <a:pt x="12191" y="714756"/>
                </a:lnTo>
                <a:close/>
              </a:path>
              <a:path w="3221354" h="715009">
                <a:moveTo>
                  <a:pt x="3220974" y="714756"/>
                </a:moveTo>
                <a:lnTo>
                  <a:pt x="3220974" y="0"/>
                </a:lnTo>
                <a:lnTo>
                  <a:pt x="3208019" y="0"/>
                </a:lnTo>
                <a:lnTo>
                  <a:pt x="3208019" y="701802"/>
                </a:lnTo>
                <a:lnTo>
                  <a:pt x="3214115" y="701802"/>
                </a:lnTo>
                <a:lnTo>
                  <a:pt x="3214115" y="714756"/>
                </a:lnTo>
                <a:lnTo>
                  <a:pt x="3220974" y="714756"/>
                </a:lnTo>
                <a:close/>
              </a:path>
              <a:path w="3221354" h="715009">
                <a:moveTo>
                  <a:pt x="3214115" y="714756"/>
                </a:moveTo>
                <a:lnTo>
                  <a:pt x="3214115" y="701802"/>
                </a:lnTo>
                <a:lnTo>
                  <a:pt x="3208019" y="708660"/>
                </a:lnTo>
                <a:lnTo>
                  <a:pt x="3208019" y="714756"/>
                </a:lnTo>
                <a:lnTo>
                  <a:pt x="3214115" y="714756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457827" y="5158740"/>
            <a:ext cx="5138420" cy="148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ct val="100000"/>
              </a:lnSpc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1: fail at</a:t>
            </a:r>
            <a:r>
              <a:rPr sz="2400" spc="-9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PosP=4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560070" algn="l"/>
                <a:tab pos="1108075" algn="l"/>
                <a:tab pos="1655445" algn="l"/>
                <a:tab pos="2203450" algn="l"/>
                <a:tab pos="2750820" algn="l"/>
                <a:tab pos="3298825" algn="l"/>
                <a:tab pos="3846195" algn="l"/>
                <a:tab pos="4394200" algn="l"/>
                <a:tab pos="4941570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a	b	c	a	b	c	a	c	a	b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>
              <a:latin typeface="Times New Roman"/>
              <a:cs typeface="Times New Roman"/>
            </a:endParaRPr>
          </a:p>
          <a:p>
            <a:pPr marL="589915">
              <a:lnSpc>
                <a:spcPct val="100000"/>
              </a:lnSpc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Program 2.15 line</a:t>
            </a:r>
            <a:r>
              <a:rPr sz="2400" spc="-4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12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35422" y="6629400"/>
            <a:ext cx="3040380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PosP=pat.f[PosP-1]+1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53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53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7047" y="750823"/>
            <a:ext cx="644715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dirty="0"/>
              <a:t>Fast Matching Example:</a:t>
            </a:r>
            <a:r>
              <a:rPr sz="4000" spc="-120" dirty="0"/>
              <a:t> </a:t>
            </a:r>
            <a:r>
              <a:rPr sz="4000" dirty="0"/>
              <a:t>String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2027047" y="1360423"/>
            <a:ext cx="3695700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Matching</a:t>
            </a:r>
            <a:r>
              <a:rPr sz="4000" i="1" spc="-105" dirty="0">
                <a:solidFill>
                  <a:srgbClr val="003365"/>
                </a:solidFill>
                <a:latin typeface="Times New Roman"/>
                <a:cs typeface="Times New Roman"/>
              </a:rPr>
              <a:t> </a:t>
            </a:r>
            <a:r>
              <a:rPr sz="4000" i="1" dirty="0">
                <a:solidFill>
                  <a:srgbClr val="003365"/>
                </a:solidFill>
                <a:latin typeface="Times New Roman"/>
                <a:cs typeface="Times New Roman"/>
              </a:rPr>
              <a:t>(contd.)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4839" y="1206246"/>
            <a:ext cx="824484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2920745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42395" y="3496055"/>
            <a:ext cx="0" cy="281940"/>
          </a:xfrm>
          <a:custGeom>
            <a:avLst/>
            <a:gdLst/>
            <a:ahLst/>
            <a:cxnLst/>
            <a:rect l="l" t="t" r="r" b="b"/>
            <a:pathLst>
              <a:path h="281939">
                <a:moveTo>
                  <a:pt x="0" y="0"/>
                </a:moveTo>
                <a:lnTo>
                  <a:pt x="0" y="281939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292071" y="3738371"/>
            <a:ext cx="130429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60070" algn="l"/>
                <a:tab pos="1107440" algn="l"/>
              </a:tabLst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?	?	?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7855" y="3738371"/>
            <a:ext cx="574040" cy="764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s</a:t>
            </a:r>
            <a:r>
              <a:rPr sz="2400" b="1" spc="-110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=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p</a:t>
            </a:r>
            <a:r>
              <a:rPr sz="2400" b="1" spc="-105" dirty="0">
                <a:solidFill>
                  <a:srgbClr val="003365"/>
                </a:solidFill>
                <a:latin typeface="Courier New"/>
                <a:cs typeface="Courier New"/>
              </a:rPr>
              <a:t> </a:t>
            </a: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=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842395" y="37779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842395" y="463524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330843" y="2322576"/>
          <a:ext cx="6048750" cy="28806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2054"/>
                <a:gridCol w="523924"/>
                <a:gridCol w="620599"/>
                <a:gridCol w="432053"/>
                <a:gridCol w="502920"/>
                <a:gridCol w="725959"/>
                <a:gridCol w="547451"/>
                <a:gridCol w="456422"/>
                <a:gridCol w="638784"/>
                <a:gridCol w="547603"/>
                <a:gridCol w="620981"/>
              </a:tblGrid>
              <a:tr h="399314">
                <a:tc>
                  <a:txBody>
                    <a:bodyPr/>
                    <a:lstStyle/>
                    <a:p>
                      <a:pPr marR="92710" algn="r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j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955">
                      <a:solidFill>
                        <a:srgbClr val="000000"/>
                      </a:solidFill>
                      <a:prstDash val="solid"/>
                    </a:lnR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955">
                      <a:solidFill>
                        <a:srgbClr val="000000"/>
                      </a:solidFill>
                      <a:prstDash val="solid"/>
                    </a:lnL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6210" algn="r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275" algn="r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5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6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7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251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8194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5159">
                <a:tc>
                  <a:txBody>
                    <a:bodyPr/>
                    <a:lstStyle/>
                    <a:p>
                      <a:pPr marR="92710" algn="r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956">
                      <a:solidFill>
                        <a:srgbClr val="000000"/>
                      </a:solidFill>
                      <a:prstDash val="solid"/>
                    </a:lnR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6210" algn="r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3990" algn="r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206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194">
                      <a:solidFill>
                        <a:srgbClr val="000000"/>
                      </a:solidFill>
                      <a:prstDash val="solid"/>
                    </a:lnT>
                    <a:lnB w="2895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5054">
                <a:tc>
                  <a:txBody>
                    <a:bodyPr/>
                    <a:lstStyle/>
                    <a:p>
                      <a:pPr marR="92710" algn="r">
                        <a:lnSpc>
                          <a:spcPts val="229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8956">
                      <a:solidFill>
                        <a:srgbClr val="000000"/>
                      </a:solidFill>
                      <a:prstDash val="solid"/>
                    </a:lnR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ts val="2290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50165" marR="267970" indent="-63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  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8956">
                      <a:solidFill>
                        <a:srgbClr val="000000"/>
                      </a:solidFill>
                      <a:prstDash val="solid"/>
                    </a:lnL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290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88265" indent="-635">
                        <a:lnSpc>
                          <a:spcPct val="100000"/>
                        </a:lnSpc>
                        <a:tabLst>
                          <a:tab pos="635635" algn="l"/>
                        </a:tabLst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  b	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415">
                        <a:lnSpc>
                          <a:spcPts val="2290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5240" indent="-635">
                        <a:lnSpc>
                          <a:spcPct val="100000"/>
                        </a:lnSpc>
                        <a:tabLst>
                          <a:tab pos="562610" algn="l"/>
                        </a:tabLst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  </a:t>
                      </a:r>
                      <a:r>
                        <a:rPr sz="2400" b="1" u="heavy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	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95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>
                        <a:lnSpc>
                          <a:spcPts val="229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30810" marR="180975" indent="-63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  </a:t>
                      </a:r>
                      <a:r>
                        <a:rPr sz="2400" b="1" u="heavy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95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680">
                        <a:lnSpc>
                          <a:spcPts val="229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17526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?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17526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229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?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229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290"/>
                        </a:lnSpc>
                      </a:pPr>
                      <a:r>
                        <a:rPr sz="2400" b="1" spc="-5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-1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ts val="229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229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?</a:t>
                      </a:r>
                      <a:endParaRPr sz="24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8955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44018"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38100">
                      <a:solidFill>
                        <a:srgbClr val="006699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38100">
                      <a:solidFill>
                        <a:srgbClr val="006699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2588399" y="5298947"/>
            <a:ext cx="774700" cy="193675"/>
          </a:xfrm>
          <a:custGeom>
            <a:avLst/>
            <a:gdLst/>
            <a:ahLst/>
            <a:cxnLst/>
            <a:rect l="l" t="t" r="r" b="b"/>
            <a:pathLst>
              <a:path w="774700" h="193675">
                <a:moveTo>
                  <a:pt x="774192" y="0"/>
                </a:moveTo>
                <a:lnTo>
                  <a:pt x="0" y="193548"/>
                </a:lnTo>
                <a:lnTo>
                  <a:pt x="54452" y="193548"/>
                </a:lnTo>
                <a:lnTo>
                  <a:pt x="733385" y="22991"/>
                </a:lnTo>
                <a:lnTo>
                  <a:pt x="749046" y="6857"/>
                </a:lnTo>
                <a:lnTo>
                  <a:pt x="755142" y="17525"/>
                </a:lnTo>
                <a:lnTo>
                  <a:pt x="755142" y="19540"/>
                </a:lnTo>
                <a:lnTo>
                  <a:pt x="774192" y="0"/>
                </a:lnTo>
                <a:close/>
              </a:path>
              <a:path w="774700" h="193675">
                <a:moveTo>
                  <a:pt x="755142" y="19540"/>
                </a:moveTo>
                <a:lnTo>
                  <a:pt x="755142" y="17525"/>
                </a:lnTo>
                <a:lnTo>
                  <a:pt x="733385" y="22991"/>
                </a:lnTo>
                <a:lnTo>
                  <a:pt x="567826" y="193548"/>
                </a:lnTo>
                <a:lnTo>
                  <a:pt x="585500" y="193548"/>
                </a:lnTo>
                <a:lnTo>
                  <a:pt x="755142" y="19540"/>
                </a:lnTo>
                <a:close/>
              </a:path>
              <a:path w="774700" h="193675">
                <a:moveTo>
                  <a:pt x="755142" y="17525"/>
                </a:moveTo>
                <a:lnTo>
                  <a:pt x="749046" y="6857"/>
                </a:lnTo>
                <a:lnTo>
                  <a:pt x="733385" y="22991"/>
                </a:lnTo>
                <a:lnTo>
                  <a:pt x="755142" y="17525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900942" y="4880890"/>
          <a:ext cx="5704245" cy="1922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5161"/>
                <a:gridCol w="547679"/>
                <a:gridCol w="547679"/>
                <a:gridCol w="547634"/>
                <a:gridCol w="547634"/>
                <a:gridCol w="547634"/>
                <a:gridCol w="547649"/>
                <a:gridCol w="547801"/>
                <a:gridCol w="547832"/>
                <a:gridCol w="387542"/>
              </a:tblGrid>
              <a:tr h="553719">
                <a:tc>
                  <a:txBody>
                    <a:bodyPr/>
                    <a:lstStyle/>
                    <a:p>
                      <a:pPr marR="174625" algn="r">
                        <a:lnSpc>
                          <a:spcPts val="2525"/>
                        </a:lnSpc>
                        <a:tabLst>
                          <a:tab pos="569595" algn="l"/>
                        </a:tabLst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 </a:t>
                      </a:r>
                      <a:r>
                        <a:rPr sz="2400" b="1" spc="-10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u="heavy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	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252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ts val="252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ts val="2525"/>
                        </a:lnSpc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731520">
                <a:tc>
                  <a:txBody>
                    <a:bodyPr/>
                    <a:lstStyle/>
                    <a:p>
                      <a:pPr marR="173990" algn="r">
                        <a:lnSpc>
                          <a:spcPct val="100000"/>
                        </a:lnSpc>
                        <a:spcBef>
                          <a:spcPts val="1040"/>
                        </a:spcBef>
                        <a:tabLst>
                          <a:tab pos="547370" algn="l"/>
                        </a:tabLst>
                      </a:pPr>
                      <a:r>
                        <a:rPr sz="2400" b="1" u="heavy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	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5260" algn="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556260">
                <a:tc>
                  <a:txBody>
                    <a:bodyPr/>
                    <a:lstStyle/>
                    <a:p>
                      <a:pPr marR="174625" algn="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u="heavy" spc="-409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400" b="1" u="heavy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74625" algn="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2400" b="1" dirty="0">
                          <a:solidFill>
                            <a:srgbClr val="003365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endParaRPr sz="24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774839" y="2920745"/>
            <a:ext cx="824484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42395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70317" y="5492496"/>
            <a:ext cx="2376805" cy="857250"/>
          </a:xfrm>
          <a:custGeom>
            <a:avLst/>
            <a:gdLst/>
            <a:ahLst/>
            <a:cxnLst/>
            <a:rect l="l" t="t" r="r" b="b"/>
            <a:pathLst>
              <a:path w="2376804" h="857250">
                <a:moveTo>
                  <a:pt x="1994523" y="0"/>
                </a:moveTo>
                <a:lnTo>
                  <a:pt x="1443933" y="0"/>
                </a:lnTo>
                <a:lnTo>
                  <a:pt x="1386078" y="14477"/>
                </a:lnTo>
                <a:lnTo>
                  <a:pt x="0" y="14477"/>
                </a:lnTo>
                <a:lnTo>
                  <a:pt x="0" y="857250"/>
                </a:lnTo>
                <a:lnTo>
                  <a:pt x="1980438" y="857250"/>
                </a:lnTo>
                <a:lnTo>
                  <a:pt x="1980438" y="14477"/>
                </a:lnTo>
                <a:lnTo>
                  <a:pt x="1994523" y="0"/>
                </a:lnTo>
                <a:close/>
              </a:path>
              <a:path w="2376804" h="857250">
                <a:moveTo>
                  <a:pt x="2376678" y="857250"/>
                </a:moveTo>
                <a:lnTo>
                  <a:pt x="2376678" y="14477"/>
                </a:lnTo>
                <a:lnTo>
                  <a:pt x="1980438" y="14477"/>
                </a:lnTo>
                <a:lnTo>
                  <a:pt x="1980438" y="857250"/>
                </a:lnTo>
                <a:lnTo>
                  <a:pt x="2376678" y="8572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64221" y="5492496"/>
            <a:ext cx="2388870" cy="857250"/>
          </a:xfrm>
          <a:custGeom>
            <a:avLst/>
            <a:gdLst/>
            <a:ahLst/>
            <a:cxnLst/>
            <a:rect l="l" t="t" r="r" b="b"/>
            <a:pathLst>
              <a:path w="2388870" h="857250">
                <a:moveTo>
                  <a:pt x="1392173" y="21336"/>
                </a:moveTo>
                <a:lnTo>
                  <a:pt x="1392173" y="8381"/>
                </a:lnTo>
                <a:lnTo>
                  <a:pt x="0" y="8381"/>
                </a:lnTo>
                <a:lnTo>
                  <a:pt x="0" y="857250"/>
                </a:lnTo>
                <a:lnTo>
                  <a:pt x="6095" y="857250"/>
                </a:lnTo>
                <a:lnTo>
                  <a:pt x="6095" y="21336"/>
                </a:lnTo>
                <a:lnTo>
                  <a:pt x="12953" y="14477"/>
                </a:lnTo>
                <a:lnTo>
                  <a:pt x="12953" y="21336"/>
                </a:lnTo>
                <a:lnTo>
                  <a:pt x="1392173" y="21336"/>
                </a:lnTo>
                <a:close/>
              </a:path>
              <a:path w="2388870" h="857250">
                <a:moveTo>
                  <a:pt x="12953" y="21336"/>
                </a:moveTo>
                <a:lnTo>
                  <a:pt x="12953" y="14477"/>
                </a:lnTo>
                <a:lnTo>
                  <a:pt x="6095" y="21336"/>
                </a:lnTo>
                <a:lnTo>
                  <a:pt x="12953" y="21336"/>
                </a:lnTo>
                <a:close/>
              </a:path>
              <a:path w="2388870" h="857250">
                <a:moveTo>
                  <a:pt x="12953" y="857250"/>
                </a:moveTo>
                <a:lnTo>
                  <a:pt x="12953" y="21336"/>
                </a:lnTo>
                <a:lnTo>
                  <a:pt x="6095" y="21336"/>
                </a:lnTo>
                <a:lnTo>
                  <a:pt x="6095" y="857250"/>
                </a:lnTo>
                <a:lnTo>
                  <a:pt x="12953" y="857250"/>
                </a:lnTo>
                <a:close/>
              </a:path>
              <a:path w="2388870" h="857250">
                <a:moveTo>
                  <a:pt x="1478630" y="0"/>
                </a:moveTo>
                <a:lnTo>
                  <a:pt x="1424177" y="0"/>
                </a:lnTo>
                <a:lnTo>
                  <a:pt x="1390649" y="8381"/>
                </a:lnTo>
                <a:lnTo>
                  <a:pt x="1392173" y="8381"/>
                </a:lnTo>
                <a:lnTo>
                  <a:pt x="1392173" y="21336"/>
                </a:lnTo>
                <a:lnTo>
                  <a:pt x="1393698" y="21336"/>
                </a:lnTo>
                <a:lnTo>
                  <a:pt x="1478630" y="0"/>
                </a:lnTo>
                <a:close/>
              </a:path>
              <a:path w="2388870" h="857250">
                <a:moveTo>
                  <a:pt x="2009678" y="0"/>
                </a:moveTo>
                <a:lnTo>
                  <a:pt x="1992004" y="0"/>
                </a:lnTo>
                <a:lnTo>
                  <a:pt x="1971293" y="21336"/>
                </a:lnTo>
                <a:lnTo>
                  <a:pt x="1986534" y="21336"/>
                </a:lnTo>
                <a:lnTo>
                  <a:pt x="1986534" y="8381"/>
                </a:lnTo>
                <a:lnTo>
                  <a:pt x="2001506" y="8381"/>
                </a:lnTo>
                <a:lnTo>
                  <a:pt x="2009678" y="0"/>
                </a:lnTo>
                <a:close/>
              </a:path>
              <a:path w="2388870" h="857250">
                <a:moveTo>
                  <a:pt x="2001506" y="8381"/>
                </a:moveTo>
                <a:lnTo>
                  <a:pt x="1986534" y="8381"/>
                </a:lnTo>
                <a:lnTo>
                  <a:pt x="1991105" y="19050"/>
                </a:lnTo>
                <a:lnTo>
                  <a:pt x="2001506" y="8381"/>
                </a:lnTo>
                <a:close/>
              </a:path>
              <a:path w="2388870" h="857250">
                <a:moveTo>
                  <a:pt x="2388870" y="857250"/>
                </a:moveTo>
                <a:lnTo>
                  <a:pt x="2388869" y="8381"/>
                </a:lnTo>
                <a:lnTo>
                  <a:pt x="2001506" y="8381"/>
                </a:lnTo>
                <a:lnTo>
                  <a:pt x="1991105" y="19050"/>
                </a:lnTo>
                <a:lnTo>
                  <a:pt x="1986534" y="8381"/>
                </a:lnTo>
                <a:lnTo>
                  <a:pt x="1986534" y="21336"/>
                </a:lnTo>
                <a:lnTo>
                  <a:pt x="2376677" y="21336"/>
                </a:lnTo>
                <a:lnTo>
                  <a:pt x="2376677" y="14477"/>
                </a:lnTo>
                <a:lnTo>
                  <a:pt x="2382773" y="21336"/>
                </a:lnTo>
                <a:lnTo>
                  <a:pt x="2382774" y="857250"/>
                </a:lnTo>
                <a:lnTo>
                  <a:pt x="2388870" y="857250"/>
                </a:lnTo>
                <a:close/>
              </a:path>
              <a:path w="2388870" h="857250">
                <a:moveTo>
                  <a:pt x="2382773" y="21336"/>
                </a:moveTo>
                <a:lnTo>
                  <a:pt x="2376677" y="14477"/>
                </a:lnTo>
                <a:lnTo>
                  <a:pt x="2376677" y="21336"/>
                </a:lnTo>
                <a:lnTo>
                  <a:pt x="2382773" y="21336"/>
                </a:lnTo>
                <a:close/>
              </a:path>
              <a:path w="2388870" h="857250">
                <a:moveTo>
                  <a:pt x="2382774" y="857250"/>
                </a:moveTo>
                <a:lnTo>
                  <a:pt x="2382773" y="21336"/>
                </a:lnTo>
                <a:lnTo>
                  <a:pt x="2376677" y="21336"/>
                </a:lnTo>
                <a:lnTo>
                  <a:pt x="2376678" y="857250"/>
                </a:lnTo>
                <a:lnTo>
                  <a:pt x="2382774" y="85725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842395" y="6349746"/>
            <a:ext cx="0" cy="597535"/>
          </a:xfrm>
          <a:custGeom>
            <a:avLst/>
            <a:gdLst/>
            <a:ahLst/>
            <a:cxnLst/>
            <a:rect l="l" t="t" r="r" b="b"/>
            <a:pathLst>
              <a:path h="597534">
                <a:moveTo>
                  <a:pt x="0" y="0"/>
                </a:moveTo>
                <a:lnTo>
                  <a:pt x="0" y="597407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170317" y="6349746"/>
            <a:ext cx="2376805" cy="308610"/>
          </a:xfrm>
          <a:custGeom>
            <a:avLst/>
            <a:gdLst/>
            <a:ahLst/>
            <a:cxnLst/>
            <a:rect l="l" t="t" r="r" b="b"/>
            <a:pathLst>
              <a:path w="2376804" h="308609">
                <a:moveTo>
                  <a:pt x="2376678" y="0"/>
                </a:moveTo>
                <a:lnTo>
                  <a:pt x="2376678" y="308609"/>
                </a:lnTo>
                <a:lnTo>
                  <a:pt x="0" y="308609"/>
                </a:lnTo>
                <a:lnTo>
                  <a:pt x="0" y="0"/>
                </a:lnTo>
                <a:lnTo>
                  <a:pt x="23766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164221" y="6349746"/>
            <a:ext cx="2388870" cy="314960"/>
          </a:xfrm>
          <a:custGeom>
            <a:avLst/>
            <a:gdLst/>
            <a:ahLst/>
            <a:cxnLst/>
            <a:rect l="l" t="t" r="r" b="b"/>
            <a:pathLst>
              <a:path w="2388870" h="314959">
                <a:moveTo>
                  <a:pt x="12953" y="301751"/>
                </a:moveTo>
                <a:lnTo>
                  <a:pt x="12953" y="0"/>
                </a:lnTo>
                <a:lnTo>
                  <a:pt x="0" y="0"/>
                </a:lnTo>
                <a:lnTo>
                  <a:pt x="0" y="314705"/>
                </a:lnTo>
                <a:lnTo>
                  <a:pt x="6096" y="314705"/>
                </a:lnTo>
                <a:lnTo>
                  <a:pt x="6095" y="301751"/>
                </a:lnTo>
                <a:lnTo>
                  <a:pt x="12953" y="301751"/>
                </a:lnTo>
                <a:close/>
              </a:path>
              <a:path w="2388870" h="314959">
                <a:moveTo>
                  <a:pt x="2382774" y="301751"/>
                </a:moveTo>
                <a:lnTo>
                  <a:pt x="6095" y="301751"/>
                </a:lnTo>
                <a:lnTo>
                  <a:pt x="12953" y="308609"/>
                </a:lnTo>
                <a:lnTo>
                  <a:pt x="12953" y="314705"/>
                </a:lnTo>
                <a:lnTo>
                  <a:pt x="2376678" y="314705"/>
                </a:lnTo>
                <a:lnTo>
                  <a:pt x="2376678" y="308609"/>
                </a:lnTo>
                <a:lnTo>
                  <a:pt x="2382774" y="301751"/>
                </a:lnTo>
                <a:close/>
              </a:path>
              <a:path w="2388870" h="314959">
                <a:moveTo>
                  <a:pt x="12953" y="314705"/>
                </a:moveTo>
                <a:lnTo>
                  <a:pt x="12953" y="308609"/>
                </a:lnTo>
                <a:lnTo>
                  <a:pt x="6095" y="301751"/>
                </a:lnTo>
                <a:lnTo>
                  <a:pt x="6096" y="314705"/>
                </a:lnTo>
                <a:lnTo>
                  <a:pt x="12953" y="314705"/>
                </a:lnTo>
                <a:close/>
              </a:path>
              <a:path w="2388870" h="314959">
                <a:moveTo>
                  <a:pt x="2388870" y="314705"/>
                </a:moveTo>
                <a:lnTo>
                  <a:pt x="2388870" y="0"/>
                </a:lnTo>
                <a:lnTo>
                  <a:pt x="2376678" y="0"/>
                </a:lnTo>
                <a:lnTo>
                  <a:pt x="2376678" y="301751"/>
                </a:lnTo>
                <a:lnTo>
                  <a:pt x="2382774" y="301751"/>
                </a:lnTo>
                <a:lnTo>
                  <a:pt x="2382774" y="314705"/>
                </a:lnTo>
                <a:lnTo>
                  <a:pt x="2388870" y="314705"/>
                </a:lnTo>
                <a:close/>
              </a:path>
              <a:path w="2388870" h="314959">
                <a:moveTo>
                  <a:pt x="2382774" y="314705"/>
                </a:moveTo>
                <a:lnTo>
                  <a:pt x="2382774" y="301751"/>
                </a:lnTo>
                <a:lnTo>
                  <a:pt x="2376678" y="308609"/>
                </a:lnTo>
                <a:lnTo>
                  <a:pt x="2376678" y="314705"/>
                </a:lnTo>
                <a:lnTo>
                  <a:pt x="2382774" y="314705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278763" y="4469892"/>
            <a:ext cx="3935729" cy="2181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739515">
              <a:lnSpc>
                <a:spcPct val="100000"/>
              </a:lnSpc>
            </a:pPr>
            <a:r>
              <a:rPr sz="2400" b="1" dirty="0">
                <a:solidFill>
                  <a:srgbClr val="003365"/>
                </a:solidFill>
                <a:latin typeface="Courier New"/>
                <a:cs typeface="Courier New"/>
              </a:rPr>
              <a:t>x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 marL="12700" marR="1782445" indent="635" algn="ctr">
              <a:lnSpc>
                <a:spcPct val="100000"/>
              </a:lnSpc>
            </a:pP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Imply f(3)=2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if  </a:t>
            </a:r>
            <a:r>
              <a:rPr sz="2400" dirty="0">
                <a:solidFill>
                  <a:srgbClr val="FF3300"/>
                </a:solidFill>
                <a:latin typeface="Arial"/>
                <a:cs typeface="Arial"/>
              </a:rPr>
              <a:t>this</a:t>
            </a:r>
            <a:r>
              <a:rPr sz="2400" spc="-110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comparison  is</a:t>
            </a:r>
            <a:r>
              <a:rPr sz="2400" spc="-105" dirty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FF3300"/>
                </a:solidFill>
                <a:latin typeface="Arial"/>
                <a:cs typeface="Arial"/>
              </a:rPr>
              <a:t>necessary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53</a:t>
            </a:fld>
            <a:endParaRPr spc="-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54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54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z="4000" dirty="0"/>
              <a:t>The Analysis of the KMP</a:t>
            </a:r>
            <a:r>
              <a:rPr sz="4000" spc="-130" dirty="0"/>
              <a:t> </a:t>
            </a:r>
            <a:r>
              <a:rPr sz="4000" dirty="0"/>
              <a:t>Algorithm</a:t>
            </a:r>
            <a:endParaRPr sz="4000"/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27047" y="2364994"/>
            <a:ext cx="7581900" cy="398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10" dirty="0">
                <a:latin typeface="Arial"/>
                <a:cs typeface="Arial"/>
              </a:rPr>
              <a:t>O(m+n)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  <a:tab pos="1762760" algn="l"/>
              </a:tabLst>
            </a:pPr>
            <a:r>
              <a:rPr sz="2800" spc="-5" dirty="0">
                <a:latin typeface="Arial"/>
                <a:cs typeface="Arial"/>
              </a:rPr>
              <a:t>O(m)	</a:t>
            </a:r>
            <a:r>
              <a:rPr sz="2800" dirty="0">
                <a:latin typeface="Arial"/>
                <a:cs typeface="Arial"/>
              </a:rPr>
              <a:t>for computing function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</a:t>
            </a:r>
            <a:endParaRPr sz="2800">
              <a:latin typeface="Arial"/>
              <a:cs typeface="Arial"/>
            </a:endParaRPr>
          </a:p>
          <a:p>
            <a:pPr marL="1155065" lvl="2" indent="-227965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Arial"/>
                <a:cs typeface="Arial"/>
              </a:rPr>
              <a:t>Program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2.16</a:t>
            </a:r>
            <a:endParaRPr sz="24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60"/>
              </a:spcBef>
              <a:buChar char="–"/>
              <a:tabLst>
                <a:tab pos="755650" algn="l"/>
                <a:tab pos="1762760" algn="l"/>
              </a:tabLst>
            </a:pPr>
            <a:r>
              <a:rPr sz="2800" spc="-5" dirty="0">
                <a:latin typeface="Arial"/>
                <a:cs typeface="Arial"/>
              </a:rPr>
              <a:t>O(n)	</a:t>
            </a:r>
            <a:r>
              <a:rPr sz="2800" dirty="0">
                <a:latin typeface="Arial"/>
                <a:cs typeface="Arial"/>
              </a:rPr>
              <a:t>for searching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</a:t>
            </a:r>
            <a:endParaRPr sz="2800">
              <a:latin typeface="Arial"/>
              <a:cs typeface="Arial"/>
            </a:endParaRPr>
          </a:p>
          <a:p>
            <a:pPr marL="1155700" lvl="2" indent="-228600">
              <a:lnSpc>
                <a:spcPct val="100000"/>
              </a:lnSpc>
              <a:spcBef>
                <a:spcPts val="585"/>
              </a:spcBef>
              <a:buChar char="•"/>
              <a:tabLst>
                <a:tab pos="1155700" algn="l"/>
              </a:tabLst>
            </a:pPr>
            <a:r>
              <a:rPr sz="2400" spc="-5" dirty="0">
                <a:latin typeface="Arial"/>
                <a:cs typeface="Arial"/>
              </a:rPr>
              <a:t>Program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2.15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45"/>
              </a:spcBef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The </a:t>
            </a:r>
            <a:r>
              <a:rPr sz="3200" i="1" spc="-5" dirty="0">
                <a:latin typeface="Arial"/>
                <a:cs typeface="Arial"/>
              </a:rPr>
              <a:t>strstr </a:t>
            </a:r>
            <a:r>
              <a:rPr sz="3200" spc="-10" dirty="0">
                <a:latin typeface="Arial"/>
                <a:cs typeface="Arial"/>
              </a:rPr>
              <a:t>function </a:t>
            </a:r>
            <a:r>
              <a:rPr sz="3200" spc="-5" dirty="0">
                <a:latin typeface="Arial"/>
                <a:cs typeface="Arial"/>
              </a:rPr>
              <a:t>in Linux kernel </a:t>
            </a:r>
            <a:r>
              <a:rPr sz="3200" spc="-10" dirty="0">
                <a:latin typeface="Arial"/>
                <a:cs typeface="Arial"/>
              </a:rPr>
              <a:t>2.4.22  </a:t>
            </a:r>
            <a:r>
              <a:rPr sz="3200" spc="-5" dirty="0">
                <a:latin typeface="Arial"/>
                <a:cs typeface="Arial"/>
              </a:rPr>
              <a:t>is </a:t>
            </a:r>
            <a:r>
              <a:rPr sz="3200" spc="-10" dirty="0">
                <a:latin typeface="Arial"/>
                <a:cs typeface="Arial"/>
              </a:rPr>
              <a:t>implemented </a:t>
            </a:r>
            <a:r>
              <a:rPr sz="3200" spc="-5" dirty="0">
                <a:latin typeface="Arial"/>
                <a:cs typeface="Arial"/>
              </a:rPr>
              <a:t>by exhaustive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search</a:t>
            </a:r>
            <a:endParaRPr sz="3200">
              <a:latin typeface="Arial"/>
              <a:cs typeface="Arial"/>
            </a:endParaRPr>
          </a:p>
          <a:p>
            <a:pPr marL="755015" lvl="1" indent="-285115">
              <a:lnSpc>
                <a:spcPct val="100000"/>
              </a:lnSpc>
              <a:spcBef>
                <a:spcPts val="680"/>
              </a:spcBef>
              <a:buChar char="–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Why?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74839" y="4635246"/>
            <a:ext cx="824484" cy="257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ts val="1515"/>
              </a:lnSpc>
            </a:pPr>
            <a:fld id="{81D60167-4931-47E6-BA6A-407CBD079E47}" type="slidenum">
              <a:rPr spc="-5" dirty="0"/>
              <a:t>54</a:t>
            </a:fld>
            <a:endParaRPr spc="-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7047" y="1907032"/>
            <a:ext cx="2137410" cy="68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Appendix</a:t>
            </a: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484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56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56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Rationale of</a:t>
            </a:r>
            <a:r>
              <a:rPr spc="-55" dirty="0"/>
              <a:t> </a:t>
            </a:r>
            <a:r>
              <a:rPr spc="-5" dirty="0"/>
              <a:t>KMP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027047" y="2364994"/>
            <a:ext cx="7262495" cy="1059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009ACC"/>
              </a:buClr>
              <a:buSzPct val="68750"/>
              <a:buChar char="■"/>
              <a:tabLst>
                <a:tab pos="355600" algn="l"/>
              </a:tabLst>
            </a:pPr>
            <a:r>
              <a:rPr sz="3200" spc="-5" dirty="0">
                <a:latin typeface="Arial"/>
                <a:cs typeface="Arial"/>
              </a:rPr>
              <a:t>Since the failure </a:t>
            </a:r>
            <a:r>
              <a:rPr sz="3200" spc="-10" dirty="0">
                <a:latin typeface="Arial"/>
                <a:cs typeface="Arial"/>
              </a:rPr>
              <a:t>occurs </a:t>
            </a:r>
            <a:r>
              <a:rPr sz="3200" spc="-5" dirty="0">
                <a:latin typeface="Arial"/>
                <a:cs typeface="Arial"/>
              </a:rPr>
              <a:t>in </a:t>
            </a:r>
            <a:r>
              <a:rPr sz="3200" spc="10" dirty="0">
                <a:latin typeface="Arial"/>
                <a:cs typeface="Arial"/>
              </a:rPr>
              <a:t>T</a:t>
            </a:r>
            <a:r>
              <a:rPr sz="3150" spc="15" baseline="-21164" dirty="0">
                <a:latin typeface="Arial"/>
                <a:cs typeface="Arial"/>
              </a:rPr>
              <a:t>7</a:t>
            </a:r>
            <a:r>
              <a:rPr sz="3200" spc="10" dirty="0">
                <a:latin typeface="Arial"/>
                <a:cs typeface="Arial"/>
              </a:rPr>
              <a:t>, </a:t>
            </a:r>
            <a:r>
              <a:rPr sz="3200" spc="-5" dirty="0">
                <a:latin typeface="Arial"/>
                <a:cs typeface="Arial"/>
              </a:rPr>
              <a:t>we </a:t>
            </a:r>
            <a:r>
              <a:rPr sz="3200" spc="-10" dirty="0">
                <a:latin typeface="Arial"/>
                <a:cs typeface="Arial"/>
              </a:rPr>
              <a:t>have  </a:t>
            </a:r>
            <a:r>
              <a:rPr sz="3200" spc="5" dirty="0">
                <a:latin typeface="Arial"/>
                <a:cs typeface="Arial"/>
              </a:rPr>
              <a:t>T</a:t>
            </a:r>
            <a:r>
              <a:rPr sz="3150" spc="7" baseline="-21164" dirty="0">
                <a:latin typeface="Arial"/>
                <a:cs typeface="Arial"/>
              </a:rPr>
              <a:t>0</a:t>
            </a:r>
            <a:r>
              <a:rPr sz="3200" spc="5" dirty="0">
                <a:latin typeface="Arial"/>
                <a:cs typeface="Arial"/>
              </a:rPr>
              <a:t>T</a:t>
            </a:r>
            <a:r>
              <a:rPr sz="3150" spc="7" baseline="-21164" dirty="0">
                <a:latin typeface="Arial"/>
                <a:cs typeface="Arial"/>
              </a:rPr>
              <a:t>1</a:t>
            </a:r>
            <a:r>
              <a:rPr sz="3200" spc="5" dirty="0">
                <a:latin typeface="Arial"/>
                <a:cs typeface="Arial"/>
              </a:rPr>
              <a:t>…T</a:t>
            </a:r>
            <a:r>
              <a:rPr sz="3150" spc="7" baseline="-21164" dirty="0">
                <a:latin typeface="Arial"/>
                <a:cs typeface="Arial"/>
              </a:rPr>
              <a:t>6</a:t>
            </a:r>
            <a:r>
              <a:rPr sz="3200" spc="5" dirty="0">
                <a:latin typeface="Arial"/>
                <a:cs typeface="Arial"/>
              </a:rPr>
              <a:t>=P</a:t>
            </a:r>
            <a:r>
              <a:rPr sz="3150" spc="7" baseline="-21164" dirty="0">
                <a:latin typeface="Arial"/>
                <a:cs typeface="Arial"/>
              </a:rPr>
              <a:t>0</a:t>
            </a:r>
            <a:r>
              <a:rPr sz="3200" spc="5" dirty="0">
                <a:latin typeface="Arial"/>
                <a:cs typeface="Arial"/>
              </a:rPr>
              <a:t>P</a:t>
            </a:r>
            <a:r>
              <a:rPr sz="3150" spc="7" baseline="-21164" dirty="0">
                <a:latin typeface="Arial"/>
                <a:cs typeface="Arial"/>
              </a:rPr>
              <a:t>1</a:t>
            </a:r>
            <a:r>
              <a:rPr sz="3200" spc="5" dirty="0">
                <a:latin typeface="Arial"/>
                <a:cs typeface="Arial"/>
              </a:rPr>
              <a:t>…P</a:t>
            </a:r>
            <a:r>
              <a:rPr sz="3150" spc="7" baseline="-21164" dirty="0">
                <a:latin typeface="Arial"/>
                <a:cs typeface="Arial"/>
              </a:rPr>
              <a:t>6</a:t>
            </a:r>
            <a:endParaRPr sz="3150" baseline="-21164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4839" y="1206246"/>
            <a:ext cx="824484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463524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4665" y="5362955"/>
            <a:ext cx="8785097" cy="1295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822582" y="5099303"/>
            <a:ext cx="464820" cy="393700"/>
          </a:xfrm>
          <a:custGeom>
            <a:avLst/>
            <a:gdLst/>
            <a:ahLst/>
            <a:cxnLst/>
            <a:rect l="l" t="t" r="r" b="b"/>
            <a:pathLst>
              <a:path w="464820" h="393700">
                <a:moveTo>
                  <a:pt x="464739" y="393192"/>
                </a:moveTo>
                <a:lnTo>
                  <a:pt x="447737" y="313816"/>
                </a:lnTo>
                <a:lnTo>
                  <a:pt x="433296" y="260110"/>
                </a:lnTo>
                <a:lnTo>
                  <a:pt x="416736" y="208833"/>
                </a:lnTo>
                <a:lnTo>
                  <a:pt x="397952" y="160964"/>
                </a:lnTo>
                <a:lnTo>
                  <a:pt x="376838" y="117478"/>
                </a:lnTo>
                <a:lnTo>
                  <a:pt x="353291" y="79353"/>
                </a:lnTo>
                <a:lnTo>
                  <a:pt x="327205" y="47566"/>
                </a:lnTo>
                <a:lnTo>
                  <a:pt x="266998" y="6912"/>
                </a:lnTo>
                <a:lnTo>
                  <a:pt x="232667" y="0"/>
                </a:lnTo>
                <a:lnTo>
                  <a:pt x="198251" y="6784"/>
                </a:lnTo>
                <a:lnTo>
                  <a:pt x="137898" y="47270"/>
                </a:lnTo>
                <a:lnTo>
                  <a:pt x="111751" y="79011"/>
                </a:lnTo>
                <a:lnTo>
                  <a:pt x="88149" y="117112"/>
                </a:lnTo>
                <a:lnTo>
                  <a:pt x="66988" y="160592"/>
                </a:lnTo>
                <a:lnTo>
                  <a:pt x="48161" y="208473"/>
                </a:lnTo>
                <a:lnTo>
                  <a:pt x="31563" y="259773"/>
                </a:lnTo>
                <a:lnTo>
                  <a:pt x="17089" y="313515"/>
                </a:lnTo>
                <a:lnTo>
                  <a:pt x="4633" y="368717"/>
                </a:lnTo>
                <a:lnTo>
                  <a:pt x="0" y="393192"/>
                </a:lnTo>
                <a:lnTo>
                  <a:pt x="28358" y="393192"/>
                </a:lnTo>
                <a:lnTo>
                  <a:pt x="36833" y="350520"/>
                </a:lnTo>
                <a:lnTo>
                  <a:pt x="43691" y="320801"/>
                </a:lnTo>
                <a:lnTo>
                  <a:pt x="43691" y="321563"/>
                </a:lnTo>
                <a:lnTo>
                  <a:pt x="51311" y="292608"/>
                </a:lnTo>
                <a:lnTo>
                  <a:pt x="51311" y="293370"/>
                </a:lnTo>
                <a:lnTo>
                  <a:pt x="55121" y="278892"/>
                </a:lnTo>
                <a:lnTo>
                  <a:pt x="55121" y="279654"/>
                </a:lnTo>
                <a:lnTo>
                  <a:pt x="58931" y="265938"/>
                </a:lnTo>
                <a:lnTo>
                  <a:pt x="63503" y="252984"/>
                </a:lnTo>
                <a:lnTo>
                  <a:pt x="67313" y="240030"/>
                </a:lnTo>
                <a:lnTo>
                  <a:pt x="71885" y="227075"/>
                </a:lnTo>
                <a:lnTo>
                  <a:pt x="71885" y="227837"/>
                </a:lnTo>
                <a:lnTo>
                  <a:pt x="75695" y="217677"/>
                </a:lnTo>
                <a:lnTo>
                  <a:pt x="75695" y="215646"/>
                </a:lnTo>
                <a:lnTo>
                  <a:pt x="80267" y="203454"/>
                </a:lnTo>
                <a:lnTo>
                  <a:pt x="89411" y="180594"/>
                </a:lnTo>
                <a:lnTo>
                  <a:pt x="89411" y="181356"/>
                </a:lnTo>
                <a:lnTo>
                  <a:pt x="94745" y="169925"/>
                </a:lnTo>
                <a:lnTo>
                  <a:pt x="99317" y="159258"/>
                </a:lnTo>
                <a:lnTo>
                  <a:pt x="99317" y="160020"/>
                </a:lnTo>
                <a:lnTo>
                  <a:pt x="103889" y="149351"/>
                </a:lnTo>
                <a:lnTo>
                  <a:pt x="109223" y="139446"/>
                </a:lnTo>
                <a:lnTo>
                  <a:pt x="109223" y="140208"/>
                </a:lnTo>
                <a:lnTo>
                  <a:pt x="113795" y="130301"/>
                </a:lnTo>
                <a:lnTo>
                  <a:pt x="119129" y="121158"/>
                </a:lnTo>
                <a:lnTo>
                  <a:pt x="119129" y="121920"/>
                </a:lnTo>
                <a:lnTo>
                  <a:pt x="124463" y="112775"/>
                </a:lnTo>
                <a:lnTo>
                  <a:pt x="129035" y="105591"/>
                </a:lnTo>
                <a:lnTo>
                  <a:pt x="129035" y="105156"/>
                </a:lnTo>
                <a:lnTo>
                  <a:pt x="134369" y="97821"/>
                </a:lnTo>
                <a:lnTo>
                  <a:pt x="134369" y="96774"/>
                </a:lnTo>
                <a:lnTo>
                  <a:pt x="139703" y="90106"/>
                </a:lnTo>
                <a:lnTo>
                  <a:pt x="139703" y="89916"/>
                </a:lnTo>
                <a:lnTo>
                  <a:pt x="145037" y="83248"/>
                </a:lnTo>
                <a:lnTo>
                  <a:pt x="145037" y="82296"/>
                </a:lnTo>
                <a:lnTo>
                  <a:pt x="150371" y="76295"/>
                </a:lnTo>
                <a:lnTo>
                  <a:pt x="155705" y="70199"/>
                </a:lnTo>
                <a:lnTo>
                  <a:pt x="172469" y="53340"/>
                </a:lnTo>
                <a:lnTo>
                  <a:pt x="172469" y="54101"/>
                </a:lnTo>
                <a:lnTo>
                  <a:pt x="178565" y="48768"/>
                </a:lnTo>
                <a:lnTo>
                  <a:pt x="178565" y="48958"/>
                </a:lnTo>
                <a:lnTo>
                  <a:pt x="183899" y="44958"/>
                </a:lnTo>
                <a:lnTo>
                  <a:pt x="183899" y="45148"/>
                </a:lnTo>
                <a:lnTo>
                  <a:pt x="189233" y="41148"/>
                </a:lnTo>
                <a:lnTo>
                  <a:pt x="189233" y="41433"/>
                </a:lnTo>
                <a:lnTo>
                  <a:pt x="194567" y="38100"/>
                </a:lnTo>
                <a:lnTo>
                  <a:pt x="194567" y="38523"/>
                </a:lnTo>
                <a:lnTo>
                  <a:pt x="199901" y="36152"/>
                </a:lnTo>
                <a:lnTo>
                  <a:pt x="199901" y="35813"/>
                </a:lnTo>
                <a:lnTo>
                  <a:pt x="204473" y="34099"/>
                </a:lnTo>
                <a:lnTo>
                  <a:pt x="204473" y="33528"/>
                </a:lnTo>
                <a:lnTo>
                  <a:pt x="211331" y="31242"/>
                </a:lnTo>
                <a:lnTo>
                  <a:pt x="211331" y="31813"/>
                </a:lnTo>
                <a:lnTo>
                  <a:pt x="215903" y="30670"/>
                </a:lnTo>
                <a:lnTo>
                  <a:pt x="215903" y="30480"/>
                </a:lnTo>
                <a:lnTo>
                  <a:pt x="221999" y="28956"/>
                </a:lnTo>
                <a:lnTo>
                  <a:pt x="221999" y="29622"/>
                </a:lnTo>
                <a:lnTo>
                  <a:pt x="226571" y="29051"/>
                </a:lnTo>
                <a:lnTo>
                  <a:pt x="231905" y="28289"/>
                </a:lnTo>
                <a:lnTo>
                  <a:pt x="238763" y="28956"/>
                </a:lnTo>
                <a:lnTo>
                  <a:pt x="238763" y="29125"/>
                </a:lnTo>
                <a:lnTo>
                  <a:pt x="242573" y="29548"/>
                </a:lnTo>
                <a:lnTo>
                  <a:pt x="242573" y="28956"/>
                </a:lnTo>
                <a:lnTo>
                  <a:pt x="249431" y="30480"/>
                </a:lnTo>
                <a:lnTo>
                  <a:pt x="249431" y="30818"/>
                </a:lnTo>
                <a:lnTo>
                  <a:pt x="254003" y="31834"/>
                </a:lnTo>
                <a:lnTo>
                  <a:pt x="254003" y="31242"/>
                </a:lnTo>
                <a:lnTo>
                  <a:pt x="260099" y="33528"/>
                </a:lnTo>
                <a:lnTo>
                  <a:pt x="260099" y="33813"/>
                </a:lnTo>
                <a:lnTo>
                  <a:pt x="265433" y="35813"/>
                </a:lnTo>
                <a:lnTo>
                  <a:pt x="265433" y="36195"/>
                </a:lnTo>
                <a:lnTo>
                  <a:pt x="270005" y="38480"/>
                </a:lnTo>
                <a:lnTo>
                  <a:pt x="270005" y="38100"/>
                </a:lnTo>
                <a:lnTo>
                  <a:pt x="275339" y="41433"/>
                </a:lnTo>
                <a:lnTo>
                  <a:pt x="275339" y="41148"/>
                </a:lnTo>
                <a:lnTo>
                  <a:pt x="280673" y="45148"/>
                </a:lnTo>
                <a:lnTo>
                  <a:pt x="280673" y="44958"/>
                </a:lnTo>
                <a:lnTo>
                  <a:pt x="286769" y="49530"/>
                </a:lnTo>
                <a:lnTo>
                  <a:pt x="286769" y="48768"/>
                </a:lnTo>
                <a:lnTo>
                  <a:pt x="292103" y="53435"/>
                </a:lnTo>
                <a:lnTo>
                  <a:pt x="298199" y="58674"/>
                </a:lnTo>
                <a:lnTo>
                  <a:pt x="298199" y="59340"/>
                </a:lnTo>
                <a:lnTo>
                  <a:pt x="303533" y="64008"/>
                </a:lnTo>
                <a:lnTo>
                  <a:pt x="303533" y="64770"/>
                </a:lnTo>
                <a:lnTo>
                  <a:pt x="308867" y="70104"/>
                </a:lnTo>
                <a:lnTo>
                  <a:pt x="314201" y="76200"/>
                </a:lnTo>
                <a:lnTo>
                  <a:pt x="314201" y="75437"/>
                </a:lnTo>
                <a:lnTo>
                  <a:pt x="319535" y="82296"/>
                </a:lnTo>
                <a:lnTo>
                  <a:pt x="324869" y="89916"/>
                </a:lnTo>
                <a:lnTo>
                  <a:pt x="324869" y="89154"/>
                </a:lnTo>
                <a:lnTo>
                  <a:pt x="330203" y="96774"/>
                </a:lnTo>
                <a:lnTo>
                  <a:pt x="335537" y="105156"/>
                </a:lnTo>
                <a:lnTo>
                  <a:pt x="335537" y="104394"/>
                </a:lnTo>
                <a:lnTo>
                  <a:pt x="340871" y="112775"/>
                </a:lnTo>
                <a:lnTo>
                  <a:pt x="340871" y="114082"/>
                </a:lnTo>
                <a:lnTo>
                  <a:pt x="345443" y="121920"/>
                </a:lnTo>
                <a:lnTo>
                  <a:pt x="345443" y="121158"/>
                </a:lnTo>
                <a:lnTo>
                  <a:pt x="350777" y="130301"/>
                </a:lnTo>
                <a:lnTo>
                  <a:pt x="356111" y="140208"/>
                </a:lnTo>
                <a:lnTo>
                  <a:pt x="356111" y="140861"/>
                </a:lnTo>
                <a:lnTo>
                  <a:pt x="360683" y="149351"/>
                </a:lnTo>
                <a:lnTo>
                  <a:pt x="366017" y="160020"/>
                </a:lnTo>
                <a:lnTo>
                  <a:pt x="366017" y="160782"/>
                </a:lnTo>
                <a:lnTo>
                  <a:pt x="370589" y="169925"/>
                </a:lnTo>
                <a:lnTo>
                  <a:pt x="375161" y="181356"/>
                </a:lnTo>
                <a:lnTo>
                  <a:pt x="375161" y="180594"/>
                </a:lnTo>
                <a:lnTo>
                  <a:pt x="384305" y="203454"/>
                </a:lnTo>
                <a:lnTo>
                  <a:pt x="388877" y="215646"/>
                </a:lnTo>
                <a:lnTo>
                  <a:pt x="388877" y="214884"/>
                </a:lnTo>
                <a:lnTo>
                  <a:pt x="393449" y="227837"/>
                </a:lnTo>
                <a:lnTo>
                  <a:pt x="393449" y="229235"/>
                </a:lnTo>
                <a:lnTo>
                  <a:pt x="401831" y="252984"/>
                </a:lnTo>
                <a:lnTo>
                  <a:pt x="401831" y="255142"/>
                </a:lnTo>
                <a:lnTo>
                  <a:pt x="405641" y="265938"/>
                </a:lnTo>
                <a:lnTo>
                  <a:pt x="409451" y="279654"/>
                </a:lnTo>
                <a:lnTo>
                  <a:pt x="409451" y="278892"/>
                </a:lnTo>
                <a:lnTo>
                  <a:pt x="413261" y="292608"/>
                </a:lnTo>
                <a:lnTo>
                  <a:pt x="420881" y="321563"/>
                </a:lnTo>
                <a:lnTo>
                  <a:pt x="420881" y="320801"/>
                </a:lnTo>
                <a:lnTo>
                  <a:pt x="434597" y="381000"/>
                </a:lnTo>
                <a:lnTo>
                  <a:pt x="434597" y="384905"/>
                </a:lnTo>
                <a:lnTo>
                  <a:pt x="436214" y="393192"/>
                </a:lnTo>
                <a:lnTo>
                  <a:pt x="464739" y="393192"/>
                </a:lnTo>
                <a:close/>
              </a:path>
              <a:path w="464820" h="393700">
                <a:moveTo>
                  <a:pt x="76457" y="215646"/>
                </a:moveTo>
                <a:lnTo>
                  <a:pt x="75695" y="215646"/>
                </a:lnTo>
                <a:lnTo>
                  <a:pt x="75695" y="217677"/>
                </a:lnTo>
                <a:lnTo>
                  <a:pt x="76457" y="215646"/>
                </a:lnTo>
                <a:close/>
              </a:path>
              <a:path w="464820" h="393700">
                <a:moveTo>
                  <a:pt x="129797" y="104394"/>
                </a:moveTo>
                <a:lnTo>
                  <a:pt x="129035" y="105156"/>
                </a:lnTo>
                <a:lnTo>
                  <a:pt x="129035" y="105591"/>
                </a:lnTo>
                <a:lnTo>
                  <a:pt x="129797" y="104394"/>
                </a:lnTo>
                <a:close/>
              </a:path>
              <a:path w="464820" h="393700">
                <a:moveTo>
                  <a:pt x="135131" y="96774"/>
                </a:moveTo>
                <a:lnTo>
                  <a:pt x="134369" y="96774"/>
                </a:lnTo>
                <a:lnTo>
                  <a:pt x="134369" y="97821"/>
                </a:lnTo>
                <a:lnTo>
                  <a:pt x="135131" y="96774"/>
                </a:lnTo>
                <a:close/>
              </a:path>
              <a:path w="464820" h="393700">
                <a:moveTo>
                  <a:pt x="140465" y="89154"/>
                </a:moveTo>
                <a:lnTo>
                  <a:pt x="139703" y="89916"/>
                </a:lnTo>
                <a:lnTo>
                  <a:pt x="139703" y="90106"/>
                </a:lnTo>
                <a:lnTo>
                  <a:pt x="140465" y="89154"/>
                </a:lnTo>
                <a:close/>
              </a:path>
              <a:path w="464820" h="393700">
                <a:moveTo>
                  <a:pt x="145799" y="82296"/>
                </a:moveTo>
                <a:lnTo>
                  <a:pt x="145037" y="82296"/>
                </a:lnTo>
                <a:lnTo>
                  <a:pt x="145037" y="83248"/>
                </a:lnTo>
                <a:lnTo>
                  <a:pt x="145799" y="82296"/>
                </a:lnTo>
                <a:close/>
              </a:path>
              <a:path w="464820" h="393700">
                <a:moveTo>
                  <a:pt x="151133" y="75437"/>
                </a:moveTo>
                <a:lnTo>
                  <a:pt x="150371" y="76200"/>
                </a:lnTo>
                <a:lnTo>
                  <a:pt x="151133" y="75437"/>
                </a:lnTo>
                <a:close/>
              </a:path>
              <a:path w="464820" h="393700">
                <a:moveTo>
                  <a:pt x="156467" y="69342"/>
                </a:moveTo>
                <a:lnTo>
                  <a:pt x="155705" y="70104"/>
                </a:lnTo>
                <a:lnTo>
                  <a:pt x="156467" y="69342"/>
                </a:lnTo>
                <a:close/>
              </a:path>
              <a:path w="464820" h="393700">
                <a:moveTo>
                  <a:pt x="178565" y="48958"/>
                </a:moveTo>
                <a:lnTo>
                  <a:pt x="178565" y="48768"/>
                </a:lnTo>
                <a:lnTo>
                  <a:pt x="177803" y="49530"/>
                </a:lnTo>
                <a:lnTo>
                  <a:pt x="178565" y="48958"/>
                </a:lnTo>
                <a:close/>
              </a:path>
              <a:path w="464820" h="393700">
                <a:moveTo>
                  <a:pt x="183899" y="45148"/>
                </a:moveTo>
                <a:lnTo>
                  <a:pt x="183899" y="44958"/>
                </a:lnTo>
                <a:lnTo>
                  <a:pt x="183137" y="45720"/>
                </a:lnTo>
                <a:lnTo>
                  <a:pt x="183899" y="45148"/>
                </a:lnTo>
                <a:close/>
              </a:path>
              <a:path w="464820" h="393700">
                <a:moveTo>
                  <a:pt x="189233" y="41433"/>
                </a:moveTo>
                <a:lnTo>
                  <a:pt x="189233" y="41148"/>
                </a:lnTo>
                <a:lnTo>
                  <a:pt x="188471" y="41910"/>
                </a:lnTo>
                <a:lnTo>
                  <a:pt x="189233" y="41433"/>
                </a:lnTo>
                <a:close/>
              </a:path>
              <a:path w="464820" h="393700">
                <a:moveTo>
                  <a:pt x="194567" y="38523"/>
                </a:moveTo>
                <a:lnTo>
                  <a:pt x="194567" y="38100"/>
                </a:lnTo>
                <a:lnTo>
                  <a:pt x="193805" y="38862"/>
                </a:lnTo>
                <a:lnTo>
                  <a:pt x="194567" y="38523"/>
                </a:lnTo>
                <a:close/>
              </a:path>
              <a:path w="464820" h="393700">
                <a:moveTo>
                  <a:pt x="200663" y="35813"/>
                </a:moveTo>
                <a:lnTo>
                  <a:pt x="199901" y="35813"/>
                </a:lnTo>
                <a:lnTo>
                  <a:pt x="199901" y="36152"/>
                </a:lnTo>
                <a:lnTo>
                  <a:pt x="200663" y="35813"/>
                </a:lnTo>
                <a:close/>
              </a:path>
              <a:path w="464820" h="393700">
                <a:moveTo>
                  <a:pt x="205997" y="33528"/>
                </a:moveTo>
                <a:lnTo>
                  <a:pt x="204473" y="33528"/>
                </a:lnTo>
                <a:lnTo>
                  <a:pt x="204473" y="34099"/>
                </a:lnTo>
                <a:lnTo>
                  <a:pt x="205997" y="33528"/>
                </a:lnTo>
                <a:close/>
              </a:path>
              <a:path w="464820" h="393700">
                <a:moveTo>
                  <a:pt x="211331" y="31813"/>
                </a:moveTo>
                <a:lnTo>
                  <a:pt x="211331" y="31242"/>
                </a:lnTo>
                <a:lnTo>
                  <a:pt x="210569" y="32004"/>
                </a:lnTo>
                <a:lnTo>
                  <a:pt x="211331" y="31813"/>
                </a:lnTo>
                <a:close/>
              </a:path>
              <a:path w="464820" h="393700">
                <a:moveTo>
                  <a:pt x="216665" y="30480"/>
                </a:moveTo>
                <a:lnTo>
                  <a:pt x="215903" y="30480"/>
                </a:lnTo>
                <a:lnTo>
                  <a:pt x="215903" y="30670"/>
                </a:lnTo>
                <a:lnTo>
                  <a:pt x="216665" y="30480"/>
                </a:lnTo>
                <a:close/>
              </a:path>
              <a:path w="464820" h="393700">
                <a:moveTo>
                  <a:pt x="221999" y="29622"/>
                </a:moveTo>
                <a:lnTo>
                  <a:pt x="221999" y="28956"/>
                </a:lnTo>
                <a:lnTo>
                  <a:pt x="221237" y="29718"/>
                </a:lnTo>
                <a:lnTo>
                  <a:pt x="221999" y="29622"/>
                </a:lnTo>
                <a:close/>
              </a:path>
              <a:path w="464820" h="393700">
                <a:moveTo>
                  <a:pt x="227333" y="28956"/>
                </a:moveTo>
                <a:lnTo>
                  <a:pt x="226571" y="28956"/>
                </a:lnTo>
                <a:lnTo>
                  <a:pt x="227333" y="28956"/>
                </a:lnTo>
                <a:close/>
              </a:path>
              <a:path w="464820" h="393700">
                <a:moveTo>
                  <a:pt x="232308" y="28238"/>
                </a:moveTo>
                <a:lnTo>
                  <a:pt x="231905" y="28194"/>
                </a:lnTo>
                <a:lnTo>
                  <a:pt x="232308" y="28238"/>
                </a:lnTo>
                <a:close/>
              </a:path>
              <a:path w="464820" h="393700">
                <a:moveTo>
                  <a:pt x="232667" y="28278"/>
                </a:moveTo>
                <a:lnTo>
                  <a:pt x="232308" y="28238"/>
                </a:lnTo>
                <a:lnTo>
                  <a:pt x="232667" y="28278"/>
                </a:lnTo>
                <a:close/>
              </a:path>
              <a:path w="464820" h="393700">
                <a:moveTo>
                  <a:pt x="238763" y="29125"/>
                </a:moveTo>
                <a:lnTo>
                  <a:pt x="238763" y="28956"/>
                </a:lnTo>
                <a:lnTo>
                  <a:pt x="237239" y="28956"/>
                </a:lnTo>
                <a:lnTo>
                  <a:pt x="238763" y="29125"/>
                </a:lnTo>
                <a:close/>
              </a:path>
              <a:path w="464820" h="393700">
                <a:moveTo>
                  <a:pt x="244097" y="29718"/>
                </a:moveTo>
                <a:lnTo>
                  <a:pt x="242573" y="28956"/>
                </a:lnTo>
                <a:lnTo>
                  <a:pt x="242573" y="29548"/>
                </a:lnTo>
                <a:lnTo>
                  <a:pt x="244097" y="29718"/>
                </a:lnTo>
                <a:close/>
              </a:path>
              <a:path w="464820" h="393700">
                <a:moveTo>
                  <a:pt x="249431" y="30818"/>
                </a:moveTo>
                <a:lnTo>
                  <a:pt x="249431" y="30480"/>
                </a:lnTo>
                <a:lnTo>
                  <a:pt x="247907" y="30480"/>
                </a:lnTo>
                <a:lnTo>
                  <a:pt x="249431" y="30818"/>
                </a:lnTo>
                <a:close/>
              </a:path>
              <a:path w="464820" h="393700">
                <a:moveTo>
                  <a:pt x="254765" y="32004"/>
                </a:moveTo>
                <a:lnTo>
                  <a:pt x="254003" y="31242"/>
                </a:lnTo>
                <a:lnTo>
                  <a:pt x="254003" y="31834"/>
                </a:lnTo>
                <a:lnTo>
                  <a:pt x="254765" y="32004"/>
                </a:lnTo>
                <a:close/>
              </a:path>
              <a:path w="464820" h="393700">
                <a:moveTo>
                  <a:pt x="260099" y="33813"/>
                </a:moveTo>
                <a:lnTo>
                  <a:pt x="260099" y="33528"/>
                </a:lnTo>
                <a:lnTo>
                  <a:pt x="259337" y="33528"/>
                </a:lnTo>
                <a:lnTo>
                  <a:pt x="260099" y="33813"/>
                </a:lnTo>
                <a:close/>
              </a:path>
              <a:path w="464820" h="393700">
                <a:moveTo>
                  <a:pt x="265433" y="36195"/>
                </a:moveTo>
                <a:lnTo>
                  <a:pt x="265433" y="35813"/>
                </a:lnTo>
                <a:lnTo>
                  <a:pt x="264671" y="35813"/>
                </a:lnTo>
                <a:lnTo>
                  <a:pt x="265433" y="36195"/>
                </a:lnTo>
                <a:close/>
              </a:path>
              <a:path w="464820" h="393700">
                <a:moveTo>
                  <a:pt x="270767" y="38862"/>
                </a:moveTo>
                <a:lnTo>
                  <a:pt x="270005" y="38100"/>
                </a:lnTo>
                <a:lnTo>
                  <a:pt x="270005" y="38480"/>
                </a:lnTo>
                <a:lnTo>
                  <a:pt x="270767" y="38862"/>
                </a:lnTo>
                <a:close/>
              </a:path>
              <a:path w="464820" h="393700">
                <a:moveTo>
                  <a:pt x="276101" y="41910"/>
                </a:moveTo>
                <a:lnTo>
                  <a:pt x="275339" y="41148"/>
                </a:lnTo>
                <a:lnTo>
                  <a:pt x="275339" y="41433"/>
                </a:lnTo>
                <a:lnTo>
                  <a:pt x="276101" y="41910"/>
                </a:lnTo>
                <a:close/>
              </a:path>
              <a:path w="464820" h="393700">
                <a:moveTo>
                  <a:pt x="281435" y="45720"/>
                </a:moveTo>
                <a:lnTo>
                  <a:pt x="280673" y="44958"/>
                </a:lnTo>
                <a:lnTo>
                  <a:pt x="280673" y="45148"/>
                </a:lnTo>
                <a:lnTo>
                  <a:pt x="281435" y="45720"/>
                </a:lnTo>
                <a:close/>
              </a:path>
              <a:path w="464820" h="393700">
                <a:moveTo>
                  <a:pt x="292865" y="54101"/>
                </a:moveTo>
                <a:lnTo>
                  <a:pt x="292103" y="53340"/>
                </a:lnTo>
                <a:lnTo>
                  <a:pt x="292865" y="54101"/>
                </a:lnTo>
                <a:close/>
              </a:path>
              <a:path w="464820" h="393700">
                <a:moveTo>
                  <a:pt x="298199" y="59340"/>
                </a:moveTo>
                <a:lnTo>
                  <a:pt x="298199" y="58674"/>
                </a:lnTo>
                <a:lnTo>
                  <a:pt x="297437" y="58674"/>
                </a:lnTo>
                <a:lnTo>
                  <a:pt x="298199" y="59340"/>
                </a:lnTo>
                <a:close/>
              </a:path>
              <a:path w="464820" h="393700">
                <a:moveTo>
                  <a:pt x="303533" y="64770"/>
                </a:moveTo>
                <a:lnTo>
                  <a:pt x="303533" y="64008"/>
                </a:lnTo>
                <a:lnTo>
                  <a:pt x="302771" y="64008"/>
                </a:lnTo>
                <a:lnTo>
                  <a:pt x="303533" y="64770"/>
                </a:lnTo>
                <a:close/>
              </a:path>
              <a:path w="464820" h="393700">
                <a:moveTo>
                  <a:pt x="308867" y="70199"/>
                </a:moveTo>
                <a:lnTo>
                  <a:pt x="308105" y="69342"/>
                </a:lnTo>
                <a:lnTo>
                  <a:pt x="308867" y="70199"/>
                </a:lnTo>
                <a:close/>
              </a:path>
              <a:path w="464820" h="393700">
                <a:moveTo>
                  <a:pt x="340871" y="114082"/>
                </a:moveTo>
                <a:lnTo>
                  <a:pt x="340871" y="112775"/>
                </a:lnTo>
                <a:lnTo>
                  <a:pt x="340109" y="112775"/>
                </a:lnTo>
                <a:lnTo>
                  <a:pt x="340871" y="114082"/>
                </a:lnTo>
                <a:close/>
              </a:path>
              <a:path w="464820" h="393700">
                <a:moveTo>
                  <a:pt x="356111" y="140861"/>
                </a:moveTo>
                <a:lnTo>
                  <a:pt x="356111" y="140208"/>
                </a:lnTo>
                <a:lnTo>
                  <a:pt x="355349" y="139446"/>
                </a:lnTo>
                <a:lnTo>
                  <a:pt x="356111" y="140861"/>
                </a:lnTo>
                <a:close/>
              </a:path>
              <a:path w="464820" h="393700">
                <a:moveTo>
                  <a:pt x="366017" y="160782"/>
                </a:moveTo>
                <a:lnTo>
                  <a:pt x="366017" y="160020"/>
                </a:lnTo>
                <a:lnTo>
                  <a:pt x="365255" y="159258"/>
                </a:lnTo>
                <a:lnTo>
                  <a:pt x="366017" y="160782"/>
                </a:lnTo>
                <a:close/>
              </a:path>
              <a:path w="464820" h="393700">
                <a:moveTo>
                  <a:pt x="393449" y="229235"/>
                </a:moveTo>
                <a:lnTo>
                  <a:pt x="393449" y="227837"/>
                </a:lnTo>
                <a:lnTo>
                  <a:pt x="392687" y="227075"/>
                </a:lnTo>
                <a:lnTo>
                  <a:pt x="393449" y="229235"/>
                </a:lnTo>
                <a:close/>
              </a:path>
              <a:path w="464820" h="393700">
                <a:moveTo>
                  <a:pt x="401831" y="255142"/>
                </a:moveTo>
                <a:lnTo>
                  <a:pt x="401831" y="252984"/>
                </a:lnTo>
                <a:lnTo>
                  <a:pt x="401069" y="252984"/>
                </a:lnTo>
                <a:lnTo>
                  <a:pt x="401831" y="255142"/>
                </a:lnTo>
                <a:close/>
              </a:path>
              <a:path w="464820" h="393700">
                <a:moveTo>
                  <a:pt x="434597" y="384905"/>
                </a:moveTo>
                <a:lnTo>
                  <a:pt x="434597" y="381000"/>
                </a:lnTo>
                <a:lnTo>
                  <a:pt x="433835" y="381000"/>
                </a:lnTo>
                <a:lnTo>
                  <a:pt x="434597" y="384905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94695" y="4747259"/>
            <a:ext cx="939165" cy="374650"/>
          </a:xfrm>
          <a:custGeom>
            <a:avLst/>
            <a:gdLst/>
            <a:ahLst/>
            <a:cxnLst/>
            <a:rect l="l" t="t" r="r" b="b"/>
            <a:pathLst>
              <a:path w="939164" h="374650">
                <a:moveTo>
                  <a:pt x="68702" y="333119"/>
                </a:moveTo>
                <a:lnTo>
                  <a:pt x="57150" y="303275"/>
                </a:lnTo>
                <a:lnTo>
                  <a:pt x="0" y="366522"/>
                </a:lnTo>
                <a:lnTo>
                  <a:pt x="57150" y="371670"/>
                </a:lnTo>
                <a:lnTo>
                  <a:pt x="57150" y="337565"/>
                </a:lnTo>
                <a:lnTo>
                  <a:pt x="68702" y="333119"/>
                </a:lnTo>
                <a:close/>
              </a:path>
              <a:path w="939164" h="374650">
                <a:moveTo>
                  <a:pt x="73146" y="344599"/>
                </a:moveTo>
                <a:lnTo>
                  <a:pt x="68702" y="333119"/>
                </a:lnTo>
                <a:lnTo>
                  <a:pt x="57150" y="337565"/>
                </a:lnTo>
                <a:lnTo>
                  <a:pt x="61722" y="348995"/>
                </a:lnTo>
                <a:lnTo>
                  <a:pt x="73146" y="344599"/>
                </a:lnTo>
                <a:close/>
              </a:path>
              <a:path w="939164" h="374650">
                <a:moveTo>
                  <a:pt x="84582" y="374141"/>
                </a:moveTo>
                <a:lnTo>
                  <a:pt x="73146" y="344599"/>
                </a:lnTo>
                <a:lnTo>
                  <a:pt x="61722" y="348995"/>
                </a:lnTo>
                <a:lnTo>
                  <a:pt x="57150" y="337565"/>
                </a:lnTo>
                <a:lnTo>
                  <a:pt x="57150" y="371670"/>
                </a:lnTo>
                <a:lnTo>
                  <a:pt x="84582" y="374141"/>
                </a:lnTo>
                <a:close/>
              </a:path>
              <a:path w="939164" h="374650">
                <a:moveTo>
                  <a:pt x="938784" y="11429"/>
                </a:moveTo>
                <a:lnTo>
                  <a:pt x="934212" y="0"/>
                </a:lnTo>
                <a:lnTo>
                  <a:pt x="68702" y="333119"/>
                </a:lnTo>
                <a:lnTo>
                  <a:pt x="73146" y="344599"/>
                </a:lnTo>
                <a:lnTo>
                  <a:pt x="938784" y="11429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09483" y="4375404"/>
            <a:ext cx="4654550" cy="1005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2796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Failure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occurs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sz="2200" b="1" dirty="0">
                <a:latin typeface="Courier New"/>
                <a:cs typeface="Courier New"/>
              </a:rPr>
              <a:t>0 1 2 3 4 5 6 7 8</a:t>
            </a:r>
            <a:r>
              <a:rPr sz="2200" b="1" spc="-4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9…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4839" y="5492496"/>
            <a:ext cx="824484" cy="8572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54665" y="5492496"/>
            <a:ext cx="8785097" cy="8572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87411" y="5492496"/>
            <a:ext cx="535305" cy="857250"/>
          </a:xfrm>
          <a:custGeom>
            <a:avLst/>
            <a:gdLst/>
            <a:ahLst/>
            <a:cxnLst/>
            <a:rect l="l" t="t" r="r" b="b"/>
            <a:pathLst>
              <a:path w="535304" h="857250">
                <a:moveTo>
                  <a:pt x="29331" y="413766"/>
                </a:moveTo>
                <a:lnTo>
                  <a:pt x="29331" y="376427"/>
                </a:lnTo>
                <a:lnTo>
                  <a:pt x="1137" y="376427"/>
                </a:lnTo>
                <a:lnTo>
                  <a:pt x="61" y="398588"/>
                </a:lnTo>
                <a:lnTo>
                  <a:pt x="0" y="427834"/>
                </a:lnTo>
                <a:lnTo>
                  <a:pt x="1042" y="463270"/>
                </a:lnTo>
                <a:lnTo>
                  <a:pt x="2508" y="489965"/>
                </a:lnTo>
                <a:lnTo>
                  <a:pt x="28569" y="489965"/>
                </a:lnTo>
                <a:lnTo>
                  <a:pt x="29331" y="413766"/>
                </a:lnTo>
                <a:close/>
              </a:path>
              <a:path w="535304" h="857250">
                <a:moveTo>
                  <a:pt x="29705" y="376427"/>
                </a:moveTo>
                <a:lnTo>
                  <a:pt x="28569" y="262889"/>
                </a:lnTo>
                <a:lnTo>
                  <a:pt x="2713" y="262889"/>
                </a:lnTo>
                <a:lnTo>
                  <a:pt x="1553" y="282551"/>
                </a:lnTo>
                <a:lnTo>
                  <a:pt x="275" y="320547"/>
                </a:lnTo>
                <a:lnTo>
                  <a:pt x="171" y="352165"/>
                </a:lnTo>
                <a:lnTo>
                  <a:pt x="1137" y="376427"/>
                </a:lnTo>
                <a:lnTo>
                  <a:pt x="29331" y="376427"/>
                </a:lnTo>
                <a:lnTo>
                  <a:pt x="29331" y="413766"/>
                </a:lnTo>
                <a:lnTo>
                  <a:pt x="29705" y="376427"/>
                </a:lnTo>
                <a:close/>
              </a:path>
              <a:path w="535304" h="857250">
                <a:moveTo>
                  <a:pt x="2713" y="262889"/>
                </a:moveTo>
                <a:lnTo>
                  <a:pt x="1137" y="262889"/>
                </a:lnTo>
                <a:lnTo>
                  <a:pt x="1137" y="294908"/>
                </a:lnTo>
                <a:lnTo>
                  <a:pt x="1553" y="282551"/>
                </a:lnTo>
                <a:lnTo>
                  <a:pt x="2713" y="262889"/>
                </a:lnTo>
                <a:close/>
              </a:path>
              <a:path w="535304" h="857250">
                <a:moveTo>
                  <a:pt x="2508" y="489965"/>
                </a:moveTo>
                <a:lnTo>
                  <a:pt x="1137" y="465005"/>
                </a:lnTo>
                <a:lnTo>
                  <a:pt x="1137" y="489965"/>
                </a:lnTo>
                <a:lnTo>
                  <a:pt x="2508" y="489965"/>
                </a:lnTo>
                <a:close/>
              </a:path>
              <a:path w="535304" h="857250">
                <a:moveTo>
                  <a:pt x="87540" y="857250"/>
                </a:moveTo>
                <a:lnTo>
                  <a:pt x="78861" y="825245"/>
                </a:lnTo>
                <a:lnTo>
                  <a:pt x="72003" y="795527"/>
                </a:lnTo>
                <a:lnTo>
                  <a:pt x="72003" y="796289"/>
                </a:lnTo>
                <a:lnTo>
                  <a:pt x="65907" y="765048"/>
                </a:lnTo>
                <a:lnTo>
                  <a:pt x="65907" y="765809"/>
                </a:lnTo>
                <a:lnTo>
                  <a:pt x="59811" y="733805"/>
                </a:lnTo>
                <a:lnTo>
                  <a:pt x="59811" y="734567"/>
                </a:lnTo>
                <a:lnTo>
                  <a:pt x="49143" y="668274"/>
                </a:lnTo>
                <a:lnTo>
                  <a:pt x="49143" y="669036"/>
                </a:lnTo>
                <a:lnTo>
                  <a:pt x="44571" y="634745"/>
                </a:lnTo>
                <a:lnTo>
                  <a:pt x="40761" y="599693"/>
                </a:lnTo>
                <a:lnTo>
                  <a:pt x="34665" y="527303"/>
                </a:lnTo>
                <a:lnTo>
                  <a:pt x="34665" y="528065"/>
                </a:lnTo>
                <a:lnTo>
                  <a:pt x="32379" y="490727"/>
                </a:lnTo>
                <a:lnTo>
                  <a:pt x="30855" y="453389"/>
                </a:lnTo>
                <a:lnTo>
                  <a:pt x="30093" y="415289"/>
                </a:lnTo>
                <a:lnTo>
                  <a:pt x="29705" y="376427"/>
                </a:lnTo>
                <a:lnTo>
                  <a:pt x="28569" y="489965"/>
                </a:lnTo>
                <a:lnTo>
                  <a:pt x="2508" y="489965"/>
                </a:lnTo>
                <a:lnTo>
                  <a:pt x="3279" y="504002"/>
                </a:lnTo>
                <a:lnTo>
                  <a:pt x="6802" y="549135"/>
                </a:lnTo>
                <a:lnTo>
                  <a:pt x="11701" y="597776"/>
                </a:lnTo>
                <a:lnTo>
                  <a:pt x="18066" y="649028"/>
                </a:lnTo>
                <a:lnTo>
                  <a:pt x="25989" y="701998"/>
                </a:lnTo>
                <a:lnTo>
                  <a:pt x="35559" y="755792"/>
                </a:lnTo>
                <a:lnTo>
                  <a:pt x="46867" y="809515"/>
                </a:lnTo>
                <a:lnTo>
                  <a:pt x="58753" y="857250"/>
                </a:lnTo>
                <a:lnTo>
                  <a:pt x="87540" y="857250"/>
                </a:lnTo>
                <a:close/>
              </a:path>
              <a:path w="535304" h="857250">
                <a:moveTo>
                  <a:pt x="63528" y="0"/>
                </a:moveTo>
                <a:lnTo>
                  <a:pt x="35170" y="0"/>
                </a:lnTo>
                <a:lnTo>
                  <a:pt x="29261" y="31208"/>
                </a:lnTo>
                <a:lnTo>
                  <a:pt x="20526" y="86393"/>
                </a:lnTo>
                <a:lnTo>
                  <a:pt x="13493" y="140099"/>
                </a:lnTo>
                <a:lnTo>
                  <a:pt x="8057" y="191347"/>
                </a:lnTo>
                <a:lnTo>
                  <a:pt x="4112" y="239158"/>
                </a:lnTo>
                <a:lnTo>
                  <a:pt x="2713" y="262889"/>
                </a:lnTo>
                <a:lnTo>
                  <a:pt x="28569" y="262889"/>
                </a:lnTo>
                <a:lnTo>
                  <a:pt x="29705" y="376427"/>
                </a:lnTo>
                <a:lnTo>
                  <a:pt x="30093" y="338327"/>
                </a:lnTo>
                <a:lnTo>
                  <a:pt x="30855" y="299465"/>
                </a:lnTo>
                <a:lnTo>
                  <a:pt x="30855" y="300227"/>
                </a:lnTo>
                <a:lnTo>
                  <a:pt x="32827" y="254753"/>
                </a:lnTo>
                <a:lnTo>
                  <a:pt x="35913" y="209049"/>
                </a:lnTo>
                <a:lnTo>
                  <a:pt x="39899" y="163405"/>
                </a:lnTo>
                <a:lnTo>
                  <a:pt x="44571" y="118109"/>
                </a:lnTo>
                <a:lnTo>
                  <a:pt x="44571" y="118871"/>
                </a:lnTo>
                <a:lnTo>
                  <a:pt x="49143" y="84581"/>
                </a:lnTo>
                <a:lnTo>
                  <a:pt x="54477" y="51053"/>
                </a:lnTo>
                <a:lnTo>
                  <a:pt x="54477" y="51815"/>
                </a:lnTo>
                <a:lnTo>
                  <a:pt x="59811" y="19050"/>
                </a:lnTo>
                <a:lnTo>
                  <a:pt x="63528" y="0"/>
                </a:lnTo>
                <a:close/>
              </a:path>
              <a:path w="535304" h="857250">
                <a:moveTo>
                  <a:pt x="510153" y="698363"/>
                </a:moveTo>
                <a:lnTo>
                  <a:pt x="510153" y="386333"/>
                </a:lnTo>
                <a:lnTo>
                  <a:pt x="505581" y="382524"/>
                </a:lnTo>
                <a:lnTo>
                  <a:pt x="505551" y="380736"/>
                </a:lnTo>
                <a:lnTo>
                  <a:pt x="505251" y="423329"/>
                </a:lnTo>
                <a:lnTo>
                  <a:pt x="503486" y="470558"/>
                </a:lnTo>
                <a:lnTo>
                  <a:pt x="497961" y="564641"/>
                </a:lnTo>
                <a:lnTo>
                  <a:pt x="497961" y="563879"/>
                </a:lnTo>
                <a:lnTo>
                  <a:pt x="490341" y="634745"/>
                </a:lnTo>
                <a:lnTo>
                  <a:pt x="485769" y="669036"/>
                </a:lnTo>
                <a:lnTo>
                  <a:pt x="485769" y="668274"/>
                </a:lnTo>
                <a:lnTo>
                  <a:pt x="481197" y="701801"/>
                </a:lnTo>
                <a:lnTo>
                  <a:pt x="475101" y="734567"/>
                </a:lnTo>
                <a:lnTo>
                  <a:pt x="475101" y="733805"/>
                </a:lnTo>
                <a:lnTo>
                  <a:pt x="469767" y="765809"/>
                </a:lnTo>
                <a:lnTo>
                  <a:pt x="462909" y="796289"/>
                </a:lnTo>
                <a:lnTo>
                  <a:pt x="462909" y="795527"/>
                </a:lnTo>
                <a:lnTo>
                  <a:pt x="456051" y="825245"/>
                </a:lnTo>
                <a:lnTo>
                  <a:pt x="447373" y="857250"/>
                </a:lnTo>
                <a:lnTo>
                  <a:pt x="476769" y="857250"/>
                </a:lnTo>
                <a:lnTo>
                  <a:pt x="485094" y="826234"/>
                </a:lnTo>
                <a:lnTo>
                  <a:pt x="497199" y="771143"/>
                </a:lnTo>
                <a:lnTo>
                  <a:pt x="506708" y="720441"/>
                </a:lnTo>
                <a:lnTo>
                  <a:pt x="510153" y="698363"/>
                </a:lnTo>
                <a:close/>
              </a:path>
              <a:path w="535304" h="857250">
                <a:moveTo>
                  <a:pt x="534770" y="352149"/>
                </a:moveTo>
                <a:lnTo>
                  <a:pt x="533438" y="282553"/>
                </a:lnTo>
                <a:lnTo>
                  <a:pt x="530903" y="239189"/>
                </a:lnTo>
                <a:lnTo>
                  <a:pt x="526980" y="191417"/>
                </a:lnTo>
                <a:lnTo>
                  <a:pt x="521567" y="140213"/>
                </a:lnTo>
                <a:lnTo>
                  <a:pt x="514558" y="86555"/>
                </a:lnTo>
                <a:lnTo>
                  <a:pt x="505848" y="31420"/>
                </a:lnTo>
                <a:lnTo>
                  <a:pt x="499909" y="0"/>
                </a:lnTo>
                <a:lnTo>
                  <a:pt x="471384" y="0"/>
                </a:lnTo>
                <a:lnTo>
                  <a:pt x="481197" y="51053"/>
                </a:lnTo>
                <a:lnTo>
                  <a:pt x="490341" y="118871"/>
                </a:lnTo>
                <a:lnTo>
                  <a:pt x="490341" y="118109"/>
                </a:lnTo>
                <a:lnTo>
                  <a:pt x="497961" y="188975"/>
                </a:lnTo>
                <a:lnTo>
                  <a:pt x="500247" y="225551"/>
                </a:lnTo>
                <a:lnTo>
                  <a:pt x="500247" y="224789"/>
                </a:lnTo>
                <a:lnTo>
                  <a:pt x="502533" y="262127"/>
                </a:lnTo>
                <a:lnTo>
                  <a:pt x="504057" y="299465"/>
                </a:lnTo>
                <a:lnTo>
                  <a:pt x="505551" y="380736"/>
                </a:lnTo>
                <a:lnTo>
                  <a:pt x="505581" y="376427"/>
                </a:lnTo>
                <a:lnTo>
                  <a:pt x="510153" y="386333"/>
                </a:lnTo>
                <a:lnTo>
                  <a:pt x="510153" y="698363"/>
                </a:lnTo>
                <a:lnTo>
                  <a:pt x="514663" y="669459"/>
                </a:lnTo>
                <a:lnTo>
                  <a:pt x="521125" y="618265"/>
                </a:lnTo>
                <a:lnTo>
                  <a:pt x="526155" y="566927"/>
                </a:lnTo>
                <a:lnTo>
                  <a:pt x="529203" y="529589"/>
                </a:lnTo>
                <a:lnTo>
                  <a:pt x="529965" y="517143"/>
                </a:lnTo>
                <a:lnTo>
                  <a:pt x="529965" y="366521"/>
                </a:lnTo>
                <a:lnTo>
                  <a:pt x="534015" y="370571"/>
                </a:lnTo>
                <a:lnTo>
                  <a:pt x="534770" y="352149"/>
                </a:lnTo>
                <a:close/>
              </a:path>
              <a:path w="535304" h="857250">
                <a:moveTo>
                  <a:pt x="510153" y="386333"/>
                </a:moveTo>
                <a:lnTo>
                  <a:pt x="505581" y="376427"/>
                </a:lnTo>
                <a:lnTo>
                  <a:pt x="505551" y="380736"/>
                </a:lnTo>
                <a:lnTo>
                  <a:pt x="505581" y="382524"/>
                </a:lnTo>
                <a:lnTo>
                  <a:pt x="510153" y="386333"/>
                </a:lnTo>
                <a:close/>
              </a:path>
              <a:path w="535304" h="857250">
                <a:moveTo>
                  <a:pt x="534015" y="370571"/>
                </a:moveTo>
                <a:lnTo>
                  <a:pt x="529965" y="366521"/>
                </a:lnTo>
                <a:lnTo>
                  <a:pt x="533775" y="376427"/>
                </a:lnTo>
                <a:lnTo>
                  <a:pt x="534015" y="370571"/>
                </a:lnTo>
                <a:close/>
              </a:path>
              <a:path w="535304" h="857250">
                <a:moveTo>
                  <a:pt x="534537" y="371093"/>
                </a:moveTo>
                <a:lnTo>
                  <a:pt x="534015" y="370571"/>
                </a:lnTo>
                <a:lnTo>
                  <a:pt x="533775" y="376427"/>
                </a:lnTo>
                <a:lnTo>
                  <a:pt x="529965" y="366521"/>
                </a:lnTo>
                <a:lnTo>
                  <a:pt x="529965" y="517143"/>
                </a:lnTo>
                <a:lnTo>
                  <a:pt x="531489" y="492251"/>
                </a:lnTo>
                <a:lnTo>
                  <a:pt x="533013" y="454151"/>
                </a:lnTo>
                <a:lnTo>
                  <a:pt x="534537" y="371093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56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4839" y="6349746"/>
            <a:ext cx="8964923" cy="857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846165" y="6349746"/>
            <a:ext cx="418465" cy="288925"/>
          </a:xfrm>
          <a:custGeom>
            <a:avLst/>
            <a:gdLst/>
            <a:ahLst/>
            <a:cxnLst/>
            <a:rect l="l" t="t" r="r" b="b"/>
            <a:pathLst>
              <a:path w="418464" h="288925">
                <a:moveTo>
                  <a:pt x="52874" y="73913"/>
                </a:moveTo>
                <a:lnTo>
                  <a:pt x="48302" y="61721"/>
                </a:lnTo>
                <a:lnTo>
                  <a:pt x="43730" y="48767"/>
                </a:lnTo>
                <a:lnTo>
                  <a:pt x="43730" y="49529"/>
                </a:lnTo>
                <a:lnTo>
                  <a:pt x="39920" y="36575"/>
                </a:lnTo>
                <a:lnTo>
                  <a:pt x="35348" y="22859"/>
                </a:lnTo>
                <a:lnTo>
                  <a:pt x="35348" y="23621"/>
                </a:lnTo>
                <a:lnTo>
                  <a:pt x="28786" y="0"/>
                </a:lnTo>
                <a:lnTo>
                  <a:pt x="0" y="0"/>
                </a:lnTo>
                <a:lnTo>
                  <a:pt x="1250" y="5022"/>
                </a:lnTo>
                <a:lnTo>
                  <a:pt x="16306" y="55919"/>
                </a:lnTo>
                <a:lnTo>
                  <a:pt x="33371" y="104062"/>
                </a:lnTo>
                <a:lnTo>
                  <a:pt x="52112" y="147569"/>
                </a:lnTo>
                <a:lnTo>
                  <a:pt x="52112" y="73913"/>
                </a:lnTo>
                <a:lnTo>
                  <a:pt x="52874" y="73913"/>
                </a:lnTo>
                <a:close/>
              </a:path>
              <a:path w="418464" h="288925">
                <a:moveTo>
                  <a:pt x="106214" y="184403"/>
                </a:moveTo>
                <a:lnTo>
                  <a:pt x="100880" y="176022"/>
                </a:lnTo>
                <a:lnTo>
                  <a:pt x="100880" y="176783"/>
                </a:lnTo>
                <a:lnTo>
                  <a:pt x="89745" y="157408"/>
                </a:lnTo>
                <a:lnTo>
                  <a:pt x="79554" y="137526"/>
                </a:lnTo>
                <a:lnTo>
                  <a:pt x="70119" y="117271"/>
                </a:lnTo>
                <a:lnTo>
                  <a:pt x="61256" y="96774"/>
                </a:lnTo>
                <a:lnTo>
                  <a:pt x="61256" y="97536"/>
                </a:lnTo>
                <a:lnTo>
                  <a:pt x="56684" y="85343"/>
                </a:lnTo>
                <a:lnTo>
                  <a:pt x="52112" y="73913"/>
                </a:lnTo>
                <a:lnTo>
                  <a:pt x="52112" y="147569"/>
                </a:lnTo>
                <a:lnTo>
                  <a:pt x="52537" y="148556"/>
                </a:lnTo>
                <a:lnTo>
                  <a:pt x="73893" y="188506"/>
                </a:lnTo>
                <a:lnTo>
                  <a:pt x="97531" y="223018"/>
                </a:lnTo>
                <a:lnTo>
                  <a:pt x="105452" y="231600"/>
                </a:lnTo>
                <a:lnTo>
                  <a:pt x="105452" y="184403"/>
                </a:lnTo>
                <a:lnTo>
                  <a:pt x="106214" y="184403"/>
                </a:lnTo>
                <a:close/>
              </a:path>
              <a:path w="418464" h="288925">
                <a:moveTo>
                  <a:pt x="111548" y="192785"/>
                </a:moveTo>
                <a:lnTo>
                  <a:pt x="105452" y="184403"/>
                </a:lnTo>
                <a:lnTo>
                  <a:pt x="105452" y="231600"/>
                </a:lnTo>
                <a:lnTo>
                  <a:pt x="110786" y="237379"/>
                </a:lnTo>
                <a:lnTo>
                  <a:pt x="110786" y="192024"/>
                </a:lnTo>
                <a:lnTo>
                  <a:pt x="111548" y="192785"/>
                </a:lnTo>
                <a:close/>
              </a:path>
              <a:path w="418464" h="288925">
                <a:moveTo>
                  <a:pt x="116882" y="199644"/>
                </a:moveTo>
                <a:lnTo>
                  <a:pt x="110786" y="192024"/>
                </a:lnTo>
                <a:lnTo>
                  <a:pt x="110786" y="237379"/>
                </a:lnTo>
                <a:lnTo>
                  <a:pt x="116120" y="243158"/>
                </a:lnTo>
                <a:lnTo>
                  <a:pt x="116120" y="199644"/>
                </a:lnTo>
                <a:lnTo>
                  <a:pt x="116882" y="199644"/>
                </a:lnTo>
                <a:close/>
              </a:path>
              <a:path w="418464" h="288925">
                <a:moveTo>
                  <a:pt x="122216" y="207263"/>
                </a:moveTo>
                <a:lnTo>
                  <a:pt x="116120" y="199644"/>
                </a:lnTo>
                <a:lnTo>
                  <a:pt x="116120" y="243158"/>
                </a:lnTo>
                <a:lnTo>
                  <a:pt x="121454" y="248937"/>
                </a:lnTo>
                <a:lnTo>
                  <a:pt x="121454" y="206501"/>
                </a:lnTo>
                <a:lnTo>
                  <a:pt x="122216" y="207263"/>
                </a:lnTo>
                <a:close/>
              </a:path>
              <a:path w="418464" h="288925">
                <a:moveTo>
                  <a:pt x="127550" y="213359"/>
                </a:moveTo>
                <a:lnTo>
                  <a:pt x="121454" y="206501"/>
                </a:lnTo>
                <a:lnTo>
                  <a:pt x="121454" y="248937"/>
                </a:lnTo>
                <a:lnTo>
                  <a:pt x="123540" y="251198"/>
                </a:lnTo>
                <a:lnTo>
                  <a:pt x="126788" y="253588"/>
                </a:lnTo>
                <a:lnTo>
                  <a:pt x="126788" y="213359"/>
                </a:lnTo>
                <a:lnTo>
                  <a:pt x="127550" y="213359"/>
                </a:lnTo>
                <a:close/>
              </a:path>
              <a:path w="418464" h="288925">
                <a:moveTo>
                  <a:pt x="132884" y="219455"/>
                </a:moveTo>
                <a:lnTo>
                  <a:pt x="126788" y="213359"/>
                </a:lnTo>
                <a:lnTo>
                  <a:pt x="126788" y="253588"/>
                </a:lnTo>
                <a:lnTo>
                  <a:pt x="132122" y="257513"/>
                </a:lnTo>
                <a:lnTo>
                  <a:pt x="132122" y="219455"/>
                </a:lnTo>
                <a:lnTo>
                  <a:pt x="132884" y="219455"/>
                </a:lnTo>
                <a:close/>
              </a:path>
              <a:path w="418464" h="288925">
                <a:moveTo>
                  <a:pt x="154982" y="240029"/>
                </a:moveTo>
                <a:lnTo>
                  <a:pt x="148886" y="235457"/>
                </a:lnTo>
                <a:lnTo>
                  <a:pt x="143552" y="230124"/>
                </a:lnTo>
                <a:lnTo>
                  <a:pt x="143552" y="230885"/>
                </a:lnTo>
                <a:lnTo>
                  <a:pt x="138218" y="224789"/>
                </a:lnTo>
                <a:lnTo>
                  <a:pt x="138218" y="225551"/>
                </a:lnTo>
                <a:lnTo>
                  <a:pt x="132122" y="219455"/>
                </a:lnTo>
                <a:lnTo>
                  <a:pt x="132122" y="257513"/>
                </a:lnTo>
                <a:lnTo>
                  <a:pt x="152012" y="272151"/>
                </a:lnTo>
                <a:lnTo>
                  <a:pt x="154220" y="273064"/>
                </a:lnTo>
                <a:lnTo>
                  <a:pt x="154220" y="240029"/>
                </a:lnTo>
                <a:lnTo>
                  <a:pt x="154982" y="240029"/>
                </a:lnTo>
                <a:close/>
              </a:path>
              <a:path w="418464" h="288925">
                <a:moveTo>
                  <a:pt x="160316" y="243839"/>
                </a:moveTo>
                <a:lnTo>
                  <a:pt x="154220" y="240029"/>
                </a:lnTo>
                <a:lnTo>
                  <a:pt x="154220" y="273064"/>
                </a:lnTo>
                <a:lnTo>
                  <a:pt x="159554" y="275270"/>
                </a:lnTo>
                <a:lnTo>
                  <a:pt x="159554" y="243839"/>
                </a:lnTo>
                <a:lnTo>
                  <a:pt x="160316" y="243839"/>
                </a:lnTo>
                <a:close/>
              </a:path>
              <a:path w="418464" h="288925">
                <a:moveTo>
                  <a:pt x="165650" y="277791"/>
                </a:moveTo>
                <a:lnTo>
                  <a:pt x="165650" y="247650"/>
                </a:lnTo>
                <a:lnTo>
                  <a:pt x="159554" y="243839"/>
                </a:lnTo>
                <a:lnTo>
                  <a:pt x="159554" y="275270"/>
                </a:lnTo>
                <a:lnTo>
                  <a:pt x="165650" y="277791"/>
                </a:lnTo>
                <a:close/>
              </a:path>
              <a:path w="418464" h="288925">
                <a:moveTo>
                  <a:pt x="170984" y="250698"/>
                </a:moveTo>
                <a:lnTo>
                  <a:pt x="164888" y="246887"/>
                </a:lnTo>
                <a:lnTo>
                  <a:pt x="165650" y="247650"/>
                </a:lnTo>
                <a:lnTo>
                  <a:pt x="165650" y="277791"/>
                </a:lnTo>
                <a:lnTo>
                  <a:pt x="170222" y="279682"/>
                </a:lnTo>
                <a:lnTo>
                  <a:pt x="170222" y="250698"/>
                </a:lnTo>
                <a:lnTo>
                  <a:pt x="170984" y="250698"/>
                </a:lnTo>
                <a:close/>
              </a:path>
              <a:path w="418464" h="288925">
                <a:moveTo>
                  <a:pt x="177080" y="282519"/>
                </a:moveTo>
                <a:lnTo>
                  <a:pt x="177080" y="253746"/>
                </a:lnTo>
                <a:lnTo>
                  <a:pt x="170222" y="250698"/>
                </a:lnTo>
                <a:lnTo>
                  <a:pt x="170222" y="279682"/>
                </a:lnTo>
                <a:lnTo>
                  <a:pt x="177080" y="282519"/>
                </a:lnTo>
                <a:close/>
              </a:path>
              <a:path w="418464" h="288925">
                <a:moveTo>
                  <a:pt x="182414" y="284725"/>
                </a:moveTo>
                <a:lnTo>
                  <a:pt x="182414" y="256031"/>
                </a:lnTo>
                <a:lnTo>
                  <a:pt x="176318" y="252983"/>
                </a:lnTo>
                <a:lnTo>
                  <a:pt x="177080" y="253746"/>
                </a:lnTo>
                <a:lnTo>
                  <a:pt x="177080" y="282519"/>
                </a:lnTo>
                <a:lnTo>
                  <a:pt x="182414" y="284725"/>
                </a:lnTo>
                <a:close/>
              </a:path>
              <a:path w="418464" h="288925">
                <a:moveTo>
                  <a:pt x="187748" y="257555"/>
                </a:moveTo>
                <a:lnTo>
                  <a:pt x="180890" y="255270"/>
                </a:lnTo>
                <a:lnTo>
                  <a:pt x="182414" y="256031"/>
                </a:lnTo>
                <a:lnTo>
                  <a:pt x="182414" y="284725"/>
                </a:lnTo>
                <a:lnTo>
                  <a:pt x="183036" y="284982"/>
                </a:lnTo>
                <a:lnTo>
                  <a:pt x="186986" y="285430"/>
                </a:lnTo>
                <a:lnTo>
                  <a:pt x="186986" y="257555"/>
                </a:lnTo>
                <a:lnTo>
                  <a:pt x="187748" y="257555"/>
                </a:lnTo>
                <a:close/>
              </a:path>
              <a:path w="418464" h="288925">
                <a:moveTo>
                  <a:pt x="193082" y="259079"/>
                </a:moveTo>
                <a:lnTo>
                  <a:pt x="186986" y="257555"/>
                </a:lnTo>
                <a:lnTo>
                  <a:pt x="186986" y="285430"/>
                </a:lnTo>
                <a:lnTo>
                  <a:pt x="192320" y="286034"/>
                </a:lnTo>
                <a:lnTo>
                  <a:pt x="192320" y="259079"/>
                </a:lnTo>
                <a:lnTo>
                  <a:pt x="193082" y="259079"/>
                </a:lnTo>
                <a:close/>
              </a:path>
              <a:path w="418464" h="288925">
                <a:moveTo>
                  <a:pt x="214418" y="288538"/>
                </a:moveTo>
                <a:lnTo>
                  <a:pt x="214418" y="260603"/>
                </a:lnTo>
                <a:lnTo>
                  <a:pt x="202988" y="260603"/>
                </a:lnTo>
                <a:lnTo>
                  <a:pt x="197654" y="259842"/>
                </a:lnTo>
                <a:lnTo>
                  <a:pt x="192320" y="259079"/>
                </a:lnTo>
                <a:lnTo>
                  <a:pt x="192320" y="286034"/>
                </a:lnTo>
                <a:lnTo>
                  <a:pt x="214418" y="288538"/>
                </a:lnTo>
                <a:close/>
              </a:path>
              <a:path w="418464" h="288925">
                <a:moveTo>
                  <a:pt x="198416" y="259842"/>
                </a:moveTo>
                <a:lnTo>
                  <a:pt x="197654" y="259746"/>
                </a:lnTo>
                <a:lnTo>
                  <a:pt x="198416" y="259842"/>
                </a:lnTo>
                <a:close/>
              </a:path>
              <a:path w="418464" h="288925">
                <a:moveTo>
                  <a:pt x="203750" y="260603"/>
                </a:moveTo>
                <a:lnTo>
                  <a:pt x="202988" y="260508"/>
                </a:lnTo>
                <a:lnTo>
                  <a:pt x="203750" y="260603"/>
                </a:lnTo>
                <a:close/>
              </a:path>
              <a:path w="418464" h="288925">
                <a:moveTo>
                  <a:pt x="219752" y="287905"/>
                </a:moveTo>
                <a:lnTo>
                  <a:pt x="219752" y="259842"/>
                </a:lnTo>
                <a:lnTo>
                  <a:pt x="213656" y="260603"/>
                </a:lnTo>
                <a:lnTo>
                  <a:pt x="214418" y="260603"/>
                </a:lnTo>
                <a:lnTo>
                  <a:pt x="214418" y="288538"/>
                </a:lnTo>
                <a:lnTo>
                  <a:pt x="216704" y="288798"/>
                </a:lnTo>
                <a:lnTo>
                  <a:pt x="219752" y="287905"/>
                </a:lnTo>
                <a:close/>
              </a:path>
              <a:path w="418464" h="288925">
                <a:moveTo>
                  <a:pt x="225848" y="286119"/>
                </a:moveTo>
                <a:lnTo>
                  <a:pt x="225848" y="259079"/>
                </a:lnTo>
                <a:lnTo>
                  <a:pt x="218990" y="259842"/>
                </a:lnTo>
                <a:lnTo>
                  <a:pt x="219752" y="259842"/>
                </a:lnTo>
                <a:lnTo>
                  <a:pt x="219752" y="287905"/>
                </a:lnTo>
                <a:lnTo>
                  <a:pt x="225848" y="286119"/>
                </a:lnTo>
                <a:close/>
              </a:path>
              <a:path w="418464" h="288925">
                <a:moveTo>
                  <a:pt x="231182" y="284557"/>
                </a:moveTo>
                <a:lnTo>
                  <a:pt x="231182" y="257555"/>
                </a:lnTo>
                <a:lnTo>
                  <a:pt x="224324" y="259079"/>
                </a:lnTo>
                <a:lnTo>
                  <a:pt x="225848" y="259079"/>
                </a:lnTo>
                <a:lnTo>
                  <a:pt x="225848" y="286119"/>
                </a:lnTo>
                <a:lnTo>
                  <a:pt x="231182" y="284557"/>
                </a:lnTo>
                <a:close/>
              </a:path>
              <a:path w="418464" h="288925">
                <a:moveTo>
                  <a:pt x="236516" y="255270"/>
                </a:moveTo>
                <a:lnTo>
                  <a:pt x="229658" y="257555"/>
                </a:lnTo>
                <a:lnTo>
                  <a:pt x="231182" y="257555"/>
                </a:lnTo>
                <a:lnTo>
                  <a:pt x="231182" y="284557"/>
                </a:lnTo>
                <a:lnTo>
                  <a:pt x="235754" y="283218"/>
                </a:lnTo>
                <a:lnTo>
                  <a:pt x="235754" y="256031"/>
                </a:lnTo>
                <a:lnTo>
                  <a:pt x="236516" y="255270"/>
                </a:lnTo>
                <a:close/>
              </a:path>
              <a:path w="418464" h="288925">
                <a:moveTo>
                  <a:pt x="241850" y="252983"/>
                </a:moveTo>
                <a:lnTo>
                  <a:pt x="235754" y="256031"/>
                </a:lnTo>
                <a:lnTo>
                  <a:pt x="235754" y="283218"/>
                </a:lnTo>
                <a:lnTo>
                  <a:pt x="241088" y="281655"/>
                </a:lnTo>
                <a:lnTo>
                  <a:pt x="241088" y="253746"/>
                </a:lnTo>
                <a:lnTo>
                  <a:pt x="241850" y="252983"/>
                </a:lnTo>
                <a:close/>
              </a:path>
              <a:path w="418464" h="288925">
                <a:moveTo>
                  <a:pt x="247184" y="279870"/>
                </a:moveTo>
                <a:lnTo>
                  <a:pt x="247184" y="250698"/>
                </a:lnTo>
                <a:lnTo>
                  <a:pt x="241088" y="253746"/>
                </a:lnTo>
                <a:lnTo>
                  <a:pt x="241088" y="281655"/>
                </a:lnTo>
                <a:lnTo>
                  <a:pt x="247184" y="279870"/>
                </a:lnTo>
                <a:close/>
              </a:path>
              <a:path w="418464" h="288925">
                <a:moveTo>
                  <a:pt x="252518" y="246887"/>
                </a:moveTo>
                <a:lnTo>
                  <a:pt x="246422" y="250698"/>
                </a:lnTo>
                <a:lnTo>
                  <a:pt x="247184" y="250698"/>
                </a:lnTo>
                <a:lnTo>
                  <a:pt x="247184" y="279870"/>
                </a:lnTo>
                <a:lnTo>
                  <a:pt x="251756" y="278531"/>
                </a:lnTo>
                <a:lnTo>
                  <a:pt x="251756" y="247650"/>
                </a:lnTo>
                <a:lnTo>
                  <a:pt x="252518" y="246887"/>
                </a:lnTo>
                <a:close/>
              </a:path>
              <a:path w="418464" h="288925">
                <a:moveTo>
                  <a:pt x="257852" y="276745"/>
                </a:moveTo>
                <a:lnTo>
                  <a:pt x="257852" y="243839"/>
                </a:lnTo>
                <a:lnTo>
                  <a:pt x="251756" y="247650"/>
                </a:lnTo>
                <a:lnTo>
                  <a:pt x="251756" y="278531"/>
                </a:lnTo>
                <a:lnTo>
                  <a:pt x="257852" y="276745"/>
                </a:lnTo>
                <a:close/>
              </a:path>
              <a:path w="418464" h="288925">
                <a:moveTo>
                  <a:pt x="269282" y="268957"/>
                </a:moveTo>
                <a:lnTo>
                  <a:pt x="269282" y="235457"/>
                </a:lnTo>
                <a:lnTo>
                  <a:pt x="263186" y="240029"/>
                </a:lnTo>
                <a:lnTo>
                  <a:pt x="257090" y="243839"/>
                </a:lnTo>
                <a:lnTo>
                  <a:pt x="257852" y="243839"/>
                </a:lnTo>
                <a:lnTo>
                  <a:pt x="257852" y="276745"/>
                </a:lnTo>
                <a:lnTo>
                  <a:pt x="259428" y="276284"/>
                </a:lnTo>
                <a:lnTo>
                  <a:pt x="269282" y="268957"/>
                </a:lnTo>
                <a:close/>
              </a:path>
              <a:path w="418464" h="288925">
                <a:moveTo>
                  <a:pt x="285284" y="257058"/>
                </a:moveTo>
                <a:lnTo>
                  <a:pt x="285284" y="219455"/>
                </a:lnTo>
                <a:lnTo>
                  <a:pt x="273854" y="230885"/>
                </a:lnTo>
                <a:lnTo>
                  <a:pt x="268520" y="235457"/>
                </a:lnTo>
                <a:lnTo>
                  <a:pt x="269282" y="235457"/>
                </a:lnTo>
                <a:lnTo>
                  <a:pt x="269282" y="268957"/>
                </a:lnTo>
                <a:lnTo>
                  <a:pt x="285284" y="257058"/>
                </a:lnTo>
                <a:close/>
              </a:path>
              <a:path w="418464" h="288925">
                <a:moveTo>
                  <a:pt x="274616" y="230124"/>
                </a:moveTo>
                <a:lnTo>
                  <a:pt x="273854" y="230790"/>
                </a:lnTo>
                <a:lnTo>
                  <a:pt x="274616" y="230124"/>
                </a:lnTo>
                <a:close/>
              </a:path>
              <a:path w="418464" h="288925">
                <a:moveTo>
                  <a:pt x="317288" y="224126"/>
                </a:moveTo>
                <a:lnTo>
                  <a:pt x="317288" y="176022"/>
                </a:lnTo>
                <a:lnTo>
                  <a:pt x="306620" y="192785"/>
                </a:lnTo>
                <a:lnTo>
                  <a:pt x="306620" y="192024"/>
                </a:lnTo>
                <a:lnTo>
                  <a:pt x="295952" y="207263"/>
                </a:lnTo>
                <a:lnTo>
                  <a:pt x="295952" y="206501"/>
                </a:lnTo>
                <a:lnTo>
                  <a:pt x="290618" y="213359"/>
                </a:lnTo>
                <a:lnTo>
                  <a:pt x="284522" y="219455"/>
                </a:lnTo>
                <a:lnTo>
                  <a:pt x="285284" y="219455"/>
                </a:lnTo>
                <a:lnTo>
                  <a:pt x="285284" y="257058"/>
                </a:lnTo>
                <a:lnTo>
                  <a:pt x="296518" y="248705"/>
                </a:lnTo>
                <a:lnTo>
                  <a:pt x="317288" y="224126"/>
                </a:lnTo>
                <a:close/>
              </a:path>
              <a:path w="418464" h="288925">
                <a:moveTo>
                  <a:pt x="332528" y="204102"/>
                </a:moveTo>
                <a:lnTo>
                  <a:pt x="332528" y="149351"/>
                </a:lnTo>
                <a:lnTo>
                  <a:pt x="316526" y="176783"/>
                </a:lnTo>
                <a:lnTo>
                  <a:pt x="317288" y="176022"/>
                </a:lnTo>
                <a:lnTo>
                  <a:pt x="317288" y="224126"/>
                </a:lnTo>
                <a:lnTo>
                  <a:pt x="327866" y="211609"/>
                </a:lnTo>
                <a:lnTo>
                  <a:pt x="332528" y="204102"/>
                </a:lnTo>
                <a:close/>
              </a:path>
              <a:path w="418464" h="288925">
                <a:moveTo>
                  <a:pt x="342434" y="188151"/>
                </a:moveTo>
                <a:lnTo>
                  <a:pt x="342434" y="129539"/>
                </a:lnTo>
                <a:lnTo>
                  <a:pt x="331766" y="149351"/>
                </a:lnTo>
                <a:lnTo>
                  <a:pt x="332528" y="149351"/>
                </a:lnTo>
                <a:lnTo>
                  <a:pt x="332528" y="204102"/>
                </a:lnTo>
                <a:lnTo>
                  <a:pt x="342434" y="188151"/>
                </a:lnTo>
                <a:close/>
              </a:path>
              <a:path w="418464" h="288925">
                <a:moveTo>
                  <a:pt x="369866" y="137220"/>
                </a:moveTo>
                <a:lnTo>
                  <a:pt x="369866" y="61721"/>
                </a:lnTo>
                <a:lnTo>
                  <a:pt x="365294" y="73913"/>
                </a:lnTo>
                <a:lnTo>
                  <a:pt x="360722" y="85343"/>
                </a:lnTo>
                <a:lnTo>
                  <a:pt x="356150" y="97536"/>
                </a:lnTo>
                <a:lnTo>
                  <a:pt x="356150" y="96774"/>
                </a:lnTo>
                <a:lnTo>
                  <a:pt x="351578" y="108203"/>
                </a:lnTo>
                <a:lnTo>
                  <a:pt x="347006" y="118871"/>
                </a:lnTo>
                <a:lnTo>
                  <a:pt x="341672" y="129539"/>
                </a:lnTo>
                <a:lnTo>
                  <a:pt x="342434" y="129539"/>
                </a:lnTo>
                <a:lnTo>
                  <a:pt x="342434" y="188151"/>
                </a:lnTo>
                <a:lnTo>
                  <a:pt x="353367" y="170546"/>
                </a:lnTo>
                <a:lnTo>
                  <a:pt x="369866" y="137220"/>
                </a:lnTo>
                <a:close/>
              </a:path>
              <a:path w="418464" h="288925">
                <a:moveTo>
                  <a:pt x="418016" y="0"/>
                </a:moveTo>
                <a:lnTo>
                  <a:pt x="388620" y="0"/>
                </a:lnTo>
                <a:lnTo>
                  <a:pt x="382058" y="23621"/>
                </a:lnTo>
                <a:lnTo>
                  <a:pt x="382058" y="22859"/>
                </a:lnTo>
                <a:lnTo>
                  <a:pt x="378248" y="36575"/>
                </a:lnTo>
                <a:lnTo>
                  <a:pt x="373676" y="49529"/>
                </a:lnTo>
                <a:lnTo>
                  <a:pt x="373676" y="48767"/>
                </a:lnTo>
                <a:lnTo>
                  <a:pt x="369104" y="61721"/>
                </a:lnTo>
                <a:lnTo>
                  <a:pt x="369866" y="61721"/>
                </a:lnTo>
                <a:lnTo>
                  <a:pt x="369866" y="137220"/>
                </a:lnTo>
                <a:lnTo>
                  <a:pt x="372914" y="131063"/>
                </a:lnTo>
                <a:lnTo>
                  <a:pt x="393785" y="78537"/>
                </a:lnTo>
                <a:lnTo>
                  <a:pt x="411524" y="24188"/>
                </a:lnTo>
                <a:lnTo>
                  <a:pt x="418016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637677" y="6338570"/>
            <a:ext cx="305181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0 1 2 3 4 5 6 7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8…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4839" y="348995"/>
            <a:ext cx="824865" cy="5873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86055">
              <a:lnSpc>
                <a:spcPts val="3804"/>
              </a:lnSpc>
              <a:spcBef>
                <a:spcPts val="810"/>
              </a:spcBef>
            </a:pP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57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74839" y="348995"/>
            <a:ext cx="824865" cy="580390"/>
          </a:xfrm>
          <a:custGeom>
            <a:avLst/>
            <a:gdLst/>
            <a:ahLst/>
            <a:cxnLst/>
            <a:rect l="l" t="t" r="r" b="b"/>
            <a:pathLst>
              <a:path w="824865" h="580390">
                <a:moveTo>
                  <a:pt x="0" y="0"/>
                </a:moveTo>
                <a:lnTo>
                  <a:pt x="0" y="579881"/>
                </a:lnTo>
                <a:lnTo>
                  <a:pt x="824484" y="579881"/>
                </a:lnTo>
                <a:lnTo>
                  <a:pt x="824484" y="0"/>
                </a:lnTo>
                <a:lnTo>
                  <a:pt x="0" y="0"/>
                </a:lnTo>
                <a:close/>
              </a:path>
            </a:pathLst>
          </a:custGeom>
          <a:solidFill>
            <a:srgbClr val="CC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89209" y="386080"/>
            <a:ext cx="396240" cy="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Arial Narrow"/>
                <a:cs typeface="Arial Narrow"/>
              </a:rPr>
              <a:t>57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65480">
              <a:lnSpc>
                <a:spcPct val="100000"/>
              </a:lnSpc>
            </a:pPr>
            <a:r>
              <a:rPr spc="-5" dirty="0"/>
              <a:t>Rationale of KMP</a:t>
            </a:r>
            <a:r>
              <a:rPr spc="-40" dirty="0"/>
              <a:t> </a:t>
            </a:r>
            <a:r>
              <a:rPr spc="-5" dirty="0"/>
              <a:t>(contd.)</a:t>
            </a:r>
          </a:p>
        </p:txBody>
      </p:sp>
      <p:sp>
        <p:nvSpPr>
          <p:cNvPr id="6" name="object 6"/>
          <p:cNvSpPr/>
          <p:nvPr/>
        </p:nvSpPr>
        <p:spPr>
          <a:xfrm>
            <a:off x="774839" y="1206246"/>
            <a:ext cx="824484" cy="2571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4839" y="377799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4839" y="3777996"/>
            <a:ext cx="824484" cy="857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4839" y="4635246"/>
            <a:ext cx="9144000" cy="857250"/>
          </a:xfrm>
          <a:custGeom>
            <a:avLst/>
            <a:gdLst/>
            <a:ahLst/>
            <a:cxnLst/>
            <a:rect l="l" t="t" r="r" b="b"/>
            <a:pathLst>
              <a:path w="9144000" h="857250">
                <a:moveTo>
                  <a:pt x="0" y="0"/>
                </a:moveTo>
                <a:lnTo>
                  <a:pt x="0" y="857250"/>
                </a:lnTo>
                <a:lnTo>
                  <a:pt x="9144000" y="857250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07421" y="5291328"/>
            <a:ext cx="0" cy="201295"/>
          </a:xfrm>
          <a:custGeom>
            <a:avLst/>
            <a:gdLst/>
            <a:ahLst/>
            <a:cxnLst/>
            <a:rect l="l" t="t" r="r" b="b"/>
            <a:pathLst>
              <a:path h="201295">
                <a:moveTo>
                  <a:pt x="0" y="0"/>
                </a:moveTo>
                <a:lnTo>
                  <a:pt x="0" y="201167"/>
                </a:lnTo>
              </a:path>
            </a:pathLst>
          </a:custGeom>
          <a:ln w="2895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4839" y="4635246"/>
            <a:ext cx="824484" cy="1714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4665" y="5650229"/>
            <a:ext cx="8785097" cy="457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315097" y="6248400"/>
            <a:ext cx="4608576" cy="1013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07421" y="5492496"/>
            <a:ext cx="0" cy="857250"/>
          </a:xfrm>
          <a:custGeom>
            <a:avLst/>
            <a:gdLst/>
            <a:ahLst/>
            <a:cxnLst/>
            <a:rect l="l" t="t" r="r" b="b"/>
            <a:pathLst>
              <a:path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ln w="28956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09483" y="2366264"/>
            <a:ext cx="7970520" cy="3352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2795" marR="502920" indent="-342900">
              <a:lnSpc>
                <a:spcPct val="100000"/>
              </a:lnSpc>
              <a:buClr>
                <a:srgbClr val="009ACC"/>
              </a:buClr>
              <a:buSzPct val="69642"/>
              <a:buChar char="■"/>
              <a:tabLst>
                <a:tab pos="773430" algn="l"/>
              </a:tabLst>
            </a:pPr>
            <a:r>
              <a:rPr sz="2800" dirty="0">
                <a:latin typeface="Arial"/>
                <a:cs typeface="Arial"/>
              </a:rPr>
              <a:t>The condition that we can right shift P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only  one step is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</a:t>
            </a:r>
            <a:r>
              <a:rPr sz="2775" baseline="-21021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T</a:t>
            </a:r>
            <a:r>
              <a:rPr sz="2775" baseline="-21021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…T</a:t>
            </a:r>
            <a:r>
              <a:rPr sz="2775" baseline="-21021" dirty="0">
                <a:latin typeface="Arial"/>
                <a:cs typeface="Arial"/>
              </a:rPr>
              <a:t>6</a:t>
            </a:r>
            <a:r>
              <a:rPr sz="2800" dirty="0">
                <a:latin typeface="Arial"/>
                <a:cs typeface="Arial"/>
              </a:rPr>
              <a:t>=P</a:t>
            </a:r>
            <a:r>
              <a:rPr sz="2775" baseline="-21021" dirty="0">
                <a:latin typeface="Arial"/>
                <a:cs typeface="Arial"/>
              </a:rPr>
              <a:t>0</a:t>
            </a:r>
            <a:r>
              <a:rPr sz="2800" dirty="0">
                <a:latin typeface="Arial"/>
                <a:cs typeface="Arial"/>
              </a:rPr>
              <a:t>P</a:t>
            </a:r>
            <a:r>
              <a:rPr sz="2775" baseline="-21021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…P</a:t>
            </a:r>
            <a:r>
              <a:rPr sz="2775" baseline="-21021" dirty="0">
                <a:latin typeface="Arial"/>
                <a:cs typeface="Arial"/>
              </a:rPr>
              <a:t>5</a:t>
            </a:r>
            <a:endParaRPr sz="2775" baseline="-21021">
              <a:latin typeface="Arial"/>
              <a:cs typeface="Arial"/>
            </a:endParaRPr>
          </a:p>
          <a:p>
            <a:pPr marL="772795" marR="11430" indent="-342900">
              <a:lnSpc>
                <a:spcPct val="100000"/>
              </a:lnSpc>
              <a:spcBef>
                <a:spcPts val="670"/>
              </a:spcBef>
              <a:buClr>
                <a:srgbClr val="009ACC"/>
              </a:buClr>
              <a:buSzPct val="69642"/>
              <a:buChar char="■"/>
              <a:tabLst>
                <a:tab pos="773430" algn="l"/>
              </a:tabLst>
            </a:pPr>
            <a:r>
              <a:rPr sz="2800" dirty="0">
                <a:latin typeface="Arial"/>
                <a:cs typeface="Arial"/>
              </a:rPr>
              <a:t>Since T</a:t>
            </a:r>
            <a:r>
              <a:rPr sz="2775" baseline="-21021" dirty="0">
                <a:latin typeface="Arial"/>
                <a:cs typeface="Arial"/>
              </a:rPr>
              <a:t>0</a:t>
            </a:r>
            <a:r>
              <a:rPr sz="2800" dirty="0">
                <a:latin typeface="Arial"/>
                <a:cs typeface="Arial"/>
              </a:rPr>
              <a:t>T</a:t>
            </a:r>
            <a:r>
              <a:rPr sz="2775" baseline="-21021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…T</a:t>
            </a:r>
            <a:r>
              <a:rPr sz="2775" baseline="-21021" dirty="0">
                <a:latin typeface="Arial"/>
                <a:cs typeface="Arial"/>
              </a:rPr>
              <a:t>6</a:t>
            </a:r>
            <a:r>
              <a:rPr sz="2800" dirty="0">
                <a:latin typeface="Arial"/>
                <a:cs typeface="Arial"/>
              </a:rPr>
              <a:t>=P</a:t>
            </a:r>
            <a:r>
              <a:rPr sz="2775" baseline="-21021" dirty="0">
                <a:latin typeface="Arial"/>
                <a:cs typeface="Arial"/>
              </a:rPr>
              <a:t>0</a:t>
            </a:r>
            <a:r>
              <a:rPr sz="2800" dirty="0">
                <a:latin typeface="Arial"/>
                <a:cs typeface="Arial"/>
              </a:rPr>
              <a:t>P</a:t>
            </a:r>
            <a:r>
              <a:rPr sz="2775" baseline="-21021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…P</a:t>
            </a:r>
            <a:r>
              <a:rPr sz="2775" baseline="-21021" dirty="0">
                <a:latin typeface="Arial"/>
                <a:cs typeface="Arial"/>
              </a:rPr>
              <a:t>6</a:t>
            </a:r>
            <a:r>
              <a:rPr sz="2800" dirty="0">
                <a:latin typeface="Arial"/>
                <a:cs typeface="Arial"/>
              </a:rPr>
              <a:t>, the condition can  be rewritten as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</a:t>
            </a:r>
            <a:r>
              <a:rPr sz="2775" baseline="-21021" dirty="0">
                <a:latin typeface="Arial"/>
                <a:cs typeface="Arial"/>
              </a:rPr>
              <a:t>0</a:t>
            </a:r>
            <a:r>
              <a:rPr sz="2800" dirty="0">
                <a:latin typeface="Arial"/>
                <a:cs typeface="Arial"/>
              </a:rPr>
              <a:t>P</a:t>
            </a:r>
            <a:r>
              <a:rPr sz="2775" baseline="-21021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…P</a:t>
            </a:r>
            <a:r>
              <a:rPr sz="2775" baseline="-21021" dirty="0">
                <a:latin typeface="Arial"/>
                <a:cs typeface="Arial"/>
              </a:rPr>
              <a:t>5</a:t>
            </a:r>
            <a:r>
              <a:rPr sz="2800" dirty="0">
                <a:latin typeface="Arial"/>
                <a:cs typeface="Arial"/>
              </a:rPr>
              <a:t>=T</a:t>
            </a:r>
            <a:r>
              <a:rPr sz="2775" baseline="-21021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T</a:t>
            </a:r>
            <a:r>
              <a:rPr sz="2775" baseline="-21021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…T</a:t>
            </a:r>
            <a:r>
              <a:rPr sz="2775" baseline="-21021" dirty="0">
                <a:latin typeface="Arial"/>
                <a:cs typeface="Arial"/>
              </a:rPr>
              <a:t>6</a:t>
            </a:r>
            <a:r>
              <a:rPr sz="2800" dirty="0">
                <a:latin typeface="Arial"/>
                <a:cs typeface="Arial"/>
              </a:rPr>
              <a:t>=P</a:t>
            </a:r>
            <a:r>
              <a:rPr sz="2775" baseline="-21021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P</a:t>
            </a:r>
            <a:r>
              <a:rPr sz="2775" baseline="-21021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…P</a:t>
            </a:r>
            <a:r>
              <a:rPr sz="2775" baseline="-21021" dirty="0">
                <a:latin typeface="Arial"/>
                <a:cs typeface="Arial"/>
              </a:rPr>
              <a:t>6</a:t>
            </a:r>
            <a:endParaRPr sz="2775" baseline="-21021">
              <a:latin typeface="Arial"/>
              <a:cs typeface="Arial"/>
            </a:endParaRPr>
          </a:p>
          <a:p>
            <a:pPr marL="772795" marR="5080" indent="-342900">
              <a:lnSpc>
                <a:spcPct val="100000"/>
              </a:lnSpc>
              <a:spcBef>
                <a:spcPts val="670"/>
              </a:spcBef>
              <a:buClr>
                <a:srgbClr val="009ACC"/>
              </a:buClr>
              <a:buSzPct val="69642"/>
              <a:buChar char="■"/>
              <a:tabLst>
                <a:tab pos="773430" algn="l"/>
              </a:tabLst>
            </a:pPr>
            <a:r>
              <a:rPr sz="2800" dirty="0">
                <a:latin typeface="Arial"/>
                <a:cs typeface="Arial"/>
              </a:rPr>
              <a:t>If the above condition is satisfied, the value</a:t>
            </a:r>
            <a:r>
              <a:rPr sz="2800" spc="-10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  f(6) should be</a:t>
            </a:r>
            <a:r>
              <a:rPr sz="2800" spc="-10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5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2200" b="1" dirty="0">
                <a:latin typeface="Courier New"/>
                <a:cs typeface="Courier New"/>
              </a:rPr>
              <a:t>0 1 2 3 4 5 6 7 8</a:t>
            </a:r>
            <a:r>
              <a:rPr sz="2200" b="1" spc="-3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9…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4839" y="6349746"/>
            <a:ext cx="824484" cy="8572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386443" y="6638290"/>
            <a:ext cx="2235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57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15097" y="6349746"/>
            <a:ext cx="4608576" cy="381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07421" y="6349746"/>
            <a:ext cx="0" cy="813435"/>
          </a:xfrm>
          <a:custGeom>
            <a:avLst/>
            <a:gdLst/>
            <a:ahLst/>
            <a:cxnLst/>
            <a:rect l="l" t="t" r="r" b="b"/>
            <a:pathLst>
              <a:path h="813434">
                <a:moveTo>
                  <a:pt x="0" y="0"/>
                </a:moveTo>
                <a:lnTo>
                  <a:pt x="0" y="813053"/>
                </a:lnTo>
              </a:path>
            </a:pathLst>
          </a:custGeom>
          <a:ln w="28955">
            <a:solidFill>
              <a:srgbClr val="FF33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924939" y="6676897"/>
            <a:ext cx="305181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b="1" dirty="0">
                <a:latin typeface="Courier New"/>
                <a:cs typeface="Courier New"/>
              </a:rPr>
              <a:t>0 1 2 3 4 5 6 7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8…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0935" y="355091"/>
            <a:ext cx="9131300" cy="6845300"/>
          </a:xfrm>
          <a:custGeom>
            <a:avLst/>
            <a:gdLst/>
            <a:ahLst/>
            <a:cxnLst/>
            <a:rect l="l" t="t" r="r" b="b"/>
            <a:pathLst>
              <a:path w="9131300" h="6845300">
                <a:moveTo>
                  <a:pt x="9131046" y="6845046"/>
                </a:moveTo>
                <a:lnTo>
                  <a:pt x="9131046" y="0"/>
                </a:lnTo>
                <a:lnTo>
                  <a:pt x="0" y="0"/>
                </a:lnTo>
                <a:lnTo>
                  <a:pt x="0" y="6845046"/>
                </a:lnTo>
                <a:lnTo>
                  <a:pt x="9131046" y="6845046"/>
                </a:lnTo>
                <a:close/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4120</Words>
  <Application>Microsoft Office PowerPoint</Application>
  <PresentationFormat>Custom</PresentationFormat>
  <Paragraphs>1395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8" baseType="lpstr">
      <vt:lpstr>MingLiU</vt:lpstr>
      <vt:lpstr>PMingLiU</vt:lpstr>
      <vt:lpstr>PMingLiU</vt:lpstr>
      <vt:lpstr>Arial</vt:lpstr>
      <vt:lpstr>Arial Narrow</vt:lpstr>
      <vt:lpstr>Calibri</vt:lpstr>
      <vt:lpstr>Courier New</vt:lpstr>
      <vt:lpstr>Palatino Linotype</vt:lpstr>
      <vt:lpstr>Symbol</vt:lpstr>
      <vt:lpstr>Times New Roman</vt:lpstr>
      <vt:lpstr>Office Theme</vt:lpstr>
      <vt:lpstr>Arrays</vt:lpstr>
      <vt:lpstr>Arrays</vt:lpstr>
      <vt:lpstr>PowerPoint Presentation</vt:lpstr>
      <vt:lpstr>Ordered List</vt:lpstr>
      <vt:lpstr>Operations on Ordered List</vt:lpstr>
      <vt:lpstr>Implementation on Ordered List</vt:lpstr>
      <vt:lpstr>Polynomial</vt:lpstr>
      <vt:lpstr>PowerPoint Presentation</vt:lpstr>
      <vt:lpstr>Polynomial Representation #1</vt:lpstr>
      <vt:lpstr>Polynomial Representation #2</vt:lpstr>
      <vt:lpstr>Polynomial Representation #3</vt:lpstr>
      <vt:lpstr>Storage requirements: start, finish, 2*(finish-start+1)  Non sparse: twice as much as representation 2</vt:lpstr>
      <vt:lpstr>Adding Two Polynomials</vt:lpstr>
      <vt:lpstr>PowerPoint Presentation</vt:lpstr>
      <vt:lpstr>Adding a New Term</vt:lpstr>
      <vt:lpstr>Disadvantages of Representing</vt:lpstr>
      <vt:lpstr>Sparse Matrix</vt:lpstr>
      <vt:lpstr>Sparse Matrix (contd.)</vt:lpstr>
      <vt:lpstr>Sparse Matrix Abastract Data Type</vt:lpstr>
      <vt:lpstr>SparseMatrix Add(SparseMatrix b);</vt:lpstr>
      <vt:lpstr>Sparse Matrix Representation</vt:lpstr>
      <vt:lpstr>PowerPoint Presentation</vt:lpstr>
      <vt:lpstr>class</vt:lpstr>
      <vt:lpstr>Transpose a Matrix</vt:lpstr>
      <vt:lpstr>PowerPoint Presentation</vt:lpstr>
      <vt:lpstr>PowerPoint Presentation</vt:lpstr>
      <vt:lpstr>PowerPoint Presentation</vt:lpstr>
      <vt:lpstr>Compared with 2-Dimensional</vt:lpstr>
      <vt:lpstr>Fast Matrix Transposing</vt:lpstr>
      <vt:lpstr>PowerPoint Presentation</vt:lpstr>
      <vt:lpstr>row col value</vt:lpstr>
      <vt:lpstr>row col value</vt:lpstr>
      <vt:lpstr>row col value</vt:lpstr>
      <vt:lpstr>Fast Matrix Transposing (cond.)</vt:lpstr>
      <vt:lpstr>Fast Matrix Transposing (cont’d)</vt:lpstr>
      <vt:lpstr>Matrix Multiplication</vt:lpstr>
      <vt:lpstr>Representation of Arrays</vt:lpstr>
      <vt:lpstr>Two Dimensional Array Row Major</vt:lpstr>
      <vt:lpstr>Generalizing Array Representation</vt:lpstr>
      <vt:lpstr>String</vt:lpstr>
      <vt:lpstr>String Matching: Straightforward</vt:lpstr>
      <vt:lpstr>KMP Algorithm</vt:lpstr>
      <vt:lpstr>The First Case for the KMP</vt:lpstr>
      <vt:lpstr>The Second Case for the KMP</vt:lpstr>
      <vt:lpstr>The Third Case for the KMP</vt:lpstr>
      <vt:lpstr>KMP Algorithm (cont’d)</vt:lpstr>
      <vt:lpstr>KMP Algorithm (cont’d)</vt:lpstr>
      <vt:lpstr>Fast Matching Example: Failure</vt:lpstr>
      <vt:lpstr>Fast Matching Example: Failure</vt:lpstr>
      <vt:lpstr>Fast Matching Example: Failure</vt:lpstr>
      <vt:lpstr>Fast Matching Example: Failure</vt:lpstr>
      <vt:lpstr>Fast Matching Example: String</vt:lpstr>
      <vt:lpstr>Fast Matching Example: String</vt:lpstr>
      <vt:lpstr>The Analysis of the KMP Algorithm</vt:lpstr>
      <vt:lpstr>Appendix</vt:lpstr>
      <vt:lpstr>Rationale of KMP</vt:lpstr>
      <vt:lpstr>Rationale of KMP (contd.)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chapter02.ppt [相容模式]</dc:title>
  <dc:creator>void</dc:creator>
  <cp:lastModifiedBy>Ondra</cp:lastModifiedBy>
  <cp:revision>9</cp:revision>
  <dcterms:created xsi:type="dcterms:W3CDTF">2017-09-19T01:50:29Z</dcterms:created>
  <dcterms:modified xsi:type="dcterms:W3CDTF">2017-09-26T02:13:26Z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2008-10-02T00:00:00Z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2017-09-19T00:00:00Z</vt:filetime>
  </property>
</Properties>
</file>